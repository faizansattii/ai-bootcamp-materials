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9144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E5E7EB"/>
                </a:solidFill>
              </a:defRPr>
            </a:pPr>
            <a:r>
              <a:t>🔄⚙️🚀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CI/CD with 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FD1C5"/>
                </a:solidFill>
              </a:defRPr>
            </a:pPr>
            <a:r>
              <a:t>Automate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5E7EB"/>
                </a:solidFill>
              </a:defRPr>
            </a:pPr>
            <a:r>
              <a:t>From code push to production deployment -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6F1"/>
                </a:solidFill>
              </a:defRPr>
            </a:pPr>
            <a:r>
              <a:t>Week 18 - Day 3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🎯 What is CI/CD?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3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143737"/>
          </a:solidFill>
          <a:ln w="3810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D1C5"/>
                </a:solidFill>
              </a:defRPr>
            </a:pPr>
            <a:r>
              <a:t>Continuous Integration (CI)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</a:defRPr>
            </a:pPr>
            <a:r>
              <a:t>Automatically build and test code every time someone pushes changes. Catch bugs early.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143737"/>
          </a:solidFill>
          <a:ln w="3810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D1C5"/>
                </a:solidFill>
              </a:defRPr>
            </a:pPr>
            <a:r>
              <a:t>Continuous Deployment (CD)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</a:defRPr>
            </a:pPr>
            <a:r>
              <a:t>Automatically deploy code to production after passing tests. Fast releases, less manual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8229600" cy="1188720"/>
          </a:xfrm>
          <a:prstGeom prst="rect">
            <a:avLst/>
          </a:prstGeom>
          <a:solidFill>
            <a:srgbClr val="2D3250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9748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496ED"/>
                </a:solidFill>
              </a:defRPr>
            </a:pPr>
            <a:r>
              <a:t>🎯 Why CI/CD?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53512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✅ Deploy 10x faster  ✅ Catch bugs before production  ✅ No manual steps  ✅ Consistent process  ✅ Team 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2D3250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50208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</a:defRPr>
            </a:pPr>
            <a:r>
              <a:t>💡 Modern teams deploy multiple times per day with CI/CD!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⏱️ The Old Way vs CI/CD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3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114800" cy="2926080"/>
          </a:xfrm>
          <a:prstGeom prst="rect">
            <a:avLst/>
          </a:prstGeom>
          <a:solidFill>
            <a:srgbClr val="2D3250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</a:defRPr>
            </a:pPr>
            <a:r>
              <a:t>❌ The Old Manual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1. Write code on laptop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2. Manual testing locally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3. SSH to production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4. Copy files manually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5. Install dependencies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6. Restart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260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7. Cross fingers 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832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⏱️ Time: 2-4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118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❌ Error-prone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404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❌ Inconsistent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097280"/>
            <a:ext cx="4114800" cy="292608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234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✅ The CI/CD 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15544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1. Write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17830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2. Push to 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0116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3. CI/CD runs automatically: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2402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   • Builds Docker image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4688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   • Runs all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26974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   • Pushes to registry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9260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   • Deploys to 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33832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⏱️ Time: 5-10 minutes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36118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✅ Automated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38404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✅ Consistent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40690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✅ Reliable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🔄 CI/CD Pipeline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3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371600" cy="822960"/>
          </a:xfrm>
          <a:prstGeom prst="rect">
            <a:avLst/>
          </a:prstGeom>
          <a:solidFill>
            <a:srgbClr val="2D3250"/>
          </a:solidFill>
          <a:ln w="2540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984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FD1C5"/>
                </a:solidFill>
              </a:defRPr>
            </a:pPr>
            <a:r>
              <a:t>1️⃣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2704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5E7EB"/>
                </a:solidFill>
              </a:defRPr>
            </a:pPr>
            <a:r>
              <a:t>Developer</a:t>
            </a:r>
          </a:p>
          <a:p>
            <a:r>
              <a:t>pushes to</a:t>
            </a:r>
          </a:p>
          <a:p>
            <a:r>
              <a:t>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4630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D1C5"/>
                </a:solidFill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188720"/>
            <a:ext cx="1371600" cy="82296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2984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2️⃣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52704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5E7EB"/>
                </a:solidFill>
              </a:defRPr>
            </a:pPr>
            <a:r>
              <a:t>Actions</a:t>
            </a:r>
          </a:p>
          <a:p>
            <a:r>
              <a:t>builds</a:t>
            </a:r>
          </a:p>
          <a:p>
            <a:r>
              <a:t>Docker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4630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D1C5"/>
                </a:solidFill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188720"/>
            <a:ext cx="1371600" cy="822960"/>
          </a:xfrm>
          <a:prstGeom prst="rect">
            <a:avLst/>
          </a:prstGeom>
          <a:solidFill>
            <a:srgbClr val="2D3250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2984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496ED"/>
                </a:solidFill>
              </a:defRPr>
            </a:pPr>
            <a:r>
              <a:t>3️⃣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52704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5E7EB"/>
                </a:solidFill>
              </a:defRPr>
            </a:pPr>
            <a:r>
              <a:t>Run unit</a:t>
            </a:r>
          </a:p>
          <a:p>
            <a:r>
              <a:t>tests &amp;</a:t>
            </a:r>
          </a:p>
          <a:p>
            <a:r>
              <a:t>linting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14630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D1C5"/>
                </a:solidFill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188720"/>
            <a:ext cx="1371600" cy="822960"/>
          </a:xfrm>
          <a:prstGeom prst="rect">
            <a:avLst/>
          </a:prstGeom>
          <a:solidFill>
            <a:srgbClr val="2D3250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2984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78BFA"/>
                </a:solidFill>
              </a:defRPr>
            </a:pPr>
            <a:r>
              <a:t>4️⃣ PUSH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52704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5E7EB"/>
                </a:solidFill>
              </a:defRPr>
            </a:pPr>
            <a:r>
              <a:t>Push to</a:t>
            </a:r>
          </a:p>
          <a:p>
            <a:r>
              <a:t>Docker Hub</a:t>
            </a:r>
          </a:p>
          <a:p>
            <a:r>
              <a:t>or ECR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14630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D1C5"/>
                </a:solidFill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1188720"/>
            <a:ext cx="1371600" cy="822960"/>
          </a:xfrm>
          <a:prstGeom prst="rect">
            <a:avLst/>
          </a:prstGeom>
          <a:solidFill>
            <a:srgbClr val="2D3250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12984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8C42"/>
                </a:solidFill>
              </a:defRPr>
            </a:pPr>
            <a:r>
              <a:t>5️⃣ 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152704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5E7EB"/>
                </a:solidFill>
              </a:defRPr>
            </a:pPr>
            <a:r>
              <a:t>Deploy to</a:t>
            </a:r>
          </a:p>
          <a:p>
            <a:r>
              <a:t>AWS or</a:t>
            </a:r>
          </a:p>
          <a:p>
            <a:r>
              <a:t>cloud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solidFill>
            <a:srgbClr val="2D3250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2423160"/>
            <a:ext cx="7406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E7EB"/>
                </a:solidFill>
              </a:defRPr>
            </a:pPr>
            <a:r>
              <a:t>⏱️ Manual Process: 2-4 hours ❌  |  CI/CD: 5-10 minutes 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2D3250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15468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</a:defRPr>
            </a:pPr>
            <a:r>
              <a:t>🎯 Pipeline Triggers: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410712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• Push to main branch  • Pull request  • Scheduled (daily/weekly)  • Manual trigger  • Release tag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950208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💡 All this happens automatically - zero human intervention after the push!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🤖 GitHub Actions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3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143737"/>
          </a:solidFill>
          <a:ln w="3810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D1C5"/>
                </a:solidFill>
              </a:defRPr>
            </a:pPr>
            <a:r>
              <a:t>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</a:defRPr>
            </a:pPr>
            <a:r>
              <a:t>GitHub's built-in CI/CD platform. Write workflows in YAML files (.github/workflows/). Free for public repos!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4114800" cy="2286000"/>
          </a:xfrm>
          <a:prstGeom prst="rect">
            <a:avLst/>
          </a:prstGeom>
          <a:solidFill>
            <a:srgbClr val="141923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96ED"/>
                </a:solidFill>
              </a:defRPr>
            </a:pPr>
            <a:r>
              <a:t>📝 Workflow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name: CI/CD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96312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2432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push: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52344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branches: [main]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08376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jobs: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36392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build: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6440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runs-on: ubuntu-latest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392424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steps: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20440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  - uses: actions/checkout@v3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648456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  - name: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76472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    run: docker build -t app 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1828800"/>
            <a:ext cx="4114800" cy="228600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19659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🧩 Key Components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2860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D1C5"/>
                </a:solidFill>
              </a:defRPr>
            </a:pPr>
            <a:r>
              <a:t>name: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2860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Workflow 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6060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D1C5"/>
                </a:solidFill>
              </a:defRPr>
            </a:pPr>
            <a:r>
              <a:t>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6060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When to trigger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29260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D1C5"/>
                </a:solidFill>
              </a:defRPr>
            </a:pPr>
            <a:r>
              <a:t>jobs: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9260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Tasks to 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32461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D1C5"/>
                </a:solidFill>
              </a:defRPr>
            </a:pPr>
            <a:r>
              <a:t>runs-on: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2461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OS environment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3566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D1C5"/>
                </a:solidFill>
              </a:defRPr>
            </a:pPr>
            <a:r>
              <a:t>steps: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35661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Commands to execute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🐳 Build &amp; Push Docker Image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3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141923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96ED"/>
                </a:solidFill>
              </a:defRPr>
            </a:pPr>
            <a:r>
              <a:t>📝 Complete Docker Build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name: Docker Build and 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7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3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push: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39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branches: [main]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1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env: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7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IMAGE_NAME: myapp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19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jobs: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8035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build: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1751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runs-on: ubuntu-latest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5467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steps: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29183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  - name: Checkout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2899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    uses: actions/checkout@v3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solidFill>
            <a:srgbClr val="2D3250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434840"/>
            <a:ext cx="79552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42"/>
                </a:solidFill>
              </a:defRPr>
            </a:pPr>
            <a:r>
              <a:t>➡️ Continued on next slide...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🐳 Build &amp; Push Docker Image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3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2926080"/>
          </a:xfrm>
          <a:prstGeom prst="rect">
            <a:avLst/>
          </a:prstGeom>
          <a:solidFill>
            <a:srgbClr val="141923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96ED"/>
                </a:solidFill>
              </a:defRPr>
            </a:pPr>
            <a:r>
              <a:t>📝 Workflow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7955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      - name: Login to Docker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55063"/>
            <a:ext cx="7955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    uses: docker/login-action@v2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01367"/>
            <a:ext cx="7955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    with: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7955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      username: ${{ secrets.DOCKER_USERNAME 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93976"/>
            <a:ext cx="7955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      password: ${{ secrets.DOCKER_PASSWORD 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86584"/>
            <a:ext cx="7955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      - name: Build and push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32888"/>
            <a:ext cx="7955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    uses: docker/build-push-action@v4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79192"/>
            <a:ext cx="7955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    with: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25496"/>
            <a:ext cx="7955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      context: 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71800"/>
            <a:ext cx="7955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      push: true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118104"/>
            <a:ext cx="7955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      tags: ${{ secrets.DOCKER_USERNAME }}/${{ env.IMAGE_NAME }}:latest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25196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✅ This workflow builds your Docker image and pushes it to Docker Hub automatically!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🔐 Managing Secrets Safely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3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114800" cy="1554480"/>
          </a:xfrm>
          <a:prstGeom prst="rect">
            <a:avLst/>
          </a:prstGeom>
          <a:solidFill>
            <a:srgbClr val="2D3250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</a:defRPr>
            </a:pPr>
            <a:r>
              <a:t>⚠️ NEVER Do This!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env: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19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DOCKER_USER: john_doe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79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DOCKER_PASS: password123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39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AWS_KEY: AKIAIOSFODNN7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59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Visible to everyone!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097280"/>
            <a:ext cx="4114800" cy="155448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23444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✅ Use GitHub Secrets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508760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env: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37160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DOCKER_USER: ${{ secrets.DOCKER_USERNAME 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37160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DOCKER_PASS: ${{ secrets.DOCKER_PASSWORD 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37160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AWS_KEY: ${{ secrets.AWS_KEY 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37160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Encrypted &amp; hidden!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43200"/>
            <a:ext cx="8229600" cy="1463040"/>
          </a:xfrm>
          <a:prstGeom prst="rect">
            <a:avLst/>
          </a:prstGeom>
          <a:solidFill>
            <a:srgbClr val="2D3250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8036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496ED"/>
                </a:solidFill>
              </a:defRPr>
            </a:pPr>
            <a:r>
              <a:t>📝 How to Add Secrets in 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182112"/>
            <a:ext cx="7680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1. Go to your repo → Settings → Secrets and variables →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429000"/>
            <a:ext cx="7680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2. Click 'New repository secret'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675887"/>
            <a:ext cx="7680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3. Name: DOCKER_USERNAME, Value: your_dockerhub_username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922775"/>
            <a:ext cx="7680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4. Repeat for DOCKER_PASSWORD, AWS keys, API tokens, etc.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🧪 Automated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3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141923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96ED"/>
                </a:solidFill>
              </a:defRPr>
            </a:pPr>
            <a:r>
              <a:t>📝 Test Before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795527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jobs: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1"/>
            <a:ext cx="795527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test: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46503"/>
            <a:ext cx="795527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runs-on: ubuntu-latest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65375"/>
            <a:ext cx="795527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84247"/>
            <a:ext cx="795527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  - uses: actions/checkout@v3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03119"/>
            <a:ext cx="795527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  - name: Set up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21991"/>
            <a:ext cx="795527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    uses: actions/setup-python@v4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40863"/>
            <a:ext cx="795527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    with: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459735"/>
            <a:ext cx="795527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      python-version: '3.11'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97479"/>
            <a:ext cx="795527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  - name: Install dependencies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816351"/>
            <a:ext cx="795527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    run: pip install -r requirements.txt pytest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054095"/>
            <a:ext cx="795527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  - name: Run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172967"/>
            <a:ext cx="795527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    run: pytest tests/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410711"/>
            <a:ext cx="795527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deploy: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529583"/>
            <a:ext cx="795527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needs: test  # Only if tests pass!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648455"/>
            <a:ext cx="795527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runs-on: ubuntu-latest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767327"/>
            <a:ext cx="795527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    # ... deployment steps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434840"/>
            <a:ext cx="79552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</a:defRPr>
            </a:pPr>
            <a:r>
              <a:t>✅ Deploy job ONLY runs if test job succeeds!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⭐ CI/CD Best Practices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3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2D3250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</a:defRPr>
            </a:pPr>
            <a:r>
              <a:t>1️⃣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</a:defRPr>
            </a:pPr>
            <a:r>
              <a:t>Test Before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3560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Always run tests before 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solidFill>
            <a:srgbClr val="2D3250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5623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</a:defRPr>
            </a:pPr>
            <a:r>
              <a:t>2️⃣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</a:defRPr>
            </a:pPr>
            <a:r>
              <a:t>Use Secrets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2996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Never hardcode credentials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solidFill>
            <a:srgbClr val="2D3250"/>
          </a:solidFill>
          <a:ln w="2540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5059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</a:defRPr>
            </a:pPr>
            <a:r>
              <a:t>3️⃣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4231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D1C5"/>
                </a:solidFill>
              </a:defRPr>
            </a:pPr>
            <a:r>
              <a:t>Tag Images Properly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2432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Use git SHA or version 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71800"/>
            <a:ext cx="8229600" cy="50292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495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</a:defRPr>
            </a:pPr>
            <a:r>
              <a:t>4️⃣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0175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Cache Dependencies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21868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Speed up builds with caching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solidFill>
            <a:srgbClr val="2D3250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3931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</a:defRPr>
            </a:pPr>
            <a:r>
              <a:t>5️⃣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611879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42"/>
                </a:solidFill>
              </a:defRPr>
            </a:pPr>
            <a:r>
              <a:t>Fail Fast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81304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Stop pipeline on first error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2D3250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315968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</a:defRPr>
            </a:pPr>
            <a:r>
              <a:t>💡 These practices ensure reliable, fast CI/CD pipelines!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⭐ CI/CD Best Practices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3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2D3250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</a:defRPr>
            </a:pPr>
            <a:r>
              <a:t>6️⃣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96ED"/>
                </a:solidFill>
              </a:defRPr>
            </a:pPr>
            <a:r>
              <a:t>Separate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3560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Different workflows for dev/prod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solidFill>
            <a:srgbClr val="2D3250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5623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</a:defRPr>
            </a:pPr>
            <a:r>
              <a:t>7️⃣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</a:defRPr>
            </a:pPr>
            <a:r>
              <a:t>Monitor Pipelines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2996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Set up notifications for failures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solidFill>
            <a:srgbClr val="2D3250"/>
          </a:solidFill>
          <a:ln w="2540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5059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</a:defRPr>
            </a:pPr>
            <a:r>
              <a:t>8️⃣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423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D1C5"/>
                </a:solidFill>
              </a:defRPr>
            </a:pPr>
            <a:r>
              <a:t>Use Matrix Builds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2432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Test multiple Python versions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71800"/>
            <a:ext cx="8229600" cy="50292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495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</a:defRPr>
            </a:pPr>
            <a:r>
              <a:t>9️⃣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0175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Document Workflows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21868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README explains CI/CD process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solidFill>
            <a:srgbClr val="2D3250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3931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</a:defRPr>
            </a:pPr>
            <a:r>
              <a:t>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611879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</a:defRPr>
            </a:pPr>
            <a:r>
              <a:t>Review 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81304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Check logs when things fail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315968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💡 Good CI/CD = Confident deployments = Happy teams!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📚 Day 3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3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114800" cy="2926080"/>
          </a:xfrm>
          <a:prstGeom prst="rect">
            <a:avLst/>
          </a:prstGeom>
          <a:solidFill>
            <a:srgbClr val="2D3250"/>
          </a:solidFill>
          <a:ln w="2540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D1C5"/>
                </a:solidFill>
              </a:defRPr>
            </a:pPr>
            <a:r>
              <a:t>🎯 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✅ CI/CD automates everything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✅ GitHub Actions = free CI/CD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✅ Workflows in YAML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✅ Use secrets for credentials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✅ Test before deploying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✅ Push images automatically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74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✅ Deploy to cloud automatically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097280"/>
            <a:ext cx="4114800" cy="182880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234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📝 Week 18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55448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Containerize Week 17 FastAPI:</a:t>
            </a:r>
          </a:p>
          <a:p/>
          <a:p>
            <a:r>
              <a:t>• Build Docker image on push</a:t>
            </a:r>
          </a:p>
          <a:p>
            <a:r>
              <a:t>• Run tests automatically</a:t>
            </a:r>
          </a:p>
          <a:p>
            <a:r>
              <a:t>• Push to Docker Hub</a:t>
            </a:r>
          </a:p>
          <a:p>
            <a:r>
              <a:t>• (Bonus: Deploy to AWS)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3017520"/>
            <a:ext cx="4114800" cy="1005840"/>
          </a:xfrm>
          <a:prstGeom prst="rect">
            <a:avLst/>
          </a:prstGeom>
          <a:solidFill>
            <a:srgbClr val="2D3250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3154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496ED"/>
                </a:solidFill>
              </a:defRPr>
            </a:pPr>
            <a:r>
              <a:t>🎓 You Now Know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456432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✅ Docker  ✅ Dockerfiles  ✅ CI/CD  ✅ Production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
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0" y="9144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E5E7EB"/>
                </a:solidFill>
              </a:defRPr>
            </a:pPr>
            <a:r>
              <a:t>📝🐳🔧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Dockerfiles for ML Projects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FD1C5"/>
                </a:solidFill>
              </a:defRPr>
            </a:pPr>
            <a:r>
              <a:t>Building Custom Images Like a 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3832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5E7EB"/>
                </a:solidFill>
              </a:defRPr>
            </a:pPr>
            <a:r>
              <a:t>From basic containers to optimized ML deployments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4572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366F1"/>
                </a:solidFill>
              </a:defRPr>
            </a:pPr>
            <a:r>
              <a:t>Week 18 - Day 2 | AI Bootcamp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🔄 Quick Recap: Day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366F1"/>
                </a:solidFill>
              </a:defRPr>
            </a:pPr>
            <a:r>
              <a:t>Week 18 - Day 2 | AI Bootcamp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solidFill>
            <a:srgbClr val="2D3250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E7EB"/>
                </a:solidFill>
              </a:defRPr>
            </a:pPr>
            <a:r>
              <a:t>✅ Docker Basics: Images are templates, containers are instances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solidFill>
            <a:srgbClr val="2D3250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E7EB"/>
                </a:solidFill>
              </a:defRPr>
            </a:pPr>
            <a:r>
              <a:t>✅ Essential Commands: pull, run, ps, stop, start, rm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solidFill>
            <a:srgbClr val="2D3250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E7EB"/>
                </a:solidFill>
              </a:defRPr>
            </a:pPr>
            <a:r>
              <a:t>✅ Simple Dockerfile: FROM, COPY, RUN, CMD - basic structure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solidFill>
            <a:srgbClr val="2D3250"/>
          </a:solidFill>
          <a:ln w="25400">
            <a:solidFill>
              <a:srgbClr val="249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15468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D1C5"/>
                </a:solidFill>
              </a:defRPr>
            </a:pPr>
            <a:r>
              <a:t>🎯 Today's Goal: Write production-ready Dockerfiles for ML applications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49039"/>
            <a:ext cx="8229600" cy="457200"/>
          </a:xfrm>
          <a:prstGeom prst="rect">
            <a:avLst/>
          </a:prstGeom>
          <a:solidFill>
            <a:srgbClr val="2D3250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858768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BBF24"/>
                </a:solidFill>
              </a:defRPr>
            </a:pPr>
            <a:r>
              <a:t>💡 Today we go from toy examples to REAL ML deployments!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📋 Dockerfile Instructions (Part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366F1"/>
                </a:solidFill>
              </a:defRPr>
            </a:pPr>
            <a:r>
              <a:t>Week 18 - Day 2 | AI Bootcamp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840480" cy="3291840"/>
          </a:xfrm>
          <a:prstGeom prst="rect">
            <a:avLst/>
          </a:prstGeom>
          <a:solidFill>
            <a:srgbClr val="141923"/>
          </a:solidFill>
          <a:ln w="25400">
            <a:solidFill>
              <a:srgbClr val="249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496ED"/>
                </a:solidFill>
              </a:defRPr>
            </a:pPr>
            <a:r>
              <a:t>📝 Basic Dockerfile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3566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0B981"/>
                </a:solidFill>
              </a:defRPr>
            </a:pPr>
            <a:r>
              <a:t># Base image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73351"/>
            <a:ext cx="3566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FROM python:3.11-slim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02536"/>
            <a:ext cx="3566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0B981"/>
                </a:solidFill>
              </a:defRPr>
            </a:pPr>
            <a:r>
              <a:t># Set working directory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67128"/>
            <a:ext cx="3566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WORKDIR /app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96312"/>
            <a:ext cx="3566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0B981"/>
                </a:solidFill>
              </a:defRPr>
            </a:pPr>
            <a:r>
              <a:t># Copy requirements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60904"/>
            <a:ext cx="3566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COPY requirements.txt 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990088"/>
            <a:ext cx="3566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0B981"/>
                </a:solidFill>
              </a:defRPr>
            </a:pPr>
            <a:r>
              <a:t># Install dependencies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54680"/>
            <a:ext cx="3566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RUN pip install -r requirements.txt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483864"/>
            <a:ext cx="3566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0B981"/>
                </a:solidFill>
              </a:defRPr>
            </a:pPr>
            <a:r>
              <a:t># Copy app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648456"/>
            <a:ext cx="3566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COPY . 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977640"/>
            <a:ext cx="3566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0B981"/>
                </a:solidFill>
              </a:defRPr>
            </a:pPr>
            <a:r>
              <a:t># Expose 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142232"/>
            <a:ext cx="3566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EXPOSE 8000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11887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5E7EB"/>
                </a:solidFill>
              </a:defRPr>
            </a:pPr>
            <a:r>
              <a:t>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11887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FD1C5"/>
                </a:solidFill>
              </a:defRPr>
            </a:pPr>
            <a:r>
              <a:t>FROM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137160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Base image - starting point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16459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5E7EB"/>
                </a:solidFill>
              </a:defRPr>
            </a:pPr>
            <a:r>
              <a:t>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16459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FD1C5"/>
                </a:solidFill>
              </a:defRPr>
            </a:pPr>
            <a:r>
              <a:t>WORKDIR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182880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Sets working directory in container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21031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5E7EB"/>
                </a:solidFill>
              </a:defRPr>
            </a:pPr>
            <a:r>
              <a:t>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21031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FD1C5"/>
                </a:solidFill>
              </a:defRPr>
            </a:pPr>
            <a:r>
              <a:t>COPY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228600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Copy files from host to container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2560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5E7EB"/>
                </a:solidFill>
              </a:defRPr>
            </a:pPr>
            <a:r>
              <a:t>⚙️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25603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FD1C5"/>
                </a:solidFill>
              </a:defRPr>
            </a:pPr>
            <a:r>
              <a:t>RUN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274320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Execute commands during BUILD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30175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5E7EB"/>
                </a:solidFill>
              </a:defRPr>
            </a:pPr>
            <a:r>
              <a:t>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30175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FD1C5"/>
                </a:solidFill>
              </a:defRPr>
            </a:pPr>
            <a:r>
              <a:t>EXPOSE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320040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Document which port app uses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3749039"/>
            <a:ext cx="4297680" cy="457200"/>
          </a:xfrm>
          <a:prstGeom prst="rect">
            <a:avLst/>
          </a:prstGeom>
          <a:solidFill>
            <a:srgbClr val="2D3250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09160" y="3858768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BF24"/>
                </a:solidFill>
              </a:defRPr>
            </a:pPr>
            <a:r>
              <a:t>💡 Order matters for layer caching!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📋 Dockerfile Instructions (Part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366F1"/>
                </a:solidFill>
              </a:defRPr>
            </a:pPr>
            <a:r>
              <a:t>Week 18 - Day 2 | AI Bootcamp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840480" cy="3291840"/>
          </a:xfrm>
          <a:prstGeom prst="rect">
            <a:avLst/>
          </a:prstGeom>
          <a:solidFill>
            <a:srgbClr val="141923"/>
          </a:solidFill>
          <a:ln w="25400">
            <a:solidFill>
              <a:srgbClr val="249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496ED"/>
                </a:solidFill>
              </a:defRPr>
            </a:pPr>
            <a:r>
              <a:t>📝 Complete ML Dockerfile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3566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FROM python:3.11-slim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73351"/>
            <a:ext cx="3566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WORKDIR /app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02536"/>
            <a:ext cx="3566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0B981"/>
                </a:solidFill>
              </a:defRPr>
            </a:pPr>
            <a:r>
              <a:t># Dependencies first (caching!)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67128"/>
            <a:ext cx="3566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COPY requirements.txt 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31720"/>
            <a:ext cx="3566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RUN pip install -r requirements.txt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60904"/>
            <a:ext cx="3566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0B981"/>
                </a:solidFill>
              </a:defRPr>
            </a:pPr>
            <a:r>
              <a:t># App code last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825496"/>
            <a:ext cx="3566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COPY . 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54680"/>
            <a:ext cx="3566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EXPOSE 8000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483864"/>
            <a:ext cx="3566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0B981"/>
                </a:solidFill>
              </a:defRPr>
            </a:pPr>
            <a:r>
              <a:t># Run command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648456"/>
            <a:ext cx="3566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CMD ["uvicorn", "main:app",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813048"/>
            <a:ext cx="3566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     "--host", "0.0.0.0"]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1097280"/>
            <a:ext cx="4297680" cy="1097280"/>
          </a:xfrm>
          <a:prstGeom prst="rect">
            <a:avLst/>
          </a:prstGeom>
          <a:solidFill>
            <a:srgbClr val="2D3250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123444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78BFA"/>
                </a:solidFill>
              </a:defRPr>
            </a:pPr>
            <a:r>
              <a:t>🚀 CMD Instruction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1508760"/>
            <a:ext cx="4023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</a:defRPr>
            </a:pPr>
            <a:r>
              <a:t>Default command when container STARTS.</a:t>
            </a:r>
          </a:p>
          <a:p/>
          <a:p>
            <a:r>
              <a:t>Use JSON format for best practice.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2286000"/>
            <a:ext cx="4297680" cy="1280160"/>
          </a:xfrm>
          <a:prstGeom prst="rect">
            <a:avLst/>
          </a:prstGeom>
          <a:solidFill>
            <a:srgbClr val="2D3250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9160" y="242316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</a:defRPr>
            </a:pPr>
            <a:r>
              <a:t>✅ Dockerfile Best Practice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2697480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</a:defRPr>
            </a:pPr>
            <a:r>
              <a:t>1. Copy requirements BEFORE code</a:t>
            </a:r>
          </a:p>
          <a:p>
            <a:r>
              <a:t>2. Changes to app.py won't reinstall deps</a:t>
            </a:r>
          </a:p>
          <a:p>
            <a:r>
              <a:t>3. Faster rebuilds (30 sec vs 5 min)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🧱 Layer Caching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366F1"/>
                </a:solidFill>
              </a:defRPr>
            </a:pPr>
            <a:r>
              <a:t>Week 18 - Day 2 | AI Bootcamp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931920" cy="1463040"/>
          </a:xfrm>
          <a:prstGeom prst="rect">
            <a:avLst/>
          </a:prstGeom>
          <a:solidFill>
            <a:srgbClr val="141923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6B"/>
                </a:solidFill>
              </a:defRPr>
            </a:pPr>
            <a:r>
              <a:t>❌ BAD: Rebuilds Everything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3657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FROM python:3.11-slim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55063"/>
            <a:ext cx="3657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COPY . .  # Code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01367"/>
            <a:ext cx="3657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RUN pip install -r requirements.txt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93976"/>
            <a:ext cx="3657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0B981"/>
                </a:solidFill>
              </a:defRPr>
            </a:pPr>
            <a:r>
              <a:t># Change app.py → pip reinstalls!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97480"/>
            <a:ext cx="3931920" cy="1554480"/>
          </a:xfrm>
          <a:prstGeom prst="rect">
            <a:avLst/>
          </a:prstGeom>
          <a:solidFill>
            <a:srgbClr val="141923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8346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</a:defRPr>
            </a:pPr>
            <a:r>
              <a:t>✅ GOOD: Only Rebuilds Changed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108960"/>
            <a:ext cx="3657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FROM python:3.11-slim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255264"/>
            <a:ext cx="3657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COPY requirements.txt 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401568"/>
            <a:ext cx="3657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RUN pip install -r requirements.txt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547872"/>
            <a:ext cx="3657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COPY . .  # Code last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840480"/>
            <a:ext cx="3657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0B981"/>
                </a:solidFill>
              </a:defRPr>
            </a:pPr>
            <a:r>
              <a:t># Change app.py → just copy new code!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1097280"/>
            <a:ext cx="4297680" cy="1828800"/>
          </a:xfrm>
          <a:prstGeom prst="rect">
            <a:avLst/>
          </a:prstGeom>
          <a:solidFill>
            <a:srgbClr val="2D3250"/>
          </a:solidFill>
          <a:ln w="25400">
            <a:solidFill>
              <a:srgbClr val="249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123444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D1C5"/>
                </a:solidFill>
              </a:defRPr>
            </a:pPr>
            <a:r>
              <a:t>🎯 Why This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1508760"/>
            <a:ext cx="4023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</a:defRPr>
            </a:pPr>
            <a:r>
              <a:t>Dependencies rarely change (weekly).</a:t>
            </a:r>
          </a:p>
          <a:p/>
          <a:p>
            <a:r>
              <a:t>App code changes often (daily).</a:t>
            </a:r>
          </a:p>
          <a:p/>
          <a:p>
            <a:r>
              <a:t>Put stable stuff FIRST → cache layers.</a:t>
            </a:r>
          </a:p>
          <a:p/>
          <a:p>
            <a:r>
              <a:t>Put changing stuff LAST → fast rebuilds.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3017520"/>
            <a:ext cx="4297680" cy="731520"/>
          </a:xfrm>
          <a:prstGeom prst="rect">
            <a:avLst/>
          </a:prstGeom>
          <a:solidFill>
            <a:srgbClr val="2D3250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9160" y="32004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BBF24"/>
                </a:solidFill>
              </a:defRPr>
            </a:pPr>
            <a:r>
              <a:t>💡 Good caching:</a:t>
            </a:r>
          </a:p>
          <a:p>
            <a:r>
              <a:t>5 min build → 30 sec rebuild!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🏗️ Multi-Stage Builds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366F1"/>
                </a:solidFill>
              </a:defRPr>
            </a:pPr>
            <a:r>
              <a:t>Week 18 - Day 2 | AI Bootcamp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solidFill>
            <a:srgbClr val="143737"/>
          </a:solidFill>
          <a:ln w="38100">
            <a:solidFill>
              <a:srgbClr val="4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7955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FD1C5"/>
                </a:solidFill>
              </a:defRPr>
            </a:pPr>
            <a:r>
              <a:t>Multi-Stage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5E7EB"/>
                </a:solidFill>
              </a:defRPr>
            </a:pPr>
            <a:r>
              <a:t>Use multiple FROM statements. Build in one stage, copy results to another. Final image has ONLY what's needed to run.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8229600" cy="2286000"/>
          </a:xfrm>
          <a:prstGeom prst="rect">
            <a:avLst/>
          </a:prstGeom>
          <a:solidFill>
            <a:srgbClr val="141923"/>
          </a:solidFill>
          <a:ln w="25400">
            <a:solidFill>
              <a:srgbClr val="249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7955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496ED"/>
                </a:solidFill>
              </a:defRPr>
            </a:pPr>
            <a:r>
              <a:t>📝 Example: Training Stage → Production Stage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40280"/>
            <a:ext cx="795527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0B981"/>
                </a:solidFill>
              </a:defRPr>
            </a:pPr>
            <a:r>
              <a:t># Stage 1: Build (has everything)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77440"/>
            <a:ext cx="795527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FROM python:3.11 AS builder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14600"/>
            <a:ext cx="795527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COPY requirements.txt 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651760"/>
            <a:ext cx="795527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RUN pip install --user -r requirements.txt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788920"/>
            <a:ext cx="795527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COPY train.py 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926079"/>
            <a:ext cx="795527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RUN python train.py  # Saves model.pkl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200399"/>
            <a:ext cx="795527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0B981"/>
                </a:solidFill>
              </a:defRPr>
            </a:pPr>
            <a:r>
              <a:t># Stage 2: Production (slim)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337559"/>
            <a:ext cx="795527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FROM python:3.11-slim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474719"/>
            <a:ext cx="795527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COPY --from=builder /root/.local /root/.local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611879"/>
            <a:ext cx="795527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COPY --from=builder /app/model.pkl 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749039"/>
            <a:ext cx="795527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COPY app.py 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886200"/>
            <a:ext cx="795527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CMD ["python", "app.py"]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solidFill>
            <a:srgbClr val="2D3250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315968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BBF24"/>
                </a:solidFill>
              </a:defRPr>
            </a:pPr>
            <a:r>
              <a:t>💡 Stage 1: 2GB with training tools. Stage 2: 200MB with only runtime!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🔧 Environment Variables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366F1"/>
                </a:solidFill>
              </a:defRPr>
            </a:pPr>
            <a:r>
              <a:t>Week 18 - Day 2 | AI Bootcamp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931920" cy="1828800"/>
          </a:xfrm>
          <a:prstGeom prst="rect">
            <a:avLst/>
          </a:prstGeom>
          <a:solidFill>
            <a:srgbClr val="141923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</a:defRPr>
            </a:pPr>
            <a:r>
              <a:t>🔑 ENV: Runtime Variables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3657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FROM python:3.11-slim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01367"/>
            <a:ext cx="3657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ENV MODEL_PATH=/models/best.pkl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47672"/>
            <a:ext cx="3657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ENV API_KEY=default_key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93976"/>
            <a:ext cx="3657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ENV LOG_LEVEL=INFO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86584"/>
            <a:ext cx="3657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0B981"/>
                </a:solidFill>
              </a:defRPr>
            </a:pPr>
            <a:r>
              <a:t># Access in Python: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32888"/>
            <a:ext cx="3657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0B981"/>
                </a:solidFill>
              </a:defRPr>
            </a:pPr>
            <a:r>
              <a:t># import 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679192"/>
            <a:ext cx="3657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0B981"/>
                </a:solidFill>
              </a:defRPr>
            </a:pPr>
            <a:r>
              <a:t># path = os.getenv('MODEL_PATH')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17520"/>
            <a:ext cx="3931920" cy="1188720"/>
          </a:xfrm>
          <a:prstGeom prst="rect">
            <a:avLst/>
          </a:prstGeom>
          <a:solidFill>
            <a:srgbClr val="141923"/>
          </a:solidFill>
          <a:ln w="25400">
            <a:solidFill>
              <a:srgbClr val="249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1546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496ED"/>
                </a:solidFill>
              </a:defRPr>
            </a:pPr>
            <a:r>
              <a:t>🛠️ ARG: Build-Time Variables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429000"/>
            <a:ext cx="3657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ARG PYTHON_VERSION=3.11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557016"/>
            <a:ext cx="3657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FROM python:${PYTHON_VERSION}-slim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813048"/>
            <a:ext cx="3657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0B981"/>
                </a:solidFill>
              </a:defRPr>
            </a:pPr>
            <a:r>
              <a:t># Build: docker build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941063"/>
            <a:ext cx="3657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0B981"/>
                </a:solidFill>
              </a:defRPr>
            </a:pPr>
            <a:r>
              <a:t>#   --build-arg PYTHON_VERSION=3.10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1097280"/>
            <a:ext cx="4297680" cy="1280160"/>
          </a:xfrm>
          <a:prstGeom prst="rect">
            <a:avLst/>
          </a:prstGeom>
          <a:solidFill>
            <a:srgbClr val="2D3250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60" y="123444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</a:defRPr>
            </a:pPr>
            <a:r>
              <a:t>✅ Use ENV for: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1490472"/>
            <a:ext cx="4023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</a:defRPr>
            </a:pPr>
            <a:r>
              <a:t>• API keys</a:t>
            </a:r>
          </a:p>
          <a:p>
            <a:r>
              <a:t>• Model paths</a:t>
            </a:r>
          </a:p>
          <a:p>
            <a:r>
              <a:t>• Config settings</a:t>
            </a:r>
          </a:p>
          <a:p>
            <a:r>
              <a:t>• Log levels</a:t>
            </a:r>
          </a:p>
          <a:p>
            <a:r>
              <a:t>• Database URLs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2468880"/>
            <a:ext cx="4297680" cy="1097280"/>
          </a:xfrm>
          <a:prstGeom prst="rect">
            <a:avLst/>
          </a:prstGeom>
          <a:solidFill>
            <a:srgbClr val="2D3250"/>
          </a:solidFill>
          <a:ln w="25400">
            <a:solidFill>
              <a:srgbClr val="249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260604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496ED"/>
                </a:solidFill>
              </a:defRPr>
            </a:pPr>
            <a:r>
              <a:t>🔧 Use ARG for: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2862072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</a:defRPr>
            </a:pPr>
            <a:r>
              <a:t>• Python version</a:t>
            </a:r>
          </a:p>
          <a:p>
            <a:r>
              <a:t>• Base image selection</a:t>
            </a:r>
          </a:p>
          <a:p>
            <a:r>
              <a:t>• Build dependencies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3657600"/>
            <a:ext cx="4297680" cy="548640"/>
          </a:xfrm>
          <a:prstGeom prst="rect">
            <a:avLst/>
          </a:prstGeom>
          <a:solidFill>
            <a:srgbClr val="2D3250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09160" y="379476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BF24"/>
                </a:solidFill>
              </a:defRPr>
            </a:pPr>
            <a:r>
              <a:t>💡 ARG = Build time</a:t>
            </a:r>
          </a:p>
          <a:p>
            <a:r>
              <a:t>ENV = Run time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🚫 .dockerignore 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366F1"/>
                </a:solidFill>
              </a:defRPr>
            </a:pPr>
            <a:r>
              <a:t>Week 18 - Day 2 | AI Bootcamp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594360"/>
          </a:xfrm>
          <a:prstGeom prst="rect">
            <a:avLst/>
          </a:prstGeom>
          <a:solidFill>
            <a:srgbClr val="143737"/>
          </a:solidFill>
          <a:ln w="38100">
            <a:solidFill>
              <a:srgbClr val="4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7955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D1C5"/>
                </a:solidFill>
              </a:defRPr>
            </a:pPr>
            <a:r>
              <a:t>.dockerignore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7955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5E7EB"/>
                </a:solidFill>
              </a:defRPr>
            </a:pPr>
            <a:r>
              <a:t>Tells Docker which files to EXCLUDE when copying. Like .gitignore for Docker.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3931920" cy="2377440"/>
          </a:xfrm>
          <a:prstGeom prst="rect">
            <a:avLst/>
          </a:prstGeom>
          <a:solidFill>
            <a:srgbClr val="141923"/>
          </a:solidFill>
          <a:ln w="25400">
            <a:solidFill>
              <a:srgbClr val="249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496ED"/>
                </a:solidFill>
              </a:defRPr>
            </a:pPr>
            <a:r>
              <a:t>📝 .dockerignore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94560"/>
            <a:ext cx="36576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0B981"/>
                </a:solidFill>
              </a:defRPr>
            </a:pPr>
            <a:r>
              <a:t>#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04288"/>
            <a:ext cx="36576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__pycache__/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14016"/>
            <a:ext cx="36576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*.pyc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523744"/>
            <a:ext cx="36576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.pytest_cache/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743200"/>
            <a:ext cx="36576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0B981"/>
                </a:solidFill>
              </a:defRPr>
            </a:pPr>
            <a:r>
              <a:t># Virtual environments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852928"/>
            <a:ext cx="36576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venv/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962656"/>
            <a:ext cx="36576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.venv/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182112"/>
            <a:ext cx="36576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0B981"/>
                </a:solidFill>
              </a:defRPr>
            </a:pPr>
            <a:r>
              <a:t># Git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291840"/>
            <a:ext cx="36576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.git/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511296"/>
            <a:ext cx="36576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0B981"/>
                </a:solidFill>
              </a:defRPr>
            </a:pPr>
            <a:r>
              <a:t># Data files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621024"/>
            <a:ext cx="36576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data/raw/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730752"/>
            <a:ext cx="36576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*.csv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950208"/>
            <a:ext cx="36576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0B981"/>
                </a:solidFill>
              </a:defRPr>
            </a:pPr>
            <a:r>
              <a:t># 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059936"/>
            <a:ext cx="36576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.vscode/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169664"/>
            <a:ext cx="36576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.idea/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1783080"/>
            <a:ext cx="4297680" cy="1097280"/>
          </a:xfrm>
          <a:prstGeom prst="rect">
            <a:avLst/>
          </a:prstGeom>
          <a:solidFill>
            <a:srgbClr val="2D3250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60" y="192024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6B"/>
                </a:solidFill>
              </a:defRPr>
            </a:pPr>
            <a:r>
              <a:t>⚠️ Without .dockerignore: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2176272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</a:defRPr>
            </a:pPr>
            <a:r>
              <a:t>• 5GB dataset in image</a:t>
            </a:r>
          </a:p>
          <a:p>
            <a:r>
              <a:t>• .git history included</a:t>
            </a:r>
          </a:p>
          <a:p>
            <a:r>
              <a:t>• 10+ minute builds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2971800"/>
            <a:ext cx="4297680" cy="914400"/>
          </a:xfrm>
          <a:prstGeom prst="rect">
            <a:avLst/>
          </a:prstGeom>
          <a:solidFill>
            <a:srgbClr val="2D3250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60" y="310896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</a:defRPr>
            </a:pPr>
            <a:r>
              <a:t>✅ With .dockerignore: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336499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</a:defRPr>
            </a:pPr>
            <a:r>
              <a:t>• Only essential code</a:t>
            </a:r>
          </a:p>
          <a:p>
            <a:r>
              <a:t>• 200MB image</a:t>
            </a:r>
          </a:p>
          <a:p>
            <a:r>
              <a:t>• 30 second builds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⭐ Dockerfile Best Practices (Part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366F1"/>
                </a:solidFill>
              </a:defRPr>
            </a:pPr>
            <a:r>
              <a:t>Week 18 - Day 2 | AI Bootcamp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solidFill>
            <a:srgbClr val="2D3250"/>
          </a:solidFill>
          <a:ln w="25400">
            <a:solidFill>
              <a:srgbClr val="4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5E7EB"/>
                </a:solidFill>
              </a:defRPr>
            </a:pPr>
            <a:r>
              <a:t>1️⃣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23444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FD1C5"/>
                </a:solidFill>
              </a:defRPr>
            </a:pPr>
            <a:r>
              <a:t>Use Specific Tags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435608"/>
            <a:ext cx="74980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python:3.11-slim NOT python:latest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8229600" cy="502920"/>
          </a:xfrm>
          <a:prstGeom prst="rect">
            <a:avLst/>
          </a:prstGeom>
          <a:solidFill>
            <a:srgbClr val="2D3250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5623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5E7EB"/>
                </a:solidFill>
              </a:defRPr>
            </a:pPr>
            <a:r>
              <a:t>2️⃣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82880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</a:defRPr>
            </a:pPr>
            <a:r>
              <a:t>Minimize Layers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029968"/>
            <a:ext cx="74980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Combine RUN commands with &amp;&amp;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77440"/>
            <a:ext cx="8229600" cy="502920"/>
          </a:xfrm>
          <a:prstGeom prst="rect">
            <a:avLst/>
          </a:prstGeom>
          <a:solidFill>
            <a:srgbClr val="2D3250"/>
          </a:solidFill>
          <a:ln w="25400">
            <a:solidFill>
              <a:srgbClr val="249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45059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5E7EB"/>
                </a:solidFill>
              </a:defRPr>
            </a:pPr>
            <a:r>
              <a:t>3️⃣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42316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496ED"/>
                </a:solidFill>
              </a:defRPr>
            </a:pPr>
            <a:r>
              <a:t>Leverage Cache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624328"/>
            <a:ext cx="74980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Copy requirements before code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71800"/>
            <a:ext cx="8229600" cy="502920"/>
          </a:xfrm>
          <a:prstGeom prst="rect">
            <a:avLst/>
          </a:prstGeom>
          <a:solidFill>
            <a:srgbClr val="2D3250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495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5E7EB"/>
                </a:solidFill>
              </a:defRPr>
            </a:pPr>
            <a:r>
              <a:t>4️⃣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01752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</a:defRPr>
            </a:pPr>
            <a:r>
              <a:t>Use .dockerignore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218688"/>
            <a:ext cx="74980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Exclude unnecessary files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566160"/>
            <a:ext cx="8229600" cy="502920"/>
          </a:xfrm>
          <a:prstGeom prst="rect">
            <a:avLst/>
          </a:prstGeom>
          <a:solidFill>
            <a:srgbClr val="2D3250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63931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5E7EB"/>
                </a:solidFill>
              </a:defRPr>
            </a:pPr>
            <a:r>
              <a:t>5️⃣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611879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42"/>
                </a:solidFill>
              </a:defRPr>
            </a:pPr>
            <a:r>
              <a:t>Multi-Stage Builds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813048"/>
            <a:ext cx="74980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Small final images for production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solidFill>
            <a:srgbClr val="2D3250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315968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BBF24"/>
                </a:solidFill>
              </a:defRPr>
            </a:pPr>
            <a:r>
              <a:t>💡 These 5 practices will make your Dockerfiles production-ready!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⭐ Dockerfile Best Practices (Part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366F1"/>
                </a:solidFill>
              </a:defRPr>
            </a:pPr>
            <a:r>
              <a:t>Week 18 - Day 2 | AI Bootcamp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solidFill>
            <a:srgbClr val="2D3250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5E7EB"/>
                </a:solidFill>
              </a:defRPr>
            </a:pPr>
            <a:r>
              <a:t>6️⃣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23444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6B"/>
                </a:solidFill>
              </a:defRPr>
            </a:pPr>
            <a:r>
              <a:t>Don't Run as Root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435608"/>
            <a:ext cx="74980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Create non-root user for security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8229600" cy="502920"/>
          </a:xfrm>
          <a:prstGeom prst="rect">
            <a:avLst/>
          </a:prstGeom>
          <a:solidFill>
            <a:srgbClr val="2D3250"/>
          </a:solidFill>
          <a:ln w="25400">
            <a:solidFill>
              <a:srgbClr val="4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5623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5E7EB"/>
                </a:solidFill>
              </a:defRPr>
            </a:pPr>
            <a:r>
              <a:t>7️⃣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82880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FD1C5"/>
                </a:solidFill>
              </a:defRPr>
            </a:pPr>
            <a:r>
              <a:t>Pin Dependencies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029968"/>
            <a:ext cx="74980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Lock versions in requirements.txt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77440"/>
            <a:ext cx="8229600" cy="502920"/>
          </a:xfrm>
          <a:prstGeom prst="rect">
            <a:avLst/>
          </a:prstGeom>
          <a:solidFill>
            <a:srgbClr val="2D3250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45059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5E7EB"/>
                </a:solidFill>
              </a:defRPr>
            </a:pPr>
            <a:r>
              <a:t>8️⃣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42316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</a:defRPr>
            </a:pPr>
            <a:r>
              <a:t>Add Health Checks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624328"/>
            <a:ext cx="74980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Use HEALTHCHECK instruction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71800"/>
            <a:ext cx="8229600" cy="502920"/>
          </a:xfrm>
          <a:prstGeom prst="rect">
            <a:avLst/>
          </a:prstGeom>
          <a:solidFill>
            <a:srgbClr val="2D3250"/>
          </a:solidFill>
          <a:ln w="25400">
            <a:solidFill>
              <a:srgbClr val="249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495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5E7EB"/>
                </a:solidFill>
              </a:defRPr>
            </a:pPr>
            <a:r>
              <a:t>9️⃣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01752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496ED"/>
                </a:solidFill>
              </a:defRPr>
            </a:pPr>
            <a:r>
              <a:t>Label Your Images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218688"/>
            <a:ext cx="74980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Add metadata with LABEL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566160"/>
            <a:ext cx="8229600" cy="502920"/>
          </a:xfrm>
          <a:prstGeom prst="rect">
            <a:avLst/>
          </a:prstGeom>
          <a:solidFill>
            <a:srgbClr val="2D3250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63931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5E7EB"/>
                </a:solidFill>
              </a:defRPr>
            </a:pPr>
            <a:r>
              <a:t>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611879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</a:defRPr>
            </a:pPr>
            <a:r>
              <a:t>Clean 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813048"/>
            <a:ext cx="74980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</a:defRPr>
            </a:pPr>
            <a:r>
              <a:t>Remove cache after apt-get install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solidFill>
            <a:srgbClr val="2D3250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315968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BBF24"/>
                </a:solidFill>
              </a:defRPr>
            </a:pPr>
            <a:r>
              <a:t>💡 Small images = Fast deployments = Happy DevOps teams!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🤖 Production ML Dockerfile (Part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366F1"/>
                </a:solidFill>
              </a:defRPr>
            </a:pPr>
            <a:r>
              <a:t>Week 18 - Day 2 | AI Bootcamp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3291840"/>
          </a:xfrm>
          <a:prstGeom prst="rect">
            <a:avLst/>
          </a:prstGeom>
          <a:solidFill>
            <a:srgbClr val="141923"/>
          </a:solidFill>
          <a:ln w="25400">
            <a:solidFill>
              <a:srgbClr val="249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7955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496ED"/>
                </a:solidFill>
              </a:defRPr>
            </a:pPr>
            <a:r>
              <a:t>📝 Complete FastAPI + ML Dockerfile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795527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FROM python:3.11-slim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83079"/>
            <a:ext cx="795527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0B981"/>
                </a:solidFill>
              </a:defRPr>
            </a:pPr>
            <a:r>
              <a:t># Install system dependencies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39"/>
            <a:ext cx="795527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RUN apt-get update &amp;&amp; apt-get install -y \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399"/>
            <a:ext cx="795527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    build-essential curl &amp;&amp; \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94559"/>
            <a:ext cx="795527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    rm -rf /var/lib/apt/lists/*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68879"/>
            <a:ext cx="795527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0B981"/>
                </a:solidFill>
              </a:defRPr>
            </a:pPr>
            <a:r>
              <a:t># Create non-root 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606039"/>
            <a:ext cx="795527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RUN useradd -m -u 1000 appuser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880359"/>
            <a:ext cx="795527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WORKDIR /app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154679"/>
            <a:ext cx="795527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0B981"/>
                </a:solidFill>
              </a:defRPr>
            </a:pPr>
            <a:r>
              <a:t># Install Python dependencies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291839"/>
            <a:ext cx="795527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COPY requirements.txt 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428999"/>
            <a:ext cx="795527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RUN pip install --no-cache-dir -r requirements.txt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480560"/>
            <a:ext cx="8229600" cy="182880"/>
          </a:xfrm>
          <a:prstGeom prst="rect">
            <a:avLst/>
          </a:prstGeom>
          <a:solidFill>
            <a:srgbClr val="2D3250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507992"/>
            <a:ext cx="795527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8C42"/>
                </a:solidFill>
              </a:defRPr>
            </a:pPr>
            <a:r>
              <a:t>➡️ Continued on next slide...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🤖 Production ML Dockerfile (Part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366F1"/>
                </a:solidFill>
              </a:defRPr>
            </a:pPr>
            <a:r>
              <a:t>Week 18 - Day 2 | AI Bootcamp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solidFill>
            <a:srgbClr val="141923"/>
          </a:solidFill>
          <a:ln w="25400">
            <a:solidFill>
              <a:srgbClr val="249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7955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496ED"/>
                </a:solidFill>
              </a:defRPr>
            </a:pPr>
            <a:r>
              <a:t>📝 Complete Dockerfile (continued)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795527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0B981"/>
                </a:solidFill>
              </a:defRPr>
            </a:pPr>
            <a:r>
              <a:t># Copy application files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55063"/>
            <a:ext cx="795527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COPY --chown=appuser:appuser . 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47672"/>
            <a:ext cx="795527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0B981"/>
                </a:solidFill>
              </a:defRPr>
            </a:pPr>
            <a:r>
              <a:t># Switch to non-root 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93976"/>
            <a:ext cx="795527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USER appuser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86584"/>
            <a:ext cx="795527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0B981"/>
                </a:solidFill>
              </a:defRPr>
            </a:pPr>
            <a:r>
              <a:t># Expose 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32888"/>
            <a:ext cx="795527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EXPOSE 8000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825496"/>
            <a:ext cx="795527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0B981"/>
                </a:solidFill>
              </a:defRPr>
            </a:pPr>
            <a:r>
              <a:t># Health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971800"/>
            <a:ext cx="795527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HEALTHCHECK CMD curl -f http://localhost:8000/health || exit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264408"/>
            <a:ext cx="795527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0B981"/>
                </a:solidFill>
              </a:defRPr>
            </a:pPr>
            <a:r>
              <a:t># Run application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410712"/>
            <a:ext cx="795527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CMD ["uvicorn", "main:app", "--host", "0.0.0.0", "--port", "8000"]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solidFill>
            <a:srgbClr val="2D3250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069080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</a:defRPr>
            </a:pPr>
            <a:r>
              <a:t>✅ This Dockerfile follows all best practices: slim base, non-root user, proper caching, health check, and clean structure!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📚 Day 2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366F1"/>
                </a:solidFill>
              </a:defRPr>
            </a:pPr>
            <a:r>
              <a:t>Week 18 - Day 2 | AI Bootcamp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4114800" cy="3017520"/>
          </a:xfrm>
          <a:prstGeom prst="rect">
            <a:avLst/>
          </a:prstGeom>
          <a:solidFill>
            <a:srgbClr val="2D3250"/>
          </a:solidFill>
          <a:ln w="25400">
            <a:solidFill>
              <a:srgbClr val="4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FD1C5"/>
                </a:solidFill>
              </a:defRPr>
            </a:pPr>
            <a:r>
              <a:t>🎯 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</a:defRPr>
            </a:pPr>
            <a:r>
              <a:t>✅ Order matters for caching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</a:defRPr>
            </a:pPr>
            <a:r>
              <a:t>✅ Requirements before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</a:defRPr>
            </a:pPr>
            <a:r>
              <a:t>✅ Multi-stage for small images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14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</a:defRPr>
            </a:pPr>
            <a:r>
              <a:t>✅ .dockerignore saves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346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</a:defRPr>
            </a:pPr>
            <a:r>
              <a:t>✅ ENV for runtime, ARG for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1546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</a:defRPr>
            </a:pPr>
            <a:r>
              <a:t>✅ Use specific image tags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4747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</a:defRPr>
            </a:pPr>
            <a:r>
              <a:t>✅ Run as non-root user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1097280"/>
            <a:ext cx="4114800" cy="1645920"/>
          </a:xfrm>
          <a:prstGeom prst="rect">
            <a:avLst/>
          </a:prstGeom>
          <a:solidFill>
            <a:srgbClr val="2D3250"/>
          </a:solidFill>
          <a:ln w="25400">
            <a:solidFill>
              <a:srgbClr val="249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123444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496ED"/>
                </a:solidFill>
              </a:defRPr>
            </a:pPr>
            <a:r>
              <a:t>🚀 What's Next: Day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1554480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</a:defRPr>
            </a:pPr>
            <a:r>
              <a:t>CI/CD with GitHub Actions:</a:t>
            </a:r>
          </a:p>
          <a:p/>
          <a:p>
            <a:r>
              <a:t>• Automate Docker builds</a:t>
            </a:r>
          </a:p>
          <a:p>
            <a:r>
              <a:t>• Push to registries</a:t>
            </a:r>
          </a:p>
          <a:p>
            <a:r>
              <a:t>• Deploy automatically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2834640"/>
            <a:ext cx="4114800" cy="1280160"/>
          </a:xfrm>
          <a:prstGeom prst="rect">
            <a:avLst/>
          </a:prstGeom>
          <a:solidFill>
            <a:srgbClr val="2D3250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29718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</a:defRPr>
            </a:pPr>
            <a:r>
              <a:t>📝 Today's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329184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E7EB"/>
                </a:solidFill>
              </a:defRPr>
            </a:pPr>
            <a:r>
              <a:t>Write production Dockerfile for your Week 17 FastAPI app with ML model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
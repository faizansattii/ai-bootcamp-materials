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914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🐳📦⚙️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Introduction to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FD1C5"/>
                </a:solidFill>
              </a:defRPr>
            </a:pPr>
            <a:r>
              <a:t>Containerize Your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E7EB"/>
                </a:solidFill>
              </a:defRPr>
            </a:pPr>
            <a:r>
              <a:t>From "works on my machine" to consistent deployments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😰 The Deployment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2D3250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6B"/>
                </a:solidFill>
              </a:defRPr>
            </a:pPr>
            <a:r>
              <a:t>❌ 'Works on My Machine' Syndrome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Your FastAPI app runs perfectly on your laptop. Production server? Crashes immediately. Different Python versions, missing dependencies, wrong configurations.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2D3250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</a:defRPr>
            </a:pPr>
            <a:r>
              <a:t>❌ Environment Inconsistencies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Dev uses Ubuntu, staging uses macOS, production uses RHEL. Each environment has different libraries, permissions, and system packages.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2D3250"/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❌ Dependency 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Project A needs numpy 1.21, Project B needs numpy 1.24. Installing one breaks the other. Virtual environments help but don't solve system-level conflicts.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💡 Sound familiar? Docker solves all of these problems!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💬 Real-World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2D3250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👨‍💻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5E7EB"/>
                </a:solidFill>
              </a:defRPr>
            </a:pPr>
            <a:r>
              <a:t>I've built this amazing ML API with FastAPI. It works perfectly on my laptop!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2D3250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6B"/>
                </a:solidFill>
              </a:defRPr>
            </a:pPr>
            <a:r>
              <a:t>👨‍🔧 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5E7EB"/>
                </a:solidFill>
              </a:defRPr>
            </a:pPr>
            <a:r>
              <a:t>Great! But production has Python 3.8, you used 3.11. We're missing CUDA drivers. The model file is 2GB... where do I put 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solidFill>
            <a:srgbClr val="0A322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🐳 Docker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Package everything together: your code, Python 3.11, all dependencies, model files, configurations. Ship it as one unit. Runs the same everywhere.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D1C5"/>
                </a:solidFill>
              </a:defRPr>
            </a:pPr>
            <a:r>
              <a:t>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A platform that packages applications and their dependencies into containers — lightweight, portable units that run consistently across any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194560" cy="100584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496ED"/>
                </a:solidFill>
              </a:defRPr>
            </a:pPr>
            <a: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E5E7EB"/>
                </a:solidFill>
              </a:defRPr>
            </a:pPr>
            <a:r>
              <a:t>Wrap app + dependencies into a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432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77440"/>
            <a:ext cx="2194560" cy="100584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E5E7EB"/>
                </a:solidFill>
              </a:defRPr>
            </a:pPr>
            <a:r>
              <a:t>Share image via Docker Hub or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432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377440"/>
            <a:ext cx="2194560" cy="100584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8892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E5E7EB"/>
                </a:solidFill>
              </a:defRPr>
            </a:pPr>
            <a:r>
              <a:t>Execute anywhere with identical behavior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79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💡 Key Insight: Think of Docker containers like shipping containers — standardized boxes that work on any ship, truck, or train!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🆚 Containers vs Virtual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2D3250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💻 Virtual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❌ Heavy: GBs in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❌ Slow: Minutes to boot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❌ Resource-Intensive: Full OS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❌ Isolated: Hypervisor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3931920" cy="411480"/>
          </a:xfrm>
          <a:prstGeom prst="rect">
            <a:avLst/>
          </a:prstGeom>
          <a:solidFill>
            <a:srgbClr val="2D3250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170432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🐳 Docker Containers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6459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7190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✅ Lightweight: MBs in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1031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1762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✅ Fast: Seconds to start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5603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633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✅ Efficient: Shares host OS kernel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017520"/>
            <a:ext cx="39319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0906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7EB"/>
                </a:solidFill>
              </a:defRPr>
            </a:pPr>
            <a:r>
              <a:t>✅ Portable: Run anywhere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💡 Both provide isolation, but containers are much more efficient for microservices and cloud deployments!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🏗️ 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2D3250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704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D1C5"/>
                </a:solidFill>
              </a:defRPr>
            </a:pPr>
            <a:r>
              <a:t>Docker Client (CLI)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The docker command you type. Sends instructions to the daemon.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2D3250"/>
          </a:solidFill>
          <a:ln w="381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96ED"/>
                </a:solidFill>
              </a:defRPr>
            </a:pPr>
            <a:r>
              <a:t>Docker Daemon (dockerd)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The engine that builds, runs, and manages containers. Runs in the background.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2D3250"/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3347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Docker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Read-only templates with instructions for creating containers. Like blueprints.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2D3250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649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Docker Containers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11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Running instances of images. Your actual isolated application environments.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D3250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96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Docker Hub (Registry)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Cloud repository for sharing and storing Docker images. Like GitHub for containers.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📦 Docker Images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D1C5"/>
                </a:solidFill>
              </a:defRPr>
            </a:pPr>
            <a:r>
              <a:t>Docker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A read-only template containing everything needed to run an application: code, runtime, libraries, environment variables, and configuration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🎯 Key Properties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Immutable: Once built, never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Layered: Built in stacked 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Shareable: Push/pull from registries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Versioned: Tagged (e.g., python:3.11)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📚 Popular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774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python:3.11 - Python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432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nginx:latest - Web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postgres:15 -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74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ubuntu:22.04 - OS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🚀 Docker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D1C5"/>
                </a:solidFill>
              </a:defRPr>
            </a:pPr>
            <a:r>
              <a:t>Docker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A runnable instance of an image. Containers are isolated environments where your application executes with its own filesystem, networking, and process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🔄 Container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FD1C5"/>
                </a:solidFill>
              </a:defRPr>
            </a:pPr>
            <a:r>
              <a:t>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Container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FD1C5"/>
                </a:solidFill>
              </a:defRPr>
            </a:pPr>
            <a:r>
              <a:t>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Actively executing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⏸️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FD1C5"/>
                </a:solidFill>
              </a:defRPr>
            </a:pPr>
            <a:r>
              <a:t>PAUSED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Temporarily stopped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68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FD1C5"/>
                </a:solidFill>
              </a:defRPr>
            </a:pPr>
            <a:r>
              <a:t>STOPPED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Exited but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68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FD1C5"/>
                </a:solidFill>
              </a:defRPr>
            </a:pPr>
            <a:r>
              <a:t>DELETED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Removed forever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40479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💡 Key Difference: Images are templates (immutable). Containers are instances (can be started/stopped/deleted).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🧱 How Docker Images Work: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017520" cy="502920"/>
          </a:xfrm>
          <a:prstGeom prst="rect">
            <a:avLst/>
          </a:prstGeom>
          <a:solidFill>
            <a:srgbClr val="1E2139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E7EB"/>
                </a:solidFill>
              </a:defRPr>
            </a:pPr>
            <a:r>
              <a:t>Layer 1: Base OS (Ubuntu)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017520" cy="502920"/>
          </a:xfrm>
          <a:prstGeom prst="rect">
            <a:avLst/>
          </a:prstGeom>
          <a:solidFill>
            <a:srgbClr val="1E213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E7EB"/>
                </a:solidFill>
              </a:defRPr>
            </a:pPr>
            <a:r>
              <a:t>Layer 2: Python 3.11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3017520" cy="502920"/>
          </a:xfrm>
          <a:prstGeom prst="rect">
            <a:avLst/>
          </a:prstGeom>
          <a:solidFill>
            <a:srgbClr val="1E2139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E7EB"/>
                </a:solidFill>
              </a:defRPr>
            </a:pPr>
            <a:r>
              <a:t>Layer 3: Dependencies (FastAPI,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017520" cy="502920"/>
          </a:xfrm>
          <a:prstGeom prst="rect">
            <a:avLst/>
          </a:prstGeom>
          <a:solidFill>
            <a:srgbClr val="1E2139"/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E7EB"/>
                </a:solidFill>
              </a:defRPr>
            </a:pPr>
            <a:r>
              <a:t>Layer 4: Your Application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✅ Why Layers Matter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4630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5087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Caching: Unchanged layers reused, faster builds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9202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9659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Sharing: Multiple images share base layers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3774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4231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Efficiency: Only store differences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8346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8803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Version Control: Track what changed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383280"/>
            <a:ext cx="4389120" cy="59436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474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BF24"/>
                </a:solidFill>
              </a:defRPr>
            </a:pPr>
            <a:r>
              <a:t>💡 Pro Tip: Put frequently changing code (your app) in top layers. Put rarely changing stuff (OS, libraries) in bottom layers!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💻 Essential Docker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FD1C5"/>
                </a:solidFill>
              </a:defRPr>
            </a:pPr>
            <a:r>
              <a:t>📥 Working with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pull python:3.11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Download an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List all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rmi image_id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Remove an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0972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FD1C5"/>
                </a:solidFill>
              </a:defRPr>
            </a:pPr>
            <a:r>
              <a:t>🚀 Running Containers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630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5087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run 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733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Start a new container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9202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9659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1305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List running containers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3774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4231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ps -a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877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List all containers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0972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FD1C5"/>
                </a:solidFill>
              </a:defRPr>
            </a:pPr>
            <a:r>
              <a:t>⚙️ Managing Containers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5087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stop container_id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6733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Stop a container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9202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9659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start container_id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1305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Restart a container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377440"/>
            <a:ext cx="2560320" cy="365760"/>
          </a:xfrm>
          <a:prstGeom prst="rect">
            <a:avLst/>
          </a:prstGeom>
          <a:solidFill>
            <a:srgbClr val="2D3250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4231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docker rm container_id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587752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CA3AF"/>
                </a:solidFill>
              </a:defRPr>
            </a:pPr>
            <a:r>
              <a:t>Delete a container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00400"/>
            <a:ext cx="4389120" cy="59436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291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BF24"/>
                </a:solidFill>
              </a:defRPr>
            </a:pPr>
            <a:r>
              <a:t>💡 Pro Tip: Use --help with any command to see all options!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Docker Workflow: From Image to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645920" cy="86868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FD1C5"/>
                </a:solidFill>
              </a:defRPr>
            </a:pPr>
            <a:r>
              <a:t>1. FIND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E5E7EB"/>
                </a:solidFill>
              </a:defRPr>
            </a:pPr>
            <a:r>
              <a:t>Search Docker Hub for pre-built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544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188720"/>
            <a:ext cx="1645920" cy="86868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2618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361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2. PULL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E5E7EB"/>
                </a:solidFill>
              </a:defRPr>
            </a:pPr>
            <a:r>
              <a:t>Download to local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544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188720"/>
            <a:ext cx="1645920" cy="86868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618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5361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3. RUN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E5E7EB"/>
                </a:solidFill>
              </a:defRPr>
            </a:pPr>
            <a:r>
              <a:t>Create running instance from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5544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188720"/>
            <a:ext cx="1645920" cy="86868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618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361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4. MANAGE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E5E7EB"/>
                </a:solidFill>
              </a:defRPr>
            </a:pPr>
            <a:r>
              <a:t>Stop, start, inspect, or delete containers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96ED"/>
                </a:solidFill>
              </a:defRPr>
            </a:pPr>
            <a:r>
              <a:t>💻 Example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7863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$ docker pull nginx:latest          # Download nginx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54680"/>
            <a:ext cx="7863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$ docker run -d -p 8080:80 nginx    # Run in background, map 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83280"/>
            <a:ext cx="7863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urier New"/>
              </a:defRPr>
            </a:pPr>
            <a:r>
              <a:t>$ docker ps                         # Check it's running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📚 Summary: Docker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1 | AI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🎯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Docker solves 'works on my machine' by packaging everything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Images are templates, containers are running instances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Containers are lightweight, fast, and portable compared to VMs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803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Images use layers for efficiency and caching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4114800" cy="320040"/>
          </a:xfrm>
          <a:prstGeom prst="rect">
            <a:avLst/>
          </a:prstGeom>
          <a:solidFill>
            <a:srgbClr val="1E2139"/>
          </a:solidFill>
          <a:ln w="12700">
            <a:solidFill>
              <a:srgbClr val="39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E7EB"/>
                </a:solidFill>
              </a:defRPr>
            </a:pPr>
            <a:r>
              <a:t>✅ Master basic commands: pull, run, ps, stop, 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D1C5"/>
                </a:solidFill>
              </a:defRPr>
            </a:pPr>
            <a:r>
              <a:t>🚀 What's Coming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554480"/>
            <a:ext cx="384048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627632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96ED"/>
                </a:solidFill>
              </a:defRPr>
            </a:pPr>
            <a:r>
              <a:t>Day 2: Dockerfiles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847088"/>
            <a:ext cx="3566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Build custom images for ML projects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94560"/>
            <a:ext cx="384048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267712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</a:defRPr>
            </a:pPr>
            <a:r>
              <a:t>Day 3: 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87168"/>
            <a:ext cx="3566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Automate with GitHub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834640"/>
            <a:ext cx="384048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907792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Week Project: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127248"/>
            <a:ext cx="3566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Containerize Week 17 FastAPI 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657600"/>
            <a:ext cx="3840480" cy="411480"/>
          </a:xfrm>
          <a:prstGeom prst="rect">
            <a:avLst/>
          </a:prstGeom>
          <a:solidFill>
            <a:srgbClr val="3C321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7490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🎉 Now let's get hands-on in the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
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7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🧠 Transformer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The Revolution That Changed AI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13 - Day 2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📚 Quick Recap from Yesterday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48BB78"/>
                </a:solidFill>
              </a:defRPr>
            </a:pPr>
            <a:r>
              <a:t>✅ We learned about deep learning frameworks: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TensorFlow: Production-focused (Google)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PyTorch: Research-friendly (Meta)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48BB78"/>
                </a:solidFill>
              </a:defRPr>
            </a:pPr>
            <a:r>
              <a:t>✅ We chose PyTorch for this bootcamp: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Easier to learn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Industry standard for modern AI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🚀 Today: Architecture powering ChatGPT, BERT, Claude!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⏳ The Problem with Sequential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F56565"/>
                </a:solidFill>
              </a:defRPr>
            </a:pPr>
            <a:r>
              <a:t>🔴 Before Transformers: RNNs &amp; LSTMs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What are they?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Neural networks processing text word-by-word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Must read entire sentence sequentially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Why were they popular (2014-2017)?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Only option for sequential data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Worked for translation, text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❌ Problems with RNNs/LSTMs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F56565"/>
                </a:solidFill>
              </a:defRPr>
            </a:pPr>
            <a:r>
              <a:t>🔴 1. Sequential Processing: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One word at a time → very slow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Can't use GPUs efficiently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F56565"/>
                </a:solidFill>
              </a:defRPr>
            </a:pPr>
            <a:r>
              <a:t>🔴 2. Vanishing Gradient Problem: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Long sentences: forgets earlier words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Example: 'The cat that ate the mouse...'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Result: Terrible at long documents!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❌ Problems with RNNs/LSTMs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F56565"/>
                </a:solidFill>
              </a:defRPr>
            </a:pPr>
            <a:r>
              <a:t>🔴 3. No Global Context: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Sees words one-by-one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Doesn't understand distant relationships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323232"/>
                </a:solidFill>
              </a:defRPr>
            </a:pPr>
            <a:r>
              <a:t>Example: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'The company announced profits, but investors worried'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F56565"/>
                </a:solidFill>
              </a:defRPr>
            </a:pPr>
            <a:r>
              <a:t>🔴 4. Hard to Train: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Takes days/weeks on big datasets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🎉 Enter Transformers (2017)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📄 'Attention Is All You Need' (Google Brain)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Authors: Vaswani et al., June 2017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💡 The Big Idea: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Process ALL words at once!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323232"/>
                </a:solidFill>
              </a:defRPr>
            </a:pPr>
            <a:r>
              <a:t>🚀 Impact: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Revolutionized NLP in 2 years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Enabled GPT, BERT, Claude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E67E22"/>
                </a:solidFill>
              </a:defRPr>
            </a:pPr>
            <a:r>
              <a:t>⚡ Key Innovation: Self-Attention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🎯 What is Self-Attention?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323232"/>
                </a:solidFill>
              </a:defRPr>
            </a:pPr>
            <a:r>
              <a:t>Simple Explanation: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When reading a word, look at ALL others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Example: 'The bank of the river is beautiful'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F56565"/>
                </a:solidFill>
              </a:defRPr>
            </a:pPr>
            <a:r>
              <a:t>❌ Without Attention: 'bank' → money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48BB78"/>
                </a:solidFill>
              </a:defRPr>
            </a:pPr>
            <a:r>
              <a:t>✅ With Attention: 'bank' + 'river' → geography!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667EEA"/>
                </a:solidFill>
              </a:defRPr>
            </a:pPr>
            <a:r>
              <a:t>💡 Each word asks: 'Which words matter?'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📝 Self-Attention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Sentence: 'The cat sat on the mat'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323232"/>
                </a:solidFill>
              </a:defRPr>
            </a:pPr>
            <a:r>
              <a:t>When processing 'sat':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323232"/>
                </a:solidFill>
              </a:defRPr>
            </a:pPr>
            <a:r>
              <a:t>🔍 Attention scores: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'The' → 0.1 (low)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'cat' → 0.8 (very important!)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'sat' → 0.3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'mat' → 0.6 (important!)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Result: 'sat' focuses on 'cat' and 'mat'!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🚀 Why Is Attention Revolutionary?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48BB78"/>
                </a:solidFill>
              </a:defRPr>
            </a:pPr>
            <a:r>
              <a:t>✅ 1. Parallel Processing: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Process ALL words simultaneously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100x faster training!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48BB78"/>
                </a:solidFill>
              </a:defRPr>
            </a:pPr>
            <a:r>
              <a:t>✅ 2. No Memory Loss: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Every word sees every other word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Works on long documents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48BB78"/>
                </a:solidFill>
              </a:defRPr>
            </a:pPr>
            <a:r>
              <a:t>✅ 3. Captures Complex Relationships: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Understands dependencies across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🏗️ Transformer Architecture: High-Level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323232"/>
                </a:solidFill>
              </a:defRPr>
            </a:pPr>
            <a:r>
              <a:t>📊 Two Main Components: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🔵 Encoder: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Reads and understands input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Used in: BERT, RoBERTa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E67E22"/>
                </a:solidFill>
              </a:defRPr>
            </a:pPr>
            <a:r>
              <a:t>🟠 Decoder: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Generates output text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Used in: GPT, Claude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E67E22"/>
                </a:solidFill>
              </a:defRPr>
            </a:pPr>
            <a:r>
              <a:t>⚡ Modern models often use only one!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🔄 Encoder-Decoder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Example: Translate 'Hello World' to French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Step 1: Encoder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Input: 'Hello World'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Process with self-attention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Step 2: Decoder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Takes encoder's understanding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Generates: 'Bonjour Monde'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🎯 Key: Decoder attends to encoder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📍 The Position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F56565"/>
                </a:solidFill>
              </a:defRPr>
            </a:pPr>
            <a:r>
              <a:t>🔴 Problem: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Self-attention has no idea about word ORDER!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323232"/>
                </a:solidFill>
              </a:defRPr>
            </a:pPr>
            <a:r>
              <a:t>Example: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'Dog bites man' vs 'Man bites dog'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→ Same words, different meanings!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F56565"/>
                </a:solidFill>
              </a:defRPr>
            </a:pPr>
            <a:r>
              <a:t>❌ Without position: Model sees both as same!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48BB78"/>
                </a:solidFill>
              </a:defRPr>
            </a:pPr>
            <a:r>
              <a:t>✅ Solution: Positional Encoding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📍 Positional Encoding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323232"/>
                </a:solidFill>
              </a:defRPr>
            </a:pPr>
            <a:r>
              <a:t>How it works: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Step 1: Each position gets unique signature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Position 0: [0.0, 1.0, 0.0, 1.0, ...]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Position 1: [0.84, 0.54, 0.01, ...]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Step 2: Add to word embeddings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Step 3: Model knows word positions!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667EEA"/>
                </a:solidFill>
              </a:defRPr>
            </a:pPr>
            <a:r>
              <a:t>💡 Uses sine/cosine functions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⚡ Parallelization: The Speed Revolution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F56565"/>
                </a:solidFill>
              </a:defRPr>
            </a:pPr>
            <a:r>
              <a:t>🔴 RNNs: Sequential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1000 words: 1000ms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48BB78"/>
                </a:solidFill>
              </a:defRPr>
            </a:pPr>
            <a:r>
              <a:t>✅ Transformers: Parallel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1000 words: 1ms (with GPU!)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323232"/>
                </a:solidFill>
              </a:defRPr>
            </a:pPr>
            <a:r>
              <a:t>🚀 Result: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1000x faster!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Can train on billions of words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This enabled GPT-4!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🌍 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323232"/>
                </a:solidFill>
              </a:defRPr>
            </a:pPr>
            <a:r>
              <a:t>📊 Models Built on Transformers: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323232"/>
                </a:solidFill>
              </a:defRPr>
            </a:pPr>
            <a:r>
              <a:t>🤖 Language: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GPT-3, GPT-4 (OpenAI)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BERT, LaMDA (Google)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Claude (Anthropic)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323232"/>
                </a:solidFill>
              </a:defRPr>
            </a:pPr>
            <a:r>
              <a:t>🎨 Vision: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Vision Transformer, DALL-E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323232"/>
                </a:solidFill>
              </a:defRPr>
            </a:pPr>
            <a:r>
              <a:t>🧬 Science: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800">
                <a:solidFill>
                  <a:srgbClr val="323232"/>
                </a:solidFill>
              </a:defRPr>
            </a:pPr>
            <a:r>
              <a:t>• AlphaFold 2, Drug discovery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⚖️ RNNs vs Transformers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840480" cy="4389120"/>
          </a:xfrm>
          <a:prstGeom prst="roundRect">
            <a:avLst/>
          </a:prstGeom>
          <a:solidFill>
            <a:srgbClr val="F56565"/>
          </a:solidFill>
          <a:ln>
            <a:solidFill>
              <a:srgbClr val="F5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2100" b="1">
                <a:solidFill>
                  <a:srgbClr val="FFFFFF"/>
                </a:solidFill>
              </a:defRPr>
            </a:pPr>
            <a:r>
              <a:t>❌ RNNs/LSTMs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(2014-2017)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Sequential processing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(slow, can't parallelize)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Forget long-range info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(vanishing gradients)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Hard to train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(days/weeks)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554480"/>
            <a:ext cx="3840480" cy="4389120"/>
          </a:xfrm>
          <a:prstGeom prst="roundRect">
            <a:avLst/>
          </a:prstGeom>
          <a:solidFill>
            <a:srgbClr val="48BB78"/>
          </a:solidFill>
          <a:ln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2100" b="1">
                <a:solidFill>
                  <a:srgbClr val="FFFFFF"/>
                </a:solidFill>
              </a:defRPr>
            </a:pPr>
            <a:r>
              <a:t>✅ Transformers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(2017-Now)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Parallel processing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(fast, GPU-friendly)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Perfect memory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(attention to all words)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Easier to scale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(hours with GPUs)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🎯 Transformer Components: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2100" b="1">
                <a:solidFill>
                  <a:srgbClr val="48BB78"/>
                </a:solidFill>
              </a:defRPr>
            </a:pPr>
            <a:r>
              <a:t>✅ 1. Self-Attention: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323232"/>
                </a:solidFill>
              </a:defRPr>
            </a:pPr>
            <a:r>
              <a:t>• Each word looks at all other words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100" b="1">
                <a:solidFill>
                  <a:srgbClr val="48BB78"/>
                </a:solidFill>
              </a:defRPr>
            </a:pPr>
            <a:r>
              <a:t>✅ 2. Positional Encoding: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323232"/>
                </a:solidFill>
              </a:defRPr>
            </a:pPr>
            <a:r>
              <a:t>• Gives order information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100" b="1">
                <a:solidFill>
                  <a:srgbClr val="48BB78"/>
                </a:solidFill>
              </a:defRPr>
            </a:pPr>
            <a:r>
              <a:t>✅ 3. Encoder-Decoder: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323232"/>
                </a:solidFill>
              </a:defRPr>
            </a:pPr>
            <a:r>
              <a:t>• Encoder: Understands input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323232"/>
                </a:solidFill>
              </a:defRPr>
            </a:pPr>
            <a:r>
              <a:t>• Decoder: Generates output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100" b="1">
                <a:solidFill>
                  <a:srgbClr val="48BB78"/>
                </a:solidFill>
              </a:defRPr>
            </a:pPr>
            <a:r>
              <a:t>✅ 4. Parallelization: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323232"/>
                </a:solidFill>
              </a:defRPr>
            </a:pPr>
            <a:r>
              <a:t>• 1000x faster than RNNs!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67E22"/>
                </a:solidFill>
              </a:defRPr>
            </a:pPr>
            <a:r>
              <a:t>🚀 What's Next?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2100" b="1">
                <a:solidFill>
                  <a:srgbClr val="323232"/>
                </a:solidFill>
              </a:defRPr>
            </a:pPr>
            <a:r>
              <a:t>📅 Today (Notebook):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323232"/>
                </a:solidFill>
              </a:defRPr>
            </a:pPr>
            <a:r>
              <a:t>• Build Transformer in PyTorch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323232"/>
                </a:solidFill>
              </a:defRPr>
            </a:pPr>
            <a:r>
              <a:t>• Visualize attention weights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500"/>
              </a:spcAft>
              <a:defRPr sz="2100" b="1">
                <a:solidFill>
                  <a:srgbClr val="323232"/>
                </a:solidFill>
              </a:defRPr>
            </a:pPr>
            <a:r>
              <a:t>📅 Tomorrow (Day 3):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323232"/>
                </a:solidFill>
              </a:defRPr>
            </a:pPr>
            <a:r>
              <a:t>• Hugging Face Ecosystem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323232"/>
                </a:solidFill>
              </a:defRPr>
            </a:pPr>
            <a:r>
              <a:t>• Use pre-trained Transformers</a:t>
            </a:r>
          </a:p>
          <a:p>
            <a:pPr>
              <a:lnSpc>
                <a:spcPct val="110000"/>
              </a:lnSpc>
              <a:spcAft>
                <a:spcPts val="700"/>
              </a:spcAft>
              <a:defRPr sz="1700">
                <a:solidFill>
                  <a:srgbClr val="323232"/>
                </a:solidFill>
              </a:defRPr>
            </a:pPr>
            <a:r>
              <a:t>• Fine-tune for your tasks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800">
                <a:solidFill>
                  <a:srgbClr val="323232"/>
                </a:solidFill>
              </a:defRPr>
            </a:pPr>
          </a:p>
          <a:p>
            <a:pPr>
              <a:lnSpc>
                <a:spcPct val="110000"/>
              </a:lnSpc>
              <a:spcAft>
                <a:spcPts val="800"/>
              </a:spcAft>
              <a:defRPr sz="1700">
                <a:solidFill>
                  <a:srgbClr val="667EEA"/>
                </a:solidFill>
              </a:defRPr>
            </a:pPr>
            <a:r>
              <a:t>💡 Let's build a Transformer!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
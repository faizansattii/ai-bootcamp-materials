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Git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Version Control for AI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2 -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What is Version Control?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What is Version Control?</a:t>
            </a:r>
          </a:p>
          <a:p>
            <a:pPr>
              <a:spcAft>
                <a:spcPts val="500"/>
              </a:spcAft>
              <a:defRPr sz="1600" b="0"/>
            </a:pPr>
            <a:r>
              <a:t>A system that tracks changes to your code over time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56565"/>
                </a:solidFill>
              </a:defRPr>
            </a:pPr>
            <a:r>
              <a:t>The Problem Without Version Control:</a:t>
            </a:r>
          </a:p>
          <a:p>
            <a:pPr>
              <a:spcAft>
                <a:spcPts val="500"/>
              </a:spcAft>
              <a:defRPr sz="1500" b="0"/>
            </a:pPr>
            <a:r>
              <a:t>❌ project_final.py</a:t>
            </a:r>
          </a:p>
          <a:p>
            <a:pPr>
              <a:spcAft>
                <a:spcPts val="500"/>
              </a:spcAft>
              <a:defRPr sz="1500" b="0"/>
            </a:pPr>
            <a:r>
              <a:t>❌ project_final_v2.py</a:t>
            </a:r>
          </a:p>
          <a:p>
            <a:pPr>
              <a:spcAft>
                <a:spcPts val="500"/>
              </a:spcAft>
              <a:defRPr sz="1500" b="0"/>
            </a:pPr>
            <a:r>
              <a:t>❌ project_final_REALLY_FINAL.py</a:t>
            </a:r>
          </a:p>
          <a:p>
            <a:pPr>
              <a:spcAft>
                <a:spcPts val="500"/>
              </a:spcAft>
              <a:defRPr sz="1500" b="0"/>
            </a:pPr>
            <a:r>
              <a:t>❌ project_final_USE_THIS_ONE.py</a:t>
            </a:r>
          </a:p>
          <a:p>
            <a:pPr>
              <a:spcAft>
                <a:spcPts val="500"/>
              </a:spcAft>
              <a:defRPr sz="1500" b="0"/>
            </a:pPr>
            <a:r>
              <a:t>Which is the latest? What changed? Who made changes?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With Version Control:</a:t>
            </a:r>
          </a:p>
          <a:p>
            <a:pPr>
              <a:spcAft>
                <a:spcPts val="500"/>
              </a:spcAft>
              <a:defRPr sz="1500" b="0"/>
            </a:pPr>
            <a:r>
              <a:t>✅ One file: project.py</a:t>
            </a:r>
          </a:p>
          <a:p>
            <a:pPr>
              <a:spcAft>
                <a:spcPts val="500"/>
              </a:spcAft>
              <a:defRPr sz="1500" b="0"/>
            </a:pPr>
            <a:r>
              <a:t>✅ Complete history of all changes</a:t>
            </a:r>
          </a:p>
          <a:p>
            <a:pPr>
              <a:spcAft>
                <a:spcPts val="500"/>
              </a:spcAft>
              <a:defRPr sz="1500" b="0"/>
            </a:pPr>
            <a:r>
              <a:t>✅ Who changed what, when, and why</a:t>
            </a:r>
          </a:p>
          <a:p>
            <a:pPr>
              <a:spcAft>
                <a:spcPts val="500"/>
              </a:spcAft>
              <a:defRPr sz="1500" b="0"/>
            </a:pPr>
            <a:r>
              <a:t>✅ Can go back to any previous 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Why Version Control?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Why Version Control Matters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1. Track Changes</a:t>
            </a:r>
          </a:p>
          <a:p>
            <a:pPr>
              <a:spcAft>
                <a:spcPts val="500"/>
              </a:spcAft>
              <a:defRPr sz="1500" b="0"/>
            </a:pPr>
            <a:r>
              <a:t>• See what changed, when, and by whom</a:t>
            </a:r>
          </a:p>
          <a:p>
            <a:pPr>
              <a:spcAft>
                <a:spcPts val="500"/>
              </a:spcAft>
              <a:defRPr sz="1500" b="0"/>
            </a:pPr>
            <a:r>
              <a:t>• Understand evolution of your project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2. Collaborate Safely</a:t>
            </a:r>
          </a:p>
          <a:p>
            <a:pPr>
              <a:spcAft>
                <a:spcPts val="500"/>
              </a:spcAft>
              <a:defRPr sz="1500" b="0"/>
            </a:pPr>
            <a:r>
              <a:t>• Multiple people work on same project</a:t>
            </a:r>
          </a:p>
          <a:p>
            <a:pPr>
              <a:spcAft>
                <a:spcPts val="500"/>
              </a:spcAft>
              <a:defRPr sz="1500" b="0"/>
            </a:pPr>
            <a:r>
              <a:t>• No overwriting each other's work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667EEA"/>
                </a:solidFill>
              </a:defRPr>
            </a:pPr>
            <a:r>
              <a:t>3. Experiment Fearlessly</a:t>
            </a:r>
          </a:p>
          <a:p>
            <a:pPr>
              <a:spcAft>
                <a:spcPts val="500"/>
              </a:spcAft>
              <a:defRPr sz="1500" b="0"/>
            </a:pPr>
            <a:r>
              <a:t>• Try new features without breaking code</a:t>
            </a:r>
          </a:p>
          <a:p>
            <a:pPr>
              <a:spcAft>
                <a:spcPts val="500"/>
              </a:spcAft>
              <a:defRPr sz="1500" b="0"/>
            </a:pPr>
            <a:r>
              <a:t>• Easy to undo mistakes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4. Professional Standard</a:t>
            </a:r>
          </a:p>
          <a:p>
            <a:pPr>
              <a:spcAft>
                <a:spcPts val="500"/>
              </a:spcAft>
              <a:defRPr sz="1500" b="0"/>
            </a:pPr>
            <a:r>
              <a:t>• Every tech company uses version control</a:t>
            </a:r>
          </a:p>
          <a:p>
            <a:pPr>
              <a:spcAft>
                <a:spcPts val="500"/>
              </a:spcAft>
              <a:defRPr sz="1500" b="0"/>
            </a:pPr>
            <a:r>
              <a:t>• Essential skill for developers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Git vs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Git vs GitHub</a:t>
            </a:r>
          </a:p>
          <a:p>
            <a:pPr>
              <a:spcAft>
                <a:spcPts val="500"/>
              </a:spcAft>
              <a:defRPr sz="1600" b="0"/>
            </a:pPr>
            <a:r>
              <a:t>They are NOT the same thing!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Git (The Tool)</a:t>
            </a:r>
          </a:p>
          <a:p>
            <a:pPr>
              <a:spcAft>
                <a:spcPts val="500"/>
              </a:spcAft>
              <a:defRPr sz="1500" b="0"/>
            </a:pPr>
            <a:r>
              <a:t>• Version control software</a:t>
            </a:r>
          </a:p>
          <a:p>
            <a:pPr>
              <a:spcAft>
                <a:spcPts val="500"/>
              </a:spcAft>
              <a:defRPr sz="1500" b="0"/>
            </a:pPr>
            <a:r>
              <a:t>• Works on YOUR computer (local)</a:t>
            </a:r>
          </a:p>
          <a:p>
            <a:pPr>
              <a:spcAft>
                <a:spcPts val="500"/>
              </a:spcAft>
              <a:defRPr sz="1500" b="0"/>
            </a:pPr>
            <a:r>
              <a:t>• Created by Linus Torvalds (Linux creator)</a:t>
            </a:r>
          </a:p>
          <a:p>
            <a:pPr>
              <a:spcAft>
                <a:spcPts val="500"/>
              </a:spcAft>
              <a:defRPr sz="1500" b="0"/>
            </a:pPr>
            <a:r>
              <a:t>• Free and open-source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GitHub (The Platform)</a:t>
            </a:r>
          </a:p>
          <a:p>
            <a:pPr>
              <a:spcAft>
                <a:spcPts val="500"/>
              </a:spcAft>
              <a:defRPr sz="1500" b="0"/>
            </a:pPr>
            <a:r>
              <a:t>• Online hosting service for Git repositories</a:t>
            </a:r>
          </a:p>
          <a:p>
            <a:pPr>
              <a:spcAft>
                <a:spcPts val="500"/>
              </a:spcAft>
              <a:defRPr sz="1500" b="0"/>
            </a:pPr>
            <a:r>
              <a:t>• Works in the CLOUD (remote)</a:t>
            </a:r>
          </a:p>
          <a:p>
            <a:pPr>
              <a:spcAft>
                <a:spcPts val="500"/>
              </a:spcAft>
              <a:defRPr sz="1500" b="0"/>
            </a:pPr>
            <a:r>
              <a:t>• Owned by Microsoft</a:t>
            </a:r>
          </a:p>
          <a:p>
            <a:pPr>
              <a:spcAft>
                <a:spcPts val="500"/>
              </a:spcAft>
              <a:defRPr sz="1500" b="0"/>
            </a:pPr>
            <a:r>
              <a:t>• Adds collaboration features (issues, PRs, etc.)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600" b="1">
                <a:solidFill>
                  <a:srgbClr val="667EEA"/>
                </a:solidFill>
              </a:defRPr>
            </a:pPr>
            <a:r>
              <a:t>Analogy: Git is email, GitHub is Gmail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Git Setup &amp; Init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Git Basics: Getting Started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1. Install Git</a:t>
            </a:r>
          </a:p>
          <a:p>
            <a:pPr>
              <a:spcAft>
                <a:spcPts val="500"/>
              </a:spcAft>
              <a:defRPr sz="1500" b="0"/>
            </a:pPr>
            <a:r>
              <a:t>Download from git-scm.com and install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2. Configure Git (One-time setup)</a:t>
            </a:r>
          </a:p>
          <a:p>
            <a:pPr>
              <a:spcAft>
                <a:spcPts val="500"/>
              </a:spcAft>
              <a:defRPr sz="1400" b="0"/>
            </a:pPr>
            <a:r>
              <a:t>git config --global user.name "Your Name"</a:t>
            </a:r>
          </a:p>
          <a:p>
            <a:pPr>
              <a:spcAft>
                <a:spcPts val="500"/>
              </a:spcAft>
              <a:defRPr sz="1400" b="0"/>
            </a:pPr>
            <a:r>
              <a:t>git config --global user.email "you@example.com"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667EEA"/>
                </a:solidFill>
              </a:defRPr>
            </a:pPr>
            <a:r>
              <a:t>3. Initialize Repository</a:t>
            </a:r>
          </a:p>
          <a:p>
            <a:pPr>
              <a:spcAft>
                <a:spcPts val="500"/>
              </a:spcAft>
              <a:defRPr sz="1400" b="0"/>
            </a:pPr>
            <a:r>
              <a:t>cd your-project-folder</a:t>
            </a:r>
          </a:p>
          <a:p>
            <a:pPr>
              <a:spcAft>
                <a:spcPts val="500"/>
              </a:spcAft>
              <a:defRPr sz="1400" b="0"/>
            </a:pPr>
            <a:r>
              <a:t>git init</a:t>
            </a:r>
          </a:p>
          <a:p>
            <a:pPr>
              <a:spcAft>
                <a:spcPts val="500"/>
              </a:spcAft>
              <a:defRPr sz="1500" b="0"/>
            </a:pPr>
            <a:r>
              <a:t>✅ Creates a hidden .git folder</a:t>
            </a:r>
          </a:p>
          <a:p>
            <a:pPr>
              <a:spcAft>
                <a:spcPts val="500"/>
              </a:spcAft>
              <a:defRPr sz="1500" b="0"/>
            </a:pPr>
            <a:r>
              <a:t>✅ Starts tracking changes in this folder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600" b="1">
                <a:solidFill>
                  <a:srgbClr val="48BB78"/>
                </a:solidFill>
              </a:defRPr>
            </a:pPr>
            <a:r>
              <a:t>Now you have a Git repository!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Git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Git Workflow: Save Your Changes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The Three States:</a:t>
            </a:r>
          </a:p>
          <a:p>
            <a:pPr>
              <a:spcAft>
                <a:spcPts val="500"/>
              </a:spcAft>
              <a:defRPr sz="1500" b="0"/>
            </a:pPr>
            <a:r>
              <a:t>1. Working Directory (Your files)</a:t>
            </a:r>
          </a:p>
          <a:p>
            <a:pPr>
              <a:spcAft>
                <a:spcPts val="500"/>
              </a:spcAft>
              <a:defRPr sz="1500" b="0"/>
            </a:pPr>
            <a:r>
              <a:t>2. Staging Area (Prepared changes)</a:t>
            </a:r>
          </a:p>
          <a:p>
            <a:pPr>
              <a:spcAft>
                <a:spcPts val="500"/>
              </a:spcAft>
              <a:defRPr sz="1500" b="0"/>
            </a:pPr>
            <a:r>
              <a:t>3. Repository (Saved history)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/>
            </a:pPr>
            <a:r>
              <a:t>Commands: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600" b="1">
                <a:solidFill>
                  <a:srgbClr val="F39C12"/>
                </a:solidFill>
              </a:defRPr>
            </a:pPr>
            <a:r>
              <a:t>git status</a:t>
            </a:r>
          </a:p>
          <a:p>
            <a:pPr>
              <a:spcAft>
                <a:spcPts val="500"/>
              </a:spcAft>
              <a:defRPr sz="1500" b="0"/>
            </a:pPr>
            <a:r>
              <a:t>Check what files changed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1">
                <a:solidFill>
                  <a:srgbClr val="F39C12"/>
                </a:solidFill>
              </a:defRPr>
            </a:pPr>
            <a:r>
              <a:t>git add filename.py</a:t>
            </a:r>
          </a:p>
          <a:p>
            <a:pPr>
              <a:spcAft>
                <a:spcPts val="500"/>
              </a:spcAft>
              <a:defRPr sz="1500" b="0"/>
            </a:pPr>
            <a:r>
              <a:t>Stage specific file  OR  git add .  (stage all)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1">
                <a:solidFill>
                  <a:srgbClr val="F39C12"/>
                </a:solidFill>
              </a:defRPr>
            </a:pPr>
            <a:r>
              <a:t>git commit -m "Your message"</a:t>
            </a:r>
          </a:p>
          <a:p>
            <a:pPr>
              <a:spcAft>
                <a:spcPts val="500"/>
              </a:spcAft>
              <a:defRPr sz="1500" b="0"/>
            </a:pPr>
            <a:r>
              <a:t>Save staged changes with a description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Git Clone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Git Clone: Copy a Repository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What is Clone?</a:t>
            </a:r>
          </a:p>
          <a:p>
            <a:pPr>
              <a:spcAft>
                <a:spcPts val="500"/>
              </a:spcAft>
              <a:defRPr sz="1500" b="0"/>
            </a:pPr>
            <a:r>
              <a:t>Download a complete copy of a remote repository</a:t>
            </a:r>
          </a:p>
          <a:p>
            <a:pPr>
              <a:spcAft>
                <a:spcPts val="500"/>
              </a:spcAft>
              <a:defRPr sz="1500" b="0"/>
            </a:pPr>
            <a:r>
              <a:t>Includes all files, history, and branches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Command:</a:t>
            </a:r>
          </a:p>
          <a:p>
            <a:pPr>
              <a:spcAft>
                <a:spcPts val="500"/>
              </a:spcAft>
              <a:defRPr sz="1400" b="0"/>
            </a:pPr>
            <a:r>
              <a:t>git clone https://github.com/username/repo-name.git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/>
            </a:pPr>
            <a:r>
              <a:t>What Happens:</a:t>
            </a:r>
          </a:p>
          <a:p>
            <a:pPr>
              <a:spcAft>
                <a:spcPts val="500"/>
              </a:spcAft>
              <a:defRPr sz="1500" b="0"/>
            </a:pPr>
            <a:r>
              <a:t>✅ Creates a new folder with repository name</a:t>
            </a:r>
          </a:p>
          <a:p>
            <a:pPr>
              <a:spcAft>
                <a:spcPts val="500"/>
              </a:spcAft>
              <a:defRPr sz="1500" b="0"/>
            </a:pPr>
            <a:r>
              <a:t>✅ Downloads all files and history</a:t>
            </a:r>
          </a:p>
          <a:p>
            <a:pPr>
              <a:spcAft>
                <a:spcPts val="500"/>
              </a:spcAft>
              <a:defRPr sz="1500" b="0"/>
            </a:pPr>
            <a:r>
              <a:t>✅ Automatically sets up remote connection</a:t>
            </a:r>
          </a:p>
          <a:p>
            <a:pPr>
              <a:spcAft>
                <a:spcPts val="500"/>
              </a:spcAft>
              <a:defRPr sz="1500" b="0"/>
            </a:pPr>
            <a:r>
              <a:t>✅ You can start working immediately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700" b="1"/>
            </a:pPr>
            <a:r>
              <a:t>When to Use:</a:t>
            </a:r>
          </a:p>
          <a:p>
            <a:pPr>
              <a:spcAft>
                <a:spcPts val="500"/>
              </a:spcAft>
              <a:defRPr sz="1500" b="0"/>
            </a:pPr>
            <a:r>
              <a:t>• Starting work on existing project</a:t>
            </a:r>
          </a:p>
          <a:p>
            <a:pPr>
              <a:spcAft>
                <a:spcPts val="500"/>
              </a:spcAft>
              <a:defRPr sz="1500" b="0"/>
            </a:pPr>
            <a:r>
              <a:t>• Contributing to open-source projects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Git Branching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Branching: Work in Parallel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What is a Branch?</a:t>
            </a:r>
          </a:p>
          <a:p>
            <a:pPr>
              <a:spcAft>
                <a:spcPts val="500"/>
              </a:spcAft>
              <a:defRPr sz="1500" b="0"/>
            </a:pPr>
            <a:r>
              <a:t>A separate line of development</a:t>
            </a:r>
          </a:p>
          <a:p>
            <a:pPr>
              <a:spcAft>
                <a:spcPts val="500"/>
              </a:spcAft>
              <a:defRPr sz="1500" b="0"/>
            </a:pPr>
            <a:r>
              <a:t>Work on features without affecting main code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Why Use Branches?</a:t>
            </a:r>
          </a:p>
          <a:p>
            <a:pPr>
              <a:spcAft>
                <a:spcPts val="500"/>
              </a:spcAft>
              <a:defRPr sz="1500" b="0"/>
            </a:pPr>
            <a:r>
              <a:t>✅ Develop new features safely</a:t>
            </a:r>
          </a:p>
          <a:p>
            <a:pPr>
              <a:spcAft>
                <a:spcPts val="500"/>
              </a:spcAft>
              <a:defRPr sz="1500" b="0"/>
            </a:pPr>
            <a:r>
              <a:t>✅ Fix bugs without breaking working code</a:t>
            </a:r>
          </a:p>
          <a:p>
            <a:pPr>
              <a:spcAft>
                <a:spcPts val="500"/>
              </a:spcAft>
              <a:defRPr sz="1500" b="0"/>
            </a:pPr>
            <a:r>
              <a:t>✅ Multiple people work on different features</a:t>
            </a:r>
          </a:p>
          <a:p>
            <a:pPr>
              <a:spcAft>
                <a:spcPts val="500"/>
              </a:spcAft>
              <a:defRPr sz="1500" b="0"/>
            </a:pPr>
            <a:r>
              <a:t>✅ Test ideas before merging to main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/>
            </a:pPr>
            <a:r>
              <a:t>Commands:</a:t>
            </a:r>
          </a:p>
          <a:p>
            <a:pPr>
              <a:spcAft>
                <a:spcPts val="500"/>
              </a:spcAft>
              <a:defRPr sz="1500" b="0"/>
            </a:pPr>
            <a:r>
              <a:t>git branch feature-name  → Create new branch</a:t>
            </a:r>
          </a:p>
          <a:p>
            <a:pPr>
              <a:spcAft>
                <a:spcPts val="500"/>
              </a:spcAft>
              <a:defRPr sz="1500" b="0"/>
            </a:pPr>
            <a:r>
              <a:t>git checkout feature-name  → Switch to branch</a:t>
            </a:r>
          </a:p>
          <a:p>
            <a:pPr>
              <a:spcAft>
                <a:spcPts val="500"/>
              </a:spcAft>
              <a:defRPr sz="1500" b="0"/>
            </a:pPr>
            <a:r>
              <a:t>git checkout -b feature-name  → Create &amp; switch</a:t>
            </a:r>
          </a:p>
          <a:p>
            <a:pPr>
              <a:spcAft>
                <a:spcPts val="500"/>
              </a:spcAft>
              <a:defRPr sz="1500" b="0"/>
            </a:pPr>
            <a:r>
              <a:t>git branch  → List all branches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Merging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Merging: Combine Branches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What is Merging?</a:t>
            </a:r>
          </a:p>
          <a:p>
            <a:pPr>
              <a:spcAft>
                <a:spcPts val="500"/>
              </a:spcAft>
              <a:defRPr sz="1500" b="0"/>
            </a:pPr>
            <a:r>
              <a:t>Combine changes from one branch into another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Typical Workflow:</a:t>
            </a:r>
          </a:p>
          <a:p>
            <a:pPr>
              <a:spcAft>
                <a:spcPts val="500"/>
              </a:spcAft>
              <a:defRPr sz="1500" b="0"/>
            </a:pPr>
            <a:r>
              <a:t>1. Create branch: git checkout -b new-feature</a:t>
            </a:r>
          </a:p>
          <a:p>
            <a:pPr>
              <a:spcAft>
                <a:spcPts val="500"/>
              </a:spcAft>
              <a:defRPr sz="1500" b="0"/>
            </a:pPr>
            <a:r>
              <a:t>2. Make changes and commit</a:t>
            </a:r>
          </a:p>
          <a:p>
            <a:pPr>
              <a:spcAft>
                <a:spcPts val="500"/>
              </a:spcAft>
              <a:defRPr sz="1500" b="0"/>
            </a:pPr>
            <a:r>
              <a:t>3. Switch to main: git checkout main</a:t>
            </a:r>
          </a:p>
          <a:p>
            <a:pPr>
              <a:spcAft>
                <a:spcPts val="500"/>
              </a:spcAft>
              <a:defRPr sz="1500" b="0"/>
            </a:pPr>
            <a:r>
              <a:t>4. Merge: git merge new-feature</a:t>
            </a:r>
          </a:p>
          <a:p>
            <a:pPr>
              <a:spcAft>
                <a:spcPts val="500"/>
              </a:spcAft>
              <a:defRPr sz="1500" b="0"/>
            </a:pPr>
            <a:r>
              <a:t>5. Delete branch: git branch -d new-feature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56565"/>
                </a:solidFill>
              </a:defRPr>
            </a:pPr>
            <a:r>
              <a:t>Merge Conflicts:</a:t>
            </a:r>
          </a:p>
          <a:p>
            <a:pPr>
              <a:spcAft>
                <a:spcPts val="500"/>
              </a:spcAft>
              <a:defRPr sz="1500" b="0"/>
            </a:pPr>
            <a:r>
              <a:t>❌ Happen when same line changed in both branches</a:t>
            </a:r>
          </a:p>
          <a:p>
            <a:pPr>
              <a:spcAft>
                <a:spcPts val="500"/>
              </a:spcAft>
              <a:defRPr sz="1500" b="0"/>
            </a:pPr>
            <a:r>
              <a:t>✅ Git marks conflicts in files</a:t>
            </a:r>
          </a:p>
          <a:p>
            <a:pPr>
              <a:spcAft>
                <a:spcPts val="500"/>
              </a:spcAft>
              <a:defRPr sz="1500" b="0"/>
            </a:pPr>
            <a:r>
              <a:t>✅ Manually choose which changes to keep</a:t>
            </a:r>
          </a:p>
          <a:p>
            <a:pPr>
              <a:spcAft>
                <a:spcPts val="500"/>
              </a:spcAft>
              <a:defRPr sz="1500" b="0"/>
            </a:pPr>
            <a:r>
              <a:t>✅ Add and commit resolved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Remote Repositories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Remote Repositories: Cloud Storage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What is a Remote?</a:t>
            </a:r>
          </a:p>
          <a:p>
            <a:pPr>
              <a:spcAft>
                <a:spcPts val="500"/>
              </a:spcAft>
              <a:defRPr sz="1500" b="0"/>
            </a:pPr>
            <a:r>
              <a:t>A version of your repository hosted online</a:t>
            </a:r>
          </a:p>
          <a:p>
            <a:pPr>
              <a:spcAft>
                <a:spcPts val="500"/>
              </a:spcAft>
              <a:defRPr sz="1500" b="0"/>
            </a:pPr>
            <a:r>
              <a:t>Usually on GitHub, GitLab, or Bitbucket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Key Commands: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600" b="1"/>
            </a:pPr>
            <a:r>
              <a:t>git push origin main</a:t>
            </a:r>
          </a:p>
          <a:p>
            <a:pPr>
              <a:spcAft>
                <a:spcPts val="500"/>
              </a:spcAft>
              <a:defRPr sz="1500" b="0"/>
            </a:pPr>
            <a:r>
              <a:t>Upload your local commits to remote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1"/>
            </a:pPr>
            <a:r>
              <a:t>git pull origin main</a:t>
            </a:r>
          </a:p>
          <a:p>
            <a:pPr>
              <a:spcAft>
                <a:spcPts val="500"/>
              </a:spcAft>
              <a:defRPr sz="1500" b="0"/>
            </a:pPr>
            <a:r>
              <a:t>Download changes from remote and merge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1"/>
            </a:pPr>
            <a:r>
              <a:t>git fetch origin</a:t>
            </a:r>
          </a:p>
          <a:p>
            <a:pPr>
              <a:spcAft>
                <a:spcPts val="500"/>
              </a:spcAft>
              <a:defRPr sz="1500" b="0"/>
            </a:pPr>
            <a:r>
              <a:t>Download changes but don't merge yet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500" b="1">
                <a:solidFill>
                  <a:srgbClr val="667EEA"/>
                </a:solidFill>
              </a:defRPr>
            </a:pPr>
            <a:r>
              <a:t>origin = default name for your remote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Push, Pull, Fetch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Push, Pull, Fetch: The Difference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git push</a:t>
            </a:r>
          </a:p>
          <a:p>
            <a:pPr>
              <a:spcAft>
                <a:spcPts val="500"/>
              </a:spcAft>
              <a:defRPr sz="1500" b="0"/>
            </a:pPr>
            <a:r>
              <a:t>📤 Upload: Local → Remote</a:t>
            </a:r>
          </a:p>
          <a:p>
            <a:pPr>
              <a:spcAft>
                <a:spcPts val="500"/>
              </a:spcAft>
              <a:defRPr sz="1500" b="0"/>
            </a:pPr>
            <a:r>
              <a:t>Sends your commits to GitHub</a:t>
            </a:r>
          </a:p>
          <a:p>
            <a:pPr>
              <a:spcAft>
                <a:spcPts val="500"/>
              </a:spcAft>
              <a:defRPr sz="1500" b="0"/>
            </a:pPr>
            <a:r>
              <a:t>Others can now see your changes</a:t>
            </a:r>
          </a:p>
          <a:p>
            <a:pPr>
              <a:spcAft>
                <a:spcPts val="500"/>
              </a:spcAft>
              <a:defRPr sz="6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git pull</a:t>
            </a:r>
          </a:p>
          <a:p>
            <a:pPr>
              <a:spcAft>
                <a:spcPts val="500"/>
              </a:spcAft>
              <a:defRPr sz="1500" b="0"/>
            </a:pPr>
            <a:r>
              <a:t>📥 Download + Merge: Remote → Local</a:t>
            </a:r>
          </a:p>
          <a:p>
            <a:pPr>
              <a:spcAft>
                <a:spcPts val="500"/>
              </a:spcAft>
              <a:defRPr sz="1500" b="0"/>
            </a:pPr>
            <a:r>
              <a:t>Gets latest changes from GitHub</a:t>
            </a:r>
          </a:p>
          <a:p>
            <a:pPr>
              <a:spcAft>
                <a:spcPts val="500"/>
              </a:spcAft>
              <a:defRPr sz="1500" b="0"/>
            </a:pPr>
            <a:r>
              <a:t>Automatically merges into your branch</a:t>
            </a:r>
          </a:p>
          <a:p>
            <a:pPr>
              <a:spcAft>
                <a:spcPts val="500"/>
              </a:spcAft>
              <a:defRPr sz="6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667EEA"/>
                </a:solidFill>
              </a:defRPr>
            </a:pPr>
            <a:r>
              <a:t>git fetch</a:t>
            </a:r>
          </a:p>
          <a:p>
            <a:pPr>
              <a:spcAft>
                <a:spcPts val="500"/>
              </a:spcAft>
              <a:defRPr sz="1500" b="0"/>
            </a:pPr>
            <a:r>
              <a:t>📥 Download Only: Remote → Local (no merge)</a:t>
            </a:r>
          </a:p>
          <a:p>
            <a:pPr>
              <a:spcAft>
                <a:spcPts val="500"/>
              </a:spcAft>
              <a:defRPr sz="1500" b="0"/>
            </a:pPr>
            <a:r>
              <a:t>Gets changes but doesn't change your files</a:t>
            </a:r>
          </a:p>
          <a:p>
            <a:pPr>
              <a:spcAft>
                <a:spcPts val="500"/>
              </a:spcAft>
              <a:defRPr sz="1500" b="0"/>
            </a:pPr>
            <a:r>
              <a:t>Review changes before merging manually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GitHub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GitHub: Collaboration Platform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Creating a Repository on GitHub:</a:t>
            </a:r>
          </a:p>
          <a:p>
            <a:pPr>
              <a:spcAft>
                <a:spcPts val="500"/>
              </a:spcAft>
              <a:defRPr sz="1500" b="0"/>
            </a:pPr>
            <a:r>
              <a:t>1. Click "New Repository" button</a:t>
            </a:r>
          </a:p>
          <a:p>
            <a:pPr>
              <a:spcAft>
                <a:spcPts val="500"/>
              </a:spcAft>
              <a:defRPr sz="1500" b="0"/>
            </a:pPr>
            <a:r>
              <a:t>2. Name your repository</a:t>
            </a:r>
          </a:p>
          <a:p>
            <a:pPr>
              <a:spcAft>
                <a:spcPts val="500"/>
              </a:spcAft>
              <a:defRPr sz="1500" b="0"/>
            </a:pPr>
            <a:r>
              <a:t>3. Choose Public or Private</a:t>
            </a:r>
          </a:p>
          <a:p>
            <a:pPr>
              <a:spcAft>
                <a:spcPts val="500"/>
              </a:spcAft>
              <a:defRPr sz="1500" b="0"/>
            </a:pPr>
            <a:r>
              <a:t>4. (Optional) Add README, .gitignore, license</a:t>
            </a:r>
          </a:p>
          <a:p>
            <a:pPr>
              <a:spcAft>
                <a:spcPts val="500"/>
              </a:spcAft>
              <a:defRPr sz="1500" b="0"/>
            </a:pPr>
            <a:r>
              <a:t>5. Click "Create Repository"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Connect Local to GitHub:</a:t>
            </a:r>
          </a:p>
          <a:p>
            <a:pPr>
              <a:spcAft>
                <a:spcPts val="500"/>
              </a:spcAft>
              <a:defRPr sz="1400" b="0"/>
            </a:pPr>
            <a:r>
              <a:t>git remote add origin https://github.com/user/repo.git</a:t>
            </a:r>
          </a:p>
          <a:p>
            <a:pPr>
              <a:spcAft>
                <a:spcPts val="500"/>
              </a:spcAft>
              <a:defRPr sz="1400" b="0"/>
            </a:pPr>
            <a:r>
              <a:t>git push -u origin main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600" b="1">
                <a:solidFill>
                  <a:srgbClr val="48BB78"/>
                </a:solidFill>
              </a:defRPr>
            </a:pPr>
            <a:r>
              <a:t>Your code is now on GitHub!</a:t>
            </a:r>
          </a:p>
          <a:p>
            <a:pPr>
              <a:spcAft>
                <a:spcPts val="500"/>
              </a:spcAft>
              <a:defRPr sz="1500" b="0"/>
            </a:pPr>
            <a:r>
              <a:t>Others can view, clone, and contribute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Pull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Pull Requests: Propose Changes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What is a Pull Request (PR)?</a:t>
            </a:r>
          </a:p>
          <a:p>
            <a:pPr>
              <a:spcAft>
                <a:spcPts val="500"/>
              </a:spcAft>
              <a:defRPr sz="1500" b="0"/>
            </a:pPr>
            <a:r>
              <a:t>Request to merge your branch into another branch</a:t>
            </a:r>
          </a:p>
          <a:p>
            <a:pPr>
              <a:spcAft>
                <a:spcPts val="500"/>
              </a:spcAft>
              <a:defRPr sz="1500" b="0"/>
            </a:pPr>
            <a:r>
              <a:t>Allows code review before merging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F39C12"/>
                </a:solidFill>
              </a:defRPr>
            </a:pPr>
            <a:r>
              <a:t>PR Workflow:</a:t>
            </a:r>
          </a:p>
          <a:p>
            <a:pPr>
              <a:spcAft>
                <a:spcPts val="500"/>
              </a:spcAft>
              <a:defRPr sz="1500" b="0"/>
            </a:pPr>
            <a:r>
              <a:t>1. Create branch and make changes</a:t>
            </a:r>
          </a:p>
          <a:p>
            <a:pPr>
              <a:spcAft>
                <a:spcPts val="500"/>
              </a:spcAft>
              <a:defRPr sz="1500" b="0"/>
            </a:pPr>
            <a:r>
              <a:t>2. Push branch to GitHub</a:t>
            </a:r>
          </a:p>
          <a:p>
            <a:pPr>
              <a:spcAft>
                <a:spcPts val="500"/>
              </a:spcAft>
              <a:defRPr sz="1500" b="0"/>
            </a:pPr>
            <a:r>
              <a:t>3. Open Pull Request on GitHub</a:t>
            </a:r>
          </a:p>
          <a:p>
            <a:pPr>
              <a:spcAft>
                <a:spcPts val="500"/>
              </a:spcAft>
              <a:defRPr sz="1500" b="0"/>
            </a:pPr>
            <a:r>
              <a:t>4. Team reviews code, suggests changes</a:t>
            </a:r>
          </a:p>
          <a:p>
            <a:pPr>
              <a:spcAft>
                <a:spcPts val="500"/>
              </a:spcAft>
              <a:defRPr sz="1500" b="0"/>
            </a:pPr>
            <a:r>
              <a:t>5. Make requested changes</a:t>
            </a:r>
          </a:p>
          <a:p>
            <a:pPr>
              <a:spcAft>
                <a:spcPts val="500"/>
              </a:spcAft>
              <a:defRPr sz="1500" b="0"/>
            </a:pPr>
            <a:r>
              <a:t>6. PR gets approved and merged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700" b="1"/>
            </a:pPr>
            <a:r>
              <a:t>Benefits:</a:t>
            </a:r>
          </a:p>
          <a:p>
            <a:pPr>
              <a:spcAft>
                <a:spcPts val="500"/>
              </a:spcAft>
              <a:defRPr sz="1500" b="0"/>
            </a:pPr>
            <a:r>
              <a:t>✅ Code quality through peer review</a:t>
            </a:r>
          </a:p>
          <a:p>
            <a:pPr>
              <a:spcAft>
                <a:spcPts val="500"/>
              </a:spcAft>
              <a:defRPr sz="1500" b="0"/>
            </a:pPr>
            <a:r>
              <a:t>✅ Knowledge sharing across team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Team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Team Collaboration on GitHub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Collaboration Features: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600" b="0"/>
            </a:pPr>
            <a:r>
              <a:t>📋 Issues: Track bugs and features</a:t>
            </a:r>
          </a:p>
          <a:p>
            <a:pPr lvl="1">
              <a:spcAft>
                <a:spcPts val="500"/>
              </a:spcAft>
              <a:defRPr sz="1500" b="0"/>
            </a:pPr>
            <a:r>
              <a:t>Create, assign, and discuss tasks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0"/>
            </a:pPr>
            <a:r>
              <a:t>🔄 Pull Requests: Code review process</a:t>
            </a:r>
          </a:p>
          <a:p>
            <a:pPr lvl="1">
              <a:spcAft>
                <a:spcPts val="500"/>
              </a:spcAft>
              <a:defRPr sz="1500" b="0"/>
            </a:pPr>
            <a:r>
              <a:t>Review, comment, approve changes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0"/>
            </a:pPr>
            <a:r>
              <a:t>🌿 Branches: Parallel development</a:t>
            </a:r>
          </a:p>
          <a:p>
            <a:pPr lvl="1">
              <a:spcAft>
                <a:spcPts val="500"/>
              </a:spcAft>
              <a:defRPr sz="1500" b="0"/>
            </a:pPr>
            <a:r>
              <a:t>Each feature in its own branch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0"/>
            </a:pPr>
            <a:r>
              <a:t>👥 Teams: Manage access permissions</a:t>
            </a:r>
          </a:p>
          <a:p>
            <a:pPr lvl="1">
              <a:spcAft>
                <a:spcPts val="500"/>
              </a:spcAft>
              <a:defRPr sz="1500" b="0"/>
            </a:pPr>
            <a:r>
              <a:t>Control who can read/write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600" b="1">
                <a:solidFill>
                  <a:srgbClr val="F39C12"/>
                </a:solidFill>
              </a:defRPr>
            </a:pPr>
            <a:r>
              <a:t>Best Practice: Feature Branch Workflow</a:t>
            </a:r>
          </a:p>
          <a:p>
            <a:pPr>
              <a:spcAft>
                <a:spcPts val="500"/>
              </a:spcAft>
              <a:defRPr sz="1500" b="0"/>
            </a:pPr>
            <a:r>
              <a:t>main = stable code, branches = new 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Git for AI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Git in AI Project Management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Why Git is Essential for AI:</a:t>
            </a:r>
          </a:p>
          <a:p>
            <a:pPr>
              <a:spcAft>
                <a:spcPts val="500"/>
              </a:spcAft>
              <a:defRPr sz="500" b="0"/>
            </a:pPr>
          </a:p>
          <a:p>
            <a:pPr>
              <a:spcAft>
                <a:spcPts val="500"/>
              </a:spcAft>
              <a:defRPr sz="1600" b="1"/>
            </a:pPr>
            <a:r>
              <a:t>1. Experiment Tracking</a:t>
            </a:r>
          </a:p>
          <a:p>
            <a:pPr>
              <a:spcAft>
                <a:spcPts val="500"/>
              </a:spcAft>
              <a:defRPr sz="1500" b="0"/>
            </a:pPr>
            <a:r>
              <a:t>• Track different model architectures</a:t>
            </a:r>
          </a:p>
          <a:p>
            <a:pPr>
              <a:spcAft>
                <a:spcPts val="500"/>
              </a:spcAft>
              <a:defRPr sz="1500" b="0"/>
            </a:pPr>
            <a:r>
              <a:t>• Compare hyperparameter changes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1"/>
            </a:pPr>
            <a:r>
              <a:t>2. Reproducibility</a:t>
            </a:r>
          </a:p>
          <a:p>
            <a:pPr>
              <a:spcAft>
                <a:spcPts val="500"/>
              </a:spcAft>
              <a:defRPr sz="1500" b="0"/>
            </a:pPr>
            <a:r>
              <a:t>• Version your code, data pipeline, configs</a:t>
            </a:r>
          </a:p>
          <a:p>
            <a:pPr>
              <a:spcAft>
                <a:spcPts val="500"/>
              </a:spcAft>
              <a:defRPr sz="1500" b="0"/>
            </a:pPr>
            <a:r>
              <a:t>• Others can reproduce your results</a:t>
            </a:r>
          </a:p>
          <a:p>
            <a:pPr>
              <a:spcAft>
                <a:spcPts val="500"/>
              </a:spcAft>
              <a:defRPr sz="400" b="0"/>
            </a:pPr>
          </a:p>
          <a:p>
            <a:pPr>
              <a:spcAft>
                <a:spcPts val="500"/>
              </a:spcAft>
              <a:defRPr sz="1600" b="1"/>
            </a:pPr>
            <a:r>
              <a:t>3. Collaboration</a:t>
            </a:r>
          </a:p>
          <a:p>
            <a:pPr>
              <a:spcAft>
                <a:spcPts val="500"/>
              </a:spcAft>
              <a:defRPr sz="1500" b="0"/>
            </a:pPr>
            <a:r>
              <a:t>• Data scientists, engineers work together</a:t>
            </a:r>
          </a:p>
          <a:p>
            <a:pPr>
              <a:spcAft>
                <a:spcPts val="500"/>
              </a:spcAft>
              <a:defRPr sz="1500" b="0"/>
            </a:pPr>
            <a:r>
              <a:t>• Share notebooks, models, datasets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700" b="1">
                <a:solidFill>
                  <a:srgbClr val="F39C12"/>
                </a:solidFill>
              </a:defRPr>
            </a:pPr>
            <a:r>
              <a:t>AI-Specific Tips:</a:t>
            </a:r>
          </a:p>
          <a:p>
            <a:pPr>
              <a:spcAft>
                <a:spcPts val="500"/>
              </a:spcAft>
              <a:defRPr sz="1500" b="0"/>
            </a:pPr>
            <a:r>
              <a:t>• Use .gitignore for large datasets and models</a:t>
            </a:r>
          </a:p>
          <a:p>
            <a:pPr>
              <a:spcAft>
                <a:spcPts val="500"/>
              </a:spcAft>
              <a:defRPr sz="1500" b="0"/>
            </a:pPr>
            <a:r>
              <a:t>• Commit code, not data or trained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67EEA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667EEA"/>
                </a:solidFill>
              </a:defRPr>
            </a:pPr>
            <a:r>
              <a:t>Summary &amp; Key Takeaways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/>
            </a:pPr>
            <a:r>
              <a:t>What We Learned:</a:t>
            </a:r>
          </a:p>
          <a:p>
            <a:pPr>
              <a:spcAft>
                <a:spcPts val="500"/>
              </a:spcAft>
              <a:defRPr sz="1500" b="0"/>
            </a:pPr>
            <a:r>
              <a:t>✅ Version Control: Track changes over time</a:t>
            </a:r>
          </a:p>
          <a:p>
            <a:pPr>
              <a:spcAft>
                <a:spcPts val="500"/>
              </a:spcAft>
              <a:defRPr sz="1500" b="0"/>
            </a:pPr>
            <a:r>
              <a:t>✅ Git Basics: init, add, commit, status</a:t>
            </a:r>
          </a:p>
          <a:p>
            <a:pPr>
              <a:spcAft>
                <a:spcPts val="500"/>
              </a:spcAft>
              <a:defRPr sz="1500" b="0"/>
            </a:pPr>
            <a:r>
              <a:t>✅ Branching: Work on features separately</a:t>
            </a:r>
          </a:p>
          <a:p>
            <a:pPr>
              <a:spcAft>
                <a:spcPts val="500"/>
              </a:spcAft>
              <a:defRPr sz="1500" b="0"/>
            </a:pPr>
            <a:r>
              <a:t>✅ Merging: Combine branches</a:t>
            </a:r>
          </a:p>
          <a:p>
            <a:pPr>
              <a:spcAft>
                <a:spcPts val="500"/>
              </a:spcAft>
              <a:defRPr sz="1500" b="0"/>
            </a:pPr>
            <a:r>
              <a:t>✅ Remote Repos: push, pull, fetch</a:t>
            </a:r>
          </a:p>
          <a:p>
            <a:pPr>
              <a:spcAft>
                <a:spcPts val="500"/>
              </a:spcAft>
              <a:defRPr sz="1500" b="0"/>
            </a:pPr>
            <a:r>
              <a:t>✅ GitHub: Cloud hosting and collaboration</a:t>
            </a:r>
          </a:p>
          <a:p>
            <a:pPr>
              <a:spcAft>
                <a:spcPts val="500"/>
              </a:spcAft>
              <a:defRPr sz="1500" b="0"/>
            </a:pPr>
            <a:r>
              <a:t>✅ Pull Requests: Code review process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800" b="1">
                <a:solidFill>
                  <a:srgbClr val="48BB78"/>
                </a:solidFill>
              </a:defRPr>
            </a:pPr>
            <a:r>
              <a:t>Essential Commands:</a:t>
            </a:r>
          </a:p>
          <a:p>
            <a:pPr>
              <a:spcAft>
                <a:spcPts val="500"/>
              </a:spcAft>
              <a:defRPr sz="1500" b="0"/>
            </a:pPr>
            <a:r>
              <a:t>git init, git add, git commit, git push, git pull</a:t>
            </a:r>
          </a:p>
          <a:p>
            <a:pPr>
              <a:spcAft>
                <a:spcPts val="500"/>
              </a:spcAft>
              <a:defRPr sz="1500" b="0"/>
            </a:pPr>
            <a:r>
              <a:t>git branch, git checkout, git merge, git clone</a:t>
            </a:r>
          </a:p>
          <a:p>
            <a:pPr>
              <a:spcAft>
                <a:spcPts val="500"/>
              </a:spcAft>
              <a:defRPr sz="700" b="0"/>
            </a:pPr>
          </a:p>
          <a:p>
            <a:pPr>
              <a:spcAft>
                <a:spcPts val="500"/>
              </a:spcAft>
              <a:defRPr sz="1700" b="1">
                <a:solidFill>
                  <a:srgbClr val="667EEA"/>
                </a:solidFill>
              </a:defRPr>
            </a:pPr>
            <a:r>
              <a:t>Practice makes perfect!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
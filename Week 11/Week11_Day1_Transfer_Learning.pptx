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Transfer Learning &amp;</a:t>
            </a:r>
            <a:br/>
            <a:r>
              <a:t>Data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Build Better Models Faster with Pre-trained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11 -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What is Transfer Learning? 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🎯 Using knowledge from one task to solve another task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Real-World Analogy:</a:t>
            </a:r>
          </a:p>
          <a:p>
            <a:pPr lvl="1">
              <a:spcAft>
                <a:spcPts val="600"/>
              </a:spcAft>
              <a:defRPr sz="1800"/>
            </a:pPr>
            <a:r>
              <a:t>   • Learning to ride a bicycle helps you learn to ride a motorcycle</a:t>
            </a:r>
          </a:p>
          <a:p>
            <a:pPr lvl="1">
              <a:spcAft>
                <a:spcPts val="600"/>
              </a:spcAft>
              <a:defRPr sz="1800"/>
            </a:pPr>
            <a:r>
              <a:t>   • Pre-trained model = experienced cyclist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🔥 In Deep Learning:</a:t>
            </a:r>
          </a:p>
          <a:p>
            <a:pPr lvl="1">
              <a:spcAft>
                <a:spcPts val="600"/>
              </a:spcAft>
              <a:defRPr sz="1800"/>
            </a:pPr>
            <a:r>
              <a:t>   • Train on large dataset (ImageNet: 14M images)</a:t>
            </a:r>
          </a:p>
          <a:p>
            <a:pPr lvl="1">
              <a:spcAft>
                <a:spcPts val="600"/>
              </a:spcAft>
              <a:defRPr sz="1800"/>
            </a:pPr>
            <a:r>
              <a:t>   • Reuse learned features for your specific task</a:t>
            </a:r>
          </a:p>
          <a:p>
            <a:pPr lvl="1">
              <a:spcAft>
                <a:spcPts val="600"/>
              </a:spcAft>
              <a:defRPr sz="1800"/>
            </a:pPr>
            <a:r>
              <a:t>   • Save time, compute, and get better results!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Why Does It Work?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✅ Pre-trained models learn universal features: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🔹 Lower Layers: Edges, textures, colors</a:t>
            </a:r>
          </a:p>
          <a:p>
            <a:pPr>
              <a:spcAft>
                <a:spcPts val="600"/>
              </a:spcAft>
              <a:defRPr sz="1800"/>
            </a:pPr>
            <a:r>
              <a:t>🔹 Middle Layers: Shapes, patterns, parts</a:t>
            </a:r>
          </a:p>
          <a:p>
            <a:pPr>
              <a:spcAft>
                <a:spcPts val="600"/>
              </a:spcAft>
              <a:defRPr sz="1800"/>
            </a:pPr>
            <a:r>
              <a:t>🔹 Higher Layers: Complex objects, concepts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💡 Your small dataset benefits from these learned features!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📊 Results: 90%+ accuracy with just 100 images per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Popular Pre-trained Models 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🏆 Top Models for Transfer Learning: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1️⃣ ResNet (18, 34, 50, 101, 152)</a:t>
            </a:r>
          </a:p>
          <a:p>
            <a:pPr lvl="1">
              <a:spcAft>
                <a:spcPts val="600"/>
              </a:spcAft>
              <a:defRPr sz="1800"/>
            </a:pPr>
            <a:r>
              <a:t>   • Residual connections, very deep networks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2️⃣ VGG (16, 19)</a:t>
            </a:r>
          </a:p>
          <a:p>
            <a:pPr lvl="1">
              <a:spcAft>
                <a:spcPts val="600"/>
              </a:spcAft>
              <a:defRPr sz="1800"/>
            </a:pPr>
            <a:r>
              <a:t>   • Simple architecture, good for beginners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3️⃣ EfficientNet (B0-B7)</a:t>
            </a:r>
          </a:p>
          <a:p>
            <a:pPr lvl="1">
              <a:spcAft>
                <a:spcPts val="600"/>
              </a:spcAft>
              <a:defRPr sz="1800"/>
            </a:pPr>
            <a:r>
              <a:t>   • State-of-the-art accuracy with fewer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Two Transfer Learning Approaches 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🎯 Approach 1: Feature Extraction (Freeze Layers)</a:t>
            </a:r>
          </a:p>
          <a:p>
            <a:pPr lvl="1">
              <a:spcAft>
                <a:spcPts val="600"/>
              </a:spcAft>
              <a:defRPr sz="1800"/>
            </a:pPr>
            <a:r>
              <a:t>   • Freeze all pre-trained layers</a:t>
            </a:r>
          </a:p>
          <a:p>
            <a:pPr lvl="1">
              <a:spcAft>
                <a:spcPts val="600"/>
              </a:spcAft>
              <a:defRPr sz="1800"/>
            </a:pPr>
            <a:r>
              <a:t>   • Only train final classification layer</a:t>
            </a:r>
          </a:p>
          <a:p>
            <a:pPr lvl="1">
              <a:spcAft>
                <a:spcPts val="600"/>
              </a:spcAft>
              <a:defRPr sz="1800"/>
            </a:pPr>
            <a:r>
              <a:t>   • Fast, works with small datasets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🎯 Approach 2: Fine-tuning (Unfreeze Some Layers)</a:t>
            </a:r>
          </a:p>
          <a:p>
            <a:pPr lvl="1">
              <a:spcAft>
                <a:spcPts val="600"/>
              </a:spcAft>
              <a:defRPr sz="1800"/>
            </a:pPr>
            <a:r>
              <a:t>   • Freeze early layers, unfreeze later layers</a:t>
            </a:r>
          </a:p>
          <a:p>
            <a:pPr lvl="1">
              <a:spcAft>
                <a:spcPts val="600"/>
              </a:spcAft>
              <a:defRPr sz="1800"/>
            </a:pPr>
            <a:r>
              <a:t>   • Train with lower learning rate</a:t>
            </a:r>
          </a:p>
          <a:p>
            <a:pPr lvl="1">
              <a:spcAft>
                <a:spcPts val="600"/>
              </a:spcAft>
              <a:defRPr sz="1800"/>
            </a:pPr>
            <a:r>
              <a:t>   • Better accuracy, needs more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Why Data Augmentation?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❓ Problem: Small datasets lead to overfitting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Solution: Artificially increase dataset size!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🔥 Benefits:</a:t>
            </a:r>
          </a:p>
          <a:p>
            <a:pPr lvl="1">
              <a:spcAft>
                <a:spcPts val="600"/>
              </a:spcAft>
              <a:defRPr sz="1800"/>
            </a:pPr>
            <a:r>
              <a:t>   • Model sees more variations of same image</a:t>
            </a:r>
          </a:p>
          <a:p>
            <a:pPr lvl="1">
              <a:spcAft>
                <a:spcPts val="600"/>
              </a:spcAft>
              <a:defRPr sz="1800"/>
            </a:pPr>
            <a:r>
              <a:t>   • Learns robust features, not memorization</a:t>
            </a:r>
          </a:p>
          <a:p>
            <a:pPr lvl="1">
              <a:spcAft>
                <a:spcPts val="600"/>
              </a:spcAft>
              <a:defRPr sz="1800"/>
            </a:pPr>
            <a:r>
              <a:t>   • Better generalization to new data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📈 Result: 5-15% accuracy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Common Augmentation Techniques 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🔄 Geometric Transformations:</a:t>
            </a:r>
          </a:p>
          <a:p>
            <a:pPr lvl="1">
              <a:spcAft>
                <a:spcPts val="600"/>
              </a:spcAft>
              <a:defRPr sz="1800"/>
            </a:pPr>
            <a:r>
              <a:t>   • Horizontal/Vertical Flip</a:t>
            </a:r>
          </a:p>
          <a:p>
            <a:pPr lvl="1">
              <a:spcAft>
                <a:spcPts val="600"/>
              </a:spcAft>
              <a:defRPr sz="1800"/>
            </a:pPr>
            <a:r>
              <a:t>   • Rotation (±15-30 degrees)</a:t>
            </a:r>
          </a:p>
          <a:p>
            <a:pPr lvl="1">
              <a:spcAft>
                <a:spcPts val="600"/>
              </a:spcAft>
              <a:defRPr sz="1800"/>
            </a:pPr>
            <a:r>
              <a:t>   • Random Crop &amp; Resize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🎨 Color Transformations:</a:t>
            </a:r>
          </a:p>
          <a:p>
            <a:pPr lvl="1">
              <a:spcAft>
                <a:spcPts val="600"/>
              </a:spcAft>
              <a:defRPr sz="1800"/>
            </a:pPr>
            <a:r>
              <a:t>   • Brightness &amp; Contrast adjustment</a:t>
            </a:r>
          </a:p>
          <a:p>
            <a:pPr lvl="1">
              <a:spcAft>
                <a:spcPts val="600"/>
              </a:spcAft>
              <a:defRPr sz="1800"/>
            </a:pPr>
            <a:r>
              <a:t>   • Color Jitter (hue, saturation)</a:t>
            </a:r>
          </a:p>
          <a:p>
            <a:pPr lvl="1">
              <a:spcAft>
                <a:spcPts val="600"/>
              </a:spcAft>
              <a:defRPr sz="1800"/>
            </a:pPr>
            <a:r>
              <a:t>   • Random Grayscale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PyTorch Implementation 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🐍 PyTorch makes it easy!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📦 Key Components:</a:t>
            </a:r>
          </a:p>
          <a:p>
            <a:pPr lvl="1">
              <a:spcAft>
                <a:spcPts val="600"/>
              </a:spcAft>
              <a:defRPr sz="1800"/>
            </a:pPr>
            <a:r>
              <a:t>   • torchvision.transforms - augmentation pipeline</a:t>
            </a:r>
          </a:p>
          <a:p>
            <a:pPr lvl="1">
              <a:spcAft>
                <a:spcPts val="600"/>
              </a:spcAft>
              <a:defRPr sz="1800"/>
            </a:pPr>
            <a:r>
              <a:t>   • torchvision.models - pre-trained models</a:t>
            </a:r>
          </a:p>
          <a:p>
            <a:pPr lvl="1">
              <a:spcAft>
                <a:spcPts val="600"/>
              </a:spcAft>
              <a:defRPr sz="1800"/>
            </a:pPr>
            <a:r>
              <a:t>   • torch.nn - replace final layer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⚡ 3-Step Workflow:</a:t>
            </a:r>
          </a:p>
          <a:p>
            <a:pPr>
              <a:spcAft>
                <a:spcPts val="600"/>
              </a:spcAft>
              <a:defRPr sz="1800"/>
            </a:pPr>
            <a:r>
              <a:t>   1. Load pre-trained model</a:t>
            </a:r>
          </a:p>
          <a:p>
            <a:pPr>
              <a:spcAft>
                <a:spcPts val="600"/>
              </a:spcAft>
              <a:defRPr sz="1800"/>
            </a:pPr>
            <a:r>
              <a:t>   2. Freeze layers &amp; replace head</a:t>
            </a:r>
          </a:p>
          <a:p>
            <a:pPr>
              <a:spcAft>
                <a:spcPts val="600"/>
              </a:spcAft>
              <a:defRPr sz="1800"/>
            </a:pPr>
            <a:r>
              <a:t>   3. Train with augmented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Key Takeaways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✅ Transfer Learning = Using pre-trained knowledge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Works because models learn universal features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Two approaches: Feature extraction vs Fine-tuning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Data augmentation prevents overfitting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✅ PyTorch provides easy-to-use tools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🚀 Let's implement this in the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
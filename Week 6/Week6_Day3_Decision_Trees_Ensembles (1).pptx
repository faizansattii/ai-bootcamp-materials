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Decision Trees &amp; Ensembles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From Single Trees to Powerful Forests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Week 6 - Day 3 | AI Bootcamp - Supervised Learning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🌳 Decision Trees &amp;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667EEA"/>
                </a:solidFill>
              </a:defRPr>
            </a:pPr>
            <a:r>
              <a:t>🌳 What is a Decision Tree?</a:t>
            </a:r>
          </a:p>
          <a:p>
            <a:pPr>
              <a:spcAft>
                <a:spcPts val="800"/>
              </a:spcAft>
              <a:defRPr sz="2000" b="0"/>
            </a:pPr>
            <a:r>
              <a:t>A flowchart-like model that makes decisions by asking YES/NO questions</a:t>
            </a:r>
          </a:p>
          <a:p>
            <a:pPr>
              <a:spcAft>
                <a:spcPts val="800"/>
              </a:spcAft>
              <a:defRPr sz="1800" b="0"/>
            </a:pPr>
            <a:r>
              <a:t>Think: "20 Questions" game - narrow down to the answer!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800" b="1">
                <a:solidFill>
                  <a:srgbClr val="764BA2"/>
                </a:solidFill>
              </a:defRPr>
            </a:pPr>
            <a:r>
              <a:t>🏗️ Anatomy of a Decision Tree:</a:t>
            </a:r>
          </a:p>
          <a:p>
            <a:pPr>
              <a:spcAft>
                <a:spcPts val="800"/>
              </a:spcAft>
              <a:defRPr sz="1800" b="0"/>
            </a:pPr>
            <a:r>
              <a:t>• Root Node: The first question at the top</a:t>
            </a:r>
          </a:p>
          <a:p>
            <a:pPr>
              <a:spcAft>
                <a:spcPts val="800"/>
              </a:spcAft>
              <a:defRPr sz="1800" b="0"/>
            </a:pPr>
            <a:r>
              <a:t>• Internal Nodes: Decision points that split data</a:t>
            </a:r>
          </a:p>
          <a:p>
            <a:pPr>
              <a:spcAft>
                <a:spcPts val="800"/>
              </a:spcAft>
              <a:defRPr sz="1800" b="0"/>
            </a:pPr>
            <a:r>
              <a:t>• Branches: Connections showing YES/NO paths</a:t>
            </a:r>
          </a:p>
          <a:p>
            <a:pPr>
              <a:spcAft>
                <a:spcPts val="800"/>
              </a:spcAft>
              <a:defRPr sz="1800" b="0"/>
            </a:pPr>
            <a:r>
              <a:t>• Leaf Nodes: Final predictions (no more splits)</a:t>
            </a:r>
          </a:p>
          <a:p>
            <a:pPr>
              <a:spcAft>
                <a:spcPts val="800"/>
              </a:spcAft>
              <a:defRPr sz="1800" b="0"/>
            </a:pPr>
            <a:r>
              <a:t>• Depth: How many levels deep the tree goes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📊 Splitting Criteria: Gini Impurity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667EEA"/>
                </a:solidFill>
              </a:defRPr>
            </a:pPr>
            <a:r>
              <a:t>📊 Gini Impurity: Measuring Purity</a:t>
            </a:r>
          </a:p>
          <a:p>
            <a:pPr>
              <a:spcAft>
                <a:spcPts val="800"/>
              </a:spcAft>
              <a:defRPr sz="2000" b="0"/>
            </a:pPr>
            <a:r>
              <a:t>How do we choose which feature to split on? Measure purity!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000" b="1"/>
            </a:pPr>
            <a:r>
              <a:t>🍬 Think: Sorting candies into jars</a:t>
            </a:r>
          </a:p>
          <a:p>
            <a:pPr>
              <a:spcAft>
                <a:spcPts val="800"/>
              </a:spcAft>
              <a:defRPr sz="1800" b="0"/>
            </a:pPr>
            <a:r>
              <a:t>• Pure jar (all red): Gini = 0  ✅</a:t>
            </a:r>
          </a:p>
          <a:p>
            <a:pPr>
              <a:spcAft>
                <a:spcPts val="800"/>
              </a:spcAft>
              <a:defRPr sz="1800" b="0"/>
            </a:pPr>
            <a:r>
              <a:t>• Mixed jar (50-50 red/blue): Gini = 0.5  ❌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200" b="1">
                <a:solidFill>
                  <a:srgbClr val="667EEA"/>
                </a:solidFill>
              </a:defRPr>
            </a:pPr>
            <a:r>
              <a:t>📐 Formula: Gini = 1 - Σ(pi²)</a:t>
            </a:r>
          </a:p>
          <a:p>
            <a:pPr>
              <a:spcAft>
                <a:spcPts val="800"/>
              </a:spcAft>
              <a:defRPr sz="1600" b="0"/>
            </a:pPr>
            <a:r>
              <a:t>where pi = proportion of class i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🎯 Lower Gini = Better split!</a:t>
            </a:r>
          </a:p>
          <a:p>
            <a:pPr>
              <a:spcAft>
                <a:spcPts val="800"/>
              </a:spcAft>
              <a:defRPr sz="1800" b="0"/>
            </a:pPr>
            <a:r>
              <a:t>Tree picks the split with lowest Gini impurity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🔀 Entropy &amp; Information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764BA2"/>
                </a:solidFill>
              </a:defRPr>
            </a:pPr>
            <a:r>
              <a:t>🔀 Entropy &amp; Information Gain</a:t>
            </a:r>
          </a:p>
          <a:p>
            <a:pPr>
              <a:spcAft>
                <a:spcPts val="800"/>
              </a:spcAft>
              <a:defRPr sz="2000" b="0"/>
            </a:pPr>
            <a:r>
              <a:t>Another way to measure impurity: "How much disorder?"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200" b="1">
                <a:solidFill>
                  <a:srgbClr val="764BA2"/>
                </a:solidFill>
              </a:defRPr>
            </a:pPr>
            <a:r>
              <a:t>📐 Formula: Entropy = -Σ(pi × log₂(pi))</a:t>
            </a:r>
          </a:p>
          <a:p>
            <a:pPr>
              <a:spcAft>
                <a:spcPts val="800"/>
              </a:spcAft>
              <a:defRPr sz="1800" b="0"/>
            </a:pPr>
            <a:r>
              <a:t>• Range: 0 (pure) to 1 (most mixed)</a:t>
            </a:r>
          </a:p>
          <a:p>
            <a:pPr>
              <a:spcAft>
                <a:spcPts val="800"/>
              </a:spcAft>
              <a:defRPr sz="1800" b="0"/>
            </a:pPr>
            <a:r>
              <a:t>• Uses logarithm = more sensitive to changes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000" b="1"/>
            </a:pPr>
            <a:r>
              <a:t>📈 Information Gain = How much entropy we reduce</a:t>
            </a:r>
          </a:p>
          <a:p>
            <a:pPr>
              <a:spcAft>
                <a:spcPts val="800"/>
              </a:spcAft>
              <a:defRPr sz="1600" b="0"/>
            </a:pPr>
            <a:r>
              <a:t>IG = Entropy(parent) - Weighted_Avg(Entropy(children))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200" b="1">
                <a:solidFill>
                  <a:srgbClr val="667EEA"/>
                </a:solidFill>
              </a:defRPr>
            </a:pPr>
            <a:r>
              <a:t>⚖️ Gini vs Entropy:</a:t>
            </a:r>
          </a:p>
          <a:p>
            <a:pPr>
              <a:spcAft>
                <a:spcPts val="800"/>
              </a:spcAft>
              <a:defRPr sz="1800" b="0"/>
            </a:pPr>
            <a:r>
              <a:t>• Gini: Faster (default choice)  • Entropy: More precise</a:t>
            </a:r>
          </a:p>
          <a:p>
            <a:pPr>
              <a:spcAft>
                <a:spcPts val="800"/>
              </a:spcAft>
              <a:defRPr sz="1800" b="0"/>
            </a:pPr>
            <a:r>
              <a:t>• Both usually give similar results!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⚠️ Overfitting &amp; Pruning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56565"/>
                </a:solidFill>
              </a:defRPr>
            </a:pPr>
            <a:r>
              <a:t>⚠️ The Overfitting Problem</a:t>
            </a:r>
          </a:p>
          <a:p>
            <a:pPr>
              <a:spcAft>
                <a:spcPts val="800"/>
              </a:spcAft>
              <a:defRPr sz="2000" b="0"/>
            </a:pPr>
            <a:r>
              <a:t>When trees become TOO specific and memorize training data!</a:t>
            </a:r>
          </a:p>
          <a:p>
            <a:pPr>
              <a:spcAft>
                <a:spcPts val="800"/>
              </a:spcAft>
              <a:defRPr sz="1800" b="0"/>
            </a:pPr>
            <a:r>
              <a:t>Result: 100% training accuracy, poor test performance 😢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800" b="1">
                <a:solidFill>
                  <a:srgbClr val="48BB78"/>
                </a:solidFill>
              </a:defRPr>
            </a:pPr>
            <a:r>
              <a:t>✂️ Pruning: The Solution!</a:t>
            </a:r>
          </a:p>
          <a:p>
            <a:pPr>
              <a:spcAft>
                <a:spcPts val="800"/>
              </a:spcAft>
              <a:defRPr sz="1800" b="0"/>
            </a:pPr>
            <a:r>
              <a:t>Cut unnecessary branches to simplify the tree</a:t>
            </a:r>
          </a:p>
          <a:p>
            <a:pPr>
              <a:spcAft>
                <a:spcPts val="800"/>
              </a:spcAft>
              <a:defRPr sz="800" b="0"/>
            </a:pPr>
          </a:p>
          <a:p>
            <a:pPr>
              <a:spcAft>
                <a:spcPts val="800"/>
              </a:spcAft>
              <a:defRPr sz="2200" b="1"/>
            </a:pPr>
            <a:r>
              <a:t>Key Pruning Techniques:</a:t>
            </a:r>
          </a:p>
          <a:p>
            <a:pPr>
              <a:spcAft>
                <a:spcPts val="800"/>
              </a:spcAft>
              <a:defRPr sz="1800" b="0"/>
            </a:pPr>
            <a:r>
              <a:t>1. max_depth: Limit tree depth (typical: 3-10)</a:t>
            </a:r>
          </a:p>
          <a:p>
            <a:pPr>
              <a:spcAft>
                <a:spcPts val="800"/>
              </a:spcAft>
              <a:defRPr sz="1800" b="0"/>
            </a:pPr>
            <a:r>
              <a:t>2. min_samples_split: Min samples to split (typical: 10-50)</a:t>
            </a:r>
          </a:p>
          <a:p>
            <a:pPr>
              <a:spcAft>
                <a:spcPts val="800"/>
              </a:spcAft>
              <a:defRPr sz="1800" b="0"/>
            </a:pPr>
            <a:r>
              <a:t>3. min_samples_leaf: Min samples per leaf (typical: 5-20)</a:t>
            </a:r>
          </a:p>
          <a:p>
            <a:pPr>
              <a:spcAft>
                <a:spcPts val="800"/>
              </a:spcAft>
              <a:defRPr sz="1800" b="0"/>
            </a:pPr>
            <a:r>
              <a:t>4. max_leaf_nodes: Limit total leaves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🎯 Ensemble Methods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667EEA"/>
                </a:solidFill>
              </a:defRPr>
            </a:pPr>
            <a:r>
              <a:t>🎯 Ensemble Methods: Power of Many!</a:t>
            </a:r>
          </a:p>
          <a:p>
            <a:pPr>
              <a:spcAft>
                <a:spcPts val="800"/>
              </a:spcAft>
              <a:defRPr sz="2000" b="0"/>
            </a:pPr>
            <a:r>
              <a:t>"Many heads are better than one!" - Combine multiple trees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💡 Why Ensembles Work:</a:t>
            </a:r>
          </a:p>
          <a:p>
            <a:pPr>
              <a:spcAft>
                <a:spcPts val="800"/>
              </a:spcAft>
              <a:defRPr sz="1800" b="0"/>
            </a:pPr>
            <a:r>
              <a:t>• Different trees make different mistakes</a:t>
            </a:r>
          </a:p>
          <a:p>
            <a:pPr>
              <a:spcAft>
                <a:spcPts val="800"/>
              </a:spcAft>
              <a:defRPr sz="1800" b="0"/>
            </a:pPr>
            <a:r>
              <a:t>• Errors cancel out when combined</a:t>
            </a:r>
          </a:p>
          <a:p>
            <a:pPr>
              <a:spcAft>
                <a:spcPts val="800"/>
              </a:spcAft>
              <a:defRPr sz="1800" b="0"/>
            </a:pPr>
            <a:r>
              <a:t>• More robust and stable predictions</a:t>
            </a:r>
          </a:p>
          <a:p>
            <a:pPr>
              <a:spcAft>
                <a:spcPts val="800"/>
              </a:spcAft>
              <a:defRPr sz="1800" b="0"/>
            </a:pPr>
            <a:r>
              <a:t>• Reduces overfitting naturally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200" b="1"/>
            </a:pPr>
            <a:r>
              <a:t>🌲 Bagging (e.g., Random Forest):</a:t>
            </a:r>
          </a:p>
          <a:p>
            <a:pPr>
              <a:spcAft>
                <a:spcPts val="800"/>
              </a:spcAft>
              <a:defRPr sz="1800" b="0"/>
            </a:pPr>
            <a:r>
              <a:t>Build many trees independently → Vote together</a:t>
            </a:r>
          </a:p>
          <a:p>
            <a:pPr>
              <a:spcAft>
                <a:spcPts val="800"/>
              </a:spcAft>
              <a:defRPr sz="800" b="0"/>
            </a:pPr>
          </a:p>
          <a:p>
            <a:pPr>
              <a:spcAft>
                <a:spcPts val="800"/>
              </a:spcAft>
              <a:defRPr sz="2200" b="1"/>
            </a:pPr>
            <a:r>
              <a:t>⚡ Boosting (e.g., XGBoost):</a:t>
            </a:r>
          </a:p>
          <a:p>
            <a:pPr>
              <a:spcAft>
                <a:spcPts val="800"/>
              </a:spcAft>
              <a:defRPr sz="1800" b="0"/>
            </a:pPr>
            <a:r>
              <a:t>Build trees sequentially → Each fixes previous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🌲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48BB78"/>
                </a:solidFill>
              </a:defRPr>
            </a:pPr>
            <a:r>
              <a:t>🌲 Random Forest: The Go-To Algorithm</a:t>
            </a:r>
          </a:p>
          <a:p>
            <a:pPr>
              <a:spcAft>
                <a:spcPts val="800"/>
              </a:spcAft>
              <a:defRPr sz="2000" b="0"/>
            </a:pPr>
            <a:r>
              <a:t>Bagging + Decision Trees = Random Forest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400" b="1"/>
            </a:pPr>
            <a:r>
              <a:t>How It Works (5 Steps):</a:t>
            </a:r>
          </a:p>
          <a:p>
            <a:pPr>
              <a:spcAft>
                <a:spcPts val="800"/>
              </a:spcAft>
              <a:defRPr sz="1800" b="0"/>
            </a:pPr>
            <a:r>
              <a:t>1. Create random samples of data (with replacement)</a:t>
            </a:r>
          </a:p>
          <a:p>
            <a:pPr>
              <a:spcAft>
                <a:spcPts val="800"/>
              </a:spcAft>
              <a:defRPr sz="1800" b="0"/>
            </a:pPr>
            <a:r>
              <a:t>2. Build many trees (typically 100-500)</a:t>
            </a:r>
          </a:p>
          <a:p>
            <a:pPr>
              <a:spcAft>
                <a:spcPts val="800"/>
              </a:spcAft>
              <a:defRPr sz="1800" b="0"/>
            </a:pPr>
            <a:r>
              <a:t>3. Each split uses random subset of features</a:t>
            </a:r>
          </a:p>
          <a:p>
            <a:pPr>
              <a:spcAft>
                <a:spcPts val="800"/>
              </a:spcAft>
              <a:defRPr sz="1800" b="0"/>
            </a:pPr>
            <a:r>
              <a:t>4. Each tree makes independent prediction</a:t>
            </a:r>
          </a:p>
          <a:p>
            <a:pPr>
              <a:spcAft>
                <a:spcPts val="800"/>
              </a:spcAft>
              <a:defRPr sz="1800" b="0"/>
            </a:pPr>
            <a:r>
              <a:t>5. Vote (classification) or average (regression)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200" b="1">
                <a:solidFill>
                  <a:srgbClr val="48BB78"/>
                </a:solidFill>
              </a:defRPr>
            </a:pPr>
            <a:r>
              <a:t>✅ Why Random Forest is Awesome:</a:t>
            </a:r>
          </a:p>
          <a:p>
            <a:pPr>
              <a:spcAft>
                <a:spcPts val="800"/>
              </a:spcAft>
              <a:defRPr sz="1800" b="0"/>
            </a:pPr>
            <a:r>
              <a:t>• High accuracy  • Easy to use  • Robust  • Feature importance</a:t>
            </a:r>
          </a:p>
          <a:p>
            <a:pPr>
              <a:spcAft>
                <a:spcPts val="800"/>
              </a:spcAft>
              <a:defRPr sz="1800" b="0"/>
            </a:pPr>
            <a:r>
              <a:t>• Works "out of the box"  • Reduces overfitting naturally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⚡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39C12"/>
                </a:solidFill>
              </a:defRPr>
            </a:pPr>
            <a:r>
              <a:t>⚡ XGBoost: eXtreme Gradient Boosting</a:t>
            </a:r>
          </a:p>
          <a:p>
            <a:pPr>
              <a:spcAft>
                <a:spcPts val="800"/>
              </a:spcAft>
              <a:defRPr sz="2000" b="0"/>
            </a:pPr>
            <a:r>
              <a:t>The King of Kaggle Competitions! 👑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400" b="1"/>
            </a:pPr>
            <a:r>
              <a:t>How It Works (Sequential Learning):</a:t>
            </a:r>
          </a:p>
          <a:p>
            <a:pPr>
              <a:spcAft>
                <a:spcPts val="800"/>
              </a:spcAft>
              <a:defRPr sz="1800" b="0"/>
            </a:pPr>
            <a:r>
              <a:t>1. Start with initial prediction</a:t>
            </a:r>
          </a:p>
          <a:p>
            <a:pPr>
              <a:spcAft>
                <a:spcPts val="800"/>
              </a:spcAft>
              <a:defRPr sz="1800" b="0"/>
            </a:pPr>
            <a:r>
              <a:t>2. Calculate errors (residuals)</a:t>
            </a:r>
          </a:p>
          <a:p>
            <a:pPr>
              <a:spcAft>
                <a:spcPts val="800"/>
              </a:spcAft>
              <a:defRPr sz="1800" b="0"/>
            </a:pPr>
            <a:r>
              <a:t>3. Build next tree to predict those errors</a:t>
            </a:r>
          </a:p>
          <a:p>
            <a:pPr>
              <a:spcAft>
                <a:spcPts val="800"/>
              </a:spcAft>
              <a:defRPr sz="1800" b="0"/>
            </a:pPr>
            <a:r>
              <a:t>4. Add tree with small learning rate (0.01-0.3)</a:t>
            </a:r>
          </a:p>
          <a:p>
            <a:pPr>
              <a:spcAft>
                <a:spcPts val="800"/>
              </a:spcAft>
              <a:defRPr sz="1800" b="0"/>
            </a:pPr>
            <a:r>
              <a:t>5. Repeat! Each tree fixes remaining mistakes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200" b="1">
                <a:solidFill>
                  <a:srgbClr val="F39C12"/>
                </a:solidFill>
              </a:defRPr>
            </a:pPr>
            <a:r>
              <a:t>🚀 What Makes XGBoost "eXtreme":</a:t>
            </a:r>
          </a:p>
          <a:p>
            <a:pPr>
              <a:spcAft>
                <a:spcPts val="800"/>
              </a:spcAft>
              <a:defRPr sz="1800" b="0"/>
            </a:pPr>
            <a:r>
              <a:t>• Blazing fast  • Built-in regularization  • Handles missing data</a:t>
            </a:r>
          </a:p>
          <a:p>
            <a:pPr>
              <a:spcAft>
                <a:spcPts val="800"/>
              </a:spcAft>
              <a:defRPr sz="1800" b="0"/>
            </a:pPr>
            <a:r>
              <a:t>• Often achieves highest accuracy  • Wins competitions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⚖️ Algorithm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667EEA"/>
                </a:solidFill>
              </a:defRPr>
            </a:pPr>
            <a:r>
              <a:t>⚖️ Algorithm Comparison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400" b="1"/>
            </a:pPr>
            <a:r>
              <a:t>🌳 Decision Tree:</a:t>
            </a:r>
          </a:p>
          <a:p>
            <a:pPr>
              <a:spcAft>
                <a:spcPts val="800"/>
              </a:spcAft>
              <a:defRPr sz="1800" b="0"/>
            </a:pPr>
            <a:r>
              <a:t>Pros: Fast, interpretable, easy to visualize</a:t>
            </a:r>
          </a:p>
          <a:p>
            <a:pPr>
              <a:spcAft>
                <a:spcPts val="800"/>
              </a:spcAft>
              <a:defRPr sz="1800" b="0"/>
            </a:pPr>
            <a:r>
              <a:t>Cons: Prone to overfitting, less accurate</a:t>
            </a:r>
          </a:p>
          <a:p>
            <a:pPr>
              <a:spcAft>
                <a:spcPts val="800"/>
              </a:spcAft>
              <a:defRPr sz="1800" b="0"/>
            </a:pPr>
            <a:r>
              <a:t>Use: Quick baseline, teaching, feature analysis</a:t>
            </a:r>
          </a:p>
          <a:p>
            <a:pPr>
              <a:spcAft>
                <a:spcPts val="800"/>
              </a:spcAft>
              <a:defRPr sz="800" b="0"/>
            </a:pPr>
          </a:p>
          <a:p>
            <a:pPr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🌲 Random Forest:</a:t>
            </a:r>
          </a:p>
          <a:p>
            <a:pPr>
              <a:spcAft>
                <a:spcPts val="800"/>
              </a:spcAft>
              <a:defRPr sz="1800" b="0"/>
            </a:pPr>
            <a:r>
              <a:t>Pros: High accuracy, robust, easy to use, works "out of box"</a:t>
            </a:r>
          </a:p>
          <a:p>
            <a:pPr>
              <a:spcAft>
                <a:spcPts val="800"/>
              </a:spcAft>
              <a:defRPr sz="1800" b="0"/>
            </a:pPr>
            <a:r>
              <a:t>Cons: Less interpretable, slower than single tree</a:t>
            </a:r>
          </a:p>
          <a:p>
            <a:pPr>
              <a:spcAft>
                <a:spcPts val="800"/>
              </a:spcAft>
              <a:defRPr sz="1800" b="1"/>
            </a:pPr>
            <a:r>
              <a:t>Use: DEFAULT CHOICE for 90% of problems! ✅</a:t>
            </a:r>
          </a:p>
          <a:p>
            <a:pPr>
              <a:spcAft>
                <a:spcPts val="800"/>
              </a:spcAft>
              <a:defRPr sz="800" b="0"/>
            </a:pPr>
          </a:p>
          <a:p>
            <a:pPr>
              <a:spcAft>
                <a:spcPts val="800"/>
              </a:spcAft>
              <a:defRPr sz="2400" b="1">
                <a:solidFill>
                  <a:srgbClr val="F39C12"/>
                </a:solidFill>
              </a:defRPr>
            </a:pPr>
            <a:r>
              <a:t>⚡ XGBoost:</a:t>
            </a:r>
          </a:p>
          <a:p>
            <a:pPr>
              <a:spcAft>
                <a:spcPts val="800"/>
              </a:spcAft>
              <a:defRPr sz="1800" b="0"/>
            </a:pPr>
            <a:r>
              <a:t>Pros: Maximum accuracy, flexible, competition champion</a:t>
            </a:r>
          </a:p>
          <a:p>
            <a:pPr>
              <a:spcAft>
                <a:spcPts val="800"/>
              </a:spcAft>
              <a:defRPr sz="1800" b="0"/>
            </a:pPr>
            <a:r>
              <a:t>Cons: More hyperparameters, requires tuning</a:t>
            </a:r>
          </a:p>
          <a:p>
            <a:pPr>
              <a:spcAft>
                <a:spcPts val="800"/>
              </a:spcAft>
              <a:defRPr sz="1800" b="1"/>
            </a:pPr>
            <a:r>
              <a:t>Use: When you need that extra 2-5% accuracy! 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📚 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667EEA"/>
                </a:solidFill>
              </a:defRPr>
            </a:pPr>
            <a:r>
              <a:t>📚 Summary &amp; Next Steps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400" b="1"/>
            </a:pPr>
            <a:r>
              <a:t>Key Takeaways:</a:t>
            </a:r>
          </a:p>
          <a:p>
            <a:pPr>
              <a:spcAft>
                <a:spcPts val="800"/>
              </a:spcAft>
              <a:defRPr sz="1800" b="0"/>
            </a:pPr>
            <a:r>
              <a:t>✅ Decision Trees: Simple but powerful, use splitting criteria &amp; pruning</a:t>
            </a:r>
          </a:p>
          <a:p>
            <a:pPr>
              <a:spcAft>
                <a:spcPts val="800"/>
              </a:spcAft>
              <a:defRPr sz="1800" b="0"/>
            </a:pPr>
            <a:r>
              <a:t>✅ Gini vs Entropy: Both work well, Gini is default</a:t>
            </a:r>
          </a:p>
          <a:p>
            <a:pPr>
              <a:spcAft>
                <a:spcPts val="800"/>
              </a:spcAft>
              <a:defRPr sz="1800" b="0"/>
            </a:pPr>
            <a:r>
              <a:t>✅ Pruning: Essential to prevent overfitting</a:t>
            </a:r>
          </a:p>
          <a:p>
            <a:pPr>
              <a:spcAft>
                <a:spcPts val="800"/>
              </a:spcAft>
              <a:defRPr sz="1800" b="0"/>
            </a:pPr>
            <a:r>
              <a:t>✅ Ensembles: Many trees &gt; One tree</a:t>
            </a:r>
          </a:p>
          <a:p>
            <a:pPr>
              <a:spcAft>
                <a:spcPts val="800"/>
              </a:spcAft>
              <a:defRPr sz="1800" b="0"/>
            </a:pPr>
            <a:r>
              <a:t>✅ Random Forest: Your go-to choice!</a:t>
            </a:r>
          </a:p>
          <a:p>
            <a:pPr>
              <a:spcAft>
                <a:spcPts val="800"/>
              </a:spcAft>
              <a:defRPr sz="1800" b="0"/>
            </a:pPr>
            <a:r>
              <a:t>✅ XGBoost: For maximum accuracy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🚢 Hands-On: Titanic Survival Prediction</a:t>
            </a:r>
          </a:p>
          <a:p>
            <a:pPr>
              <a:spcAft>
                <a:spcPts val="800"/>
              </a:spcAft>
              <a:defRPr sz="1800" b="0"/>
            </a:pPr>
            <a:r>
              <a:t>Next: Train all three algorithms on Titanic dataset</a:t>
            </a:r>
          </a:p>
          <a:p>
            <a:pPr>
              <a:spcAft>
                <a:spcPts val="800"/>
              </a:spcAft>
              <a:defRPr sz="1800" b="0"/>
            </a:pPr>
            <a:r>
              <a:t>Compare performance, analyze features, choose best model!</a:t>
            </a:r>
          </a:p>
          <a:p>
            <a:pPr>
              <a:spcAft>
                <a:spcPts val="800"/>
              </a:spcAft>
              <a:defRPr sz="1000" b="0"/>
            </a:pPr>
          </a:p>
          <a:p>
            <a:pPr>
              <a:spcAft>
                <a:spcPts val="800"/>
              </a:spcAft>
              <a:defRPr sz="2200" b="1">
                <a:solidFill>
                  <a:srgbClr val="667EEA"/>
                </a:solidFill>
              </a:defRPr>
            </a:pPr>
            <a:r>
              <a:t>Let's move to the Jupyter Notebook!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
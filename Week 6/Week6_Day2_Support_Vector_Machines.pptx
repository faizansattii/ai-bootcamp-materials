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3661" y="1276350"/>
            <a:ext cx="699667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Machines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553998" y="2152650"/>
            <a:ext cx="20360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600"/>
              </a:spcBef>
              <a:spcAft>
                <a:spcPts val="24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6 - Day 2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198016" y="2990850"/>
            <a:ext cx="27479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Best Boundary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27618" y="3562350"/>
            <a:ext cx="2688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Margin Classification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8584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Support Vector Machine?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44029"/>
            <a:ext cx="8229600" cy="1028700"/>
          </a:xfrm>
          <a:prstGeom prst="roundRect">
            <a:avLst>
              <a:gd name="adj" fmla="val 740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5775" y="1044029"/>
            <a:ext cx="0" cy="102870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5798" y="1272629"/>
            <a:ext cx="786955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powerful classifier that finds the optimal boundary between classes by maximizing the margin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377529"/>
            <a:ext cx="3962400" cy="1417290"/>
          </a:xfrm>
          <a:prstGeom prst="roundRect">
            <a:avLst>
              <a:gd name="adj" fmla="val 537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6250" y="2377529"/>
            <a:ext cx="0" cy="141729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2529929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7700" y="2949029"/>
            <a:ext cx="3691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best hyperplane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7700" y="3261420"/>
            <a:ext cx="36918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any line that separates classes - the ONE with maximum margin!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24400" y="2377529"/>
            <a:ext cx="3962400" cy="1417290"/>
          </a:xfrm>
          <a:prstGeom prst="roundRect">
            <a:avLst>
              <a:gd name="adj" fmla="val 537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43450" y="2377529"/>
            <a:ext cx="0" cy="1417290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4900" y="2529929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4900" y="2949029"/>
            <a:ext cx="3691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data points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4900" y="3261420"/>
            <a:ext cx="36918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closest points to the boundary - they "support" the decision boundary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099620"/>
            <a:ext cx="8229600" cy="533400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00385" y="4252020"/>
            <a:ext cx="614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maximize margin?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Larger margin = Better generalization = More robust predictions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Hyperplanes &amp; Margins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58329"/>
            <a:ext cx="4038600" cy="1760190"/>
          </a:xfrm>
          <a:prstGeom prst="roundRect">
            <a:avLst>
              <a:gd name="adj" fmla="val 432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310729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Hyperplane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1729829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boundary that separates classes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2042220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line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00" y="2308920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plane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600" y="2575620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dimensions: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Hyperplane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48200" y="1158329"/>
            <a:ext cx="4038600" cy="1760190"/>
          </a:xfrm>
          <a:prstGeom prst="roundRect">
            <a:avLst>
              <a:gd name="adj" fmla="val 432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00600" y="1310729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729829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from hyperplane to nearest point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2042220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Maximize this distance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2308920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More robust to new 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2575620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Better generalization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223320"/>
            <a:ext cx="8229600" cy="1028700"/>
          </a:xfrm>
          <a:prstGeom prst="roundRect">
            <a:avLst>
              <a:gd name="adj" fmla="val 740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39690" y="3375720"/>
            <a:ext cx="22644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Margin Classifier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568331" y="3871020"/>
            <a:ext cx="400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finds the hyperplane with the largest margin between classes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404420"/>
            <a:ext cx="8229600" cy="190500"/>
          </a:xfrm>
          <a:prstGeom prst="roundRect">
            <a:avLst>
              <a:gd name="adj" fmla="val 4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68066" y="4404420"/>
            <a:ext cx="38078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Vectors: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points exactly on the margin boundaries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vs Non-Linear SVM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807839"/>
            <a:ext cx="4038600" cy="1181100"/>
          </a:xfrm>
          <a:prstGeom prst="roundRect">
            <a:avLst>
              <a:gd name="adj" fmla="val 6452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18438" y="998339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871110" y="1569839"/>
            <a:ext cx="1058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SVM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2141339"/>
            <a:ext cx="4038600" cy="2727871"/>
          </a:xfrm>
          <a:prstGeom prst="roundRect">
            <a:avLst>
              <a:gd name="adj" fmla="val 279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293739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644229"/>
            <a:ext cx="3653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linearly separable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3400" y="2987129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337620"/>
            <a:ext cx="3653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and simple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680520"/>
            <a:ext cx="3653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well in high dimensions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3400" y="4023420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3400" y="4373910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handle curved boundaries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24400" y="807839"/>
            <a:ext cx="4038600" cy="1181100"/>
          </a:xfrm>
          <a:prstGeom prst="roundRect">
            <a:avLst>
              <a:gd name="adj" fmla="val 6452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61838" y="998339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🌀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5993331" y="1569839"/>
            <a:ext cx="15005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SVM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24400" y="2141339"/>
            <a:ext cx="4038600" cy="2727871"/>
          </a:xfrm>
          <a:prstGeom prst="roundRect">
            <a:avLst>
              <a:gd name="adj" fmla="val 279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76800" y="2293739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644229"/>
            <a:ext cx="3653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needs curved boundaries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76800" y="2987129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337620"/>
            <a:ext cx="3653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kernel trick!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3680520"/>
            <a:ext cx="3653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to higher dimension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76800" y="4023420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76800" y="4373910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flexible but slower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Kernel Trick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88007" y="918270"/>
            <a:ext cx="8167836" cy="975271"/>
          </a:xfrm>
          <a:prstGeom prst="roundRect">
            <a:avLst>
              <a:gd name="adj" fmla="val 781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16582" y="918270"/>
            <a:ext cx="0" cy="975271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4947" y="1223070"/>
            <a:ext cx="765110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data to a higher dimension where it becomes linearly separable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03971" y="2198340"/>
            <a:ext cx="5136059" cy="571500"/>
          </a:xfrm>
          <a:prstGeom prst="roundRect">
            <a:avLst>
              <a:gd name="adj" fmla="val 13333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08058" y="2350740"/>
            <a:ext cx="49278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Magic:</a:t>
            </a:r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it without actually computing the transformation!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247454" y="3074640"/>
            <a:ext cx="1791146" cy="1341090"/>
          </a:xfrm>
          <a:prstGeom prst="roundRect">
            <a:avLst>
              <a:gd name="adj" fmla="val 568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84990" y="3227040"/>
            <a:ext cx="1516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Space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384990" y="3615630"/>
            <a:ext cx="15160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not linearly separable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84990" y="4072830"/>
            <a:ext cx="15160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are mixed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97121" y="3554611"/>
            <a:ext cx="3497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105400" y="3169890"/>
            <a:ext cx="1791146" cy="1150590"/>
          </a:xfrm>
          <a:prstGeom prst="roundRect">
            <a:avLst>
              <a:gd name="adj" fmla="val 662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42937" y="3322290"/>
            <a:ext cx="1516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Space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242937" y="3710880"/>
            <a:ext cx="15160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dimension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42937" y="3977580"/>
            <a:ext cx="15160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linearly separable!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86459" y="4568130"/>
            <a:ext cx="4370933" cy="190500"/>
          </a:xfrm>
          <a:prstGeom prst="roundRect">
            <a:avLst>
              <a:gd name="adj" fmla="val 40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42750" y="4568130"/>
            <a:ext cx="44583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like: flatten a crumpled paper to separate dots on different sides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Kernel Functions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428750"/>
            <a:ext cx="8382000" cy="495300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428750"/>
            <a:ext cx="0" cy="4953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9100" y="1428750"/>
            <a:ext cx="8510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Kernel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9100" y="1771650"/>
            <a:ext cx="85107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</a:t>
            </a:r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linearly separable | </a:t>
            </a:r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Benefit:</a:t>
            </a:r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Fastest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000250"/>
            <a:ext cx="8382000" cy="495300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000250"/>
            <a:ext cx="0" cy="495300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9100" y="2000250"/>
            <a:ext cx="8510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Kernel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9100" y="2343150"/>
            <a:ext cx="85107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</a:t>
            </a:r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Curved boundaries | </a:t>
            </a:r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d:</a:t>
            </a:r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Degree (2, 3, etc.)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2571750"/>
            <a:ext cx="8382000" cy="495300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2571750"/>
            <a:ext cx="0" cy="49530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9100" y="2571750"/>
            <a:ext cx="8510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RBF (Radial Basis Function)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9100" y="2914650"/>
            <a:ext cx="85107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</a:t>
            </a:r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 popular, flexible | </a:t>
            </a:r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γ:</a:t>
            </a:r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Controls influence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3143250"/>
            <a:ext cx="8382000" cy="495300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3143250"/>
            <a:ext cx="0" cy="4953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100" y="3143250"/>
            <a:ext cx="8510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Kernel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19100" y="3486150"/>
            <a:ext cx="85107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</a:t>
            </a:r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Neural network-like | </a:t>
            </a:r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Less common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000" y="3714750"/>
            <a:ext cx="8382000" cy="304800"/>
          </a:xfrm>
          <a:prstGeom prst="roundRect">
            <a:avLst>
              <a:gd name="adj" fmla="val 2500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71837" y="3790950"/>
            <a:ext cx="1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 with RBF kernel!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Hyperparameters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245989"/>
            <a:ext cx="8382000" cy="845790"/>
          </a:xfrm>
          <a:prstGeom prst="roundRect">
            <a:avLst>
              <a:gd name="adj" fmla="val 900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245989"/>
            <a:ext cx="0" cy="84579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9100" y="1245989"/>
            <a:ext cx="8510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(Regularization)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9100" y="1634579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Smaller margin, fewer errors (may overfit)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9100" y="1901279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Larger margin, tolerates errors (may underfit)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2244179"/>
            <a:ext cx="8382000" cy="845790"/>
          </a:xfrm>
          <a:prstGeom prst="roundRect">
            <a:avLst>
              <a:gd name="adj" fmla="val 900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244179"/>
            <a:ext cx="0" cy="845790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100" y="2244179"/>
            <a:ext cx="8510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 (Gamma) - For RBF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9100" y="2632770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γ: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Close points influence more (may overfit)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9100" y="2899470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γ: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Far points influence (smoother boundary)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000" y="3242370"/>
            <a:ext cx="8382000" cy="579090"/>
          </a:xfrm>
          <a:prstGeom prst="roundRect">
            <a:avLst>
              <a:gd name="adj" fmla="val 1315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3242370"/>
            <a:ext cx="0" cy="57909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9100" y="3242370"/>
            <a:ext cx="8510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- For Polynomial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19100" y="3630960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of polynomial: Common values are 2, 3, or 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1000" y="3973860"/>
            <a:ext cx="8382000" cy="304800"/>
          </a:xfrm>
          <a:prstGeom prst="roundRect">
            <a:avLst>
              <a:gd name="adj" fmla="val 25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47960" y="4050060"/>
            <a:ext cx="26480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GridSearchCV to find optimal parameters!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 &amp; Cons of SVM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670620"/>
            <a:ext cx="4114800" cy="1181100"/>
          </a:xfrm>
          <a:prstGeom prst="roundRect">
            <a:avLst>
              <a:gd name="adj" fmla="val 6452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80338" y="86112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811453" y="1432620"/>
            <a:ext cx="11014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2004120"/>
            <a:ext cx="4114800" cy="3002161"/>
          </a:xfrm>
          <a:prstGeom prst="roundRect">
            <a:avLst>
              <a:gd name="adj" fmla="val 253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1565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in high dimensions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0701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well even when features &gt; samples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81181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to overfitting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16230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Especially in high dimensions with proper 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4671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🌀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Versatile kernels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81759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non-linear patterns easily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12239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efficient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7288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18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uses support vectors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24400" y="670620"/>
            <a:ext cx="4114800" cy="1181100"/>
          </a:xfrm>
          <a:prstGeom prst="roundRect">
            <a:avLst>
              <a:gd name="adj" fmla="val 6452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99938" y="86112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095948" y="1432620"/>
            <a:ext cx="13715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24400" y="2004120"/>
            <a:ext cx="4114800" cy="3002161"/>
          </a:xfrm>
          <a:prstGeom prst="roundRect">
            <a:avLst>
              <a:gd name="adj" fmla="val 253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6800" y="21565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with large datasets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5400" y="250701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time: O(n²) to O(n³)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76800" y="281181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tuning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05400" y="316230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carefully choose C, γ, kernel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76800" y="34671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probability estimates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05400" y="381759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default (can enable but slower)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76800" y="412239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to feature scaling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6800" y="447288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18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standardize features first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SVM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552450"/>
            <a:ext cx="8382000" cy="13335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552450"/>
            <a:ext cx="0" cy="13335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9100" y="552450"/>
            <a:ext cx="8510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SVM is Great For: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9100" y="895350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 problems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9100" y="1162050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High-dimensional data (text, image features)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9100" y="1428750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to medium datasets (up to 10,000 samples)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9100" y="1695450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margin of separation exists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1962150"/>
            <a:ext cx="8382000" cy="13335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1962150"/>
            <a:ext cx="0" cy="1333500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9100" y="1962150"/>
            <a:ext cx="8510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Avoid SVM When: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9100" y="2305050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large datasets (&gt;100,000 samples)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9100" y="2571750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probability estimates (use logistic regression)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9100" y="2838450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classes (multi-class can be slow)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9100" y="3105150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has lots of noise and overlapping classes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1000" y="3371850"/>
            <a:ext cx="8382000" cy="13335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00050" y="3371850"/>
            <a:ext cx="0" cy="133350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9100" y="3371850"/>
            <a:ext cx="8510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Common Applications: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9100" y="3714750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classification: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Spam detection, sentiment analysis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9100" y="3981450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recognition: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Face detection, handwriting recognition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9100" y="4248150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Bioinformatics: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Protein classification, cancer detection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9100" y="4514850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Credit scoring, fraud detection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1000" y="4857750"/>
            <a:ext cx="8382000" cy="190500"/>
          </a:xfrm>
          <a:prstGeom prst="roundRect">
            <a:avLst>
              <a:gd name="adj" fmla="val 4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35035" y="4857750"/>
            <a:ext cx="58739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SVM when you need high accuracy on medium-sized, high-dimensional data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0695" y="247650"/>
            <a:ext cx="5182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Visualize Kernels!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526804" y="1009650"/>
            <a:ext cx="4090243" cy="2133600"/>
          </a:xfrm>
          <a:prstGeom prst="roundRect">
            <a:avLst>
              <a:gd name="adj" fmla="val 357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52551" y="12382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84192" y="1257300"/>
            <a:ext cx="33369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Linear vs RBF vs Polynomial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52551" y="16954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88419" y="1714500"/>
            <a:ext cx="29058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decision boundaries in action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52551" y="21526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86097" y="2171700"/>
            <a:ext cx="3142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with C and γ parameters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52551" y="26098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94141" y="2628900"/>
            <a:ext cx="23221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kernel trick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989" y="360045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681185" y="4095750"/>
            <a:ext cx="57814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notebook for interactive demos!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 Day 2 - Support Vector Machines</dc:title>
  <dc:subject>PptxGenJS Presentation</dc:subject>
  <dc:creator>AI Bootcamp</dc:creator>
  <cp:lastModifiedBy>AI Bootcamp</cp:lastModifiedBy>
  <cp:revision>1</cp:revision>
  <dcterms:created xsi:type="dcterms:W3CDTF">2025-11-17T06:53:57Z</dcterms:created>
  <dcterms:modified xsi:type="dcterms:W3CDTF">2025-11-17T06:53:57Z</dcterms:modified>
</cp:coreProperties>
</file>
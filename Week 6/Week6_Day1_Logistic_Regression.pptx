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6232" y="1276350"/>
            <a:ext cx="55715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53998" y="215265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6 - Day 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72361" y="2990850"/>
            <a:ext cx="27992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Made Simple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11673" y="3562350"/>
            <a:ext cx="35206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Outcomes, Probability Predictions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Classification?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01055"/>
            <a:ext cx="8229600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301055"/>
            <a:ext cx="0" cy="74295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798" y="1529655"/>
            <a:ext cx="78695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discrete categories instead of continuous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48805"/>
            <a:ext cx="3962400" cy="1531590"/>
          </a:xfrm>
          <a:prstGeom prst="roundRect">
            <a:avLst>
              <a:gd name="adj" fmla="val 49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348805"/>
            <a:ext cx="0" cy="153159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501205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292030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numbers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700" y="327079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House price ($250,000)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7700" y="353749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Temperature (72°F)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2348805"/>
            <a:ext cx="3962400" cy="1531590"/>
          </a:xfrm>
          <a:prstGeom prst="roundRect">
            <a:avLst>
              <a:gd name="adj" fmla="val 49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3450" y="2348805"/>
            <a:ext cx="0" cy="15315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4900" y="2501205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14900" y="292030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categories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4900" y="327079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Email (Spam / Not Spam)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4900" y="353749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(Sick / Healthy)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85196"/>
            <a:ext cx="4038600" cy="190500"/>
          </a:xfrm>
          <a:prstGeom prst="roundRect">
            <a:avLst>
              <a:gd name="adj" fmla="val 4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58730" y="4185196"/>
            <a:ext cx="16353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classes (Yes/No)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4185196"/>
            <a:ext cx="4038600" cy="19050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09461" y="4185196"/>
            <a:ext cx="19160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3+ classes (A/B/C)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Sigmoid Function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953220" y="653504"/>
            <a:ext cx="5237411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981795" y="653504"/>
            <a:ext cx="0" cy="74295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1740" y="882104"/>
            <a:ext cx="48175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any number into a probability between 0 and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83769" y="1701254"/>
            <a:ext cx="2176314" cy="609600"/>
          </a:xfrm>
          <a:prstGeom prst="roundRect">
            <a:avLst>
              <a:gd name="adj" fmla="val 125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17454" y="1853654"/>
            <a:ext cx="190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= 1 / (1 + e⁻ᶻ)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29657" y="2901404"/>
            <a:ext cx="1766143" cy="1417290"/>
          </a:xfrm>
          <a:prstGeom prst="roundRect">
            <a:avLst>
              <a:gd name="adj" fmla="val 53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67443" y="3053804"/>
            <a:ext cx="149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67443" y="3442395"/>
            <a:ext cx="1490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0 to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7443" y="3709095"/>
            <a:ext cx="1490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S-shaped curve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67443" y="3975795"/>
            <a:ext cx="1490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&amp; differentiable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2615654"/>
            <a:ext cx="1766143" cy="1988790"/>
          </a:xfrm>
          <a:prstGeom prst="roundRect">
            <a:avLst>
              <a:gd name="adj" fmla="val 43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5987" y="2768054"/>
            <a:ext cx="149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5987" y="3156645"/>
            <a:ext cx="14905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0.9 → 90% probability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85987" y="3613845"/>
            <a:ext cx="14905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0.5 → 50% probability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5987" y="4071045"/>
            <a:ext cx="14905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0.1 → 10% probability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9837" y="4833045"/>
            <a:ext cx="3184327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47993" y="4833045"/>
            <a:ext cx="3248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z large positive → σ ≈ 1 | If z large negative → σ ≈ 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3338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Boundary &amp; Threshold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39254"/>
            <a:ext cx="8229600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939254"/>
            <a:ext cx="0" cy="74295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798" y="1167854"/>
            <a:ext cx="78695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that separates the two classes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87004"/>
            <a:ext cx="8229600" cy="1028700"/>
          </a:xfrm>
          <a:prstGeom prst="roundRect">
            <a:avLst>
              <a:gd name="adj" fmla="val 740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1721" y="2139404"/>
            <a:ext cx="204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Threshold: 0.5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76302" y="2634704"/>
            <a:ext cx="3591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probability ≥ 0.5 → Class 1 | If probability &lt; 0.5 → Class 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20504"/>
            <a:ext cx="4038600" cy="1417290"/>
          </a:xfrm>
          <a:prstGeom prst="roundRect">
            <a:avLst>
              <a:gd name="adj" fmla="val 53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3320504"/>
            <a:ext cx="0" cy="141729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472904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Threshold (0.7)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700" y="38614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conservative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700" y="41281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positive predictions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7700" y="43948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False positives costly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8200" y="3320504"/>
            <a:ext cx="4038600" cy="1417290"/>
          </a:xfrm>
          <a:prstGeom prst="roundRect">
            <a:avLst>
              <a:gd name="adj" fmla="val 53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3320504"/>
            <a:ext cx="0" cy="141729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3472904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 (0.3)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8700" y="38614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aggressive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8700" y="41281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positive predictions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8700" y="4394895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False negatives costly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65759" y="904875"/>
            <a:ext cx="4612332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94334" y="904875"/>
            <a:ext cx="0" cy="74295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0530" y="1133475"/>
            <a:ext cx="41799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showing correct and incorrect predictions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329" y="2790825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73380" y="2962275"/>
            <a:ext cx="475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12811" y="3343275"/>
            <a:ext cx="5961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329" y="3819525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73380" y="3990975"/>
            <a:ext cx="475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6853" y="4371975"/>
            <a:ext cx="648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979" y="1952625"/>
            <a:ext cx="1346746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53417" y="2219325"/>
            <a:ext cx="1347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Positive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76925" y="1952625"/>
            <a:ext cx="1346746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63458" y="2105025"/>
            <a:ext cx="1373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Negative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53979" y="2790825"/>
            <a:ext cx="1346746" cy="95250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3056" y="2920305"/>
            <a:ext cx="1088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0593" y="3385096"/>
            <a:ext cx="653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Correct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6925" y="2790825"/>
            <a:ext cx="1346746" cy="952500"/>
          </a:xfrm>
          <a:prstGeom prst="roundRect">
            <a:avLst>
              <a:gd name="adj" fmla="val 8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7843" y="2920305"/>
            <a:ext cx="1224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31128" y="3385096"/>
            <a:ext cx="6383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53979" y="3819525"/>
            <a:ext cx="1346746" cy="952500"/>
          </a:xfrm>
          <a:prstGeom prst="roundRect">
            <a:avLst>
              <a:gd name="adj" fmla="val 8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44044" y="3949005"/>
            <a:ext cx="1166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64425" y="4413796"/>
            <a:ext cx="925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False Alarm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76925" y="3819525"/>
            <a:ext cx="1346746" cy="95250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76856" y="3949005"/>
            <a:ext cx="1146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23538" y="4413796"/>
            <a:ext cx="653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Correct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8882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Metrics: Accuracy &amp; Precision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61120"/>
            <a:ext cx="8382000" cy="1729680"/>
          </a:xfrm>
          <a:prstGeom prst="roundRect">
            <a:avLst>
              <a:gd name="adj" fmla="val 440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01352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47072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correctness of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82121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(TP + TN) / Total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0980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balanced datasets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43200"/>
            <a:ext cx="8382000" cy="1729680"/>
          </a:xfrm>
          <a:prstGeom prst="roundRect">
            <a:avLst>
              <a:gd name="adj" fmla="val 440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8956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" y="33528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positive predictions, how many were correct?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370329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TP / (TP + FP)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3400" y="409188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false positives are costly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4625280"/>
            <a:ext cx="8382000" cy="19050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92040" y="4625280"/>
            <a:ext cx="5359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Spam detection - High precision means few legitimate emails marked as spam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2859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Metrics: Recall &amp; F1-Score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61120"/>
            <a:ext cx="8382000" cy="1729680"/>
          </a:xfrm>
          <a:prstGeom prst="roundRect">
            <a:avLst>
              <a:gd name="adj" fmla="val 4405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01352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(Sensitivity)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47072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actual positives, how many did we find?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82121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TP / (TP + FN)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0980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false negatives are costly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43200"/>
            <a:ext cx="8382000" cy="1729680"/>
          </a:xfrm>
          <a:prstGeom prst="roundRect">
            <a:avLst>
              <a:gd name="adj" fmla="val 440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8956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" y="33528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Precision and 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370329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 × (Precision × Recall) / (Precision + Recall)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3400" y="409188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precision and recall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4625280"/>
            <a:ext cx="8382000" cy="19050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58648" y="4625280"/>
            <a:ext cx="46267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Disease detection - High recall means we catch most sick patients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13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Metric Should You Use?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819150"/>
            <a:ext cx="853440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819150"/>
            <a:ext cx="0" cy="8001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819150"/>
            <a:ext cx="866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Accuracy when: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2900" y="11620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balanced (50-50 split)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" y="14287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errors are equally important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800" y="1695450"/>
            <a:ext cx="853440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" y="1695450"/>
            <a:ext cx="0" cy="80010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1695450"/>
            <a:ext cx="866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Precision when: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2900" y="20383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are costly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" y="23050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Spam filter (don't want to block important emails)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4800" y="2571750"/>
            <a:ext cx="853440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2571750"/>
            <a:ext cx="0" cy="80010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" y="2571750"/>
            <a:ext cx="866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Recall when: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900" y="29146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are costly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" y="31813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Cancer detection (must catch all cases)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4800" y="3448050"/>
            <a:ext cx="8534400" cy="10668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3448050"/>
            <a:ext cx="0" cy="10668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" y="3448050"/>
            <a:ext cx="866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F1-Score when: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2900" y="37909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balance between precision and recall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" y="40576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imbalanced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" y="4324350"/>
            <a:ext cx="8666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Fraud detection (rare but important)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4800" y="4591050"/>
            <a:ext cx="8534400" cy="190500"/>
          </a:xfrm>
          <a:prstGeom prst="roundRect">
            <a:avLst>
              <a:gd name="adj" fmla="val 4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11291" y="4591050"/>
            <a:ext cx="39214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right metric depends on your business problem!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5669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Logistic Regression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6706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80338" y="8611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68115" y="1432620"/>
            <a:ext cx="788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0041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156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070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Yes/No, Pass/Fail outcomes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118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needed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623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know confidence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467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interpretable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175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training, easy to understand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223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relationships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728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affect outcome linearly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6706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99938" y="8611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263540" y="1432620"/>
            <a:ext cx="1036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24400" y="20041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156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400" y="25070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 with complex boundaries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6800" y="28118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classes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5400" y="31623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alternatives for multi-class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6800" y="3467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5400" y="38175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cause instability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41223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sensitive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6800" y="44728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skew the decision boundary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7161" y="19050"/>
            <a:ext cx="3169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Practice!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51621" y="781050"/>
            <a:ext cx="4640610" cy="2590800"/>
          </a:xfrm>
          <a:prstGeom prst="roundRect">
            <a:avLst>
              <a:gd name="adj" fmla="val 294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77368" y="10096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03505" y="1028700"/>
            <a:ext cx="38983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logistic regression with scikit-learn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77368" y="14668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23088" y="1485900"/>
            <a:ext cx="1900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confusion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77368" y="19240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15465" y="1943100"/>
            <a:ext cx="2678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all evaluation metrics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77368" y="23812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18854" y="2400300"/>
            <a:ext cx="23327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thresholds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77368" y="28384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22027" y="2857500"/>
            <a:ext cx="20091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Titanic 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989" y="38290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865718" y="4324350"/>
            <a:ext cx="3412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build classifiers!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Day 1 - Logistic Regression</dc:title>
  <dc:subject>PptxGenJS Presentation</dc:subject>
  <dc:creator>AI Bootcamp</dc:creator>
  <cp:lastModifiedBy>AI Bootcamp</cp:lastModifiedBy>
  <cp:revision>1</cp:revision>
  <dcterms:created xsi:type="dcterms:W3CDTF">2025-11-17T06:30:38Z</dcterms:created>
  <dcterms:modified xsi:type="dcterms:W3CDTF">2025-11-17T06:30:38Z</dcterms:modified>
</cp:coreProperties>
</file>
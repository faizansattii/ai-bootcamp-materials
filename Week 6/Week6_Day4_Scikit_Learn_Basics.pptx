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Scikit-Learn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Your Complete ML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6 - Day 4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Scikit-Learn?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What is Scikit-Learn?</a:t>
            </a:r>
          </a:p>
          <a:p>
            <a:pPr>
              <a:spcAft>
                <a:spcPts val="600"/>
              </a:spcAft>
              <a:defRPr sz="1800" b="0"/>
            </a:pPr>
            <a:r>
              <a:t>The most popular Machine Learning library in Python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Why Scikit-Learn?</a:t>
            </a:r>
          </a:p>
          <a:p>
            <a:pPr>
              <a:spcAft>
                <a:spcPts val="600"/>
              </a:spcAft>
              <a:defRPr sz="1600" b="0"/>
            </a:pPr>
            <a:r>
              <a:t>• Simple &amp; consistent API across all algorithms</a:t>
            </a:r>
          </a:p>
          <a:p>
            <a:pPr>
              <a:spcAft>
                <a:spcPts val="600"/>
              </a:spcAft>
              <a:defRPr sz="1600" b="0"/>
            </a:pPr>
            <a:r>
              <a:t>• Comprehensive: classification, regression, clustering</a:t>
            </a:r>
          </a:p>
          <a:p>
            <a:pPr>
              <a:spcAft>
                <a:spcPts val="600"/>
              </a:spcAft>
              <a:defRPr sz="1600" b="0"/>
            </a:pPr>
            <a:r>
              <a:t>• Well-documented with examples</a:t>
            </a:r>
          </a:p>
          <a:p>
            <a:pPr>
              <a:spcAft>
                <a:spcPts val="600"/>
              </a:spcAft>
              <a:defRPr sz="1600" b="0"/>
            </a:pPr>
            <a:r>
              <a:t>• Production-ready &amp; industry-standard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/>
            </a:pPr>
            <a:r>
              <a:t>What's Included:</a:t>
            </a:r>
          </a:p>
          <a:p>
            <a:pPr>
              <a:spcAft>
                <a:spcPts val="600"/>
              </a:spcAft>
              <a:defRPr sz="1600" b="0"/>
            </a:pPr>
            <a:r>
              <a:t>• Algorithms: Linear, Trees, SVM, Neural Nets</a:t>
            </a:r>
          </a:p>
          <a:p>
            <a:pPr>
              <a:spcAft>
                <a:spcPts val="600"/>
              </a:spcAft>
              <a:defRPr sz="1600" b="0"/>
            </a:pPr>
            <a:r>
              <a:t>• Preprocessing: Scaling, encoding, feature selection</a:t>
            </a:r>
          </a:p>
          <a:p>
            <a:pPr>
              <a:spcAft>
                <a:spcPts val="600"/>
              </a:spcAft>
              <a:defRPr sz="1600" b="0"/>
            </a:pPr>
            <a:r>
              <a:t>• Model Selection: Cross-validation, tuning</a:t>
            </a:r>
          </a:p>
          <a:p>
            <a:pPr>
              <a:spcAft>
                <a:spcPts val="600"/>
              </a:spcAft>
              <a:defRPr sz="1600" b="0"/>
            </a:pPr>
            <a:r>
              <a:t>• Metrics: Accuracy, precision, recall, F1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The Scikit-Learn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The Scikit-Learn Workflow</a:t>
            </a:r>
          </a:p>
          <a:p>
            <a:pPr>
              <a:spcAft>
                <a:spcPts val="600"/>
              </a:spcAft>
              <a:defRPr sz="1800" b="0"/>
            </a:pPr>
            <a:r>
              <a:t>Same 4 steps for ALL algorithms: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1. Import &amp; Instantiate Model</a:t>
            </a:r>
          </a:p>
          <a:p>
            <a:pPr>
              <a:spcAft>
                <a:spcPts val="600"/>
              </a:spcAft>
              <a:defRPr sz="1400" b="0"/>
            </a:pPr>
            <a:r>
              <a:t>from sklearn.linear_model import LogisticRegression</a:t>
            </a:r>
          </a:p>
          <a:p>
            <a:pPr>
              <a:spcAft>
                <a:spcPts val="600"/>
              </a:spcAft>
              <a:defRPr sz="1400" b="0"/>
            </a:pPr>
            <a:r>
              <a:t>model = LogisticRegression()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667EEA"/>
                </a:solidFill>
              </a:defRPr>
            </a:pPr>
            <a:r>
              <a:t>2. Fit (Train) the Model</a:t>
            </a:r>
          </a:p>
          <a:p>
            <a:pPr>
              <a:spcAft>
                <a:spcPts val="600"/>
              </a:spcAft>
              <a:defRPr sz="1400" b="0"/>
            </a:pPr>
            <a:r>
              <a:t>model.fit(X_train, y_train)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3. Predict on New Data</a:t>
            </a:r>
          </a:p>
          <a:p>
            <a:pPr>
              <a:spcAft>
                <a:spcPts val="600"/>
              </a:spcAft>
              <a:defRPr sz="1400" b="0"/>
            </a:pPr>
            <a:r>
              <a:t>y_pred = model.predict(X_test)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56565"/>
                </a:solidFill>
              </a:defRPr>
            </a:pPr>
            <a:r>
              <a:t>4. Evaluate Performance</a:t>
            </a:r>
          </a:p>
          <a:p>
            <a:pPr>
              <a:spcAft>
                <a:spcPts val="600"/>
              </a:spcAft>
              <a:defRPr sz="1400" b="0"/>
            </a:pPr>
            <a:r>
              <a:t>accuracy = accuracy_score(y_test, y_pred)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Same API for ALL algorithms!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Train-Test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Train-Test Split: Essential First Step</a:t>
            </a:r>
          </a:p>
          <a:p>
            <a:pPr>
              <a:spcAft>
                <a:spcPts val="600"/>
              </a:spcAft>
              <a:defRPr sz="1800" b="0"/>
            </a:pPr>
            <a:r>
              <a:t>Never test on training data! Split first.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/>
            </a:pPr>
            <a:r>
              <a:t>Why Split?</a:t>
            </a:r>
          </a:p>
          <a:p>
            <a:pPr>
              <a:spcAft>
                <a:spcPts val="600"/>
              </a:spcAft>
              <a:defRPr sz="1600" b="0"/>
            </a:pPr>
            <a:r>
              <a:t>• Train Set: Model learns patterns (70-80%)</a:t>
            </a:r>
          </a:p>
          <a:p>
            <a:pPr>
              <a:spcAft>
                <a:spcPts val="600"/>
              </a:spcAft>
              <a:defRPr sz="1600" b="0"/>
            </a:pPr>
            <a:r>
              <a:t>• Test Set: Evaluate on unseen data (20-30%)</a:t>
            </a:r>
          </a:p>
          <a:p>
            <a:pPr>
              <a:spcAft>
                <a:spcPts val="600"/>
              </a:spcAft>
              <a:defRPr sz="1600" b="0"/>
            </a:pPr>
            <a:r>
              <a:t>• Prevents overfitting evaluation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Code Example:</a:t>
            </a:r>
          </a:p>
          <a:p>
            <a:pPr>
              <a:spcAft>
                <a:spcPts val="600"/>
              </a:spcAft>
              <a:defRPr sz="1400" b="0"/>
            </a:pPr>
            <a:r>
              <a:t>from sklearn.model_selection import train_test_split</a:t>
            </a:r>
          </a:p>
          <a:p>
            <a:pPr>
              <a:spcAft>
                <a:spcPts val="600"/>
              </a:spcAft>
              <a:defRPr sz="400" b="0"/>
            </a:pPr>
          </a:p>
          <a:p>
            <a:pPr>
              <a:spcAft>
                <a:spcPts val="600"/>
              </a:spcAft>
              <a:defRPr sz="1400" b="0"/>
            </a:pPr>
            <a:r>
              <a:t>X_train, X_test, y_train, y_test = train_test_split(</a:t>
            </a:r>
          </a:p>
          <a:p>
            <a:pPr lvl="1">
              <a:spcAft>
                <a:spcPts val="600"/>
              </a:spcAft>
              <a:defRPr sz="1400" b="0"/>
            </a:pPr>
            <a:r>
              <a:t>X, y, test_size=0.2, random_state=42)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/>
            </a:pPr>
            <a:r>
              <a:t>Key Parameters:</a:t>
            </a:r>
          </a:p>
          <a:p>
            <a:pPr>
              <a:spcAft>
                <a:spcPts val="600"/>
              </a:spcAft>
              <a:defRPr sz="1600" b="0"/>
            </a:pPr>
            <a:r>
              <a:t>• test_size: Fraction for test (0.2 = 20%)</a:t>
            </a:r>
          </a:p>
          <a:p>
            <a:pPr>
              <a:spcAft>
                <a:spcPts val="600"/>
              </a:spcAft>
              <a:defRPr sz="1600" b="0"/>
            </a:pPr>
            <a:r>
              <a:t>• random_state: Seed for reproducibility</a:t>
            </a:r>
          </a:p>
          <a:p>
            <a:pPr>
              <a:spcAft>
                <a:spcPts val="600"/>
              </a:spcAft>
              <a:defRPr sz="1600" b="0"/>
            </a:pPr>
            <a:r>
              <a:t>• stratify: Keep class proportions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Feature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Feature Scaling: Making Data Comparable</a:t>
            </a:r>
          </a:p>
          <a:p>
            <a:pPr>
              <a:spcAft>
                <a:spcPts val="600"/>
              </a:spcAft>
              <a:defRPr sz="1800" b="0"/>
            </a:pPr>
            <a:r>
              <a:t>Different scales → Scale them!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56565"/>
                </a:solidFill>
              </a:defRPr>
            </a:pPr>
            <a:r>
              <a:t>The Problem:</a:t>
            </a:r>
          </a:p>
          <a:p>
            <a:pPr>
              <a:spcAft>
                <a:spcPts val="600"/>
              </a:spcAft>
              <a:defRPr sz="1600" b="0"/>
            </a:pPr>
            <a:r>
              <a:t>Age: 20-80 vs Income: $20,000-$200,000</a:t>
            </a:r>
          </a:p>
          <a:p>
            <a:pPr>
              <a:spcAft>
                <a:spcPts val="600"/>
              </a:spcAft>
              <a:defRPr sz="1600" b="0"/>
            </a:pPr>
            <a:r>
              <a:t>Algorithms (SVM, KNN) struggle with different scales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Two Main Methods:</a:t>
            </a:r>
          </a:p>
          <a:p>
            <a:pPr>
              <a:spcAft>
                <a:spcPts val="600"/>
              </a:spcAft>
              <a:defRPr sz="400" b="0"/>
            </a:pPr>
          </a:p>
          <a:p>
            <a:pPr>
              <a:spcAft>
                <a:spcPts val="600"/>
              </a:spcAft>
              <a:defRPr sz="1800" b="1"/>
            </a:pPr>
            <a:r>
              <a:t>1. StandardScaler (Standardization)</a:t>
            </a:r>
          </a:p>
          <a:p>
            <a:pPr lvl="1">
              <a:spcAft>
                <a:spcPts val="600"/>
              </a:spcAft>
              <a:defRPr sz="1600" b="0"/>
            </a:pPr>
            <a:r>
              <a:t>Mean = 0, Std Dev = 1</a:t>
            </a:r>
          </a:p>
          <a:p>
            <a:pPr lvl="1">
              <a:spcAft>
                <a:spcPts val="600"/>
              </a:spcAft>
              <a:defRPr sz="1600" b="0"/>
            </a:pPr>
            <a:r>
              <a:t>Use when data is normally distributed</a:t>
            </a:r>
          </a:p>
          <a:p>
            <a:pPr>
              <a:spcAft>
                <a:spcPts val="600"/>
              </a:spcAft>
              <a:defRPr sz="400" b="0"/>
            </a:pPr>
          </a:p>
          <a:p>
            <a:pPr>
              <a:spcAft>
                <a:spcPts val="600"/>
              </a:spcAft>
              <a:defRPr sz="1800" b="1"/>
            </a:pPr>
            <a:r>
              <a:t>2. MinMaxScaler (Normalization)</a:t>
            </a:r>
          </a:p>
          <a:p>
            <a:pPr lvl="1">
              <a:spcAft>
                <a:spcPts val="600"/>
              </a:spcAft>
              <a:defRPr sz="1600" b="0"/>
            </a:pPr>
            <a:r>
              <a:t>Range: 0 to 1</a:t>
            </a:r>
          </a:p>
          <a:p>
            <a:pPr lvl="1">
              <a:spcAft>
                <a:spcPts val="600"/>
              </a:spcAft>
              <a:defRPr sz="1600" b="0"/>
            </a:pPr>
            <a:r>
              <a:t>Use when you need bounded 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Pipelines: Chaining Steps Together</a:t>
            </a:r>
          </a:p>
          <a:p>
            <a:pPr>
              <a:spcAft>
                <a:spcPts val="600"/>
              </a:spcAft>
              <a:defRPr sz="1800" b="0"/>
            </a:pPr>
            <a:r>
              <a:t>Combine preprocessing + model in one object!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Why Use Pipelines?</a:t>
            </a:r>
          </a:p>
          <a:p>
            <a:pPr>
              <a:spcAft>
                <a:spcPts val="600"/>
              </a:spcAft>
              <a:defRPr sz="1600" b="0"/>
            </a:pPr>
            <a:r>
              <a:t>• Prevent data leakage (scaling on train only)</a:t>
            </a:r>
          </a:p>
          <a:p>
            <a:pPr>
              <a:spcAft>
                <a:spcPts val="600"/>
              </a:spcAft>
              <a:defRPr sz="1600" b="0"/>
            </a:pPr>
            <a:r>
              <a:t>• Cleaner, more organized code</a:t>
            </a:r>
          </a:p>
          <a:p>
            <a:pPr>
              <a:spcAft>
                <a:spcPts val="600"/>
              </a:spcAft>
              <a:defRPr sz="1600" b="0"/>
            </a:pPr>
            <a:r>
              <a:t>• Easier deployment (one object = entire workflow)</a:t>
            </a:r>
          </a:p>
          <a:p>
            <a:pPr>
              <a:spcAft>
                <a:spcPts val="600"/>
              </a:spcAft>
              <a:defRPr sz="1600" b="0"/>
            </a:pPr>
            <a:r>
              <a:t>• Better for cross-validation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/>
            </a:pPr>
            <a:r>
              <a:t>Example:</a:t>
            </a:r>
          </a:p>
          <a:p>
            <a:pPr>
              <a:spcAft>
                <a:spcPts val="600"/>
              </a:spcAft>
              <a:defRPr sz="1400" b="0"/>
            </a:pPr>
            <a:r>
              <a:t>from sklearn.pipeline import Pipeline</a:t>
            </a:r>
          </a:p>
          <a:p>
            <a:pPr>
              <a:spcAft>
                <a:spcPts val="600"/>
              </a:spcAft>
              <a:defRPr sz="1400" b="0"/>
            </a:pPr>
            <a:r>
              <a:t>from sklearn.preprocessing import StandardScaler</a:t>
            </a:r>
          </a:p>
          <a:p>
            <a:pPr>
              <a:spcAft>
                <a:spcPts val="600"/>
              </a:spcAft>
              <a:defRPr sz="400" b="0"/>
            </a:pPr>
          </a:p>
          <a:p>
            <a:pPr>
              <a:spcAft>
                <a:spcPts val="600"/>
              </a:spcAft>
              <a:defRPr sz="1400" b="0"/>
            </a:pPr>
            <a:r>
              <a:t>pipeline = Pipeline([</a:t>
            </a:r>
          </a:p>
          <a:p>
            <a:pPr lvl="1">
              <a:spcAft>
                <a:spcPts val="600"/>
              </a:spcAft>
              <a:defRPr sz="1400" b="0"/>
            </a:pPr>
            <a:r>
              <a:t>('scaler', StandardScaler()),</a:t>
            </a:r>
          </a:p>
          <a:p>
            <a:pPr lvl="1">
              <a:spcAft>
                <a:spcPts val="600"/>
              </a:spcAft>
              <a:defRPr sz="1400" b="0"/>
            </a:pPr>
            <a:r>
              <a:t>('model', LogisticRegression())</a:t>
            </a:r>
          </a:p>
          <a:p>
            <a:pPr>
              <a:spcAft>
                <a:spcPts val="600"/>
              </a:spcAft>
              <a:defRPr sz="1400" b="0"/>
            </a:pPr>
            <a:r>
              <a:t>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Model Training &amp; Evaluation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Key Evaluation Metrics: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For Classification:</a:t>
            </a:r>
          </a:p>
          <a:p>
            <a:pPr>
              <a:spcAft>
                <a:spcPts val="600"/>
              </a:spcAft>
              <a:defRPr sz="1600" b="0"/>
            </a:pPr>
            <a:r>
              <a:t>• Accuracy: Overall correctness</a:t>
            </a:r>
          </a:p>
          <a:p>
            <a:pPr>
              <a:spcAft>
                <a:spcPts val="600"/>
              </a:spcAft>
              <a:defRPr sz="1600" b="0"/>
            </a:pPr>
            <a:r>
              <a:t>• Precision: Of predicted positives, how many correct?</a:t>
            </a:r>
          </a:p>
          <a:p>
            <a:pPr>
              <a:spcAft>
                <a:spcPts val="600"/>
              </a:spcAft>
              <a:defRPr sz="1600" b="0"/>
            </a:pPr>
            <a:r>
              <a:t>• Recall: Of actual positives, how many found?</a:t>
            </a:r>
          </a:p>
          <a:p>
            <a:pPr>
              <a:spcAft>
                <a:spcPts val="600"/>
              </a:spcAft>
              <a:defRPr sz="1600" b="0"/>
            </a:pPr>
            <a:r>
              <a:t>• F1-Score: Harmonic mean of precision &amp; recall</a:t>
            </a:r>
          </a:p>
          <a:p>
            <a:pPr>
              <a:spcAft>
                <a:spcPts val="600"/>
              </a:spcAft>
              <a:defRPr sz="1600" b="0"/>
            </a:pPr>
            <a:r>
              <a:t>• Confusion Matrix: Visual breakdown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For Regression:</a:t>
            </a:r>
          </a:p>
          <a:p>
            <a:pPr>
              <a:spcAft>
                <a:spcPts val="600"/>
              </a:spcAft>
              <a:defRPr sz="1600" b="0"/>
            </a:pPr>
            <a:r>
              <a:t>• MAE: Mean Absolute Error</a:t>
            </a:r>
          </a:p>
          <a:p>
            <a:pPr>
              <a:spcAft>
                <a:spcPts val="600"/>
              </a:spcAft>
              <a:defRPr sz="1600" b="0"/>
            </a:pPr>
            <a:r>
              <a:t>• MSE: Mean Squared Error</a:t>
            </a:r>
          </a:p>
          <a:p>
            <a:pPr>
              <a:spcAft>
                <a:spcPts val="600"/>
              </a:spcAft>
              <a:defRPr sz="1600" b="0"/>
            </a:pPr>
            <a:r>
              <a:t>• RMSE: Root Mean Squared Error</a:t>
            </a:r>
          </a:p>
          <a:p>
            <a:pPr>
              <a:spcAft>
                <a:spcPts val="600"/>
              </a:spcAft>
              <a:defRPr sz="1600" b="0"/>
            </a:pPr>
            <a:r>
              <a:t>• R²: Coefficient of determination (0 to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Cross-Validation: Better Evaluation</a:t>
            </a:r>
          </a:p>
          <a:p>
            <a:pPr>
              <a:spcAft>
                <a:spcPts val="600"/>
              </a:spcAft>
              <a:defRPr sz="1800" b="0"/>
            </a:pPr>
            <a:r>
              <a:t>Don't rely on one split! Use K-Fold CV.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How K-Fold Cross-Validation Works:</a:t>
            </a:r>
          </a:p>
          <a:p>
            <a:pPr>
              <a:spcAft>
                <a:spcPts val="600"/>
              </a:spcAft>
              <a:defRPr sz="1600" b="0"/>
            </a:pPr>
            <a:r>
              <a:t>1. Split data into K folds (typically K=5 or 10)</a:t>
            </a:r>
          </a:p>
          <a:p>
            <a:pPr>
              <a:spcAft>
                <a:spcPts val="600"/>
              </a:spcAft>
              <a:defRPr sz="1600" b="0"/>
            </a:pPr>
            <a:r>
              <a:t>2. Train on K-1 folds, test on remaining fold</a:t>
            </a:r>
          </a:p>
          <a:p>
            <a:pPr>
              <a:spcAft>
                <a:spcPts val="600"/>
              </a:spcAft>
              <a:defRPr sz="1600" b="0"/>
            </a:pPr>
            <a:r>
              <a:t>3. Repeat K times, each fold used as test once</a:t>
            </a:r>
          </a:p>
          <a:p>
            <a:pPr>
              <a:spcAft>
                <a:spcPts val="600"/>
              </a:spcAft>
              <a:defRPr sz="1600" b="0"/>
            </a:pPr>
            <a:r>
              <a:t>4. Average the K scores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/>
            </a:pPr>
            <a:r>
              <a:t>Code:</a:t>
            </a:r>
          </a:p>
          <a:p>
            <a:pPr>
              <a:spcAft>
                <a:spcPts val="600"/>
              </a:spcAft>
              <a:defRPr sz="1400" b="0"/>
            </a:pPr>
            <a:r>
              <a:t>from sklearn.model_selection import cross_val_score</a:t>
            </a:r>
          </a:p>
          <a:p>
            <a:pPr>
              <a:spcAft>
                <a:spcPts val="600"/>
              </a:spcAft>
              <a:defRPr sz="1400" b="0"/>
            </a:pPr>
            <a:r>
              <a:t>scores = cross_val_score(model, X, y, cv=5)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600" b="0"/>
            </a:pPr>
            <a:r>
              <a:t>• Uses all data for training and testing</a:t>
            </a:r>
          </a:p>
          <a:p>
            <a:pPr>
              <a:spcAft>
                <a:spcPts val="600"/>
              </a:spcAft>
              <a:defRPr sz="1600" b="0"/>
            </a:pPr>
            <a:r>
              <a:t>• More reliable performance estimate</a:t>
            </a:r>
          </a:p>
          <a:p>
            <a:pPr>
              <a:spcAft>
                <a:spcPts val="600"/>
              </a:spcAft>
              <a:defRPr sz="1600" b="0"/>
            </a:pPr>
            <a:r>
              <a:t>• Reduces variance in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Saving &amp; Loading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Saving &amp; Loading Models with Joblib</a:t>
            </a:r>
          </a:p>
          <a:p>
            <a:pPr>
              <a:spcAft>
                <a:spcPts val="600"/>
              </a:spcAft>
              <a:defRPr sz="1800" b="0"/>
            </a:pPr>
            <a:r>
              <a:t>Train once, use anywhere!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Why Save Models?</a:t>
            </a:r>
          </a:p>
          <a:p>
            <a:pPr>
              <a:spcAft>
                <a:spcPts val="600"/>
              </a:spcAft>
              <a:defRPr sz="1600" b="0"/>
            </a:pPr>
            <a:r>
              <a:t>• Don't retrain every time</a:t>
            </a:r>
          </a:p>
          <a:p>
            <a:pPr>
              <a:spcAft>
                <a:spcPts val="600"/>
              </a:spcAft>
              <a:defRPr sz="1600" b="0"/>
            </a:pPr>
            <a:r>
              <a:t>• Deploy trained models to production</a:t>
            </a:r>
          </a:p>
          <a:p>
            <a:pPr>
              <a:spcAft>
                <a:spcPts val="600"/>
              </a:spcAft>
              <a:defRPr sz="1600" b="0"/>
            </a:pPr>
            <a:r>
              <a:t>• Share models with team</a:t>
            </a:r>
          </a:p>
          <a:p>
            <a:pPr>
              <a:spcAft>
                <a:spcPts val="600"/>
              </a:spcAft>
              <a:defRPr sz="1600" b="0"/>
            </a:pPr>
            <a:r>
              <a:t>• Version control your models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/>
            </a:pPr>
            <a:r>
              <a:t>Saving a Model:</a:t>
            </a:r>
          </a:p>
          <a:p>
            <a:pPr>
              <a:spcAft>
                <a:spcPts val="600"/>
              </a:spcAft>
              <a:defRPr sz="1400" b="0"/>
            </a:pPr>
            <a:r>
              <a:t>import joblib</a:t>
            </a:r>
          </a:p>
          <a:p>
            <a:pPr>
              <a:spcAft>
                <a:spcPts val="600"/>
              </a:spcAft>
              <a:defRPr sz="1400" b="0"/>
            </a:pPr>
            <a:r>
              <a:t>joblib.dump(model, 'my_model.pkl')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/>
            </a:pPr>
            <a:r>
              <a:t>Loading a Model:</a:t>
            </a:r>
          </a:p>
          <a:p>
            <a:pPr>
              <a:spcAft>
                <a:spcPts val="600"/>
              </a:spcAft>
              <a:defRPr sz="1400" b="0"/>
            </a:pPr>
            <a:r>
              <a:t>loaded_model = joblib.load('my_model.pkl')</a:t>
            </a:r>
          </a:p>
          <a:p>
            <a:pPr>
              <a:spcAft>
                <a:spcPts val="600"/>
              </a:spcAft>
              <a:defRPr sz="1400" b="0"/>
            </a:pPr>
            <a:r>
              <a:t>predictions = loaded_model.predict(X_new)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600" b="1">
                <a:solidFill>
                  <a:srgbClr val="F39C12"/>
                </a:solidFill>
              </a:defRPr>
            </a:pPr>
            <a:r>
              <a:t>Joblib is faster than pickle for large arrays!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Summary &amp;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Summary &amp; Titanic Project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/>
            </a:pPr>
            <a:r>
              <a:t>Key Takeaways:</a:t>
            </a:r>
          </a:p>
          <a:p>
            <a:pPr>
              <a:spcAft>
                <a:spcPts val="600"/>
              </a:spcAft>
              <a:defRPr sz="1600" b="0"/>
            </a:pPr>
            <a:r>
              <a:t>✅ Scikit-Learn: Consistent API for all algorithms</a:t>
            </a:r>
          </a:p>
          <a:p>
            <a:pPr>
              <a:spcAft>
                <a:spcPts val="600"/>
              </a:spcAft>
              <a:defRPr sz="1600" b="0"/>
            </a:pPr>
            <a:r>
              <a:t>✅ Workflow: Import → Fit → Predict → Evaluate</a:t>
            </a:r>
          </a:p>
          <a:p>
            <a:pPr>
              <a:spcAft>
                <a:spcPts val="600"/>
              </a:spcAft>
              <a:defRPr sz="1600" b="0"/>
            </a:pPr>
            <a:r>
              <a:t>✅ Train-Test Split: Essential for unbiased evaluation</a:t>
            </a:r>
          </a:p>
          <a:p>
            <a:pPr>
              <a:spcAft>
                <a:spcPts val="600"/>
              </a:spcAft>
              <a:defRPr sz="1600" b="0"/>
            </a:pPr>
            <a:r>
              <a:t>✅ Scaling: StandardScaler or MinMaxScaler</a:t>
            </a:r>
          </a:p>
          <a:p>
            <a:pPr>
              <a:spcAft>
                <a:spcPts val="600"/>
              </a:spcAft>
              <a:defRPr sz="1600" b="0"/>
            </a:pPr>
            <a:r>
              <a:t>✅ Pipelines: Chain preprocessing + model</a:t>
            </a:r>
          </a:p>
          <a:p>
            <a:pPr>
              <a:spcAft>
                <a:spcPts val="600"/>
              </a:spcAft>
              <a:defRPr sz="1600" b="0"/>
            </a:pPr>
            <a:r>
              <a:t>✅ Cross-Validation: More reliable evaluation</a:t>
            </a:r>
          </a:p>
          <a:p>
            <a:pPr>
              <a:spcAft>
                <a:spcPts val="600"/>
              </a:spcAft>
              <a:defRPr sz="1600" b="0"/>
            </a:pPr>
            <a:r>
              <a:t>✅ Joblib: Save &amp; load trained models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Titanic Project: Compare 3 Algorithms</a:t>
            </a:r>
          </a:p>
          <a:p>
            <a:pPr>
              <a:spcAft>
                <a:spcPts val="600"/>
              </a:spcAft>
              <a:defRPr sz="1600" b="0"/>
            </a:pPr>
            <a:r>
              <a:t>• Logistic Regression</a:t>
            </a:r>
          </a:p>
          <a:p>
            <a:pPr>
              <a:spcAft>
                <a:spcPts val="600"/>
              </a:spcAft>
              <a:defRPr sz="1600" b="0"/>
            </a:pPr>
            <a:r>
              <a:t>• SVM</a:t>
            </a:r>
          </a:p>
          <a:p>
            <a:pPr>
              <a:spcAft>
                <a:spcPts val="600"/>
              </a:spcAft>
              <a:defRPr sz="1600" b="0"/>
            </a:pPr>
            <a:r>
              <a:t>• Random Forest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Let's move to the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
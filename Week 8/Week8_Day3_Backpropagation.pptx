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Backpropagation &amp; Gradients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How Neural Networks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8 -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🎯 The Learning Process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Remember Forward Propagation?</a:t>
            </a:r>
          </a:p>
          <a:p>
            <a:pPr>
              <a:spcAft>
                <a:spcPts val="600"/>
              </a:spcAft>
              <a:defRPr sz="1700" b="0"/>
            </a:pPr>
            <a:r>
              <a:t>Input → Network → Output → Compare with truth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But how does the network improve?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/>
            </a:pPr>
            <a:r>
              <a:t>The Complete Training Loop: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1. Forward Pass: Make prediction</a:t>
            </a:r>
          </a:p>
          <a:p>
            <a:pPr>
              <a:spcAft>
                <a:spcPts val="600"/>
              </a:spcAft>
              <a:defRPr sz="1700" b="0"/>
            </a:pPr>
            <a:r>
              <a:t>2. Calculate Loss: How wrong are we?</a:t>
            </a:r>
          </a:p>
          <a:p>
            <a:pPr>
              <a:spcAft>
                <a:spcPts val="600"/>
              </a:spcAft>
              <a:defRPr sz="1700" b="1">
                <a:solidFill>
                  <a:srgbClr val="F56565"/>
                </a:solidFill>
              </a:defRPr>
            </a:pPr>
            <a:r>
              <a:t>3. Backward Pass: Find who to blame</a:t>
            </a:r>
          </a:p>
          <a:p>
            <a:pPr>
              <a:spcAft>
                <a:spcPts val="600"/>
              </a:spcAft>
              <a:defRPr sz="1700" b="0"/>
            </a:pPr>
            <a:r>
              <a:t>4. Update Weights: Fix the mistakes</a:t>
            </a:r>
          </a:p>
          <a:p>
            <a:pPr>
              <a:spcAft>
                <a:spcPts val="600"/>
              </a:spcAft>
              <a:defRPr sz="1700" b="0"/>
            </a:pPr>
            <a:r>
              <a:t>5. Repeat until good!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💡 Today: Steps 2, 3, and 4!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a Loss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Definition: Loss Function</a:t>
            </a:r>
          </a:p>
          <a:p>
            <a:pPr>
              <a:spcAft>
                <a:spcPts val="600"/>
              </a:spcAft>
              <a:defRPr sz="1800" b="0"/>
            </a:pPr>
            <a:r>
              <a:t>A mathematical function that measures how wrong</a:t>
            </a:r>
          </a:p>
          <a:p>
            <a:pPr>
              <a:spcAft>
                <a:spcPts val="600"/>
              </a:spcAft>
              <a:defRPr sz="1800" b="0"/>
            </a:pPr>
            <a:r>
              <a:t>our predictions are compared to the true values.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🎯 Goal of Training</a:t>
            </a:r>
          </a:p>
          <a:p>
            <a:pPr>
              <a:spcAft>
                <a:spcPts val="600"/>
              </a:spcAft>
              <a:defRPr sz="1800" b="1"/>
            </a:pPr>
            <a:r>
              <a:t>Minimize the loss function!</a:t>
            </a:r>
          </a:p>
          <a:p>
            <a:pPr>
              <a:spcAft>
                <a:spcPts val="600"/>
              </a:spcAft>
              <a:defRPr sz="1700" b="0"/>
            </a:pPr>
            <a:r>
              <a:t>Lower loss = Better predictions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F39C12"/>
                </a:solidFill>
              </a:defRPr>
            </a:pPr>
            <a:r>
              <a:t>💡 Simple Analogy</a:t>
            </a:r>
          </a:p>
          <a:p>
            <a:pPr>
              <a:spcAft>
                <a:spcPts val="600"/>
              </a:spcAft>
              <a:defRPr sz="1700" b="0"/>
            </a:pPr>
            <a:r>
              <a:t>Playing darts:</a:t>
            </a:r>
          </a:p>
          <a:p>
            <a:pPr>
              <a:spcAft>
                <a:spcPts val="600"/>
              </a:spcAft>
              <a:defRPr sz="1700" b="0"/>
            </a:pPr>
            <a:r>
              <a:t>• Bullseye = True value</a:t>
            </a:r>
          </a:p>
          <a:p>
            <a:pPr>
              <a:spcAft>
                <a:spcPts val="600"/>
              </a:spcAft>
              <a:defRPr sz="1700" b="0"/>
            </a:pPr>
            <a:r>
              <a:t>• Your throw = Prediction</a:t>
            </a:r>
          </a:p>
          <a:p>
            <a:pPr>
              <a:spcAft>
                <a:spcPts val="600"/>
              </a:spcAft>
              <a:defRPr sz="1700" b="0"/>
            </a:pPr>
            <a:r>
              <a:t>• Distance from bullseye = Loss</a:t>
            </a:r>
          </a:p>
          <a:p>
            <a:pPr>
              <a:spcAft>
                <a:spcPts val="600"/>
              </a:spcAft>
              <a:defRPr sz="1700" b="0"/>
            </a:pPr>
            <a:r>
              <a:t>• Goal: Get closer to bullseye (minimize loss)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Common Loss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📊 Common Loss Functions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For Regression Problems: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Mean Squared Error (MSE)</a:t>
            </a:r>
          </a:p>
          <a:p>
            <a:pPr lvl="1">
              <a:spcAft>
                <a:spcPts val="600"/>
              </a:spcAft>
              <a:defRPr sz="1600" b="0"/>
            </a:pPr>
            <a:r>
              <a:t>Loss = (1/n) × Σ(predicted - actual)²</a:t>
            </a:r>
          </a:p>
          <a:p>
            <a:pPr lvl="1">
              <a:spcAft>
                <a:spcPts val="600"/>
              </a:spcAft>
              <a:defRPr sz="1600" b="0"/>
            </a:pPr>
            <a:r>
              <a:t>Penalizes large errors heavily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For Classification Problems: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/>
            </a:pPr>
            <a:r>
              <a:t>Binary Cross-Entropy (BCE)</a:t>
            </a:r>
          </a:p>
          <a:p>
            <a:pPr lvl="1">
              <a:spcAft>
                <a:spcPts val="600"/>
              </a:spcAft>
              <a:defRPr sz="1600" b="0"/>
            </a:pPr>
            <a:r>
              <a:t>Loss = -[y×log(ŷ) + (1-y)×log(1-ŷ)]</a:t>
            </a:r>
          </a:p>
          <a:p>
            <a:pPr lvl="1">
              <a:spcAft>
                <a:spcPts val="600"/>
              </a:spcAft>
              <a:defRPr sz="1600" b="0"/>
            </a:pPr>
            <a:r>
              <a:t>For binary classification (0 or 1)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/>
            </a:pPr>
            <a:r>
              <a:t>Categorical Cross-Entropy</a:t>
            </a:r>
          </a:p>
          <a:p>
            <a:pPr lvl="1">
              <a:spcAft>
                <a:spcPts val="600"/>
              </a:spcAft>
              <a:defRPr sz="1600" b="0"/>
            </a:pPr>
            <a:r>
              <a:t>For multi-class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Example: Calculating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📝 Example: MSE Loss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Predicting House Prices: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700" b="1"/>
            </a:pPr>
            <a:r>
              <a:t>House 1:</a:t>
            </a:r>
          </a:p>
          <a:p>
            <a:pPr lvl="1">
              <a:spcAft>
                <a:spcPts val="600"/>
              </a:spcAft>
              <a:defRPr sz="1600" b="0"/>
            </a:pPr>
            <a:r>
              <a:t>True price: $300,000  |  Predicted: $280,000</a:t>
            </a:r>
          </a:p>
          <a:p>
            <a:pPr lvl="1">
              <a:spcAft>
                <a:spcPts val="600"/>
              </a:spcAft>
              <a:defRPr sz="1600" b="0"/>
            </a:pPr>
            <a:r>
              <a:t>Error: -$20,000  →  Squared: 400,000,000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/>
            </a:pPr>
            <a:r>
              <a:t>House 2:</a:t>
            </a:r>
          </a:p>
          <a:p>
            <a:pPr lvl="1">
              <a:spcAft>
                <a:spcPts val="600"/>
              </a:spcAft>
              <a:defRPr sz="1600" b="0"/>
            </a:pPr>
            <a:r>
              <a:t>True price: $250,000  |  Predicted: $270,000</a:t>
            </a:r>
          </a:p>
          <a:p>
            <a:pPr lvl="1">
              <a:spcAft>
                <a:spcPts val="600"/>
              </a:spcAft>
              <a:defRPr sz="1600" b="0"/>
            </a:pPr>
            <a:r>
              <a:t>Error: +$20,000  →  Squared: 400,000,000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/>
            </a:pPr>
            <a:r>
              <a:t>House 3:</a:t>
            </a:r>
          </a:p>
          <a:p>
            <a:pPr lvl="1">
              <a:spcAft>
                <a:spcPts val="600"/>
              </a:spcAft>
              <a:defRPr sz="1600" b="0"/>
            </a:pPr>
            <a:r>
              <a:t>True price: $400,000  |  Predicted: $390,000</a:t>
            </a:r>
          </a:p>
          <a:p>
            <a:pPr lvl="1">
              <a:spcAft>
                <a:spcPts val="600"/>
              </a:spcAft>
              <a:defRPr sz="1600" b="0"/>
            </a:pPr>
            <a:r>
              <a:t>Error: -$10,000  →  Squared: 100,000,000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F56565"/>
                </a:solidFill>
              </a:defRPr>
            </a:pPr>
            <a:r>
              <a:t>MSE = (400M + 400M + 100M) / 3 = 300M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Backpropagation?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Definition: Backpropagation</a:t>
            </a:r>
          </a:p>
          <a:p>
            <a:pPr>
              <a:spcAft>
                <a:spcPts val="600"/>
              </a:spcAft>
              <a:defRPr sz="1800" b="0"/>
            </a:pPr>
            <a:r>
              <a:t>An algorithm to calculate how much each weight</a:t>
            </a:r>
          </a:p>
          <a:p>
            <a:pPr>
              <a:spcAft>
                <a:spcPts val="600"/>
              </a:spcAft>
              <a:defRPr sz="1800" b="0"/>
            </a:pPr>
            <a:r>
              <a:t>contributed to the error, working backward</a:t>
            </a:r>
          </a:p>
          <a:p>
            <a:pPr>
              <a:spcAft>
                <a:spcPts val="600"/>
              </a:spcAft>
              <a:defRPr sz="1800" b="0"/>
            </a:pPr>
            <a:r>
              <a:t>through the network.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🎯 Purpose</a:t>
            </a:r>
          </a:p>
          <a:p>
            <a:pPr>
              <a:spcAft>
                <a:spcPts val="600"/>
              </a:spcAft>
              <a:defRPr sz="1700" b="0"/>
            </a:pPr>
            <a:r>
              <a:t>Find the gradient (derivative) of the loss</a:t>
            </a:r>
          </a:p>
          <a:p>
            <a:pPr>
              <a:spcAft>
                <a:spcPts val="600"/>
              </a:spcAft>
              <a:defRPr sz="1700" b="0"/>
            </a:pPr>
            <a:r>
              <a:t>with respect to each weight.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F39C12"/>
                </a:solidFill>
              </a:defRPr>
            </a:pPr>
            <a:r>
              <a:t>💡 Simple Analogy</a:t>
            </a:r>
          </a:p>
          <a:p>
            <a:pPr>
              <a:spcAft>
                <a:spcPts val="600"/>
              </a:spcAft>
              <a:defRPr sz="1700" b="0"/>
            </a:pPr>
            <a:r>
              <a:t>Team project goes wrong:</a:t>
            </a:r>
          </a:p>
          <a:p>
            <a:pPr>
              <a:spcAft>
                <a:spcPts val="600"/>
              </a:spcAft>
              <a:defRPr sz="1700" b="0"/>
            </a:pPr>
            <a:r>
              <a:t>• Trace back each person's contribution</a:t>
            </a:r>
          </a:p>
          <a:p>
            <a:pPr>
              <a:spcAft>
                <a:spcPts val="600"/>
              </a:spcAft>
              <a:defRPr sz="1700" b="0"/>
            </a:pPr>
            <a:r>
              <a:t>• Find who caused the mistake</a:t>
            </a:r>
          </a:p>
          <a:p>
            <a:pPr>
              <a:spcAft>
                <a:spcPts val="600"/>
              </a:spcAft>
              <a:defRPr sz="1700" b="0"/>
            </a:pPr>
            <a:r>
              <a:t>• Tell them how to improve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Forward vs Backward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🔄 Forward vs Backward Propagation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Forward Propagation →</a:t>
            </a:r>
          </a:p>
          <a:p>
            <a:pPr>
              <a:spcAft>
                <a:spcPts val="600"/>
              </a:spcAft>
              <a:defRPr sz="1700" b="0"/>
            </a:pPr>
            <a:r>
              <a:t>Direction: Input → Output</a:t>
            </a:r>
          </a:p>
          <a:p>
            <a:pPr>
              <a:spcAft>
                <a:spcPts val="600"/>
              </a:spcAft>
              <a:defRPr sz="1700" b="0"/>
            </a:pPr>
            <a:r>
              <a:t>Purpose: Make predictions</a:t>
            </a:r>
          </a:p>
          <a:p>
            <a:pPr>
              <a:spcAft>
                <a:spcPts val="600"/>
              </a:spcAft>
              <a:defRPr sz="1600" b="0"/>
            </a:pPr>
            <a:r>
              <a:t>Calculation: z = W·x + b, a = activation(z)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← Backward Propagation</a:t>
            </a:r>
          </a:p>
          <a:p>
            <a:pPr>
              <a:spcAft>
                <a:spcPts val="600"/>
              </a:spcAft>
              <a:defRPr sz="1700" b="0"/>
            </a:pPr>
            <a:r>
              <a:t>Direction: Output → Input</a:t>
            </a:r>
          </a:p>
          <a:p>
            <a:pPr>
              <a:spcAft>
                <a:spcPts val="600"/>
              </a:spcAft>
              <a:defRPr sz="1700" b="0"/>
            </a:pPr>
            <a:r>
              <a:t>Purpose: Find gradients (blame assignment)</a:t>
            </a:r>
          </a:p>
          <a:p>
            <a:pPr>
              <a:spcAft>
                <a:spcPts val="600"/>
              </a:spcAft>
              <a:defRPr sz="1600" b="0"/>
            </a:pPr>
            <a:r>
              <a:t>Calculation: ∂Loss/∂W (how much to change each W)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667EEA"/>
                </a:solidFill>
              </a:defRPr>
            </a:pPr>
            <a:r>
              <a:t>💡 They work together!</a:t>
            </a:r>
          </a:p>
          <a:p>
            <a:pPr>
              <a:spcAft>
                <a:spcPts val="600"/>
              </a:spcAft>
              <a:defRPr sz="1700" b="0"/>
            </a:pPr>
            <a:r>
              <a:t>Forward: Get prediction and loss</a:t>
            </a:r>
          </a:p>
          <a:p>
            <a:pPr>
              <a:spcAft>
                <a:spcPts val="600"/>
              </a:spcAft>
              <a:defRPr sz="1700" b="0"/>
            </a:pPr>
            <a:r>
              <a:t>Backward: Get gradients to improve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a Gradient?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Definition: Gradient</a:t>
            </a:r>
          </a:p>
          <a:p>
            <a:pPr>
              <a:spcAft>
                <a:spcPts val="600"/>
              </a:spcAft>
              <a:defRPr sz="1800" b="0"/>
            </a:pPr>
            <a:r>
              <a:t>The gradient tells us the direction and magnitude</a:t>
            </a:r>
          </a:p>
          <a:p>
            <a:pPr>
              <a:spcAft>
                <a:spcPts val="600"/>
              </a:spcAft>
              <a:defRPr sz="1800" b="0"/>
            </a:pPr>
            <a:r>
              <a:t>to change a weight to reduce the loss.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Mathematically:</a:t>
            </a:r>
          </a:p>
          <a:p>
            <a:pPr>
              <a:spcAft>
                <a:spcPts val="600"/>
              </a:spcAft>
              <a:defRPr sz="1700" b="0"/>
            </a:pPr>
            <a:r>
              <a:t>Gradient = ∂Loss/∂Weight (derivative)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F39C12"/>
                </a:solidFill>
              </a:defRPr>
            </a:pPr>
            <a:r>
              <a:t>💡 Simple Analogy</a:t>
            </a:r>
          </a:p>
          <a:p>
            <a:pPr>
              <a:spcAft>
                <a:spcPts val="600"/>
              </a:spcAft>
              <a:defRPr sz="1700" b="0"/>
            </a:pPr>
            <a:r>
              <a:t>Hiking down a mountain in fog:</a:t>
            </a:r>
          </a:p>
          <a:p>
            <a:pPr>
              <a:spcAft>
                <a:spcPts val="600"/>
              </a:spcAft>
              <a:defRPr sz="1700" b="0"/>
            </a:pPr>
            <a:r>
              <a:t>• Can't see the bottom</a:t>
            </a:r>
          </a:p>
          <a:p>
            <a:pPr>
              <a:spcAft>
                <a:spcPts val="600"/>
              </a:spcAft>
              <a:defRPr sz="1700" b="0"/>
            </a:pPr>
            <a:r>
              <a:t>• Feel the slope under your feet (gradient)</a:t>
            </a:r>
          </a:p>
          <a:p>
            <a:pPr>
              <a:spcAft>
                <a:spcPts val="600"/>
              </a:spcAft>
              <a:defRPr sz="1700" b="0"/>
            </a:pPr>
            <a:r>
              <a:t>• Walk in the steepest downward direction</a:t>
            </a:r>
          </a:p>
          <a:p>
            <a:pPr>
              <a:spcAft>
                <a:spcPts val="600"/>
              </a:spcAft>
              <a:defRPr sz="1700" b="0"/>
            </a:pPr>
            <a:r>
              <a:t>• Eventually reach the bottom (minimum loss)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Understanding Gradients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🔍 Understanding Gradients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Gradient Value Tells Us: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Positive Gradient (e.g., +2.5):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Increasing weight increases loss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Solution: Decrease the weight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56565"/>
                </a:solidFill>
              </a:defRPr>
            </a:pPr>
            <a:r>
              <a:t>Negative Gradient (e.g., -1.8):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Increasing weight decreases loss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Solution: Increase the weight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Zero Gradient (0):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Weight is at optimal point (or saddle)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Solution: Don't change it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Magnitude matters too! Larger = steeper slope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The Chain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🔗 The Chain Rule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800"/>
              </a:spcAft>
              <a:defRPr sz="2000" b="1">
                <a:solidFill>
                  <a:srgbClr val="48BB78"/>
                </a:solidFill>
              </a:defRPr>
            </a:pPr>
            <a:r>
              <a:t>📖 Definition</a:t>
            </a:r>
          </a:p>
          <a:p>
            <a:pPr>
              <a:spcAft>
                <a:spcPts val="600"/>
              </a:spcAft>
              <a:defRPr sz="1700" b="0"/>
            </a:pPr>
            <a:r>
              <a:t>A calculus rule for computing derivatives of</a:t>
            </a:r>
          </a:p>
          <a:p>
            <a:pPr>
              <a:spcAft>
                <a:spcPts val="600"/>
              </a:spcAft>
              <a:defRPr sz="1700" b="0"/>
            </a:pPr>
            <a:r>
              <a:t>nested/composite functions.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Why Do We Need It?</a:t>
            </a:r>
          </a:p>
          <a:p>
            <a:pPr>
              <a:spcAft>
                <a:spcPts val="600"/>
              </a:spcAft>
              <a:defRPr sz="1700" b="0"/>
            </a:pPr>
            <a:r>
              <a:t>Neural networks are layers stacked together!</a:t>
            </a:r>
          </a:p>
          <a:p>
            <a:pPr>
              <a:spcAft>
                <a:spcPts val="600"/>
              </a:spcAft>
              <a:defRPr sz="1700" b="0"/>
            </a:pPr>
            <a:r>
              <a:t>Output depends on hidden layer, which depends</a:t>
            </a:r>
          </a:p>
          <a:p>
            <a:pPr>
              <a:spcAft>
                <a:spcPts val="600"/>
              </a:spcAft>
              <a:defRPr sz="1700" b="0"/>
            </a:pPr>
            <a:r>
              <a:t>on input layer, which depends on weights...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/>
            </a:pPr>
            <a:r>
              <a:t>💡 Simple Version</a:t>
            </a:r>
          </a:p>
          <a:p>
            <a:pPr>
              <a:spcAft>
                <a:spcPts val="600"/>
              </a:spcAft>
              <a:defRPr sz="1700" b="0"/>
            </a:pPr>
            <a:r>
              <a:t>If y depends on u, and u depends on x: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dy/dx = (dy/du) × (du/dx)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Chain Rule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📝 Chain Rule Example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Simple Example: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700" b="1"/>
            </a:pPr>
            <a:r>
              <a:t>Given: y = (2x + 3)²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Let u = 2x + 3</a:t>
            </a:r>
          </a:p>
          <a:p>
            <a:pPr>
              <a:spcAft>
                <a:spcPts val="600"/>
              </a:spcAft>
              <a:defRPr sz="1700" b="0"/>
            </a:pPr>
            <a:r>
              <a:t>Then y = u²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Find dy/dx: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dy/du = 2u</a:t>
            </a:r>
          </a:p>
          <a:p>
            <a:pPr>
              <a:spcAft>
                <a:spcPts val="600"/>
              </a:spcAft>
              <a:defRPr sz="1700" b="0"/>
            </a:pPr>
            <a:r>
              <a:t>du/dx = 2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/>
            </a:pPr>
            <a:r>
              <a:t>Chain Rule:</a:t>
            </a:r>
          </a:p>
          <a:p>
            <a:pPr>
              <a:spcAft>
                <a:spcPts val="600"/>
              </a:spcAft>
              <a:defRPr sz="1700" b="0"/>
            </a:pPr>
            <a:r>
              <a:t>dy/dx = (dy/du) × (du/dx)</a:t>
            </a:r>
          </a:p>
          <a:p>
            <a:pPr>
              <a:spcAft>
                <a:spcPts val="600"/>
              </a:spcAft>
              <a:defRPr sz="1700" b="0"/>
            </a:pPr>
            <a:r>
              <a:t>dy/dx = 2u × 2 = 4u</a:t>
            </a: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dy/dx = 4(2x + 3)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Chain Rule in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🧠 Chain Rule in Neural Networks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Network Flow:</a:t>
            </a:r>
          </a:p>
          <a:p>
            <a:pPr>
              <a:spcAft>
                <a:spcPts val="600"/>
              </a:spcAft>
              <a:defRPr sz="1700" b="1"/>
            </a:pPr>
            <a:r>
              <a:t>x → z₁ → a₁ → z₂ → a₂ → Loss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To find ∂Loss/∂W₁ (gradient of first layer):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We need to go backward through all layers: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600" b="0"/>
            </a:pPr>
            <a:r>
              <a:t>∂Loss/∂W₁ = ∂Loss/∂a₂ × ∂a₂/∂z₂ × ∂z₂/∂a₁</a:t>
            </a:r>
          </a:p>
          <a:p>
            <a:pPr lvl="1">
              <a:spcAft>
                <a:spcPts val="600"/>
              </a:spcAft>
              <a:defRPr sz="1600" b="0"/>
            </a:pPr>
            <a:r>
              <a:t>             × ∂a₁/∂z₁ × ∂z₁/∂W₁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667EEA"/>
                </a:solidFill>
              </a:defRPr>
            </a:pPr>
            <a:r>
              <a:t>💡 Key Insight</a:t>
            </a:r>
          </a:p>
          <a:p>
            <a:pPr>
              <a:spcAft>
                <a:spcPts val="600"/>
              </a:spcAft>
              <a:defRPr sz="1700" b="0"/>
            </a:pPr>
            <a:r>
              <a:t>We multiply gradients as we go backward!</a:t>
            </a:r>
          </a:p>
          <a:p>
            <a:pPr>
              <a:spcAft>
                <a:spcPts val="600"/>
              </a:spcAft>
              <a:defRPr sz="1700" b="0"/>
            </a:pPr>
            <a:r>
              <a:t>Each layer passes gradient to previous layer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48BB78"/>
                </a:solidFill>
              </a:defRPr>
            </a:pPr>
            <a:r>
              <a:t>This is why it's called "backpropagation"!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Gradient Descent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Definition: Gradient Descent</a:t>
            </a:r>
          </a:p>
          <a:p>
            <a:pPr>
              <a:spcAft>
                <a:spcPts val="600"/>
              </a:spcAft>
              <a:defRPr sz="1800" b="0"/>
            </a:pPr>
            <a:r>
              <a:t>An optimization algorithm that uses gradients</a:t>
            </a:r>
          </a:p>
          <a:p>
            <a:pPr>
              <a:spcAft>
                <a:spcPts val="600"/>
              </a:spcAft>
              <a:defRPr sz="1800" b="0"/>
            </a:pPr>
            <a:r>
              <a:t>to iteratively update weights toward minimum loss.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🔄 The Update Rule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56565"/>
                </a:solidFill>
              </a:defRPr>
            </a:pPr>
            <a:r>
              <a:t>W_new = W_old - learning_rate × gradient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/>
            </a:pPr>
            <a:r>
              <a:t>Components: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• W_old: Current weight value</a:t>
            </a:r>
          </a:p>
          <a:p>
            <a:pPr>
              <a:spcAft>
                <a:spcPts val="600"/>
              </a:spcAft>
              <a:defRPr sz="1700" b="0"/>
            </a:pPr>
            <a:r>
              <a:t>• gradient: Direction to move</a:t>
            </a:r>
          </a:p>
          <a:p>
            <a:pPr>
              <a:spcAft>
                <a:spcPts val="600"/>
              </a:spcAft>
              <a:defRPr sz="1700" b="0"/>
            </a:pPr>
            <a:r>
              <a:t>• learning_rate: How big a step to take</a:t>
            </a:r>
          </a:p>
          <a:p>
            <a:pPr>
              <a:spcAft>
                <a:spcPts val="600"/>
              </a:spcAft>
              <a:defRPr sz="1700" b="0"/>
            </a:pPr>
            <a:r>
              <a:t>• W_new: Updated weight value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⚠️ Notice the MINUS sign!</a:t>
            </a:r>
          </a:p>
          <a:p>
            <a:pPr>
              <a:spcAft>
                <a:spcPts val="600"/>
              </a:spcAft>
              <a:defRPr sz="1700" b="0"/>
            </a:pPr>
            <a:r>
              <a:t>We move opposite to gradient (downhill)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Gradient Descent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📝 Gradient Descent Example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Given:</a:t>
            </a:r>
          </a:p>
          <a:p>
            <a:pPr>
              <a:spcAft>
                <a:spcPts val="600"/>
              </a:spcAft>
              <a:defRPr sz="1700" b="0"/>
            </a:pPr>
            <a:r>
              <a:t>Current weight: W = 5.0</a:t>
            </a:r>
          </a:p>
          <a:p>
            <a:pPr>
              <a:spcAft>
                <a:spcPts val="600"/>
              </a:spcAft>
              <a:defRPr sz="1700" b="0"/>
            </a:pPr>
            <a:r>
              <a:t>Gradient: ∂Loss/∂W = 2.0</a:t>
            </a:r>
          </a:p>
          <a:p>
            <a:pPr>
              <a:spcAft>
                <a:spcPts val="600"/>
              </a:spcAft>
              <a:defRPr sz="1700" b="0"/>
            </a:pPr>
            <a:r>
              <a:t>Learning rate: α = 0.1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Update: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/>
            </a:pPr>
            <a:r>
              <a:t>W_new = W_old - α × gradient</a:t>
            </a:r>
          </a:p>
          <a:p>
            <a:pPr>
              <a:spcAft>
                <a:spcPts val="600"/>
              </a:spcAft>
              <a:defRPr sz="1700" b="0"/>
            </a:pPr>
            <a:r>
              <a:t>W_new = 5.0 - 0.1 × 2.0</a:t>
            </a:r>
          </a:p>
          <a:p>
            <a:pPr>
              <a:spcAft>
                <a:spcPts val="600"/>
              </a:spcAft>
              <a:defRPr sz="1700" b="0"/>
            </a:pPr>
            <a:r>
              <a:t>W_new = 5.0 - 0.2</a:t>
            </a: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W_new = 4.8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700" b="1"/>
            </a:pPr>
            <a:r>
              <a:t>✅ Weight decreased because gradient was positive!</a:t>
            </a:r>
          </a:p>
          <a:p>
            <a:pPr>
              <a:spcAft>
                <a:spcPts val="600"/>
              </a:spcAft>
              <a:defRPr sz="1700" b="0"/>
            </a:pPr>
            <a:r>
              <a:t>This should reduce the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Learning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⚙️ Learning Rate: The Step Size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800"/>
              </a:spcAft>
              <a:defRPr sz="1900" b="1">
                <a:solidFill>
                  <a:srgbClr val="48BB78"/>
                </a:solidFill>
              </a:defRPr>
            </a:pPr>
            <a:r>
              <a:t>📖 Definition</a:t>
            </a:r>
          </a:p>
          <a:p>
            <a:pPr>
              <a:spcAft>
                <a:spcPts val="600"/>
              </a:spcAft>
              <a:defRPr sz="1700" b="0"/>
            </a:pPr>
            <a:r>
              <a:t>Controls how big a step we take during weight updates.</a:t>
            </a:r>
          </a:p>
          <a:p>
            <a:pPr>
              <a:spcAft>
                <a:spcPts val="600"/>
              </a:spcAft>
              <a:defRPr sz="1700" b="0"/>
            </a:pPr>
            <a:r>
              <a:t>Typically: 0.001, 0.01, 0.1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Too Small (e.g., 0.0001):</a:t>
            </a:r>
          </a:p>
          <a:p>
            <a:pPr>
              <a:spcAft>
                <a:spcPts val="600"/>
              </a:spcAft>
              <a:defRPr sz="1700" b="0"/>
            </a:pPr>
            <a:r>
              <a:t>❌ Training is very slow</a:t>
            </a:r>
          </a:p>
          <a:p>
            <a:pPr>
              <a:spcAft>
                <a:spcPts val="600"/>
              </a:spcAft>
              <a:defRPr sz="1700" b="0"/>
            </a:pPr>
            <a:r>
              <a:t>❌ Takes forever to converge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Too Large (e.g., 1.0):</a:t>
            </a:r>
          </a:p>
          <a:p>
            <a:pPr>
              <a:spcAft>
                <a:spcPts val="600"/>
              </a:spcAft>
              <a:defRPr sz="1700" b="0"/>
            </a:pPr>
            <a:r>
              <a:t>❌ Overshoots minimum</a:t>
            </a:r>
          </a:p>
          <a:p>
            <a:pPr>
              <a:spcAft>
                <a:spcPts val="600"/>
              </a:spcAft>
              <a:defRPr sz="1700" b="0"/>
            </a:pPr>
            <a:r>
              <a:t>❌ Loss bounces around, never converges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Just Right (e.g., 0.01):</a:t>
            </a:r>
          </a:p>
          <a:p>
            <a:pPr>
              <a:spcAft>
                <a:spcPts val="600"/>
              </a:spcAft>
              <a:defRPr sz="1700" b="0"/>
            </a:pPr>
            <a:r>
              <a:t>✅ Converges steadily</a:t>
            </a:r>
          </a:p>
          <a:p>
            <a:pPr>
              <a:spcAft>
                <a:spcPts val="600"/>
              </a:spcAft>
              <a:defRPr sz="1700" b="0"/>
            </a:pPr>
            <a:r>
              <a:t>✅ Good balance of speed and stability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Learning Rate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💡 Learning Rate Analogy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Walking Down a Hill in the Dark: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Small Learning Rate (tiny steps):</a:t>
            </a:r>
          </a:p>
          <a:p>
            <a:pPr>
              <a:spcAft>
                <a:spcPts val="600"/>
              </a:spcAft>
              <a:defRPr sz="1700" b="0"/>
            </a:pPr>
            <a:r>
              <a:t>👣 You take baby steps</a:t>
            </a:r>
          </a:p>
          <a:p>
            <a:pPr>
              <a:spcAft>
                <a:spcPts val="600"/>
              </a:spcAft>
              <a:defRPr sz="1700" b="0"/>
            </a:pPr>
            <a:r>
              <a:t>✅ Very safe, won't fall</a:t>
            </a:r>
          </a:p>
          <a:p>
            <a:pPr>
              <a:spcAft>
                <a:spcPts val="600"/>
              </a:spcAft>
              <a:defRPr sz="1700" b="0"/>
            </a:pPr>
            <a:r>
              <a:t>❌ Takes hours to reach bottom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56565"/>
                </a:solidFill>
              </a:defRPr>
            </a:pPr>
            <a:r>
              <a:t>Large Learning Rate (huge steps):</a:t>
            </a:r>
          </a:p>
          <a:p>
            <a:pPr>
              <a:spcAft>
                <a:spcPts val="600"/>
              </a:spcAft>
              <a:defRPr sz="1700" b="0"/>
            </a:pPr>
            <a:r>
              <a:t>🏃 You take giant leaps</a:t>
            </a:r>
          </a:p>
          <a:p>
            <a:pPr>
              <a:spcAft>
                <a:spcPts val="600"/>
              </a:spcAft>
              <a:defRPr sz="1700" b="0"/>
            </a:pPr>
            <a:r>
              <a:t>❌ Jump past the bottom!</a:t>
            </a:r>
          </a:p>
          <a:p>
            <a:pPr>
              <a:spcAft>
                <a:spcPts val="600"/>
              </a:spcAft>
              <a:defRPr sz="1700" b="0"/>
            </a:pPr>
            <a:r>
              <a:t>❌ Keep overshooting back and forth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Good Learning Rate (normal steps):</a:t>
            </a:r>
          </a:p>
          <a:p>
            <a:pPr>
              <a:spcAft>
                <a:spcPts val="600"/>
              </a:spcAft>
              <a:defRPr sz="1700" b="0"/>
            </a:pPr>
            <a:r>
              <a:t>🚶 You walk steadily</a:t>
            </a:r>
          </a:p>
          <a:p>
            <a:pPr>
              <a:spcAft>
                <a:spcPts val="600"/>
              </a:spcAft>
              <a:defRPr sz="1700" b="0"/>
            </a:pPr>
            <a:r>
              <a:t>✅ Safe and reasonably fast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🎯 Convergence: Reaching the Goal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800"/>
              </a:spcAft>
              <a:defRPr sz="1900" b="1">
                <a:solidFill>
                  <a:srgbClr val="48BB78"/>
                </a:solidFill>
              </a:defRPr>
            </a:pPr>
            <a:r>
              <a:t>📖 Definition</a:t>
            </a:r>
          </a:p>
          <a:p>
            <a:pPr>
              <a:spcAft>
                <a:spcPts val="600"/>
              </a:spcAft>
              <a:defRPr sz="1700" b="0"/>
            </a:pPr>
            <a:r>
              <a:t>When the loss stops decreasing significantly</a:t>
            </a:r>
          </a:p>
          <a:p>
            <a:pPr>
              <a:spcAft>
                <a:spcPts val="600"/>
              </a:spcAft>
              <a:defRPr sz="1700" b="0"/>
            </a:pPr>
            <a:r>
              <a:t>and the model has learned as much as it can.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Signs of Convergence:</a:t>
            </a:r>
          </a:p>
          <a:p>
            <a:pPr>
              <a:spcAft>
                <a:spcPts val="600"/>
              </a:spcAft>
              <a:defRPr sz="1700" b="0"/>
            </a:pPr>
            <a:r>
              <a:t>✅ Loss curve flattens out</a:t>
            </a:r>
          </a:p>
          <a:p>
            <a:pPr>
              <a:spcAft>
                <a:spcPts val="600"/>
              </a:spcAft>
              <a:defRPr sz="1700" b="0"/>
            </a:pPr>
            <a:r>
              <a:t>✅ Loss changes become very small</a:t>
            </a:r>
          </a:p>
          <a:p>
            <a:pPr>
              <a:spcAft>
                <a:spcPts val="600"/>
              </a:spcAft>
              <a:defRPr sz="1700" b="0"/>
            </a:pPr>
            <a:r>
              <a:t>✅ Model predictions stable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When Training Doesn't Converge:</a:t>
            </a:r>
          </a:p>
          <a:p>
            <a:pPr>
              <a:spcAft>
                <a:spcPts val="600"/>
              </a:spcAft>
              <a:defRPr sz="1700" b="0"/>
            </a:pPr>
            <a:r>
              <a:t>❌ Loss keeps bouncing up and down</a:t>
            </a:r>
          </a:p>
          <a:p>
            <a:pPr>
              <a:spcAft>
                <a:spcPts val="600"/>
              </a:spcAft>
              <a:defRPr sz="1700" b="0"/>
            </a:pPr>
            <a:r>
              <a:t>❌ Loss increases instead of decreasing</a:t>
            </a:r>
          </a:p>
          <a:p>
            <a:pPr>
              <a:spcAft>
                <a:spcPts val="600"/>
              </a:spcAft>
              <a:defRPr sz="1700" b="0"/>
            </a:pPr>
            <a:r>
              <a:t>❌ Learning rate too large or model issues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Complete Training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🔄 Complete Training Process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Training Loop (Repeat Many Times):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Step 1: Forward Propagation</a:t>
            </a:r>
          </a:p>
          <a:p>
            <a:pPr lvl="1">
              <a:spcAft>
                <a:spcPts val="600"/>
              </a:spcAft>
              <a:defRPr sz="1600" b="0"/>
            </a:pPr>
            <a:r>
              <a:t>Pass input through network → get prediction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39C12"/>
                </a:solidFill>
              </a:defRPr>
            </a:pPr>
            <a:r>
              <a:t>Step 2: Calculate Loss</a:t>
            </a:r>
          </a:p>
          <a:p>
            <a:pPr lvl="1">
              <a:spcAft>
                <a:spcPts val="600"/>
              </a:spcAft>
              <a:defRPr sz="1600" b="0"/>
            </a:pPr>
            <a:r>
              <a:t>Compare prediction with true value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F56565"/>
                </a:solidFill>
              </a:defRPr>
            </a:pPr>
            <a:r>
              <a:t>Step 3: Backpropagation</a:t>
            </a:r>
          </a:p>
          <a:p>
            <a:pPr lvl="1">
              <a:spcAft>
                <a:spcPts val="600"/>
              </a:spcAft>
              <a:defRPr sz="1600" b="0"/>
            </a:pPr>
            <a:r>
              <a:t>Calculate gradients using chain rule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Step 4: Update Weights</a:t>
            </a:r>
          </a:p>
          <a:p>
            <a:pPr lvl="1">
              <a:spcAft>
                <a:spcPts val="600"/>
              </a:spcAft>
              <a:defRPr sz="1600" b="0"/>
            </a:pPr>
            <a:r>
              <a:t>W = W - learning_rate × gradient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Repeat until convergence!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Why Backpropagation is Powerful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💪 Why Backpropagation is Powerful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Before Backpropagation (1980s):</a:t>
            </a:r>
          </a:p>
          <a:p>
            <a:pPr>
              <a:spcAft>
                <a:spcPts val="600"/>
              </a:spcAft>
              <a:defRPr sz="1700" b="0"/>
            </a:pPr>
            <a:r>
              <a:t>❌ Couldn't train deep networks</a:t>
            </a:r>
          </a:p>
          <a:p>
            <a:pPr>
              <a:spcAft>
                <a:spcPts val="600"/>
              </a:spcAft>
              <a:defRPr sz="1700" b="0"/>
            </a:pPr>
            <a:r>
              <a:t>❌ Had to tune weights manually</a:t>
            </a:r>
          </a:p>
          <a:p>
            <a:pPr>
              <a:spcAft>
                <a:spcPts val="600"/>
              </a:spcAft>
              <a:defRPr sz="1700" b="0"/>
            </a:pPr>
            <a:r>
              <a:t>❌ Limited to shallow networks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With Backpropagation:</a:t>
            </a:r>
          </a:p>
          <a:p>
            <a:pPr>
              <a:spcAft>
                <a:spcPts val="600"/>
              </a:spcAft>
              <a:defRPr sz="1700" b="0"/>
            </a:pPr>
            <a:r>
              <a:t>✅ Automatic weight optimization</a:t>
            </a:r>
          </a:p>
          <a:p>
            <a:pPr>
              <a:spcAft>
                <a:spcPts val="600"/>
              </a:spcAft>
              <a:defRPr sz="1700" b="0"/>
            </a:pPr>
            <a:r>
              <a:t>✅ Can train networks with 100s of layers</a:t>
            </a:r>
          </a:p>
          <a:p>
            <a:pPr>
              <a:spcAft>
                <a:spcPts val="600"/>
              </a:spcAft>
              <a:defRPr sz="1700" b="0"/>
            </a:pPr>
            <a:r>
              <a:t>✅ Makes deep learning possible!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Key Innovation:</a:t>
            </a:r>
          </a:p>
          <a:p>
            <a:pPr>
              <a:spcAft>
                <a:spcPts val="600"/>
              </a:spcAft>
              <a:defRPr sz="1700" b="0"/>
            </a:pPr>
            <a:r>
              <a:t>Efficient gradient computation through chain rule</a:t>
            </a:r>
          </a:p>
          <a:p>
            <a:pPr>
              <a:spcAft>
                <a:spcPts val="600"/>
              </a:spcAft>
              <a:defRPr sz="1700" b="0"/>
            </a:pPr>
            <a:r>
              <a:t>Reuses intermediate calculations</a:t>
            </a:r>
          </a:p>
          <a:p>
            <a:pPr>
              <a:spcAft>
                <a:spcPts val="600"/>
              </a:spcAft>
              <a:defRPr sz="1700" b="0"/>
            </a:pPr>
            <a:r>
              <a:t>Makes training feasible!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Common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⚠️ Common Challenges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1. Vanishing Gradients</a:t>
            </a:r>
          </a:p>
          <a:p>
            <a:pPr>
              <a:spcAft>
                <a:spcPts val="600"/>
              </a:spcAft>
              <a:defRPr sz="1700" b="0"/>
            </a:pPr>
            <a:r>
              <a:t>Gradients become tiny in early layers</a:t>
            </a:r>
          </a:p>
          <a:p>
            <a:pPr>
              <a:spcAft>
                <a:spcPts val="600"/>
              </a:spcAft>
              <a:defRPr sz="1600" b="0"/>
            </a:pPr>
            <a:r>
              <a:t>→ Solution: Use ReLU activation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2. Exploding Gradients</a:t>
            </a:r>
          </a:p>
          <a:p>
            <a:pPr>
              <a:spcAft>
                <a:spcPts val="600"/>
              </a:spcAft>
              <a:defRPr sz="1700" b="0"/>
            </a:pPr>
            <a:r>
              <a:t>Gradients become huge, unstable training</a:t>
            </a:r>
          </a:p>
          <a:p>
            <a:pPr>
              <a:spcAft>
                <a:spcPts val="600"/>
              </a:spcAft>
              <a:defRPr sz="1600" b="0"/>
            </a:pPr>
            <a:r>
              <a:t>→ Solution: Gradient clipping, smaller learning rate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3. Local Minima</a:t>
            </a:r>
          </a:p>
          <a:p>
            <a:pPr>
              <a:spcAft>
                <a:spcPts val="600"/>
              </a:spcAft>
              <a:defRPr sz="1700" b="0"/>
            </a:pPr>
            <a:r>
              <a:t>Getting stuck in suboptimal solutions</a:t>
            </a:r>
          </a:p>
          <a:p>
            <a:pPr>
              <a:spcAft>
                <a:spcPts val="600"/>
              </a:spcAft>
              <a:defRPr sz="1600" b="0"/>
            </a:pPr>
            <a:r>
              <a:t>→ Solution: Good initialization, momentum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4. Choosing Learning Rate</a:t>
            </a:r>
          </a:p>
          <a:p>
            <a:pPr>
              <a:spcAft>
                <a:spcPts val="600"/>
              </a:spcAft>
              <a:defRPr sz="1700" b="0"/>
            </a:pPr>
            <a:r>
              <a:t>Finding the right step size</a:t>
            </a:r>
          </a:p>
          <a:p>
            <a:pPr>
              <a:spcAft>
                <a:spcPts val="600"/>
              </a:spcAft>
              <a:defRPr sz="1600" b="0"/>
            </a:pPr>
            <a:r>
              <a:t>→ Solution: Learning rate schedules, adaptive optimizers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📚 Key Takeaways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What We Learned: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✅ Loss Function: Measures prediction error</a:t>
            </a:r>
          </a:p>
          <a:p>
            <a:pPr>
              <a:spcAft>
                <a:spcPts val="600"/>
              </a:spcAft>
              <a:defRPr sz="1700" b="0"/>
            </a:pPr>
            <a:r>
              <a:t>✅ Backpropagation: Calculates gradients backward</a:t>
            </a:r>
          </a:p>
          <a:p>
            <a:pPr>
              <a:spcAft>
                <a:spcPts val="600"/>
              </a:spcAft>
              <a:defRPr sz="1700" b="0"/>
            </a:pPr>
            <a:r>
              <a:t>✅ Chain Rule: Enables gradient computation</a:t>
            </a:r>
          </a:p>
          <a:p>
            <a:pPr>
              <a:spcAft>
                <a:spcPts val="600"/>
              </a:spcAft>
              <a:defRPr sz="1700" b="0"/>
            </a:pPr>
            <a:r>
              <a:t>✅ Gradient: Direction to improve weights</a:t>
            </a:r>
          </a:p>
          <a:p>
            <a:pPr>
              <a:spcAft>
                <a:spcPts val="600"/>
              </a:spcAft>
              <a:defRPr sz="1700" b="0"/>
            </a:pPr>
            <a:r>
              <a:t>✅ Gradient Descent: Update rule for learning</a:t>
            </a:r>
          </a:p>
          <a:p>
            <a:pPr>
              <a:spcAft>
                <a:spcPts val="600"/>
              </a:spcAft>
              <a:defRPr sz="1700" b="0"/>
            </a:pPr>
            <a:r>
              <a:t>✅ Learning Rate: Controls step size</a:t>
            </a:r>
          </a:p>
          <a:p>
            <a:pPr>
              <a:spcAft>
                <a:spcPts val="600"/>
              </a:spcAft>
              <a:defRPr sz="1700" b="0"/>
            </a:pPr>
            <a:r>
              <a:t>✅ Convergence: When model finishes learning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The Golden Formula:</a:t>
            </a:r>
          </a:p>
          <a:p>
            <a:pPr>
              <a:spcAft>
                <a:spcPts val="600"/>
              </a:spcAft>
              <a:defRPr sz="1800" b="1"/>
            </a:pPr>
            <a:r>
              <a:t>W_new = W_old - α × ∂Loss/∂W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Next: Build it from scratch! 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
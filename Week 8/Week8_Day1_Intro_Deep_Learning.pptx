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Introduction to Deep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Neural Networks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Week 8 - Day 1 | AI Bootcamp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What is Deep Learning?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667EEA"/>
                </a:solidFill>
              </a:defRPr>
            </a:pPr>
            <a:r>
              <a:t>📖 Definition</a:t>
            </a:r>
          </a:p>
          <a:p>
            <a:pPr>
              <a:spcAft>
                <a:spcPts val="600"/>
              </a:spcAft>
              <a:defRPr sz="1800" b="0"/>
            </a:pPr>
            <a:r>
              <a:t>Deep Learning is a subset of Machine Learning that uses</a:t>
            </a:r>
          </a:p>
          <a:p>
            <a:pPr>
              <a:spcAft>
                <a:spcPts val="600"/>
              </a:spcAft>
              <a:defRPr sz="1800" b="0"/>
            </a:pPr>
            <a:r>
              <a:t>neural networks with multiple layers (deep networks) to</a:t>
            </a:r>
          </a:p>
          <a:p>
            <a:pPr>
              <a:spcAft>
                <a:spcPts val="600"/>
              </a:spcAft>
              <a:defRPr sz="1800" b="0"/>
            </a:pPr>
            <a:r>
              <a:t>learn complex patterns from data.</a:t>
            </a:r>
          </a:p>
          <a:p>
            <a:pPr>
              <a:spcAft>
                <a:spcPts val="600"/>
              </a:spcAft>
              <a:defRPr sz="1000" b="0"/>
            </a:pPr>
          </a:p>
          <a:p>
            <a:pPr>
              <a:spcAft>
                <a:spcPts val="1000"/>
              </a:spcAft>
              <a:defRPr sz="2200" b="1">
                <a:solidFill>
                  <a:srgbClr val="48BB78"/>
                </a:solidFill>
              </a:defRPr>
            </a:pPr>
            <a:r>
              <a:t>🎯 Key Idea</a:t>
            </a:r>
          </a:p>
          <a:p>
            <a:pPr>
              <a:spcAft>
                <a:spcPts val="600"/>
              </a:spcAft>
              <a:defRPr sz="1800" b="0"/>
            </a:pPr>
            <a:r>
              <a:t>Automatically learns features from raw data</a:t>
            </a:r>
          </a:p>
          <a:p>
            <a:pPr>
              <a:spcAft>
                <a:spcPts val="600"/>
              </a:spcAft>
              <a:defRPr sz="1800" b="0"/>
            </a:pPr>
            <a:r>
              <a:t>No manual feature engineering needed!</a:t>
            </a:r>
          </a:p>
          <a:p>
            <a:pPr>
              <a:spcAft>
                <a:spcPts val="600"/>
              </a:spcAft>
              <a:defRPr sz="1000" b="0"/>
            </a:pPr>
          </a:p>
          <a:p>
            <a:pPr>
              <a:spcAft>
                <a:spcPts val="1000"/>
              </a:spcAft>
              <a:defRPr sz="2200" b="1">
                <a:solidFill>
                  <a:srgbClr val="F39C12"/>
                </a:solidFill>
              </a:defRPr>
            </a:pPr>
            <a:r>
              <a:t>💡 Simple Analogy</a:t>
            </a:r>
          </a:p>
          <a:p>
            <a:pPr>
              <a:spcAft>
                <a:spcPts val="600"/>
              </a:spcAft>
              <a:defRPr sz="1700" b="0"/>
            </a:pPr>
            <a:r>
              <a:t>Like a child learning to recognize objects:</a:t>
            </a:r>
          </a:p>
          <a:p>
            <a:pPr>
              <a:spcAft>
                <a:spcPts val="600"/>
              </a:spcAft>
              <a:defRPr sz="1700" b="0"/>
            </a:pPr>
            <a:r>
              <a:t>• Sees many examples of cats</a:t>
            </a:r>
          </a:p>
          <a:p>
            <a:pPr>
              <a:spcAft>
                <a:spcPts val="600"/>
              </a:spcAft>
              <a:defRPr sz="1700" b="0"/>
            </a:pPr>
            <a:r>
              <a:t>• Learns patterns (fur, whiskers, ears)</a:t>
            </a:r>
          </a:p>
          <a:p>
            <a:pPr>
              <a:spcAft>
                <a:spcPts val="600"/>
              </a:spcAft>
              <a:defRPr sz="1700" b="0"/>
            </a:pPr>
            <a:r>
              <a:t>• Can identify new cats it has never seen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ML vs DL: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667EEA"/>
                </a:solidFill>
              </a:defRPr>
            </a:pPr>
            <a:r>
              <a:t>📊 The Key Differences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2000" b="1">
                <a:solidFill>
                  <a:srgbClr val="F39C12"/>
                </a:solidFill>
              </a:defRPr>
            </a:pPr>
            <a:r>
              <a:t>Machine Learning (Traditional)</a:t>
            </a:r>
          </a:p>
          <a:p>
            <a:pPr>
              <a:spcAft>
                <a:spcPts val="600"/>
              </a:spcAft>
              <a:defRPr sz="1700" b="0"/>
            </a:pPr>
            <a:r>
              <a:t>✓ Manually design features</a:t>
            </a:r>
          </a:p>
          <a:p>
            <a:pPr>
              <a:spcAft>
                <a:spcPts val="600"/>
              </a:spcAft>
              <a:defRPr sz="1700" b="0"/>
            </a:pPr>
            <a:r>
              <a:t>✓ Works well with small datasets</a:t>
            </a:r>
          </a:p>
          <a:p>
            <a:pPr>
              <a:spcAft>
                <a:spcPts val="600"/>
              </a:spcAft>
              <a:defRPr sz="1700" b="0"/>
            </a:pPr>
            <a:r>
              <a:t>✓ Simpler models (Linear, SVM, Trees)</a:t>
            </a:r>
          </a:p>
          <a:p>
            <a:pPr>
              <a:spcAft>
                <a:spcPts val="600"/>
              </a:spcAft>
              <a:defRPr sz="1700" b="0"/>
            </a:pPr>
            <a:r>
              <a:t>✓ Faster training</a:t>
            </a:r>
          </a:p>
          <a:p>
            <a:pPr>
              <a:spcAft>
                <a:spcPts val="600"/>
              </a:spcAft>
              <a:defRPr sz="1700" b="0"/>
            </a:pPr>
            <a:r>
              <a:t>✓ Easy to interpret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2000" b="1">
                <a:solidFill>
                  <a:srgbClr val="48BB78"/>
                </a:solidFill>
              </a:defRPr>
            </a:pPr>
            <a:r>
              <a:t>Deep Learning</a:t>
            </a:r>
          </a:p>
          <a:p>
            <a:pPr>
              <a:spcAft>
                <a:spcPts val="600"/>
              </a:spcAft>
              <a:defRPr sz="1700" b="0"/>
            </a:pPr>
            <a:r>
              <a:t>✓ Automatically learns features</a:t>
            </a:r>
          </a:p>
          <a:p>
            <a:pPr>
              <a:spcAft>
                <a:spcPts val="600"/>
              </a:spcAft>
              <a:defRPr sz="1700" b="0"/>
            </a:pPr>
            <a:r>
              <a:t>✓ Needs large datasets</a:t>
            </a:r>
          </a:p>
          <a:p>
            <a:pPr>
              <a:spcAft>
                <a:spcPts val="600"/>
              </a:spcAft>
              <a:defRPr sz="1700" b="0"/>
            </a:pPr>
            <a:r>
              <a:t>✓ Complex models (Neural Networks)</a:t>
            </a:r>
          </a:p>
          <a:p>
            <a:pPr>
              <a:spcAft>
                <a:spcPts val="600"/>
              </a:spcAft>
              <a:defRPr sz="1700" b="0"/>
            </a:pPr>
            <a:r>
              <a:t>✓ Longer training time</a:t>
            </a:r>
          </a:p>
          <a:p>
            <a:pPr>
              <a:spcAft>
                <a:spcPts val="600"/>
              </a:spcAft>
              <a:defRPr sz="1700" b="0"/>
            </a:pPr>
            <a:r>
              <a:t>✓ Harder to interpret (black box)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ML vs DL: Visual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667EEA"/>
                </a:solidFill>
              </a:defRPr>
            </a:pPr>
            <a:r>
              <a:t>🖼️ Example: Image Classification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2000" b="1">
                <a:solidFill>
                  <a:srgbClr val="F39C12"/>
                </a:solidFill>
              </a:defRPr>
            </a:pPr>
            <a:r>
              <a:t>Machine Learning Approach:</a:t>
            </a:r>
          </a:p>
          <a:p>
            <a:pPr>
              <a:spcAft>
                <a:spcPts val="600"/>
              </a:spcAft>
              <a:defRPr sz="600" b="0"/>
            </a:pPr>
          </a:p>
          <a:p>
            <a:pPr>
              <a:spcAft>
                <a:spcPts val="600"/>
              </a:spcAft>
              <a:defRPr sz="1700" b="0"/>
            </a:pPr>
            <a:r>
              <a:t>Step 1: YOU extract features manually</a:t>
            </a:r>
          </a:p>
          <a:p>
            <a:pPr lvl="1">
              <a:spcAft>
                <a:spcPts val="600"/>
              </a:spcAft>
              <a:defRPr sz="1600" b="0"/>
            </a:pPr>
            <a:r>
              <a:t>• Edge detection</a:t>
            </a:r>
          </a:p>
          <a:p>
            <a:pPr lvl="1">
              <a:spcAft>
                <a:spcPts val="600"/>
              </a:spcAft>
              <a:defRPr sz="1600" b="0"/>
            </a:pPr>
            <a:r>
              <a:t>• Color histograms</a:t>
            </a:r>
          </a:p>
          <a:p>
            <a:pPr lvl="1">
              <a:spcAft>
                <a:spcPts val="600"/>
              </a:spcAft>
              <a:defRPr sz="1600" b="0"/>
            </a:pPr>
            <a:r>
              <a:t>• Texture patterns</a:t>
            </a:r>
          </a:p>
          <a:p>
            <a:pPr>
              <a:spcAft>
                <a:spcPts val="600"/>
              </a:spcAft>
              <a:defRPr sz="1700" b="0"/>
            </a:pPr>
            <a:r>
              <a:t>Step 2: Train classifier on these features</a:t>
            </a:r>
          </a:p>
          <a:p>
            <a:pPr>
              <a:spcAft>
                <a:spcPts val="600"/>
              </a:spcAft>
              <a:defRPr sz="1000" b="0"/>
            </a:pPr>
          </a:p>
          <a:p>
            <a:pPr>
              <a:spcAft>
                <a:spcPts val="600"/>
              </a:spcAft>
              <a:defRPr sz="2000" b="1">
                <a:solidFill>
                  <a:srgbClr val="48BB78"/>
                </a:solidFill>
              </a:defRPr>
            </a:pPr>
            <a:r>
              <a:t>Deep Learning Approach:</a:t>
            </a:r>
          </a:p>
          <a:p>
            <a:pPr>
              <a:spcAft>
                <a:spcPts val="600"/>
              </a:spcAft>
              <a:defRPr sz="600" b="0"/>
            </a:pPr>
          </a:p>
          <a:p>
            <a:pPr>
              <a:spcAft>
                <a:spcPts val="600"/>
              </a:spcAft>
              <a:defRPr sz="1700" b="0"/>
            </a:pPr>
            <a:r>
              <a:t>Step 1: Feed raw images directly</a:t>
            </a:r>
          </a:p>
          <a:p>
            <a:pPr>
              <a:spcAft>
                <a:spcPts val="600"/>
              </a:spcAft>
              <a:defRPr sz="1700" b="0"/>
            </a:pPr>
            <a:r>
              <a:t>Step 2: Network learns features automatically!</a:t>
            </a:r>
          </a:p>
          <a:p>
            <a:pPr lvl="1">
              <a:spcAft>
                <a:spcPts val="600"/>
              </a:spcAft>
              <a:defRPr sz="1600" b="0"/>
            </a:pPr>
            <a:r>
              <a:t>• Layer 1 learns edges</a:t>
            </a:r>
          </a:p>
          <a:p>
            <a:pPr lvl="1">
              <a:spcAft>
                <a:spcPts val="600"/>
              </a:spcAft>
              <a:defRPr sz="1600" b="0"/>
            </a:pPr>
            <a:r>
              <a:t>• Layer 2 learns shapes</a:t>
            </a:r>
          </a:p>
          <a:p>
            <a:pPr lvl="1">
              <a:spcAft>
                <a:spcPts val="600"/>
              </a:spcAft>
              <a:defRPr sz="1600" b="0"/>
            </a:pPr>
            <a:r>
              <a:t>• Layer 3 learns objects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When to Use Which?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667EEA"/>
                </a:solidFill>
              </a:defRPr>
            </a:pPr>
            <a:r>
              <a:t>🤔 When Should You Use Each?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2000" b="1">
                <a:solidFill>
                  <a:srgbClr val="F39C12"/>
                </a:solidFill>
              </a:defRPr>
            </a:pPr>
            <a:r>
              <a:t>Use Machine Learning When:</a:t>
            </a:r>
          </a:p>
          <a:p>
            <a:pPr>
              <a:spcAft>
                <a:spcPts val="600"/>
              </a:spcAft>
              <a:defRPr sz="1700" b="0"/>
            </a:pPr>
            <a:r>
              <a:t>✅ You have small dataset (&lt; 10,000 samples)</a:t>
            </a:r>
          </a:p>
          <a:p>
            <a:pPr>
              <a:spcAft>
                <a:spcPts val="600"/>
              </a:spcAft>
              <a:defRPr sz="1700" b="0"/>
            </a:pPr>
            <a:r>
              <a:t>✅ Features are well-defined</a:t>
            </a:r>
          </a:p>
          <a:p>
            <a:pPr>
              <a:spcAft>
                <a:spcPts val="600"/>
              </a:spcAft>
              <a:defRPr sz="1700" b="0"/>
            </a:pPr>
            <a:r>
              <a:t>✅ You need fast training</a:t>
            </a:r>
          </a:p>
          <a:p>
            <a:pPr>
              <a:spcAft>
                <a:spcPts val="600"/>
              </a:spcAft>
              <a:defRPr sz="1700" b="0"/>
            </a:pPr>
            <a:r>
              <a:t>✅ Interpretability is important</a:t>
            </a:r>
          </a:p>
          <a:p>
            <a:pPr>
              <a:spcAft>
                <a:spcPts val="600"/>
              </a:spcAft>
              <a:defRPr sz="1000" b="0"/>
            </a:pPr>
          </a:p>
          <a:p>
            <a:pPr>
              <a:spcAft>
                <a:spcPts val="600"/>
              </a:spcAft>
              <a:defRPr sz="2000" b="1">
                <a:solidFill>
                  <a:srgbClr val="48BB78"/>
                </a:solidFill>
              </a:defRPr>
            </a:pPr>
            <a:r>
              <a:t>Use Deep Learning When:</a:t>
            </a:r>
          </a:p>
          <a:p>
            <a:pPr>
              <a:spcAft>
                <a:spcPts val="600"/>
              </a:spcAft>
              <a:defRPr sz="1700" b="0"/>
            </a:pPr>
            <a:r>
              <a:t>✅ You have large dataset (&gt; 100,000 samples)</a:t>
            </a:r>
          </a:p>
          <a:p>
            <a:pPr>
              <a:spcAft>
                <a:spcPts val="600"/>
              </a:spcAft>
              <a:defRPr sz="1700" b="0"/>
            </a:pPr>
            <a:r>
              <a:t>✅ Working with images, audio, text</a:t>
            </a:r>
          </a:p>
          <a:p>
            <a:pPr>
              <a:spcAft>
                <a:spcPts val="600"/>
              </a:spcAft>
              <a:defRPr sz="1700" b="0"/>
            </a:pPr>
            <a:r>
              <a:t>✅ Features are hard to define manually</a:t>
            </a:r>
          </a:p>
          <a:p>
            <a:pPr>
              <a:spcAft>
                <a:spcPts val="600"/>
              </a:spcAft>
              <a:defRPr sz="1700" b="0"/>
            </a:pPr>
            <a:r>
              <a:t>✅ You have GPU resources</a:t>
            </a:r>
          </a:p>
          <a:p>
            <a:pPr>
              <a:spcAft>
                <a:spcPts val="600"/>
              </a:spcAft>
              <a:defRPr sz="1700" b="0"/>
            </a:pPr>
            <a:r>
              <a:t>✅ High accuracy is priority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What is a Neural Network?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667EEA"/>
                </a:solidFill>
              </a:defRPr>
            </a:pPr>
            <a:r>
              <a:t>📖 Definition</a:t>
            </a:r>
          </a:p>
          <a:p>
            <a:pPr>
              <a:spcAft>
                <a:spcPts val="600"/>
              </a:spcAft>
              <a:defRPr sz="1800" b="0"/>
            </a:pPr>
            <a:r>
              <a:t>A Neural Network is a computing system inspired by the</a:t>
            </a:r>
          </a:p>
          <a:p>
            <a:pPr>
              <a:spcAft>
                <a:spcPts val="600"/>
              </a:spcAft>
              <a:defRPr sz="1800" b="0"/>
            </a:pPr>
            <a:r>
              <a:t>biological neural networks in animal brains.</a:t>
            </a:r>
          </a:p>
          <a:p>
            <a:pPr>
              <a:spcAft>
                <a:spcPts val="600"/>
              </a:spcAft>
              <a:defRPr sz="1000" b="0"/>
            </a:pPr>
          </a:p>
          <a:p>
            <a:pPr>
              <a:spcAft>
                <a:spcPts val="600"/>
              </a:spcAft>
              <a:defRPr sz="1900" b="1"/>
            </a:pPr>
            <a:r>
              <a:t>It consists of:</a:t>
            </a:r>
          </a:p>
          <a:p>
            <a:pPr>
              <a:spcAft>
                <a:spcPts val="600"/>
              </a:spcAft>
              <a:defRPr sz="1700" b="0"/>
            </a:pPr>
            <a:r>
              <a:t>• Interconnected nodes (neurons)</a:t>
            </a:r>
          </a:p>
          <a:p>
            <a:pPr>
              <a:spcAft>
                <a:spcPts val="600"/>
              </a:spcAft>
              <a:defRPr sz="1700" b="0"/>
            </a:pPr>
            <a:r>
              <a:t>• Organized in layers</a:t>
            </a:r>
          </a:p>
          <a:p>
            <a:pPr>
              <a:spcAft>
                <a:spcPts val="600"/>
              </a:spcAft>
              <a:defRPr sz="1700" b="0"/>
            </a:pPr>
            <a:r>
              <a:t>• Connected by weights</a:t>
            </a:r>
          </a:p>
          <a:p>
            <a:pPr>
              <a:spcAft>
                <a:spcPts val="600"/>
              </a:spcAft>
              <a:defRPr sz="1000" b="0"/>
            </a:pPr>
          </a:p>
          <a:p>
            <a:pPr>
              <a:spcAft>
                <a:spcPts val="1000"/>
              </a:spcAft>
              <a:defRPr sz="2200" b="1">
                <a:solidFill>
                  <a:srgbClr val="48BB78"/>
                </a:solidFill>
              </a:defRPr>
            </a:pPr>
            <a:r>
              <a:t>🎯 Goal</a:t>
            </a:r>
          </a:p>
          <a:p>
            <a:pPr>
              <a:spcAft>
                <a:spcPts val="600"/>
              </a:spcAft>
              <a:defRPr sz="1700" b="0"/>
            </a:pPr>
            <a:r>
              <a:t>Learn patterns by adjusting connection weights</a:t>
            </a:r>
          </a:p>
          <a:p>
            <a:pPr>
              <a:spcAft>
                <a:spcPts val="600"/>
              </a:spcAft>
              <a:defRPr sz="1700" b="0"/>
            </a:pPr>
            <a:r>
              <a:t>Transform input data into desired output</a:t>
            </a:r>
          </a:p>
          <a:p>
            <a:pPr>
              <a:spcAft>
                <a:spcPts val="600"/>
              </a:spcAft>
              <a:defRPr sz="1000" b="0"/>
            </a:pPr>
          </a:p>
          <a:p>
            <a:pPr>
              <a:spcAft>
                <a:spcPts val="600"/>
              </a:spcAft>
              <a:defRPr sz="2000" b="1">
                <a:solidFill>
                  <a:srgbClr val="F39C12"/>
                </a:solidFill>
              </a:defRPr>
            </a:pPr>
            <a:r>
              <a:t>💡 Think of it as:</a:t>
            </a:r>
          </a:p>
          <a:p>
            <a:pPr>
              <a:spcAft>
                <a:spcPts val="600"/>
              </a:spcAft>
              <a:defRPr sz="1700" b="0"/>
            </a:pPr>
            <a:r>
              <a:t>A complex mathematical function that learns!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Biological vs Artificial Neuron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667EEA"/>
                </a:solidFill>
              </a:defRPr>
            </a:pPr>
            <a:r>
              <a:t>🧠 Inspiration from Biology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2000" b="1">
                <a:solidFill>
                  <a:srgbClr val="F39C12"/>
                </a:solidFill>
              </a:defRPr>
            </a:pPr>
            <a:r>
              <a:t>Biological Neuron</a:t>
            </a:r>
          </a:p>
          <a:p>
            <a:pPr>
              <a:spcAft>
                <a:spcPts val="600"/>
              </a:spcAft>
              <a:defRPr sz="1700" b="0"/>
            </a:pPr>
            <a:r>
              <a:t>• Dendrites: Receive signals</a:t>
            </a:r>
          </a:p>
          <a:p>
            <a:pPr>
              <a:spcAft>
                <a:spcPts val="600"/>
              </a:spcAft>
              <a:defRPr sz="1700" b="0"/>
            </a:pPr>
            <a:r>
              <a:t>• Cell body: Processes signals</a:t>
            </a:r>
          </a:p>
          <a:p>
            <a:pPr>
              <a:spcAft>
                <a:spcPts val="600"/>
              </a:spcAft>
              <a:defRPr sz="1700" b="0"/>
            </a:pPr>
            <a:r>
              <a:t>• Axon: Sends signal to next neuron</a:t>
            </a:r>
          </a:p>
          <a:p>
            <a:pPr>
              <a:spcAft>
                <a:spcPts val="600"/>
              </a:spcAft>
              <a:defRPr sz="1700" b="0"/>
            </a:pPr>
            <a:r>
              <a:t>• Synapse: Connection between neurons</a:t>
            </a:r>
          </a:p>
          <a:p>
            <a:pPr>
              <a:spcAft>
                <a:spcPts val="600"/>
              </a:spcAft>
              <a:defRPr sz="1000" b="0"/>
            </a:pPr>
          </a:p>
          <a:p>
            <a:pPr>
              <a:spcAft>
                <a:spcPts val="600"/>
              </a:spcAft>
              <a:defRPr sz="2000" b="1">
                <a:solidFill>
                  <a:srgbClr val="48BB78"/>
                </a:solidFill>
              </a:defRPr>
            </a:pPr>
            <a:r>
              <a:t>Artificial Neuron</a:t>
            </a:r>
          </a:p>
          <a:p>
            <a:pPr>
              <a:spcAft>
                <a:spcPts val="600"/>
              </a:spcAft>
              <a:defRPr sz="1700" b="0"/>
            </a:pPr>
            <a:r>
              <a:t>• Inputs: Receive data (like dendrites)</a:t>
            </a:r>
          </a:p>
          <a:p>
            <a:pPr>
              <a:spcAft>
                <a:spcPts val="600"/>
              </a:spcAft>
              <a:defRPr sz="1700" b="0"/>
            </a:pPr>
            <a:r>
              <a:t>• Weights: Adjust signal strength (like synapses)</a:t>
            </a:r>
          </a:p>
          <a:p>
            <a:pPr>
              <a:spcAft>
                <a:spcPts val="600"/>
              </a:spcAft>
              <a:defRPr sz="1700" b="0"/>
            </a:pPr>
            <a:r>
              <a:t>• Activation: Processes sum (like cell body)</a:t>
            </a:r>
          </a:p>
          <a:p>
            <a:pPr>
              <a:spcAft>
                <a:spcPts val="600"/>
              </a:spcAft>
              <a:defRPr sz="1700" b="0"/>
            </a:pPr>
            <a:r>
              <a:t>• Output: Sends result (like axon)</a:t>
            </a:r>
          </a:p>
          <a:p>
            <a:pPr>
              <a:spcAft>
                <a:spcPts val="600"/>
              </a:spcAft>
              <a:defRPr sz="1000" b="0"/>
            </a:pPr>
          </a:p>
          <a:p>
            <a:pPr>
              <a:spcAft>
                <a:spcPts val="600"/>
              </a:spcAft>
              <a:defRPr sz="1700" b="1">
                <a:solidFill>
                  <a:srgbClr val="667EEA"/>
                </a:solidFill>
              </a:defRPr>
            </a:pPr>
            <a:r>
              <a:t>⚡ Key Similarity: Information flows through connections!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Anatomy of a Neuron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667EEA"/>
                </a:solidFill>
              </a:defRPr>
            </a:pPr>
            <a:r>
              <a:t>🔬 Inside an Artificial Neuron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800"/>
              </a:spcAft>
              <a:defRPr sz="2000" b="1">
                <a:solidFill>
                  <a:srgbClr val="48BB78"/>
                </a:solidFill>
              </a:defRPr>
            </a:pPr>
            <a:r>
              <a:t>Components:</a:t>
            </a:r>
          </a:p>
          <a:p>
            <a:pPr>
              <a:spcAft>
                <a:spcPts val="600"/>
              </a:spcAft>
              <a:defRPr sz="600" b="0"/>
            </a:pPr>
          </a:p>
          <a:p>
            <a:pPr>
              <a:spcAft>
                <a:spcPts val="600"/>
              </a:spcAft>
              <a:defRPr sz="1800" b="1"/>
            </a:pPr>
            <a:r>
              <a:t>1️⃣ Inputs (x₁, x₂, x₃...)</a:t>
            </a:r>
          </a:p>
          <a:p>
            <a:pPr lvl="1">
              <a:spcAft>
                <a:spcPts val="600"/>
              </a:spcAft>
              <a:defRPr sz="1600" b="0"/>
            </a:pPr>
            <a:r>
              <a:t>Data coming into the neuron</a:t>
            </a:r>
          </a:p>
          <a:p>
            <a:pPr>
              <a:spcAft>
                <a:spcPts val="600"/>
              </a:spcAft>
              <a:defRPr sz="500" b="0"/>
            </a:pPr>
          </a:p>
          <a:p>
            <a:pPr>
              <a:spcAft>
                <a:spcPts val="600"/>
              </a:spcAft>
              <a:defRPr sz="1800" b="1"/>
            </a:pPr>
            <a:r>
              <a:t>2️⃣ Weights (w₁, w₂, w₃...)</a:t>
            </a:r>
          </a:p>
          <a:p>
            <a:pPr lvl="1">
              <a:spcAft>
                <a:spcPts val="600"/>
              </a:spcAft>
              <a:defRPr sz="1600" b="0"/>
            </a:pPr>
            <a:r>
              <a:t>Importance of each input (learned during training)</a:t>
            </a:r>
          </a:p>
          <a:p>
            <a:pPr>
              <a:spcAft>
                <a:spcPts val="600"/>
              </a:spcAft>
              <a:defRPr sz="500" b="0"/>
            </a:pPr>
          </a:p>
          <a:p>
            <a:pPr>
              <a:spcAft>
                <a:spcPts val="600"/>
              </a:spcAft>
              <a:defRPr sz="1800" b="1"/>
            </a:pPr>
            <a:r>
              <a:t>3️⃣ Bias (b)</a:t>
            </a:r>
          </a:p>
          <a:p>
            <a:pPr lvl="1">
              <a:spcAft>
                <a:spcPts val="600"/>
              </a:spcAft>
              <a:defRPr sz="1600" b="0"/>
            </a:pPr>
            <a:r>
              <a:t>Helps shift the activation function</a:t>
            </a:r>
          </a:p>
          <a:p>
            <a:pPr>
              <a:spcAft>
                <a:spcPts val="600"/>
              </a:spcAft>
              <a:defRPr sz="500" b="0"/>
            </a:pPr>
          </a:p>
          <a:p>
            <a:pPr>
              <a:spcAft>
                <a:spcPts val="600"/>
              </a:spcAft>
              <a:defRPr sz="1800" b="1"/>
            </a:pPr>
            <a:r>
              <a:t>4️⃣ Weighted Sum (z)</a:t>
            </a:r>
          </a:p>
          <a:p>
            <a:pPr lvl="1">
              <a:spcAft>
                <a:spcPts val="600"/>
              </a:spcAft>
              <a:defRPr sz="1600" b="0"/>
            </a:pPr>
            <a:r>
              <a:t>z = (x₁×w₁) + (x₂×w₂) + (x₃×w₃) + b</a:t>
            </a:r>
          </a:p>
          <a:p>
            <a:pPr>
              <a:spcAft>
                <a:spcPts val="600"/>
              </a:spcAft>
              <a:defRPr sz="500" b="0"/>
            </a:pPr>
          </a:p>
          <a:p>
            <a:pPr>
              <a:spcAft>
                <a:spcPts val="600"/>
              </a:spcAft>
              <a:defRPr sz="1800" b="1"/>
            </a:pPr>
            <a:r>
              <a:t>5️⃣ Activation Function</a:t>
            </a:r>
          </a:p>
          <a:p>
            <a:pPr lvl="1">
              <a:spcAft>
                <a:spcPts val="600"/>
              </a:spcAft>
              <a:defRPr sz="1600" b="0"/>
            </a:pPr>
            <a:r>
              <a:t>Decides if neuron should "fire" (activate)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How a Neuron Computes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667EEA"/>
                </a:solidFill>
              </a:defRPr>
            </a:pPr>
            <a:r>
              <a:t>⚙️ Neuron Computation Process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1000"/>
              </a:spcAft>
              <a:defRPr sz="2000" b="1">
                <a:solidFill>
                  <a:srgbClr val="48BB78"/>
                </a:solidFill>
              </a:defRPr>
            </a:pPr>
            <a:r>
              <a:t>Step-by-Step:</a:t>
            </a:r>
          </a:p>
          <a:p>
            <a:pPr>
              <a:spcAft>
                <a:spcPts val="600"/>
              </a:spcAft>
              <a:defRPr sz="600" b="0"/>
            </a:pPr>
          </a:p>
          <a:p>
            <a:pPr>
              <a:spcAft>
                <a:spcPts val="600"/>
              </a:spcAft>
              <a:defRPr sz="1800" b="1">
                <a:solidFill>
                  <a:srgbClr val="F39C12"/>
                </a:solidFill>
              </a:defRPr>
            </a:pPr>
            <a:r>
              <a:t>Step 1: Receive Inputs</a:t>
            </a:r>
          </a:p>
          <a:p>
            <a:pPr lvl="1">
              <a:spcAft>
                <a:spcPts val="600"/>
              </a:spcAft>
              <a:defRPr sz="1600" b="0"/>
            </a:pPr>
            <a:r>
              <a:t>Get values: x₁ = 2, x₂ = 3, x₃ = 1</a:t>
            </a:r>
          </a:p>
          <a:p>
            <a:pPr>
              <a:spcAft>
                <a:spcPts val="600"/>
              </a:spcAft>
              <a:defRPr sz="600" b="0"/>
            </a:pPr>
          </a:p>
          <a:p>
            <a:pPr>
              <a:spcAft>
                <a:spcPts val="600"/>
              </a:spcAft>
              <a:defRPr sz="1800" b="1">
                <a:solidFill>
                  <a:srgbClr val="F39C12"/>
                </a:solidFill>
              </a:defRPr>
            </a:pPr>
            <a:r>
              <a:t>Step 2: Multiply by Weights</a:t>
            </a:r>
          </a:p>
          <a:p>
            <a:pPr lvl="1">
              <a:spcAft>
                <a:spcPts val="600"/>
              </a:spcAft>
              <a:defRPr sz="1600" b="0"/>
            </a:pPr>
            <a:r>
              <a:t>Weights: w₁ = 0.5, w₂ = 0.3, w₃ = 0.8</a:t>
            </a:r>
          </a:p>
          <a:p>
            <a:pPr>
              <a:spcAft>
                <a:spcPts val="600"/>
              </a:spcAft>
              <a:defRPr sz="600" b="0"/>
            </a:pPr>
          </a:p>
          <a:p>
            <a:pPr>
              <a:spcAft>
                <a:spcPts val="600"/>
              </a:spcAft>
              <a:defRPr sz="1800" b="1">
                <a:solidFill>
                  <a:srgbClr val="F39C12"/>
                </a:solidFill>
              </a:defRPr>
            </a:pPr>
            <a:r>
              <a:t>Step 3: Calculate Weighted Sum</a:t>
            </a:r>
          </a:p>
          <a:p>
            <a:pPr lvl="1">
              <a:spcAft>
                <a:spcPts val="600"/>
              </a:spcAft>
              <a:defRPr sz="1600" b="0"/>
            </a:pPr>
            <a:r>
              <a:t>z = (2×0.5) + (3×0.3) + (1×0.8) + bias</a:t>
            </a:r>
          </a:p>
          <a:p>
            <a:pPr lvl="1">
              <a:spcAft>
                <a:spcPts val="600"/>
              </a:spcAft>
              <a:defRPr sz="1600" b="0"/>
            </a:pPr>
            <a:r>
              <a:t>z = 1.0 + 0.9 + 0.8 + 0.5 = 3.2</a:t>
            </a:r>
          </a:p>
          <a:p>
            <a:pPr>
              <a:spcAft>
                <a:spcPts val="600"/>
              </a:spcAft>
              <a:defRPr sz="600" b="0"/>
            </a:pPr>
          </a:p>
          <a:p>
            <a:pPr>
              <a:spcAft>
                <a:spcPts val="600"/>
              </a:spcAft>
              <a:defRPr sz="1800" b="1">
                <a:solidFill>
                  <a:srgbClr val="F39C12"/>
                </a:solidFill>
              </a:defRPr>
            </a:pPr>
            <a:r>
              <a:t>Step 4: Apply Activation Function</a:t>
            </a:r>
          </a:p>
          <a:p>
            <a:pPr lvl="1">
              <a:spcAft>
                <a:spcPts val="600"/>
              </a:spcAft>
              <a:defRPr sz="1600" b="0"/>
            </a:pPr>
            <a:r>
              <a:t>Output = activation(3.2) → Final result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What is a Perceptron?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667EEA"/>
                </a:solidFill>
              </a:defRPr>
            </a:pPr>
            <a:r>
              <a:t>📖 Definition: Perceptron</a:t>
            </a:r>
          </a:p>
          <a:p>
            <a:pPr>
              <a:spcAft>
                <a:spcPts val="600"/>
              </a:spcAft>
              <a:defRPr sz="1800" b="0"/>
            </a:pPr>
            <a:r>
              <a:t>The simplest type of artificial neuron.</a:t>
            </a:r>
          </a:p>
          <a:p>
            <a:pPr>
              <a:spcAft>
                <a:spcPts val="600"/>
              </a:spcAft>
              <a:defRPr sz="1800" b="0"/>
            </a:pPr>
            <a:r>
              <a:t>The building block of neural networks.</a:t>
            </a:r>
          </a:p>
          <a:p>
            <a:pPr>
              <a:spcAft>
                <a:spcPts val="600"/>
              </a:spcAft>
              <a:defRPr sz="1200" b="0"/>
            </a:pPr>
          </a:p>
          <a:p>
            <a:pPr>
              <a:spcAft>
                <a:spcPts val="1000"/>
              </a:spcAft>
              <a:defRPr sz="2000" b="1">
                <a:solidFill>
                  <a:srgbClr val="48BB78"/>
                </a:solidFill>
              </a:defRPr>
            </a:pPr>
            <a:r>
              <a:t>🎯 What It Does</a:t>
            </a:r>
          </a:p>
          <a:p>
            <a:pPr>
              <a:spcAft>
                <a:spcPts val="600"/>
              </a:spcAft>
              <a:defRPr sz="1700" b="0"/>
            </a:pPr>
            <a:r>
              <a:t>Takes multiple inputs</a:t>
            </a:r>
          </a:p>
          <a:p>
            <a:pPr>
              <a:spcAft>
                <a:spcPts val="600"/>
              </a:spcAft>
              <a:defRPr sz="1700" b="0"/>
            </a:pPr>
            <a:r>
              <a:t>Produces a single binary output (0 or 1)</a:t>
            </a:r>
          </a:p>
          <a:p>
            <a:pPr>
              <a:spcAft>
                <a:spcPts val="600"/>
              </a:spcAft>
              <a:defRPr sz="1700" b="0"/>
            </a:pPr>
            <a:r>
              <a:t>Makes simple yes/no decisions</a:t>
            </a:r>
          </a:p>
          <a:p>
            <a:pPr>
              <a:spcAft>
                <a:spcPts val="600"/>
              </a:spcAft>
              <a:defRPr sz="1200" b="0"/>
            </a:pPr>
          </a:p>
          <a:p>
            <a:pPr>
              <a:spcAft>
                <a:spcPts val="1000"/>
              </a:spcAft>
              <a:defRPr sz="2000" b="1">
                <a:solidFill>
                  <a:srgbClr val="F39C12"/>
                </a:solidFill>
              </a:defRPr>
            </a:pPr>
            <a:r>
              <a:t>💡 Real-World Example</a:t>
            </a:r>
          </a:p>
          <a:p>
            <a:pPr>
              <a:spcAft>
                <a:spcPts val="600"/>
              </a:spcAft>
              <a:defRPr sz="1700" b="0"/>
            </a:pPr>
            <a:r>
              <a:t>Should I go to the park?</a:t>
            </a:r>
          </a:p>
          <a:p>
            <a:pPr lvl="1">
              <a:spcAft>
                <a:spcPts val="600"/>
              </a:spcAft>
              <a:defRPr sz="1600" b="0"/>
            </a:pPr>
            <a:r>
              <a:t>• Input 1: Is weather good? (yes/no)</a:t>
            </a:r>
          </a:p>
          <a:p>
            <a:pPr lvl="1">
              <a:spcAft>
                <a:spcPts val="600"/>
              </a:spcAft>
              <a:defRPr sz="1600" b="0"/>
            </a:pPr>
            <a:r>
              <a:t>• Input 2: Do I have time? (yes/no)</a:t>
            </a:r>
          </a:p>
          <a:p>
            <a:pPr lvl="1">
              <a:spcAft>
                <a:spcPts val="600"/>
              </a:spcAft>
              <a:defRPr sz="1600" b="0"/>
            </a:pPr>
            <a:r>
              <a:t>• Output: Go = 1, Don't go = 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Perceptron: The Math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667EEA"/>
                </a:solidFill>
              </a:defRPr>
            </a:pPr>
            <a:r>
              <a:t>🔢 Perceptron: The Math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1000"/>
              </a:spcAft>
              <a:defRPr sz="2000" b="1">
                <a:solidFill>
                  <a:srgbClr val="48BB78"/>
                </a:solidFill>
              </a:defRPr>
            </a:pPr>
            <a:r>
              <a:t>Formula:</a:t>
            </a:r>
          </a:p>
          <a:p>
            <a:pPr>
              <a:spcAft>
                <a:spcPts val="600"/>
              </a:spcAft>
              <a:defRPr sz="600" b="0"/>
            </a:pPr>
          </a:p>
          <a:p>
            <a:pPr>
              <a:spcAft>
                <a:spcPts val="600"/>
              </a:spcAft>
              <a:defRPr sz="1800" b="1"/>
            </a:pPr>
            <a:r>
              <a:t>Step 1: Calculate weighted sum</a:t>
            </a:r>
          </a:p>
          <a:p>
            <a:pPr lvl="1">
              <a:spcAft>
                <a:spcPts val="600"/>
              </a:spcAft>
              <a:defRPr sz="1600" b="0"/>
            </a:pPr>
            <a:r>
              <a:t>z = w₁x₁ + w₂x₂ + w₃x₃ + ... + b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1800" b="1"/>
            </a:pPr>
            <a:r>
              <a:t>Step 2: Apply step function</a:t>
            </a:r>
          </a:p>
          <a:p>
            <a:pPr lvl="1">
              <a:spcAft>
                <a:spcPts val="600"/>
              </a:spcAft>
              <a:defRPr sz="1600" b="0"/>
            </a:pPr>
            <a:r>
              <a:t>If z ≥ 0  →  Output = 1</a:t>
            </a:r>
          </a:p>
          <a:p>
            <a:pPr lvl="1">
              <a:spcAft>
                <a:spcPts val="600"/>
              </a:spcAft>
              <a:defRPr sz="1600" b="0"/>
            </a:pPr>
            <a:r>
              <a:t>If z &lt; 0  →  Output = 0</a:t>
            </a:r>
          </a:p>
          <a:p>
            <a:pPr>
              <a:spcAft>
                <a:spcPts val="600"/>
              </a:spcAft>
              <a:defRPr sz="1200" b="0"/>
            </a:pPr>
          </a:p>
          <a:p>
            <a:pPr>
              <a:spcAft>
                <a:spcPts val="800"/>
              </a:spcAft>
              <a:defRPr sz="2000" b="1">
                <a:solidFill>
                  <a:srgbClr val="F39C12"/>
                </a:solidFill>
              </a:defRPr>
            </a:pPr>
            <a:r>
              <a:t>📊 Example</a:t>
            </a:r>
          </a:p>
          <a:p>
            <a:pPr>
              <a:spcAft>
                <a:spcPts val="600"/>
              </a:spcAft>
              <a:defRPr sz="1500" b="0"/>
            </a:pPr>
            <a:r>
              <a:t>Inputs: x₁=1, x₂=1  |  Weights: w₁=2, w₂=-1  |  Bias: b=-0.5</a:t>
            </a:r>
          </a:p>
          <a:p>
            <a:pPr>
              <a:spcAft>
                <a:spcPts val="600"/>
              </a:spcAft>
              <a:defRPr sz="1600" b="0"/>
            </a:pPr>
            <a:r>
              <a:t>z = (1×2) + (1×-1) + (-0.5) = 0.5</a:t>
            </a:r>
          </a:p>
          <a:p>
            <a:pPr>
              <a:spcAft>
                <a:spcPts val="600"/>
              </a:spcAft>
              <a:defRPr sz="1700" b="1">
                <a:solidFill>
                  <a:srgbClr val="48BB78"/>
                </a:solidFill>
              </a:defRPr>
            </a:pPr>
            <a:r>
              <a:t>0.5 ≥ 0  →  Output = 1  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Perceptron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667EEA"/>
                </a:solidFill>
              </a:defRPr>
            </a:pPr>
            <a:r>
              <a:t>⚠️ Perceptron Limitations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2000" b="1">
                <a:solidFill>
                  <a:srgbClr val="48BB78"/>
                </a:solidFill>
              </a:defRPr>
            </a:pPr>
            <a:r>
              <a:t>What a Single Perceptron CAN do:</a:t>
            </a:r>
          </a:p>
          <a:p>
            <a:pPr>
              <a:spcAft>
                <a:spcPts val="600"/>
              </a:spcAft>
              <a:defRPr sz="1700" b="0"/>
            </a:pPr>
            <a:r>
              <a:t>✅ Solve linearly separable problems</a:t>
            </a:r>
          </a:p>
          <a:p>
            <a:pPr>
              <a:spcAft>
                <a:spcPts val="600"/>
              </a:spcAft>
              <a:defRPr sz="1700" b="0"/>
            </a:pPr>
            <a:r>
              <a:t>✅ Learn AND, OR gates</a:t>
            </a:r>
          </a:p>
          <a:p>
            <a:pPr>
              <a:spcAft>
                <a:spcPts val="600"/>
              </a:spcAft>
              <a:defRPr sz="1700" b="0"/>
            </a:pPr>
            <a:r>
              <a:t>✅ Binary classification (simple cases)</a:t>
            </a:r>
          </a:p>
          <a:p>
            <a:pPr>
              <a:spcAft>
                <a:spcPts val="600"/>
              </a:spcAft>
              <a:defRPr sz="1000" b="0"/>
            </a:pPr>
          </a:p>
          <a:p>
            <a:pPr>
              <a:spcAft>
                <a:spcPts val="600"/>
              </a:spcAft>
              <a:defRPr sz="2000" b="1">
                <a:solidFill>
                  <a:srgbClr val="F56565"/>
                </a:solidFill>
              </a:defRPr>
            </a:pPr>
            <a:r>
              <a:t>What a Single Perceptron CANNOT do:</a:t>
            </a:r>
          </a:p>
          <a:p>
            <a:pPr>
              <a:spcAft>
                <a:spcPts val="600"/>
              </a:spcAft>
              <a:defRPr sz="1700" b="0"/>
            </a:pPr>
            <a:r>
              <a:t>❌ Solve XOR problem</a:t>
            </a:r>
          </a:p>
          <a:p>
            <a:pPr>
              <a:spcAft>
                <a:spcPts val="600"/>
              </a:spcAft>
              <a:defRPr sz="1700" b="0"/>
            </a:pPr>
            <a:r>
              <a:t>❌ Learn non-linear patterns</a:t>
            </a:r>
          </a:p>
          <a:p>
            <a:pPr>
              <a:spcAft>
                <a:spcPts val="600"/>
              </a:spcAft>
              <a:defRPr sz="1700" b="0"/>
            </a:pPr>
            <a:r>
              <a:t>❌ Complex real-world problems</a:t>
            </a:r>
          </a:p>
          <a:p>
            <a:pPr>
              <a:spcAft>
                <a:spcPts val="600"/>
              </a:spcAft>
              <a:defRPr sz="1200" b="0"/>
            </a:pPr>
          </a:p>
          <a:p>
            <a:pPr>
              <a:spcAft>
                <a:spcPts val="600"/>
              </a:spcAft>
              <a:defRPr sz="1900" b="1">
                <a:solidFill>
                  <a:srgbClr val="F39C12"/>
                </a:solidFill>
              </a:defRPr>
            </a:pPr>
            <a:r>
              <a:t>💡 Solution: Combine Multiple Perceptrons!</a:t>
            </a:r>
          </a:p>
          <a:p>
            <a:pPr>
              <a:spcAft>
                <a:spcPts val="600"/>
              </a:spcAft>
              <a:defRPr sz="1700" b="0"/>
            </a:pPr>
            <a:r>
              <a:t>This creates a Multi-Layer Perceptron (MLP)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Multi-Layer Perceptron (MLP)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667EEA"/>
                </a:solidFill>
              </a:defRPr>
            </a:pPr>
            <a:r>
              <a:t>📖 Definition: Multi-Layer Perceptron</a:t>
            </a:r>
          </a:p>
          <a:p>
            <a:pPr>
              <a:spcAft>
                <a:spcPts val="600"/>
              </a:spcAft>
              <a:defRPr sz="1800" b="0"/>
            </a:pPr>
            <a:r>
              <a:t>A neural network with multiple layers of perceptrons</a:t>
            </a:r>
          </a:p>
          <a:p>
            <a:pPr>
              <a:spcAft>
                <a:spcPts val="600"/>
              </a:spcAft>
              <a:defRPr sz="1800" b="0"/>
            </a:pPr>
            <a:r>
              <a:t>(neurons) stacked together.</a:t>
            </a:r>
          </a:p>
          <a:p>
            <a:pPr>
              <a:spcAft>
                <a:spcPts val="600"/>
              </a:spcAft>
              <a:defRPr sz="1200" b="0"/>
            </a:pPr>
          </a:p>
          <a:p>
            <a:pPr>
              <a:spcAft>
                <a:spcPts val="1000"/>
              </a:spcAft>
              <a:defRPr sz="2000" b="1">
                <a:solidFill>
                  <a:srgbClr val="48BB78"/>
                </a:solidFill>
              </a:defRPr>
            </a:pPr>
            <a:r>
              <a:t>🏗️ Structure</a:t>
            </a:r>
          </a:p>
          <a:p>
            <a:pPr>
              <a:spcAft>
                <a:spcPts val="600"/>
              </a:spcAft>
              <a:defRPr sz="600" b="0"/>
            </a:pPr>
          </a:p>
          <a:p>
            <a:pPr>
              <a:spcAft>
                <a:spcPts val="600"/>
              </a:spcAft>
              <a:defRPr sz="1800" b="1">
                <a:solidFill>
                  <a:srgbClr val="F39C12"/>
                </a:solidFill>
              </a:defRPr>
            </a:pPr>
            <a:r>
              <a:t>1. Input Layer</a:t>
            </a:r>
          </a:p>
          <a:p>
            <a:pPr lvl="1">
              <a:spcAft>
                <a:spcPts val="600"/>
              </a:spcAft>
              <a:defRPr sz="1600" b="0"/>
            </a:pPr>
            <a:r>
              <a:t>Receives the raw data</a:t>
            </a:r>
          </a:p>
          <a:p>
            <a:pPr>
              <a:spcAft>
                <a:spcPts val="600"/>
              </a:spcAft>
              <a:defRPr sz="500" b="0"/>
            </a:pPr>
          </a:p>
          <a:p>
            <a:pPr>
              <a:spcAft>
                <a:spcPts val="600"/>
              </a:spcAft>
              <a:defRPr sz="1800" b="1">
                <a:solidFill>
                  <a:srgbClr val="F39C12"/>
                </a:solidFill>
              </a:defRPr>
            </a:pPr>
            <a:r>
              <a:t>2. Hidden Layer(s)</a:t>
            </a:r>
          </a:p>
          <a:p>
            <a:pPr lvl="1">
              <a:spcAft>
                <a:spcPts val="600"/>
              </a:spcAft>
              <a:defRPr sz="1600" b="0"/>
            </a:pPr>
            <a:r>
              <a:t>Process and transform data (1 or more layers)</a:t>
            </a:r>
          </a:p>
          <a:p>
            <a:pPr>
              <a:spcAft>
                <a:spcPts val="600"/>
              </a:spcAft>
              <a:defRPr sz="500" b="0"/>
            </a:pPr>
          </a:p>
          <a:p>
            <a:pPr>
              <a:spcAft>
                <a:spcPts val="600"/>
              </a:spcAft>
              <a:defRPr sz="1800" b="1">
                <a:solidFill>
                  <a:srgbClr val="F39C12"/>
                </a:solidFill>
              </a:defRPr>
            </a:pPr>
            <a:r>
              <a:t>3. Output Layer</a:t>
            </a:r>
          </a:p>
          <a:p>
            <a:pPr lvl="1">
              <a:spcAft>
                <a:spcPts val="600"/>
              </a:spcAft>
              <a:defRPr sz="1600" b="0"/>
            </a:pPr>
            <a:r>
              <a:t>Produces final prediction</a:t>
            </a:r>
          </a:p>
          <a:p>
            <a:pPr>
              <a:spcAft>
                <a:spcPts val="600"/>
              </a:spcAft>
              <a:defRPr sz="1200" b="0"/>
            </a:pPr>
          </a:p>
          <a:p>
            <a:pPr>
              <a:spcAft>
                <a:spcPts val="600"/>
              </a:spcAft>
              <a:defRPr sz="1700" b="1">
                <a:solidFill>
                  <a:srgbClr val="48BB78"/>
                </a:solidFill>
              </a:defRPr>
            </a:pPr>
            <a:r>
              <a:t>✨ MLPs can learn complex, non-linear patterns!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MLP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667EEA"/>
                </a:solidFill>
              </a:defRPr>
            </a:pPr>
            <a:r>
              <a:t>🏗️ MLP Architecture Explained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2000" b="1">
                <a:solidFill>
                  <a:srgbClr val="48BB78"/>
                </a:solidFill>
              </a:defRPr>
            </a:pPr>
            <a:r>
              <a:t>Typical MLP Structure: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1800" b="1"/>
            </a:pPr>
            <a:r>
              <a:t>Input Layer → Hidden Layers → Output Layer</a:t>
            </a:r>
          </a:p>
          <a:p>
            <a:pPr>
              <a:spcAft>
                <a:spcPts val="600"/>
              </a:spcAft>
              <a:defRPr sz="1000" b="0"/>
            </a:pPr>
          </a:p>
          <a:p>
            <a:pPr>
              <a:spcAft>
                <a:spcPts val="600"/>
              </a:spcAft>
              <a:defRPr sz="1800" b="1">
                <a:solidFill>
                  <a:srgbClr val="F39C12"/>
                </a:solidFill>
              </a:defRPr>
            </a:pPr>
            <a:r>
              <a:t>Example: Image Classification (28×28 pixels)</a:t>
            </a:r>
          </a:p>
          <a:p>
            <a:pPr>
              <a:spcAft>
                <a:spcPts val="600"/>
              </a:spcAft>
              <a:defRPr sz="600" b="0"/>
            </a:pPr>
          </a:p>
          <a:p>
            <a:pPr>
              <a:spcAft>
                <a:spcPts val="600"/>
              </a:spcAft>
              <a:defRPr sz="1700" b="0"/>
            </a:pPr>
            <a:r>
              <a:t>• Input Layer: 784 neurons (28×28 pixels)</a:t>
            </a:r>
          </a:p>
          <a:p>
            <a:pPr>
              <a:spcAft>
                <a:spcPts val="600"/>
              </a:spcAft>
              <a:defRPr sz="1700" b="0"/>
            </a:pPr>
            <a:r>
              <a:t>• Hidden Layer 1: 128 neurons</a:t>
            </a:r>
          </a:p>
          <a:p>
            <a:pPr>
              <a:spcAft>
                <a:spcPts val="600"/>
              </a:spcAft>
              <a:defRPr sz="1700" b="0"/>
            </a:pPr>
            <a:r>
              <a:t>• Hidden Layer 2: 64 neurons</a:t>
            </a:r>
          </a:p>
          <a:p>
            <a:pPr>
              <a:spcAft>
                <a:spcPts val="600"/>
              </a:spcAft>
              <a:defRPr sz="1700" b="0"/>
            </a:pPr>
            <a:r>
              <a:t>• Output Layer: 10 neurons (digits 0-9)</a:t>
            </a:r>
          </a:p>
          <a:p>
            <a:pPr>
              <a:spcAft>
                <a:spcPts val="600"/>
              </a:spcAft>
              <a:defRPr sz="1000" b="0"/>
            </a:pPr>
          </a:p>
          <a:p>
            <a:pPr>
              <a:spcAft>
                <a:spcPts val="600"/>
              </a:spcAft>
              <a:defRPr sz="1900" b="1">
                <a:solidFill>
                  <a:srgbClr val="667EEA"/>
                </a:solidFill>
              </a:defRPr>
            </a:pPr>
            <a:r>
              <a:t>🔗 Fully Connected</a:t>
            </a:r>
          </a:p>
          <a:p>
            <a:pPr>
              <a:spcAft>
                <a:spcPts val="600"/>
              </a:spcAft>
              <a:defRPr sz="1600" b="0"/>
            </a:pPr>
            <a:r>
              <a:t>Every neuron in one layer connects to every neuron</a:t>
            </a:r>
          </a:p>
          <a:p>
            <a:pPr>
              <a:spcAft>
                <a:spcPts val="600"/>
              </a:spcAft>
              <a:defRPr sz="1600" b="0"/>
            </a:pPr>
            <a:r>
              <a:t>in the next layer!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What are Activation Functions?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667EEA"/>
                </a:solidFill>
              </a:defRPr>
            </a:pPr>
            <a:r>
              <a:t>📖 Definition: Activation Function</a:t>
            </a:r>
          </a:p>
          <a:p>
            <a:pPr>
              <a:spcAft>
                <a:spcPts val="600"/>
              </a:spcAft>
              <a:defRPr sz="1800" b="0"/>
            </a:pPr>
            <a:r>
              <a:t>A mathematical function applied to a neuron's output</a:t>
            </a:r>
          </a:p>
          <a:p>
            <a:pPr>
              <a:spcAft>
                <a:spcPts val="600"/>
              </a:spcAft>
              <a:defRPr sz="1800" b="0"/>
            </a:pPr>
            <a:r>
              <a:t>that decides whether it should activate (fire).</a:t>
            </a:r>
          </a:p>
          <a:p>
            <a:pPr>
              <a:spcAft>
                <a:spcPts val="600"/>
              </a:spcAft>
              <a:defRPr sz="1200" b="0"/>
            </a:pPr>
          </a:p>
          <a:p>
            <a:pPr>
              <a:spcAft>
                <a:spcPts val="1000"/>
              </a:spcAft>
              <a:defRPr sz="2000" b="1">
                <a:solidFill>
                  <a:srgbClr val="48BB78"/>
                </a:solidFill>
              </a:defRPr>
            </a:pPr>
            <a:r>
              <a:t>🎯 Why Do We Need Them?</a:t>
            </a:r>
          </a:p>
          <a:p>
            <a:pPr>
              <a:spcAft>
                <a:spcPts val="600"/>
              </a:spcAft>
              <a:defRPr sz="600" b="0"/>
            </a:pPr>
          </a:p>
          <a:p>
            <a:pPr>
              <a:spcAft>
                <a:spcPts val="600"/>
              </a:spcAft>
              <a:defRPr sz="1800" b="1"/>
            </a:pPr>
            <a:r>
              <a:t>1. Introduce Non-Linearity</a:t>
            </a:r>
          </a:p>
          <a:p>
            <a:pPr lvl="1">
              <a:spcAft>
                <a:spcPts val="600"/>
              </a:spcAft>
              <a:defRPr sz="1600" b="0"/>
            </a:pPr>
            <a:r>
              <a:t>Without them, network = just linear regression!</a:t>
            </a:r>
          </a:p>
          <a:p>
            <a:pPr>
              <a:spcAft>
                <a:spcPts val="600"/>
              </a:spcAft>
              <a:defRPr sz="600" b="0"/>
            </a:pPr>
          </a:p>
          <a:p>
            <a:pPr>
              <a:spcAft>
                <a:spcPts val="600"/>
              </a:spcAft>
              <a:defRPr sz="1800" b="1"/>
            </a:pPr>
            <a:r>
              <a:t>2. Control Output Range</a:t>
            </a:r>
          </a:p>
          <a:p>
            <a:pPr lvl="1">
              <a:spcAft>
                <a:spcPts val="600"/>
              </a:spcAft>
              <a:defRPr sz="1600" b="0"/>
            </a:pPr>
            <a:r>
              <a:t>Keep values in useful ranges (0-1, -1 to 1, etc.)</a:t>
            </a:r>
          </a:p>
          <a:p>
            <a:pPr>
              <a:spcAft>
                <a:spcPts val="600"/>
              </a:spcAft>
              <a:defRPr sz="600" b="0"/>
            </a:pPr>
          </a:p>
          <a:p>
            <a:pPr>
              <a:spcAft>
                <a:spcPts val="600"/>
              </a:spcAft>
              <a:defRPr sz="1800" b="1"/>
            </a:pPr>
            <a:r>
              <a:t>3. Enable Learning Complex Patterns</a:t>
            </a:r>
          </a:p>
          <a:p>
            <a:pPr lvl="1">
              <a:spcAft>
                <a:spcPts val="600"/>
              </a:spcAft>
              <a:defRPr sz="1600" b="0"/>
            </a:pPr>
            <a:r>
              <a:t>Multiple layers + activation = powerful learning!</a:t>
            </a:r>
          </a:p>
          <a:p>
            <a:pPr>
              <a:spcAft>
                <a:spcPts val="600"/>
              </a:spcAft>
              <a:defRPr sz="1200" b="0"/>
            </a:pPr>
          </a:p>
          <a:p>
            <a:pPr>
              <a:spcAft>
                <a:spcPts val="600"/>
              </a:spcAft>
              <a:defRPr sz="1700" b="1">
                <a:solidFill>
                  <a:srgbClr val="F39C12"/>
                </a:solidFill>
              </a:defRPr>
            </a:pPr>
            <a:r>
              <a:t>💡 Different problems need different activations!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Sigmoid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667EEA"/>
                </a:solidFill>
              </a:defRPr>
            </a:pPr>
            <a:r>
              <a:t>🔵 Sigmoid Activation Function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800"/>
              </a:spcAft>
              <a:defRPr sz="2000" b="1">
                <a:solidFill>
                  <a:srgbClr val="48BB78"/>
                </a:solidFill>
              </a:defRPr>
            </a:pPr>
            <a:r>
              <a:t>📐 Formula</a:t>
            </a:r>
          </a:p>
          <a:p>
            <a:pPr>
              <a:spcAft>
                <a:spcPts val="600"/>
              </a:spcAft>
              <a:defRPr sz="1800" b="0"/>
            </a:pPr>
            <a:r>
              <a:t>σ(x) = 1 / (1 + e⁻ˣ)</a:t>
            </a:r>
          </a:p>
          <a:p>
            <a:pPr>
              <a:spcAft>
                <a:spcPts val="600"/>
              </a:spcAft>
              <a:defRPr sz="1000" b="0"/>
            </a:pPr>
          </a:p>
          <a:p>
            <a:pPr>
              <a:spcAft>
                <a:spcPts val="600"/>
              </a:spcAft>
              <a:defRPr sz="2000" b="1">
                <a:solidFill>
                  <a:srgbClr val="F39C12"/>
                </a:solidFill>
              </a:defRPr>
            </a:pPr>
            <a:r>
              <a:t>📊 Characteristics</a:t>
            </a:r>
          </a:p>
          <a:p>
            <a:pPr>
              <a:spcAft>
                <a:spcPts val="600"/>
              </a:spcAft>
              <a:defRPr sz="1700" b="0"/>
            </a:pPr>
            <a:r>
              <a:t>• Output range: 0 to 1</a:t>
            </a:r>
          </a:p>
          <a:p>
            <a:pPr>
              <a:spcAft>
                <a:spcPts val="600"/>
              </a:spcAft>
              <a:defRPr sz="1700" b="0"/>
            </a:pPr>
            <a:r>
              <a:t>• S-shaped curve</a:t>
            </a:r>
          </a:p>
          <a:p>
            <a:pPr>
              <a:spcAft>
                <a:spcPts val="600"/>
              </a:spcAft>
              <a:defRPr sz="1700" b="0"/>
            </a:pPr>
            <a:r>
              <a:t>• Smooth and differentiable</a:t>
            </a:r>
          </a:p>
          <a:p>
            <a:pPr>
              <a:spcAft>
                <a:spcPts val="600"/>
              </a:spcAft>
              <a:defRPr sz="1000" b="0"/>
            </a:pPr>
          </a:p>
          <a:p>
            <a:pPr>
              <a:spcAft>
                <a:spcPts val="600"/>
              </a:spcAft>
              <a:defRPr sz="1900" b="1">
                <a:solidFill>
                  <a:srgbClr val="48BB78"/>
                </a:solidFill>
              </a:defRPr>
            </a:pPr>
            <a:r>
              <a:t>✅ When to Use</a:t>
            </a:r>
          </a:p>
          <a:p>
            <a:pPr>
              <a:spcAft>
                <a:spcPts val="600"/>
              </a:spcAft>
              <a:defRPr sz="1700" b="0"/>
            </a:pPr>
            <a:r>
              <a:t>• Binary classification (output layer)</a:t>
            </a:r>
          </a:p>
          <a:p>
            <a:pPr>
              <a:spcAft>
                <a:spcPts val="600"/>
              </a:spcAft>
              <a:defRPr sz="1700" b="0"/>
            </a:pPr>
            <a:r>
              <a:t>• Probabilities (output 0-1)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1900" b="1">
                <a:solidFill>
                  <a:srgbClr val="F56565"/>
                </a:solidFill>
              </a:defRPr>
            </a:pPr>
            <a:r>
              <a:t>❌ Drawbacks</a:t>
            </a:r>
          </a:p>
          <a:p>
            <a:pPr>
              <a:spcAft>
                <a:spcPts val="600"/>
              </a:spcAft>
              <a:defRPr sz="1700" b="0"/>
            </a:pPr>
            <a:r>
              <a:t>• Vanishing gradient problem</a:t>
            </a:r>
          </a:p>
          <a:p>
            <a:pPr>
              <a:spcAft>
                <a:spcPts val="600"/>
              </a:spcAft>
              <a:defRPr sz="1700" b="0"/>
            </a:pPr>
            <a:r>
              <a:t>• Slow convergence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ReLU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667EEA"/>
                </a:solidFill>
              </a:defRPr>
            </a:pPr>
            <a:r>
              <a:t>🟢 ReLU Activation Function</a:t>
            </a:r>
          </a:p>
          <a:p>
            <a:pPr>
              <a:spcAft>
                <a:spcPts val="600"/>
              </a:spcAft>
              <a:defRPr sz="1800" b="0"/>
            </a:pPr>
            <a:r>
              <a:t>ReLU = Rectified Linear Unit</a:t>
            </a:r>
          </a:p>
          <a:p>
            <a:pPr>
              <a:spcAft>
                <a:spcPts val="600"/>
              </a:spcAft>
              <a:defRPr sz="1000" b="0"/>
            </a:pPr>
          </a:p>
          <a:p>
            <a:pPr>
              <a:spcAft>
                <a:spcPts val="800"/>
              </a:spcAft>
              <a:defRPr sz="2000" b="1">
                <a:solidFill>
                  <a:srgbClr val="48BB78"/>
                </a:solidFill>
              </a:defRPr>
            </a:pPr>
            <a:r>
              <a:t>📐 Formula</a:t>
            </a:r>
          </a:p>
          <a:p>
            <a:pPr>
              <a:spcAft>
                <a:spcPts val="600"/>
              </a:spcAft>
              <a:defRPr sz="1800" b="0"/>
            </a:pPr>
            <a:r>
              <a:t>f(x) = max(0, x)</a:t>
            </a:r>
          </a:p>
          <a:p>
            <a:pPr>
              <a:spcAft>
                <a:spcPts val="600"/>
              </a:spcAft>
              <a:defRPr sz="1700" b="0"/>
            </a:pPr>
            <a:r>
              <a:t>If x &gt; 0 → Output = x</a:t>
            </a:r>
          </a:p>
          <a:p>
            <a:pPr>
              <a:spcAft>
                <a:spcPts val="600"/>
              </a:spcAft>
              <a:defRPr sz="1700" b="0"/>
            </a:pPr>
            <a:r>
              <a:t>If x ≤ 0 → Output = 0</a:t>
            </a:r>
          </a:p>
          <a:p>
            <a:pPr>
              <a:spcAft>
                <a:spcPts val="600"/>
              </a:spcAft>
              <a:defRPr sz="1000" b="0"/>
            </a:pPr>
          </a:p>
          <a:p>
            <a:pPr>
              <a:spcAft>
                <a:spcPts val="600"/>
              </a:spcAft>
              <a:defRPr sz="1900" b="1">
                <a:solidFill>
                  <a:srgbClr val="48BB78"/>
                </a:solidFill>
              </a:defRPr>
            </a:pPr>
            <a:r>
              <a:t>✅ Advantages</a:t>
            </a:r>
          </a:p>
          <a:p>
            <a:pPr>
              <a:spcAft>
                <a:spcPts val="600"/>
              </a:spcAft>
              <a:defRPr sz="1700" b="0"/>
            </a:pPr>
            <a:r>
              <a:t>• Fast computation (simple max operation)</a:t>
            </a:r>
          </a:p>
          <a:p>
            <a:pPr>
              <a:spcAft>
                <a:spcPts val="600"/>
              </a:spcAft>
              <a:defRPr sz="1700" b="0"/>
            </a:pPr>
            <a:r>
              <a:t>• Solves vanishing gradient problem</a:t>
            </a:r>
          </a:p>
          <a:p>
            <a:pPr>
              <a:spcAft>
                <a:spcPts val="600"/>
              </a:spcAft>
              <a:defRPr sz="1700" b="0"/>
            </a:pPr>
            <a:r>
              <a:t>• Most popular for hidden layers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1900" b="1">
                <a:solidFill>
                  <a:srgbClr val="F56565"/>
                </a:solidFill>
              </a:defRPr>
            </a:pPr>
            <a:r>
              <a:t>❌ Drawbacks</a:t>
            </a:r>
          </a:p>
          <a:p>
            <a:pPr>
              <a:spcAft>
                <a:spcPts val="600"/>
              </a:spcAft>
              <a:defRPr sz="1700" b="0"/>
            </a:pPr>
            <a:r>
              <a:t>• Can "die" (output always 0)</a:t>
            </a:r>
          </a:p>
          <a:p>
            <a:pPr>
              <a:spcAft>
                <a:spcPts val="600"/>
              </a:spcAft>
              <a:defRPr sz="1700" b="0"/>
            </a:pPr>
            <a:r>
              <a:t>• Not zero-centered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Tanh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667EEA"/>
                </a:solidFill>
              </a:defRPr>
            </a:pPr>
            <a:r>
              <a:t>🟣 Tanh Activation Function</a:t>
            </a:r>
          </a:p>
          <a:p>
            <a:pPr>
              <a:spcAft>
                <a:spcPts val="600"/>
              </a:spcAft>
              <a:defRPr sz="1800" b="0"/>
            </a:pPr>
            <a:r>
              <a:t>Tanh = Hyperbolic Tangent</a:t>
            </a:r>
          </a:p>
          <a:p>
            <a:pPr>
              <a:spcAft>
                <a:spcPts val="600"/>
              </a:spcAft>
              <a:defRPr sz="1000" b="0"/>
            </a:pPr>
          </a:p>
          <a:p>
            <a:pPr>
              <a:spcAft>
                <a:spcPts val="800"/>
              </a:spcAft>
              <a:defRPr sz="2000" b="1">
                <a:solidFill>
                  <a:srgbClr val="48BB78"/>
                </a:solidFill>
              </a:defRPr>
            </a:pPr>
            <a:r>
              <a:t>📐 Formula</a:t>
            </a:r>
          </a:p>
          <a:p>
            <a:pPr>
              <a:spcAft>
                <a:spcPts val="600"/>
              </a:spcAft>
              <a:defRPr sz="1700" b="0"/>
            </a:pPr>
            <a:r>
              <a:t>tanh(x) = (eˣ - e⁻ˣ) / (eˣ + e⁻ˣ)</a:t>
            </a:r>
          </a:p>
          <a:p>
            <a:pPr>
              <a:spcAft>
                <a:spcPts val="600"/>
              </a:spcAft>
              <a:defRPr sz="1000" b="0"/>
            </a:pPr>
          </a:p>
          <a:p>
            <a:pPr>
              <a:spcAft>
                <a:spcPts val="600"/>
              </a:spcAft>
              <a:defRPr sz="2000" b="1">
                <a:solidFill>
                  <a:srgbClr val="F39C12"/>
                </a:solidFill>
              </a:defRPr>
            </a:pPr>
            <a:r>
              <a:t>📊 Characteristics</a:t>
            </a:r>
          </a:p>
          <a:p>
            <a:pPr>
              <a:spcAft>
                <a:spcPts val="600"/>
              </a:spcAft>
              <a:defRPr sz="1700" b="0"/>
            </a:pPr>
            <a:r>
              <a:t>• Output range: -1 to +1</a:t>
            </a:r>
          </a:p>
          <a:p>
            <a:pPr>
              <a:spcAft>
                <a:spcPts val="600"/>
              </a:spcAft>
              <a:defRPr sz="1700" b="0"/>
            </a:pPr>
            <a:r>
              <a:t>• S-shaped curve (like sigmoid)</a:t>
            </a:r>
          </a:p>
          <a:p>
            <a:pPr>
              <a:spcAft>
                <a:spcPts val="600"/>
              </a:spcAft>
              <a:defRPr sz="1700" b="0"/>
            </a:pPr>
            <a:r>
              <a:t>• Zero-centered output</a:t>
            </a:r>
          </a:p>
          <a:p>
            <a:pPr>
              <a:spcAft>
                <a:spcPts val="600"/>
              </a:spcAft>
              <a:defRPr sz="1000" b="0"/>
            </a:pPr>
          </a:p>
          <a:p>
            <a:pPr>
              <a:spcAft>
                <a:spcPts val="600"/>
              </a:spcAft>
              <a:defRPr sz="1900" b="1">
                <a:solidFill>
                  <a:srgbClr val="48BB78"/>
                </a:solidFill>
              </a:defRPr>
            </a:pPr>
            <a:r>
              <a:t>✅ Advantages Over Sigmoid</a:t>
            </a:r>
          </a:p>
          <a:p>
            <a:pPr>
              <a:spcAft>
                <a:spcPts val="600"/>
              </a:spcAft>
              <a:defRPr sz="1700" b="0"/>
            </a:pPr>
            <a:r>
              <a:t>• Zero-centered (better for training)</a:t>
            </a:r>
          </a:p>
          <a:p>
            <a:pPr>
              <a:spcAft>
                <a:spcPts val="600"/>
              </a:spcAft>
              <a:defRPr sz="1700" b="0"/>
            </a:pPr>
            <a:r>
              <a:t>• Stronger gradients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1700" b="1">
                <a:solidFill>
                  <a:srgbClr val="F56565"/>
                </a:solidFill>
              </a:defRPr>
            </a:pPr>
            <a:r>
              <a:t>❌ Still has vanishing gradient issue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Activation Functions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667EEA"/>
                </a:solidFill>
              </a:defRPr>
            </a:pPr>
            <a:r>
              <a:t>📊 Quick Comparison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1900" b="1">
                <a:solidFill>
                  <a:srgbClr val="667EEA"/>
                </a:solidFill>
              </a:defRPr>
            </a:pPr>
            <a:r>
              <a:t>Sigmoid</a:t>
            </a:r>
          </a:p>
          <a:p>
            <a:pPr>
              <a:spcAft>
                <a:spcPts val="600"/>
              </a:spcAft>
              <a:defRPr sz="1600" b="0"/>
            </a:pPr>
            <a:r>
              <a:t>Range: [0, 1]  |  Use: Output layer (binary)</a:t>
            </a:r>
          </a:p>
          <a:p>
            <a:pPr>
              <a:spcAft>
                <a:spcPts val="600"/>
              </a:spcAft>
              <a:defRPr sz="600" b="0"/>
            </a:pPr>
          </a:p>
          <a:p>
            <a:pPr>
              <a:spcAft>
                <a:spcPts val="600"/>
              </a:spcAft>
              <a:defRPr sz="1900" b="1">
                <a:solidFill>
                  <a:srgbClr val="667EEA"/>
                </a:solidFill>
              </a:defRPr>
            </a:pPr>
            <a:r>
              <a:t>Tanh</a:t>
            </a:r>
          </a:p>
          <a:p>
            <a:pPr>
              <a:spcAft>
                <a:spcPts val="600"/>
              </a:spcAft>
              <a:defRPr sz="1600" b="0"/>
            </a:pPr>
            <a:r>
              <a:t>Range: [-1, 1]  |  Use: Hidden layers (RNN)</a:t>
            </a:r>
          </a:p>
          <a:p>
            <a:pPr>
              <a:spcAft>
                <a:spcPts val="600"/>
              </a:spcAft>
              <a:defRPr sz="600" b="0"/>
            </a:pPr>
          </a:p>
          <a:p>
            <a:pPr>
              <a:spcAft>
                <a:spcPts val="600"/>
              </a:spcAft>
              <a:defRPr sz="1900" b="1">
                <a:solidFill>
                  <a:srgbClr val="48BB78"/>
                </a:solidFill>
              </a:defRPr>
            </a:pPr>
            <a:r>
              <a:t>ReLU</a:t>
            </a:r>
          </a:p>
          <a:p>
            <a:pPr>
              <a:spcAft>
                <a:spcPts val="600"/>
              </a:spcAft>
              <a:defRPr sz="1600" b="0"/>
            </a:pPr>
            <a:r>
              <a:t>Range: [0, ∞)  |  Use: Hidden layers (most common)</a:t>
            </a:r>
          </a:p>
          <a:p>
            <a:pPr>
              <a:spcAft>
                <a:spcPts val="600"/>
              </a:spcAft>
              <a:defRPr sz="1200" b="0"/>
            </a:pPr>
          </a:p>
          <a:p>
            <a:pPr>
              <a:spcAft>
                <a:spcPts val="600"/>
              </a:spcAft>
              <a:defRPr sz="2000" b="1">
                <a:solidFill>
                  <a:srgbClr val="F39C12"/>
                </a:solidFill>
              </a:defRPr>
            </a:pPr>
            <a:r>
              <a:t>💡 Rule of Thumb</a:t>
            </a:r>
          </a:p>
          <a:p>
            <a:pPr>
              <a:spcAft>
                <a:spcPts val="600"/>
              </a:spcAft>
              <a:defRPr sz="600" b="0"/>
            </a:pPr>
          </a:p>
          <a:p>
            <a:pPr>
              <a:spcAft>
                <a:spcPts val="600"/>
              </a:spcAft>
              <a:defRPr sz="1700" b="0"/>
            </a:pPr>
            <a:r>
              <a:t>✅ Start with ReLU for hidden layers</a:t>
            </a:r>
          </a:p>
          <a:p>
            <a:pPr>
              <a:spcAft>
                <a:spcPts val="600"/>
              </a:spcAft>
              <a:defRPr sz="1700" b="0"/>
            </a:pPr>
            <a:r>
              <a:t>✅ Use Sigmoid for binary output</a:t>
            </a:r>
          </a:p>
          <a:p>
            <a:pPr>
              <a:spcAft>
                <a:spcPts val="600"/>
              </a:spcAft>
              <a:defRPr sz="1700" b="0"/>
            </a:pPr>
            <a:r>
              <a:t>✅ Use Tanh if you need zero-centered output</a:t>
            </a:r>
          </a:p>
          <a:p>
            <a:pPr>
              <a:spcAft>
                <a:spcPts val="600"/>
              </a:spcAft>
              <a:defRPr sz="1000" b="0"/>
            </a:pPr>
          </a:p>
          <a:p>
            <a:pPr>
              <a:spcAft>
                <a:spcPts val="600"/>
              </a:spcAft>
              <a:defRPr sz="1800" b="1">
                <a:solidFill>
                  <a:srgbClr val="48BB78"/>
                </a:solidFill>
              </a:defRPr>
            </a:pPr>
            <a:r>
              <a:t>🎯 Most modern networks use ReLU!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Hidden Layers &amp; Non-Linearity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667EEA"/>
                </a:solidFill>
              </a:defRPr>
            </a:pPr>
            <a:r>
              <a:t>🔍 Why Hidden Layers Matter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2000" b="1">
                <a:solidFill>
                  <a:srgbClr val="48BB78"/>
                </a:solidFill>
              </a:defRPr>
            </a:pPr>
            <a:r>
              <a:t>What are Hidden Layers?</a:t>
            </a:r>
          </a:p>
          <a:p>
            <a:pPr>
              <a:spcAft>
                <a:spcPts val="600"/>
              </a:spcAft>
              <a:defRPr sz="1700" b="0"/>
            </a:pPr>
            <a:r>
              <a:t>Layers between input and output</a:t>
            </a:r>
          </a:p>
          <a:p>
            <a:pPr>
              <a:spcAft>
                <a:spcPts val="600"/>
              </a:spcAft>
              <a:defRPr sz="1700" b="0"/>
            </a:pPr>
            <a:r>
              <a:t>Where the "magic" happens!</a:t>
            </a:r>
          </a:p>
          <a:p>
            <a:pPr>
              <a:spcAft>
                <a:spcPts val="600"/>
              </a:spcAft>
              <a:defRPr sz="1000" b="0"/>
            </a:pPr>
          </a:p>
          <a:p>
            <a:pPr>
              <a:spcAft>
                <a:spcPts val="600"/>
              </a:spcAft>
              <a:defRPr sz="2000" b="1">
                <a:solidFill>
                  <a:srgbClr val="F39C12"/>
                </a:solidFill>
              </a:defRPr>
            </a:pPr>
            <a:r>
              <a:t>Why Do We Need Them?</a:t>
            </a:r>
          </a:p>
          <a:p>
            <a:pPr>
              <a:spcAft>
                <a:spcPts val="600"/>
              </a:spcAft>
              <a:defRPr sz="600" b="0"/>
            </a:pPr>
          </a:p>
          <a:p>
            <a:pPr>
              <a:spcAft>
                <a:spcPts val="600"/>
              </a:spcAft>
              <a:defRPr sz="1800" b="1"/>
            </a:pPr>
            <a:r>
              <a:t>1. Learn Hierarchical Features</a:t>
            </a:r>
          </a:p>
          <a:p>
            <a:pPr lvl="1">
              <a:spcAft>
                <a:spcPts val="600"/>
              </a:spcAft>
              <a:defRPr sz="1600" b="0"/>
            </a:pPr>
            <a:r>
              <a:t>Layer 1: Simple patterns (edges)</a:t>
            </a:r>
          </a:p>
          <a:p>
            <a:pPr lvl="1">
              <a:spcAft>
                <a:spcPts val="600"/>
              </a:spcAft>
              <a:defRPr sz="1600" b="0"/>
            </a:pPr>
            <a:r>
              <a:t>Layer 2: Complex shapes</a:t>
            </a:r>
          </a:p>
          <a:p>
            <a:pPr lvl="1">
              <a:spcAft>
                <a:spcPts val="600"/>
              </a:spcAft>
              <a:defRPr sz="1600" b="0"/>
            </a:pPr>
            <a:r>
              <a:t>Layer 3: Complete objects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1800" b="1"/>
            </a:pPr>
            <a:r>
              <a:t>2. Enable Non-Linear Learning</a:t>
            </a:r>
          </a:p>
          <a:p>
            <a:pPr lvl="1">
              <a:spcAft>
                <a:spcPts val="600"/>
              </a:spcAft>
              <a:defRPr sz="1600" b="0"/>
            </a:pPr>
            <a:r>
              <a:t>Hidden layers + activation functions</a:t>
            </a:r>
          </a:p>
          <a:p>
            <a:pPr lvl="1">
              <a:spcAft>
                <a:spcPts val="600"/>
              </a:spcAft>
              <a:defRPr sz="1600" b="1">
                <a:solidFill>
                  <a:srgbClr val="48BB78"/>
                </a:solidFill>
              </a:defRPr>
            </a:pPr>
            <a:r>
              <a:t>= Ability to learn ANY pattern!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Power of Non-Linearity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667EEA"/>
                </a:solidFill>
              </a:defRPr>
            </a:pPr>
            <a:r>
              <a:t>⚡ Non-Linearity: The Secret Sauce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2000" b="1">
                <a:solidFill>
                  <a:srgbClr val="F56565"/>
                </a:solidFill>
              </a:defRPr>
            </a:pPr>
            <a:r>
              <a:t>Without Activation Functions:</a:t>
            </a:r>
          </a:p>
          <a:p>
            <a:pPr>
              <a:spcAft>
                <a:spcPts val="600"/>
              </a:spcAft>
              <a:defRPr sz="600" b="0"/>
            </a:pPr>
          </a:p>
          <a:p>
            <a:pPr>
              <a:spcAft>
                <a:spcPts val="600"/>
              </a:spcAft>
              <a:defRPr sz="1600" b="0"/>
            </a:pPr>
            <a:r>
              <a:t>Layer 1: z₁ = W₁x + b₁</a:t>
            </a:r>
          </a:p>
          <a:p>
            <a:pPr>
              <a:spcAft>
                <a:spcPts val="600"/>
              </a:spcAft>
              <a:defRPr sz="1600" b="0"/>
            </a:pPr>
            <a:r>
              <a:t>Layer 2: z₂ = W₂z₁ + b₂</a:t>
            </a:r>
          </a:p>
          <a:p>
            <a:pPr>
              <a:spcAft>
                <a:spcPts val="600"/>
              </a:spcAft>
              <a:defRPr sz="1600" b="0"/>
            </a:pPr>
            <a:r>
              <a:t>Layer 3: z₃ = W₃z₂ + b₃</a:t>
            </a:r>
          </a:p>
          <a:p>
            <a:pPr>
              <a:spcAft>
                <a:spcPts val="600"/>
              </a:spcAft>
              <a:defRPr sz="600" b="0"/>
            </a:pPr>
          </a:p>
          <a:p>
            <a:pPr>
              <a:spcAft>
                <a:spcPts val="600"/>
              </a:spcAft>
              <a:defRPr sz="1700" b="1">
                <a:solidFill>
                  <a:srgbClr val="F56565"/>
                </a:solidFill>
              </a:defRPr>
            </a:pPr>
            <a:r>
              <a:t>❌ This collapses to: z₃ = Wx + b (just linear!)</a:t>
            </a:r>
          </a:p>
          <a:p>
            <a:pPr>
              <a:spcAft>
                <a:spcPts val="600"/>
              </a:spcAft>
              <a:defRPr sz="1000" b="0"/>
            </a:pPr>
          </a:p>
          <a:p>
            <a:pPr>
              <a:spcAft>
                <a:spcPts val="600"/>
              </a:spcAft>
              <a:defRPr sz="2000" b="1">
                <a:solidFill>
                  <a:srgbClr val="48BB78"/>
                </a:solidFill>
              </a:defRPr>
            </a:pPr>
            <a:r>
              <a:t>With Activation Functions:</a:t>
            </a:r>
          </a:p>
          <a:p>
            <a:pPr>
              <a:spcAft>
                <a:spcPts val="600"/>
              </a:spcAft>
              <a:defRPr sz="600" b="0"/>
            </a:pPr>
          </a:p>
          <a:p>
            <a:pPr>
              <a:spcAft>
                <a:spcPts val="600"/>
              </a:spcAft>
              <a:defRPr sz="1600" b="0"/>
            </a:pPr>
            <a:r>
              <a:t>Layer 1: a₁ = activation(W₁x + b₁)</a:t>
            </a:r>
          </a:p>
          <a:p>
            <a:pPr>
              <a:spcAft>
                <a:spcPts val="600"/>
              </a:spcAft>
              <a:defRPr sz="1600" b="0"/>
            </a:pPr>
            <a:r>
              <a:t>Layer 2: a₂ = activation(W₂a₁ + b₂)</a:t>
            </a:r>
          </a:p>
          <a:p>
            <a:pPr>
              <a:spcAft>
                <a:spcPts val="600"/>
              </a:spcAft>
              <a:defRPr sz="1600" b="0"/>
            </a:pPr>
            <a:r>
              <a:t>Layer 3: a₃ = activation(W₃a₂ + b₃)</a:t>
            </a:r>
          </a:p>
          <a:p>
            <a:pPr>
              <a:spcAft>
                <a:spcPts val="600"/>
              </a:spcAft>
              <a:defRPr sz="600" b="0"/>
            </a:pPr>
          </a:p>
          <a:p>
            <a:pPr>
              <a:spcAft>
                <a:spcPts val="600"/>
              </a:spcAft>
              <a:defRPr sz="1700" b="1">
                <a:solidFill>
                  <a:srgbClr val="48BB78"/>
                </a:solidFill>
              </a:defRPr>
            </a:pPr>
            <a:r>
              <a:t>✅ Can learn ANY non-linear pattern!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667EEA"/>
                </a:solidFill>
              </a:defRPr>
            </a:pPr>
            <a:r>
              <a:t>📚 Key Takeaways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2000" b="1">
                <a:solidFill>
                  <a:srgbClr val="48BB78"/>
                </a:solidFill>
              </a:defRPr>
            </a:pPr>
            <a:r>
              <a:t>What We Learned:</a:t>
            </a:r>
          </a:p>
          <a:p>
            <a:pPr>
              <a:spcAft>
                <a:spcPts val="600"/>
              </a:spcAft>
              <a:defRPr sz="600" b="0"/>
            </a:pPr>
          </a:p>
          <a:p>
            <a:pPr>
              <a:spcAft>
                <a:spcPts val="600"/>
              </a:spcAft>
              <a:defRPr sz="1700" b="0"/>
            </a:pPr>
            <a:r>
              <a:t>✅ Deep Learning: ML with multi-layer neural networks</a:t>
            </a:r>
          </a:p>
          <a:p>
            <a:pPr>
              <a:spcAft>
                <a:spcPts val="600"/>
              </a:spcAft>
              <a:defRPr sz="1700" b="0"/>
            </a:pPr>
            <a:r>
              <a:t>✅ Neural Networks: Inspired by biological neurons</a:t>
            </a:r>
          </a:p>
          <a:p>
            <a:pPr>
              <a:spcAft>
                <a:spcPts val="600"/>
              </a:spcAft>
              <a:defRPr sz="1700" b="0"/>
            </a:pPr>
            <a:r>
              <a:t>✅ Perceptron: Simplest neuron (binary decisions)</a:t>
            </a:r>
          </a:p>
          <a:p>
            <a:pPr>
              <a:spcAft>
                <a:spcPts val="600"/>
              </a:spcAft>
              <a:defRPr sz="1700" b="0"/>
            </a:pPr>
            <a:r>
              <a:t>✅ MLP: Multiple layers → Complex learning</a:t>
            </a:r>
          </a:p>
          <a:p>
            <a:pPr>
              <a:spcAft>
                <a:spcPts val="600"/>
              </a:spcAft>
              <a:defRPr sz="1700" b="0"/>
            </a:pPr>
            <a:r>
              <a:t>✅ Activation Functions: Enable non-linearity</a:t>
            </a:r>
          </a:p>
          <a:p>
            <a:pPr>
              <a:spcAft>
                <a:spcPts val="600"/>
              </a:spcAft>
              <a:defRPr sz="1700" b="0"/>
            </a:pPr>
            <a:r>
              <a:t>✅ Hidden Layers: Learn hierarchical features</a:t>
            </a:r>
          </a:p>
          <a:p>
            <a:pPr>
              <a:spcAft>
                <a:spcPts val="600"/>
              </a:spcAft>
              <a:defRPr sz="1000" b="0"/>
            </a:pPr>
          </a:p>
          <a:p>
            <a:pPr>
              <a:spcAft>
                <a:spcPts val="600"/>
              </a:spcAft>
              <a:defRPr sz="2000" b="1">
                <a:solidFill>
                  <a:srgbClr val="F39C12"/>
                </a:solidFill>
              </a:defRPr>
            </a:pPr>
            <a:r>
              <a:t>Remember:</a:t>
            </a:r>
          </a:p>
          <a:p>
            <a:pPr>
              <a:spcAft>
                <a:spcPts val="600"/>
              </a:spcAft>
              <a:defRPr sz="600" b="0"/>
            </a:pPr>
          </a:p>
          <a:p>
            <a:pPr>
              <a:spcAft>
                <a:spcPts val="600"/>
              </a:spcAft>
              <a:defRPr sz="1700" b="0"/>
            </a:pPr>
            <a:r>
              <a:t>🎯 More layers = deeper learning</a:t>
            </a:r>
          </a:p>
          <a:p>
            <a:pPr>
              <a:spcAft>
                <a:spcPts val="600"/>
              </a:spcAft>
              <a:defRPr sz="1700" b="0"/>
            </a:pPr>
            <a:r>
              <a:t>🎯 Activation functions = non-linearity = power!</a:t>
            </a:r>
          </a:p>
          <a:p>
            <a:pPr>
              <a:spcAft>
                <a:spcPts val="600"/>
              </a:spcAft>
              <a:defRPr sz="1700" b="0"/>
            </a:pPr>
            <a:r>
              <a:t>🎯 Start with ReLU for hidden layers</a:t>
            </a:r>
          </a:p>
          <a:p>
            <a:pPr>
              <a:spcAft>
                <a:spcPts val="600"/>
              </a:spcAft>
              <a:defRPr sz="1000" b="0"/>
            </a:pPr>
          </a:p>
          <a:p>
            <a:pPr>
              <a:spcAft>
                <a:spcPts val="600"/>
              </a:spcAft>
              <a:defRPr sz="1800" b="1">
                <a:solidFill>
                  <a:srgbClr val="667EEA"/>
                </a:solidFill>
              </a:defRPr>
            </a:pPr>
            <a:r>
              <a:t>Next: How data flows through the network!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
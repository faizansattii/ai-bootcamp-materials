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Forward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How Data Flows Through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8 - Day 2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What is Forward Propagation?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667EEA"/>
                </a:solidFill>
              </a:defRPr>
            </a:pPr>
            <a:r>
              <a:t>📖 Definition</a:t>
            </a:r>
          </a:p>
          <a:p>
            <a:pPr>
              <a:spcAft>
                <a:spcPts val="600"/>
              </a:spcAft>
              <a:defRPr sz="1800" b="0"/>
            </a:pPr>
            <a:r>
              <a:t>Forward Propagation is the process of passing input data</a:t>
            </a:r>
          </a:p>
          <a:p>
            <a:pPr>
              <a:spcAft>
                <a:spcPts val="600"/>
              </a:spcAft>
              <a:defRPr sz="1800" b="0"/>
            </a:pPr>
            <a:r>
              <a:t>through the neural network, layer by layer, to produce</a:t>
            </a:r>
          </a:p>
          <a:p>
            <a:pPr>
              <a:spcAft>
                <a:spcPts val="600"/>
              </a:spcAft>
              <a:defRPr sz="1800" b="0"/>
            </a:pPr>
            <a:r>
              <a:t>an output prediction.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1000"/>
              </a:spcAft>
              <a:defRPr sz="2200" b="1">
                <a:solidFill>
                  <a:srgbClr val="48BB78"/>
                </a:solidFill>
              </a:defRPr>
            </a:pPr>
            <a:r>
              <a:t>🎯 Key Idea</a:t>
            </a:r>
          </a:p>
          <a:p>
            <a:pPr>
              <a:spcAft>
                <a:spcPts val="600"/>
              </a:spcAft>
              <a:defRPr sz="1800" b="0"/>
            </a:pPr>
            <a:r>
              <a:t>Data flows in ONE direction:</a:t>
            </a:r>
          </a:p>
          <a:p>
            <a:pPr>
              <a:spcAft>
                <a:spcPts val="600"/>
              </a:spcAft>
              <a:defRPr sz="1800" b="1"/>
            </a:pPr>
            <a:r>
              <a:t>Input → Hidden Layers → Output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1000"/>
              </a:spcAft>
              <a:defRPr sz="2200" b="1">
                <a:solidFill>
                  <a:srgbClr val="F39C12"/>
                </a:solidFill>
              </a:defRPr>
            </a:pPr>
            <a:r>
              <a:t>💡 Simple Analogy</a:t>
            </a:r>
          </a:p>
          <a:p>
            <a:pPr>
              <a:spcAft>
                <a:spcPts val="600"/>
              </a:spcAft>
              <a:defRPr sz="1700" b="0"/>
            </a:pPr>
            <a:r>
              <a:t>Like water flowing through pipes:</a:t>
            </a:r>
          </a:p>
          <a:p>
            <a:pPr>
              <a:spcAft>
                <a:spcPts val="600"/>
              </a:spcAft>
              <a:defRPr sz="1700" b="0"/>
            </a:pPr>
            <a:r>
              <a:t>• Water enters (input)</a:t>
            </a:r>
          </a:p>
          <a:p>
            <a:pPr>
              <a:spcAft>
                <a:spcPts val="600"/>
              </a:spcAft>
              <a:defRPr sz="1700" b="0"/>
            </a:pPr>
            <a:r>
              <a:t>• Passes through filters (hidden layers)</a:t>
            </a:r>
          </a:p>
          <a:p>
            <a:pPr>
              <a:spcAft>
                <a:spcPts val="600"/>
              </a:spcAft>
              <a:defRPr sz="1700" b="0"/>
            </a:pPr>
            <a:r>
              <a:t>• Comes out clean (output)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The Forward Pass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🗺️ The Forward Pass Journey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Step 1: Input Layer</a:t>
            </a:r>
          </a:p>
          <a:p>
            <a:pPr lvl="1">
              <a:spcAft>
                <a:spcPts val="600"/>
              </a:spcAft>
              <a:defRPr sz="1700" b="0"/>
            </a:pPr>
            <a:r>
              <a:t>Receives raw data (image, numbers, text)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Step 2: Hidden Layer 1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Calculate: weighted sum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Apply: activation function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Pass: to next layer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Step 3: Hidden Layer 2 (if exists)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Repeat: weighted sum + activation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Step 4: Output Layer</a:t>
            </a:r>
          </a:p>
          <a:p>
            <a:pPr lvl="1">
              <a:spcAft>
                <a:spcPts val="600"/>
              </a:spcAft>
              <a:defRPr sz="1700" b="0"/>
            </a:pPr>
            <a:r>
              <a:t>Produces final prediction!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Step 1: Weighted Sum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⚙️ Step 1: Calculate Weighted Sum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48BB78"/>
                </a:solidFill>
              </a:defRPr>
            </a:pPr>
            <a:r>
              <a:t>📐 Formula</a:t>
            </a:r>
          </a:p>
          <a:p>
            <a:pPr>
              <a:spcAft>
                <a:spcPts val="600"/>
              </a:spcAft>
              <a:defRPr sz="1800" b="0"/>
            </a:pPr>
            <a:r>
              <a:t>z = w₁x₁ + w₂x₂ + w₃x₃ + ... + b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/>
            </a:pPr>
            <a:r>
              <a:t>Where:</a:t>
            </a:r>
          </a:p>
          <a:p>
            <a:pPr>
              <a:spcAft>
                <a:spcPts val="600"/>
              </a:spcAft>
              <a:defRPr sz="1700" b="0"/>
            </a:pPr>
            <a:r>
              <a:t>• x = inputs from previous layer</a:t>
            </a:r>
          </a:p>
          <a:p>
            <a:pPr>
              <a:spcAft>
                <a:spcPts val="600"/>
              </a:spcAft>
              <a:defRPr sz="1700" b="0"/>
            </a:pPr>
            <a:r>
              <a:t>• w = weights (learned parameters)</a:t>
            </a:r>
          </a:p>
          <a:p>
            <a:pPr>
              <a:spcAft>
                <a:spcPts val="600"/>
              </a:spcAft>
              <a:defRPr sz="1700" b="0"/>
            </a:pPr>
            <a:r>
              <a:t>• b = bias (shift the result)</a:t>
            </a:r>
          </a:p>
          <a:p>
            <a:pPr>
              <a:spcAft>
                <a:spcPts val="600"/>
              </a:spcAft>
              <a:defRPr sz="1700" b="0"/>
            </a:pPr>
            <a:r>
              <a:t>• z = weighted sum (pre-activation)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💡 Think of it as:</a:t>
            </a:r>
          </a:p>
          <a:p>
            <a:pPr>
              <a:spcAft>
                <a:spcPts val="600"/>
              </a:spcAft>
              <a:defRPr sz="1700" b="0"/>
            </a:pPr>
            <a:r>
              <a:t>Each input votes, weights determine vote strength!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Step 2: Apply Activation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⚡ Step 2: Apply Activation Function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1000"/>
              </a:spcAft>
              <a:defRPr sz="2000" b="1">
                <a:solidFill>
                  <a:srgbClr val="48BB78"/>
                </a:solidFill>
              </a:defRPr>
            </a:pPr>
            <a:r>
              <a:t>📐 Formula</a:t>
            </a:r>
          </a:p>
          <a:p>
            <a:pPr>
              <a:spcAft>
                <a:spcPts val="600"/>
              </a:spcAft>
              <a:defRPr sz="1800" b="0"/>
            </a:pPr>
            <a:r>
              <a:t>a = activation(z)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/>
            </a:pPr>
            <a:r>
              <a:t>Common Activations:</a:t>
            </a:r>
          </a:p>
          <a:p>
            <a:pPr>
              <a:spcAft>
                <a:spcPts val="600"/>
              </a:spcAft>
              <a:defRPr sz="1700" b="0"/>
            </a:pPr>
            <a:r>
              <a:t>• ReLU: a = max(0, z)</a:t>
            </a:r>
          </a:p>
          <a:p>
            <a:pPr>
              <a:spcAft>
                <a:spcPts val="600"/>
              </a:spcAft>
              <a:defRPr sz="1700" b="0"/>
            </a:pPr>
            <a:r>
              <a:t>• Sigmoid: a = 1 / (1 + e⁻ᶻ)</a:t>
            </a:r>
          </a:p>
          <a:p>
            <a:pPr>
              <a:spcAft>
                <a:spcPts val="600"/>
              </a:spcAft>
              <a:defRPr sz="1700" b="0"/>
            </a:pPr>
            <a:r>
              <a:t>• Tanh: a = (eᶻ - e⁻ᶻ) / (eᶻ + e⁻ᶻ)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🎯 Purpose</a:t>
            </a:r>
          </a:p>
          <a:p>
            <a:pPr>
              <a:spcAft>
                <a:spcPts val="600"/>
              </a:spcAft>
              <a:defRPr sz="1700" b="0"/>
            </a:pPr>
            <a:r>
              <a:t>• Introduce non-linearity</a:t>
            </a:r>
          </a:p>
          <a:p>
            <a:pPr>
              <a:spcAft>
                <a:spcPts val="600"/>
              </a:spcAft>
              <a:defRPr sz="1700" b="0"/>
            </a:pPr>
            <a:r>
              <a:t>• Control output range</a:t>
            </a:r>
          </a:p>
          <a:p>
            <a:pPr>
              <a:spcAft>
                <a:spcPts val="600"/>
              </a:spcAft>
              <a:defRPr sz="1700" b="0"/>
            </a:pPr>
            <a:r>
              <a:t>• Decide if neuron "fires"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Example: Single Neuron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📝 Example: Single Neuron Forward Pass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Given:</a:t>
            </a:r>
          </a:p>
          <a:p>
            <a:pPr>
              <a:spcAft>
                <a:spcPts val="600"/>
              </a:spcAft>
              <a:defRPr sz="1700" b="0"/>
            </a:pPr>
            <a:r>
              <a:t>Inputs: x₁ = 2, x₂ = 3</a:t>
            </a:r>
          </a:p>
          <a:p>
            <a:pPr>
              <a:spcAft>
                <a:spcPts val="600"/>
              </a:spcAft>
              <a:defRPr sz="1700" b="0"/>
            </a:pPr>
            <a:r>
              <a:t>Weights: w₁ = 0.5, w₂ = 0.8</a:t>
            </a:r>
          </a:p>
          <a:p>
            <a:pPr>
              <a:spcAft>
                <a:spcPts val="600"/>
              </a:spcAft>
              <a:defRPr sz="1700" b="0"/>
            </a:pPr>
            <a:r>
              <a:t>Bias: b = 1.0</a:t>
            </a:r>
          </a:p>
          <a:p>
            <a:pPr>
              <a:spcAft>
                <a:spcPts val="600"/>
              </a:spcAft>
              <a:defRPr sz="1700" b="0"/>
            </a:pPr>
            <a:r>
              <a:t>Activation: ReLU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Step 1: Weighted Sum</a:t>
            </a:r>
          </a:p>
          <a:p>
            <a:pPr>
              <a:spcAft>
                <a:spcPts val="600"/>
              </a:spcAft>
              <a:defRPr sz="1700" b="0"/>
            </a:pPr>
            <a:r>
              <a:t>z = (2 × 0.5) + (3 × 0.8) + 1.0</a:t>
            </a:r>
          </a:p>
          <a:p>
            <a:pPr>
              <a:spcAft>
                <a:spcPts val="600"/>
              </a:spcAft>
              <a:defRPr sz="1700" b="0"/>
            </a:pPr>
            <a:r>
              <a:t>z = 1.0 + 2.4 + 1.0 = 4.4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Step 2: Activation</a:t>
            </a:r>
          </a:p>
          <a:p>
            <a:pPr>
              <a:spcAft>
                <a:spcPts val="600"/>
              </a:spcAft>
              <a:defRPr sz="1700" b="0"/>
            </a:pPr>
            <a:r>
              <a:t>a = ReLU(4.4) = max(0, 4.4) = 4.4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✅ Output: 4.4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Layer-by-Layer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🔄 Processing Multiple Layers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0"/>
            </a:pPr>
            <a:r>
              <a:t>Each layer repeats the same process: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Layer 1 (Hidden Layer 1):</a:t>
            </a:r>
          </a:p>
          <a:p>
            <a:pPr>
              <a:spcAft>
                <a:spcPts val="600"/>
              </a:spcAft>
              <a:defRPr sz="1700" b="0"/>
            </a:pPr>
            <a:r>
              <a:t>1. z₁ = W₁ · x + b₁</a:t>
            </a:r>
          </a:p>
          <a:p>
            <a:pPr>
              <a:spcAft>
                <a:spcPts val="600"/>
              </a:spcAft>
              <a:defRPr sz="1700" b="0"/>
            </a:pPr>
            <a:r>
              <a:t>2. a₁ = activation(z₁)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Layer 2 (Hidden Layer 2):</a:t>
            </a:r>
          </a:p>
          <a:p>
            <a:pPr>
              <a:spcAft>
                <a:spcPts val="600"/>
              </a:spcAft>
              <a:defRPr sz="1700" b="0"/>
            </a:pPr>
            <a:r>
              <a:t>1. z₂ = W₂ · a₁ + b₂  (uses output from Layer 1!)</a:t>
            </a:r>
          </a:p>
          <a:p>
            <a:pPr>
              <a:spcAft>
                <a:spcPts val="600"/>
              </a:spcAft>
              <a:defRPr sz="1700" b="0"/>
            </a:pPr>
            <a:r>
              <a:t>2. a₂ = activation(z₂)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Output Layer:</a:t>
            </a:r>
          </a:p>
          <a:p>
            <a:pPr>
              <a:spcAft>
                <a:spcPts val="600"/>
              </a:spcAft>
              <a:defRPr sz="1700" b="0"/>
            </a:pPr>
            <a:r>
              <a:t>1. z₃ = W₃ · a₂ + b₃</a:t>
            </a:r>
          </a:p>
          <a:p>
            <a:pPr>
              <a:spcAft>
                <a:spcPts val="600"/>
              </a:spcAft>
              <a:defRPr sz="1700" b="0"/>
            </a:pPr>
            <a:r>
              <a:t>2. output = activation(z₃)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700" b="1">
                <a:solidFill>
                  <a:srgbClr val="667EEA"/>
                </a:solidFill>
              </a:defRPr>
            </a:pPr>
            <a:r>
              <a:t>💡 Each layer uses the previous layer's output!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Matrix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🔢 Matrix Form (Efficient)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700" b="0"/>
            </a:pPr>
            <a:r>
              <a:t>Instead of computing each neuron separately,</a:t>
            </a:r>
          </a:p>
          <a:p>
            <a:pPr>
              <a:spcAft>
                <a:spcPts val="600"/>
              </a:spcAft>
              <a:defRPr sz="1700" b="0"/>
            </a:pPr>
            <a:r>
              <a:t>we use matrix multiplication for efficiency!</a:t>
            </a:r>
          </a:p>
          <a:p>
            <a:pPr>
              <a:spcAft>
                <a:spcPts val="600"/>
              </a:spcAft>
              <a:defRPr sz="12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Single Neuron (slow):</a:t>
            </a:r>
          </a:p>
          <a:p>
            <a:pPr>
              <a:spcAft>
                <a:spcPts val="600"/>
              </a:spcAft>
              <a:defRPr sz="1600" b="0"/>
            </a:pPr>
            <a:r>
              <a:t>z₁ = w₁x₁ + w₂x₂ + w₃x₃ + b</a:t>
            </a:r>
          </a:p>
          <a:p>
            <a:pPr>
              <a:spcAft>
                <a:spcPts val="600"/>
              </a:spcAft>
              <a:defRPr sz="1600" b="0"/>
            </a:pPr>
            <a:r>
              <a:t>z₂ = w₄x₁ + w₅x₂ + w₆x₃ + b</a:t>
            </a:r>
          </a:p>
          <a:p>
            <a:pPr>
              <a:spcAft>
                <a:spcPts val="600"/>
              </a:spcAft>
              <a:defRPr sz="1600" b="0"/>
            </a:pPr>
            <a:r>
              <a:t>z₃ = w₇x₁ + w₈x₂ + w₉x₃ + b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Matrix Form (fast!):</a:t>
            </a:r>
          </a:p>
          <a:p>
            <a:pPr>
              <a:spcAft>
                <a:spcPts val="600"/>
              </a:spcAft>
              <a:defRPr sz="1800" b="1"/>
            </a:pPr>
            <a:r>
              <a:t>Z = W · X + b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800" b="1"/>
            </a:pPr>
            <a:r>
              <a:t>Where:</a:t>
            </a:r>
          </a:p>
          <a:p>
            <a:pPr>
              <a:spcAft>
                <a:spcPts val="600"/>
              </a:spcAft>
              <a:defRPr sz="1600" b="0"/>
            </a:pPr>
            <a:r>
              <a:t>• W = weight matrix (all weights)</a:t>
            </a:r>
          </a:p>
          <a:p>
            <a:pPr>
              <a:spcAft>
                <a:spcPts val="600"/>
              </a:spcAft>
              <a:defRPr sz="1600" b="0"/>
            </a:pPr>
            <a:r>
              <a:t>• X = input vector</a:t>
            </a:r>
          </a:p>
          <a:p>
            <a:pPr>
              <a:spcAft>
                <a:spcPts val="600"/>
              </a:spcAft>
              <a:defRPr sz="1600" b="0"/>
            </a:pPr>
            <a:r>
              <a:t>• Z = output vector (all neurons at once!)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Visualizing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👁️ Data Transformation at Each Layer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0"/>
            </a:pPr>
            <a:r>
              <a:t>As data flows through layers, it gets transformed: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Input Layer:</a:t>
            </a:r>
          </a:p>
          <a:p>
            <a:pPr lvl="1">
              <a:spcAft>
                <a:spcPts val="600"/>
              </a:spcAft>
              <a:defRPr sz="1700" b="0"/>
            </a:pPr>
            <a:r>
              <a:t>Raw data (e.g., pixel values 0-255)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Hidden Layer 1:</a:t>
            </a:r>
          </a:p>
          <a:p>
            <a:pPr lvl="1">
              <a:spcAft>
                <a:spcPts val="600"/>
              </a:spcAft>
              <a:defRPr sz="1700" b="0"/>
            </a:pPr>
            <a:r>
              <a:t>Detects simple features (edges, corners)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Hidden Layer 2:</a:t>
            </a:r>
          </a:p>
          <a:p>
            <a:pPr lvl="1">
              <a:spcAft>
                <a:spcPts val="600"/>
              </a:spcAft>
              <a:defRPr sz="1700" b="0"/>
            </a:pPr>
            <a:r>
              <a:t>Combines features (shapes, textures)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Output Layer:</a:t>
            </a:r>
          </a:p>
          <a:p>
            <a:pPr lvl="1">
              <a:spcAft>
                <a:spcPts val="600"/>
              </a:spcAft>
              <a:defRPr sz="1700" b="0"/>
            </a:pPr>
            <a:r>
              <a:t>Final prediction (class probabilities)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700" b="1">
                <a:solidFill>
                  <a:srgbClr val="667EEA"/>
                </a:solidFill>
              </a:defRPr>
            </a:pPr>
            <a:r>
              <a:t>💡 Each layer learns increasingly complex patterns!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Full Network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🧮 Full Network Example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Network Architecture:</a:t>
            </a:r>
          </a:p>
          <a:p>
            <a:pPr>
              <a:spcAft>
                <a:spcPts val="600"/>
              </a:spcAft>
              <a:defRPr sz="1700" b="0"/>
            </a:pPr>
            <a:r>
              <a:t>Input: 3 features</a:t>
            </a:r>
          </a:p>
          <a:p>
            <a:pPr>
              <a:spcAft>
                <a:spcPts val="600"/>
              </a:spcAft>
              <a:defRPr sz="1700" b="0"/>
            </a:pPr>
            <a:r>
              <a:t>Hidden Layer: 4 neurons (ReLU)</a:t>
            </a:r>
          </a:p>
          <a:p>
            <a:pPr>
              <a:spcAft>
                <a:spcPts val="600"/>
              </a:spcAft>
              <a:defRPr sz="1700" b="0"/>
            </a:pPr>
            <a:r>
              <a:t>Output: 2 neurons (Sigmoid)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Forward Pass: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1"/>
            </a:pPr>
            <a:r>
              <a:t>Step 1: Input → Hidden</a:t>
            </a:r>
          </a:p>
          <a:p>
            <a:pPr lvl="1">
              <a:spcAft>
                <a:spcPts val="600"/>
              </a:spcAft>
              <a:defRPr sz="1600" b="0"/>
            </a:pPr>
            <a:r>
              <a:t>z₁ = W₁ · [x₁, x₂, x₃] + b₁  →  [4 values]</a:t>
            </a:r>
          </a:p>
          <a:p>
            <a:pPr lvl="1">
              <a:spcAft>
                <a:spcPts val="600"/>
              </a:spcAft>
              <a:defRPr sz="1600" b="0"/>
            </a:pPr>
            <a:r>
              <a:t>a₁ = ReLU(z₁)  →  [4 activated values]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1"/>
            </a:pPr>
            <a:r>
              <a:t>Step 2: Hidden → Output</a:t>
            </a:r>
          </a:p>
          <a:p>
            <a:pPr lvl="1">
              <a:spcAft>
                <a:spcPts val="600"/>
              </a:spcAft>
              <a:defRPr sz="1600" b="0"/>
            </a:pPr>
            <a:r>
              <a:t>z₂ = W₂ · a₁ + b₂  →  [2 values]</a:t>
            </a:r>
          </a:p>
          <a:p>
            <a:pPr lvl="1">
              <a:spcAft>
                <a:spcPts val="600"/>
              </a:spcAft>
              <a:defRPr sz="1600" b="0"/>
            </a:pPr>
            <a:r>
              <a:t>output = Sigmoid(z₂)  →  [2 probabilities]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Interpreting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🎯 Interpreting Model Outputs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Binary Classification (Sigmoid Output):</a:t>
            </a:r>
          </a:p>
          <a:p>
            <a:pPr>
              <a:spcAft>
                <a:spcPts val="600"/>
              </a:spcAft>
              <a:defRPr sz="1700" b="0"/>
            </a:pPr>
            <a:r>
              <a:t>Output = 0.85  →  85% confident it's Class 1</a:t>
            </a:r>
          </a:p>
          <a:p>
            <a:pPr>
              <a:spcAft>
                <a:spcPts val="600"/>
              </a:spcAft>
              <a:defRPr sz="1700" b="0"/>
            </a:pPr>
            <a:r>
              <a:t>If output &gt; 0.5 → Predict Class 1</a:t>
            </a:r>
          </a:p>
          <a:p>
            <a:pPr>
              <a:spcAft>
                <a:spcPts val="600"/>
              </a:spcAft>
              <a:defRPr sz="1700" b="0"/>
            </a:pPr>
            <a:r>
              <a:t>If output ≤ 0.5 → Predict Class 0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Multi-Class Classification (Softmax Output):</a:t>
            </a:r>
          </a:p>
          <a:p>
            <a:pPr>
              <a:spcAft>
                <a:spcPts val="600"/>
              </a:spcAft>
              <a:defRPr sz="1700" b="0"/>
            </a:pPr>
            <a:r>
              <a:t>Output = [0.1, 0.7, 0.2]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Class 0: 10% probability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Class 1: 70% probability  ← Predict this!</a:t>
            </a:r>
          </a:p>
          <a:p>
            <a:pPr lvl="1">
              <a:spcAft>
                <a:spcPts val="600"/>
              </a:spcAft>
              <a:defRPr sz="1600" b="0"/>
            </a:pPr>
            <a:r>
              <a:t>• Class 2: 20% probability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667EEA"/>
                </a:solidFill>
              </a:defRPr>
            </a:pPr>
            <a:r>
              <a:t>Regression Output:</a:t>
            </a:r>
          </a:p>
          <a:p>
            <a:pPr>
              <a:spcAft>
                <a:spcPts val="600"/>
              </a:spcAft>
              <a:defRPr sz="1700" b="0"/>
            </a:pPr>
            <a:r>
              <a:t>Output = 42.5  →  Direct numerical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Understanding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⚖️ What Weights Tell Us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0"/>
            </a:pPr>
            <a:r>
              <a:t>Weights encode what the network learned!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48BB78"/>
                </a:solidFill>
              </a:defRPr>
            </a:pPr>
            <a:r>
              <a:t>Large Positive Weight (e.g., w = 3.5):</a:t>
            </a:r>
          </a:p>
          <a:p>
            <a:pPr>
              <a:spcAft>
                <a:spcPts val="600"/>
              </a:spcAft>
              <a:defRPr sz="1700" b="0"/>
            </a:pPr>
            <a:r>
              <a:t>✅ Strong positive influence</a:t>
            </a:r>
          </a:p>
          <a:p>
            <a:pPr>
              <a:spcAft>
                <a:spcPts val="600"/>
              </a:spcAft>
              <a:defRPr sz="1700" b="0"/>
            </a:pPr>
            <a:r>
              <a:t>This input is very important!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Large Negative Weight (e.g., w = -2.8):</a:t>
            </a:r>
          </a:p>
          <a:p>
            <a:pPr>
              <a:spcAft>
                <a:spcPts val="600"/>
              </a:spcAft>
              <a:defRPr sz="1700" b="0"/>
            </a:pPr>
            <a:r>
              <a:t>⛔ Strong negative influence</a:t>
            </a:r>
          </a:p>
          <a:p>
            <a:pPr>
              <a:spcAft>
                <a:spcPts val="600"/>
              </a:spcAft>
              <a:defRPr sz="1700" b="0"/>
            </a:pPr>
            <a:r>
              <a:t>This input suppresses the output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39C12"/>
                </a:solidFill>
              </a:defRPr>
            </a:pPr>
            <a:r>
              <a:t>Small Weight (e.g., w = 0.1):</a:t>
            </a:r>
          </a:p>
          <a:p>
            <a:pPr>
              <a:spcAft>
                <a:spcPts val="600"/>
              </a:spcAft>
              <a:defRPr sz="1700" b="0"/>
            </a:pPr>
            <a:r>
              <a:t>😐 Weak influence</a:t>
            </a:r>
          </a:p>
          <a:p>
            <a:pPr>
              <a:spcAft>
                <a:spcPts val="600"/>
              </a:spcAft>
              <a:defRPr sz="1700" b="0"/>
            </a:pPr>
            <a:r>
              <a:t>This input doesn't matter much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Why Forward Propagation?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🤔 Why Do We Need Forward Propagation?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1. Making Predictions</a:t>
            </a:r>
          </a:p>
          <a:p>
            <a:pPr lvl="1">
              <a:spcAft>
                <a:spcPts val="600"/>
              </a:spcAft>
              <a:defRPr sz="1700" b="0"/>
            </a:pPr>
            <a:r>
              <a:t>Transform input → output (inference)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2. Training Phase</a:t>
            </a:r>
          </a:p>
          <a:p>
            <a:pPr lvl="1">
              <a:spcAft>
                <a:spcPts val="600"/>
              </a:spcAft>
              <a:defRPr sz="1700" b="0"/>
            </a:pPr>
            <a:r>
              <a:t>First step of learning: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Forward pass → get prediction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Compare with true label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Calculate error</a:t>
            </a:r>
          </a:p>
          <a:p>
            <a:pPr lvl="1">
              <a:spcAft>
                <a:spcPts val="600"/>
              </a:spcAft>
              <a:defRPr sz="1700" b="0"/>
            </a:pPr>
            <a:r>
              <a:t>• Backward pass → update weights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667EEA"/>
                </a:solidFill>
              </a:defRPr>
            </a:pPr>
            <a:r>
              <a:t>💡 Every training iteration:</a:t>
            </a:r>
          </a:p>
          <a:p>
            <a:pPr>
              <a:spcAft>
                <a:spcPts val="600"/>
              </a:spcAft>
              <a:defRPr sz="1700" b="1"/>
            </a:pPr>
            <a:r>
              <a:t>Forward → Calculate Loss → Backward → Update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48BB78"/>
                </a:solidFill>
              </a:defRPr>
            </a:pPr>
            <a:r>
              <a:t>✅ Forward propagation is fundamental!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⚠️ Common Mistakes to Avoid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❌ Mistake 1: Wrong Shape</a:t>
            </a:r>
          </a:p>
          <a:p>
            <a:pPr>
              <a:spcAft>
                <a:spcPts val="600"/>
              </a:spcAft>
              <a:defRPr sz="1700" b="0"/>
            </a:pPr>
            <a:r>
              <a:t>Matrix dimensions must match!</a:t>
            </a:r>
          </a:p>
          <a:p>
            <a:pPr>
              <a:spcAft>
                <a:spcPts val="600"/>
              </a:spcAft>
              <a:defRPr sz="1600" b="0"/>
            </a:pPr>
            <a:r>
              <a:t>W shape: (neurons_out, neurons_in)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❌ Mistake 2: Forgetting Activation</a:t>
            </a:r>
          </a:p>
          <a:p>
            <a:pPr>
              <a:spcAft>
                <a:spcPts val="600"/>
              </a:spcAft>
              <a:defRPr sz="1700" b="0"/>
            </a:pPr>
            <a:r>
              <a:t>Must apply activation after each layer!</a:t>
            </a:r>
          </a:p>
          <a:p>
            <a:pPr>
              <a:spcAft>
                <a:spcPts val="600"/>
              </a:spcAft>
              <a:defRPr sz="1600" b="0"/>
            </a:pPr>
            <a:r>
              <a:t>Without it, network is just linear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❌ Mistake 3: Forgetting Bias</a:t>
            </a:r>
          </a:p>
          <a:p>
            <a:pPr>
              <a:spcAft>
                <a:spcPts val="600"/>
              </a:spcAft>
              <a:defRPr sz="1700" b="0"/>
            </a:pPr>
            <a:r>
              <a:t>Always add bias: z = W·x + b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1900" b="1">
                <a:solidFill>
                  <a:srgbClr val="F56565"/>
                </a:solidFill>
              </a:defRPr>
            </a:pPr>
            <a:r>
              <a:t>❌ Mistake 4: Wrong Activation for Output</a:t>
            </a:r>
          </a:p>
          <a:p>
            <a:pPr>
              <a:spcAft>
                <a:spcPts val="600"/>
              </a:spcAft>
              <a:defRPr sz="1700" b="0"/>
            </a:pPr>
            <a:r>
              <a:t>Binary → Sigmoid, Multi-class → Softmax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667EEA"/>
                </a:solidFill>
              </a:defRPr>
            </a:pPr>
            <a:r>
              <a:t>📚 Key Takeaways</a:t>
            </a:r>
          </a:p>
          <a:p>
            <a:pPr>
              <a:spcAft>
                <a:spcPts val="600"/>
              </a:spcAft>
              <a:defRPr sz="8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48BB78"/>
                </a:solidFill>
              </a:defRPr>
            </a:pPr>
            <a:r>
              <a:t>What We Learned:</a:t>
            </a:r>
          </a:p>
          <a:p>
            <a:pPr>
              <a:spcAft>
                <a:spcPts val="600"/>
              </a:spcAft>
              <a:defRPr sz="600" b="0"/>
            </a:pPr>
          </a:p>
          <a:p>
            <a:pPr>
              <a:spcAft>
                <a:spcPts val="600"/>
              </a:spcAft>
              <a:defRPr sz="1700" b="0"/>
            </a:pPr>
            <a:r>
              <a:t>✅ Forward Prop: Data flows input → output</a:t>
            </a:r>
          </a:p>
          <a:p>
            <a:pPr>
              <a:spcAft>
                <a:spcPts val="600"/>
              </a:spcAft>
              <a:defRPr sz="1700" b="0"/>
            </a:pPr>
            <a:r>
              <a:t>✅ Two Steps: Weighted sum + Activation</a:t>
            </a:r>
          </a:p>
          <a:p>
            <a:pPr>
              <a:spcAft>
                <a:spcPts val="600"/>
              </a:spcAft>
              <a:defRPr sz="1700" b="0"/>
            </a:pPr>
            <a:r>
              <a:t>✅ Layer-by-layer transformation</a:t>
            </a:r>
          </a:p>
          <a:p>
            <a:pPr>
              <a:spcAft>
                <a:spcPts val="600"/>
              </a:spcAft>
              <a:defRPr sz="1700" b="0"/>
            </a:pPr>
            <a:r>
              <a:t>✅ Matrix operations for efficiency</a:t>
            </a:r>
          </a:p>
          <a:p>
            <a:pPr>
              <a:spcAft>
                <a:spcPts val="600"/>
              </a:spcAft>
              <a:defRPr sz="1700" b="0"/>
            </a:pPr>
            <a:r>
              <a:t>✅ Weights determine importance</a:t>
            </a:r>
          </a:p>
          <a:p>
            <a:pPr>
              <a:spcAft>
                <a:spcPts val="600"/>
              </a:spcAft>
              <a:defRPr sz="1700" b="0"/>
            </a:pPr>
            <a:r>
              <a:t>✅ Output interpretation varies by task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2000" b="1">
                <a:solidFill>
                  <a:srgbClr val="F39C12"/>
                </a:solidFill>
              </a:defRPr>
            </a:pPr>
            <a:r>
              <a:t>Remember the Formula:</a:t>
            </a:r>
          </a:p>
          <a:p>
            <a:pPr>
              <a:spcAft>
                <a:spcPts val="600"/>
              </a:spcAft>
              <a:defRPr sz="1800" b="1"/>
            </a:pPr>
            <a:r>
              <a:t>z = W · x + b</a:t>
            </a:r>
          </a:p>
          <a:p>
            <a:pPr>
              <a:spcAft>
                <a:spcPts val="600"/>
              </a:spcAft>
              <a:defRPr sz="1800" b="1"/>
            </a:pPr>
            <a:r>
              <a:t>a = activation(z)</a:t>
            </a:r>
          </a:p>
          <a:p>
            <a:pPr>
              <a:spcAft>
                <a:spcPts val="600"/>
              </a:spcAft>
              <a:defRPr sz="1000" b="0"/>
            </a:pPr>
          </a:p>
          <a:p>
            <a:pPr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Next: See it in action with code! 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
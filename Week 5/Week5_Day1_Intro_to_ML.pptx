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94199" y="1162050"/>
            <a:ext cx="595560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Aft>
                <a:spcPts val="6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Machine Learning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553998" y="2838450"/>
            <a:ext cx="20360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600"/>
              </a:spcBef>
              <a:spcAft>
                <a:spcPts val="24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5 - Day 1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015637" y="3676650"/>
            <a:ext cx="11125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Bootcamp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53713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Machine Learning?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310729"/>
            <a:ext cx="8534400" cy="1340941"/>
          </a:xfrm>
          <a:prstGeom prst="roundRect">
            <a:avLst>
              <a:gd name="adj" fmla="val 568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33375" y="1310729"/>
            <a:ext cx="0" cy="1340941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8074" y="1615529"/>
            <a:ext cx="8025003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is teaching computers to learn from data and make decisions without being explicitly programmed for every scenario.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61245" y="3394621"/>
            <a:ext cx="1603921" cy="1295400"/>
          </a:xfrm>
          <a:prstGeom prst="roundRect">
            <a:avLst>
              <a:gd name="adj" fmla="val 5882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372271" y="3585121"/>
            <a:ext cx="581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089611" y="4270921"/>
            <a:ext cx="11471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Patterns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769965" y="3261271"/>
            <a:ext cx="1603921" cy="1562100"/>
          </a:xfrm>
          <a:prstGeom prst="roundRect">
            <a:avLst>
              <a:gd name="adj" fmla="val 4878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280992" y="3451771"/>
            <a:ext cx="581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909374" y="4137571"/>
            <a:ext cx="132510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Predictions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678686" y="3261271"/>
            <a:ext cx="1603921" cy="1562100"/>
          </a:xfrm>
          <a:prstGeom prst="roundRect">
            <a:avLst>
              <a:gd name="adj" fmla="val 4878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89713" y="3451771"/>
            <a:ext cx="581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818095" y="4137571"/>
            <a:ext cx="132510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Over Time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in Your Daily Life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085850"/>
            <a:ext cx="2641550" cy="1828800"/>
          </a:xfrm>
          <a:prstGeom prst="roundRect">
            <a:avLst>
              <a:gd name="adj" fmla="val 416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07356" y="1276350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10158" y="1885950"/>
            <a:ext cx="16306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Spam Filter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3832" y="2381250"/>
            <a:ext cx="23834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to identify and block spam emails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51150" y="1047750"/>
            <a:ext cx="2641550" cy="19050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53706" y="1238250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380183" y="1847850"/>
            <a:ext cx="238348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Netflix Recommendations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81476" y="2609850"/>
            <a:ext cx="19808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Suggests shows you might enjoy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97501" y="1181100"/>
            <a:ext cx="2641550" cy="1638300"/>
          </a:xfrm>
          <a:prstGeom prst="roundRect">
            <a:avLst>
              <a:gd name="adj" fmla="val 4651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00057" y="1371600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751436" y="1981200"/>
            <a:ext cx="15335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Assistants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3860" y="2476500"/>
            <a:ext cx="23286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Siri, Alexa understand your commands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4800" y="3257550"/>
            <a:ext cx="2641550" cy="1828800"/>
          </a:xfrm>
          <a:prstGeom prst="roundRect">
            <a:avLst>
              <a:gd name="adj" fmla="val 416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407356" y="3448050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815773" y="4057650"/>
            <a:ext cx="16196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Recognition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3832" y="4552950"/>
            <a:ext cx="23834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Unlocks your phone, tags friends in photos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51150" y="3257550"/>
            <a:ext cx="2641550" cy="1828800"/>
          </a:xfrm>
          <a:prstGeom prst="roundRect">
            <a:avLst>
              <a:gd name="adj" fmla="val 416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353706" y="3448050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3783680" y="4057650"/>
            <a:ext cx="15764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Self-Driving Cars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80183" y="4552950"/>
            <a:ext cx="23834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Recognizes objects and makes driving decisions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97501" y="3257550"/>
            <a:ext cx="2641550" cy="1828800"/>
          </a:xfrm>
          <a:prstGeom prst="roundRect">
            <a:avLst>
              <a:gd name="adj" fmla="val 416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300057" y="3448050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</a:t>
            </a:r>
            <a:endParaRPr lang="en-US" sz="2700" dirty="0"/>
          </a:p>
        </p:txBody>
      </p:sp>
      <p:sp>
        <p:nvSpPr>
          <p:cNvPr id="26" name="Text 24"/>
          <p:cNvSpPr/>
          <p:nvPr/>
        </p:nvSpPr>
        <p:spPr>
          <a:xfrm>
            <a:off x="6670524" y="4057650"/>
            <a:ext cx="16953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Diagnosis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26533" y="4552950"/>
            <a:ext cx="23834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diseases from X-rays and scans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522693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vs Traditional Programming</a:t>
            </a:r>
            <a:endParaRPr lang="en-US" sz="2700" dirty="0"/>
          </a:p>
        </p:txBody>
      </p:sp>
      <p:pic>
        <p:nvPicPr>
          <p:cNvPr id="4" name="Image 0" descr="/tmp/rasterized-gradient-24b6fb4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314450"/>
            <a:ext cx="4114800" cy="3505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2450" y="1562100"/>
            <a:ext cx="3619500" cy="609600"/>
          </a:xfrm>
          <a:prstGeom prst="roundRect">
            <a:avLst>
              <a:gd name="adj" fmla="val 12500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982297" y="1714500"/>
            <a:ext cx="275965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Programming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52450" y="2476500"/>
            <a:ext cx="1344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60512" y="2476500"/>
            <a:ext cx="34796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Programmer writes explicit rules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52450" y="2819400"/>
            <a:ext cx="1344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60512" y="2819400"/>
            <a:ext cx="34796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handle all scenarios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52450" y="3162300"/>
            <a:ext cx="1344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60512" y="3162300"/>
            <a:ext cx="34796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If-else statements for decisions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52450" y="3505200"/>
            <a:ext cx="1344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60512" y="3505200"/>
            <a:ext cx="34796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handle complex patterns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52450" y="4076700"/>
            <a:ext cx="3619500" cy="495300"/>
          </a:xfrm>
          <a:prstGeom prst="roundRect">
            <a:avLst>
              <a:gd name="adj" fmla="val 153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114671" y="4229100"/>
            <a:ext cx="24949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Calculate salary = hours × rate</a:t>
            </a:r>
            <a:endParaRPr lang="en-US" sz="1050" dirty="0"/>
          </a:p>
        </p:txBody>
      </p:sp>
      <p:pic>
        <p:nvPicPr>
          <p:cNvPr id="17" name="Image 1" descr="/tmp/rasterized-gradient-c1d68dd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314450"/>
            <a:ext cx="4114800" cy="3505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972050" y="1562100"/>
            <a:ext cx="3619500" cy="609600"/>
          </a:xfrm>
          <a:prstGeom prst="roundRect">
            <a:avLst>
              <a:gd name="adj" fmla="val 125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5790517" y="1714500"/>
            <a:ext cx="198241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4972050" y="2476500"/>
            <a:ext cx="1344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5180112" y="2476500"/>
            <a:ext cx="34796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learns from data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972050" y="2819400"/>
            <a:ext cx="1344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5180112" y="2819400"/>
            <a:ext cx="34796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Discovers patterns automatically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972050" y="3162300"/>
            <a:ext cx="1344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5180112" y="3162300"/>
            <a:ext cx="34796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predictions on new data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972050" y="3505200"/>
            <a:ext cx="1344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5180112" y="3505200"/>
            <a:ext cx="34796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Excels at complex patterns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972050" y="4076700"/>
            <a:ext cx="3619500" cy="495300"/>
          </a:xfrm>
          <a:prstGeom prst="roundRect">
            <a:avLst>
              <a:gd name="adj" fmla="val 1538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5458672" y="4229100"/>
            <a:ext cx="26461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Predict house price from features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553783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Types of Machine Learning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543050"/>
            <a:ext cx="2641550" cy="2019300"/>
          </a:xfrm>
          <a:prstGeom prst="roundRect">
            <a:avLst>
              <a:gd name="adj" fmla="val 3774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34642" y="1809750"/>
            <a:ext cx="581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3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97028" y="2571750"/>
            <a:ext cx="125709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00857" y="3105150"/>
            <a:ext cx="18494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from labeled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51150" y="1543050"/>
            <a:ext cx="2641550" cy="2019300"/>
          </a:xfrm>
          <a:prstGeom prst="roundRect">
            <a:avLst>
              <a:gd name="adj" fmla="val 3774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280992" y="1809750"/>
            <a:ext cx="581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3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800835" y="2571750"/>
            <a:ext cx="15420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21970" y="3105150"/>
            <a:ext cx="20997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patterns without labels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97501" y="1543050"/>
            <a:ext cx="2641550" cy="2019300"/>
          </a:xfrm>
          <a:prstGeom prst="roundRect">
            <a:avLst>
              <a:gd name="adj" fmla="val 3774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227342" y="1809750"/>
            <a:ext cx="5818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3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701946" y="2571750"/>
            <a:ext cx="16326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Reinforcement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763" y="3105150"/>
            <a:ext cx="21430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through trial and error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4800" y="3867150"/>
            <a:ext cx="8534400" cy="723900"/>
          </a:xfrm>
          <a:prstGeom prst="roundRect">
            <a:avLst>
              <a:gd name="adj" fmla="val 1052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132893" y="4095750"/>
            <a:ext cx="28780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explore each type in detail...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 🎯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466850"/>
            <a:ext cx="4114800" cy="137160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33375" y="1466850"/>
            <a:ext cx="0" cy="1371600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0550" y="1695450"/>
            <a:ext cx="36724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it?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0550" y="2152650"/>
            <a:ext cx="36724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from labeled examples where we know the correct answer.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4800" y="2990850"/>
            <a:ext cx="41970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4800" y="3409950"/>
            <a:ext cx="571500" cy="266700"/>
          </a:xfrm>
          <a:prstGeom prst="roundRect">
            <a:avLst>
              <a:gd name="adj" fmla="val 28571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1822" y="3409950"/>
            <a:ext cx="973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52500" y="3429000"/>
            <a:ext cx="35364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algorithm training data with labels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4800" y="3829050"/>
            <a:ext cx="571500" cy="266700"/>
          </a:xfrm>
          <a:prstGeom prst="roundRect">
            <a:avLst>
              <a:gd name="adj" fmla="val 28571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1822" y="3829050"/>
            <a:ext cx="973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52500" y="3848100"/>
            <a:ext cx="35364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learns patterns from data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4800" y="4248150"/>
            <a:ext cx="571500" cy="266700"/>
          </a:xfrm>
          <a:prstGeom prst="roundRect">
            <a:avLst>
              <a:gd name="adj" fmla="val 28571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41822" y="4248150"/>
            <a:ext cx="973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52500" y="4267200"/>
            <a:ext cx="35364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model to predict on new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24400" y="1143000"/>
            <a:ext cx="4114800" cy="2133600"/>
          </a:xfrm>
          <a:prstGeom prst="roundRect">
            <a:avLst>
              <a:gd name="adj" fmla="val 3571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53000" y="1371600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Examples: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53000" y="1790700"/>
            <a:ext cx="3657600" cy="12573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spam detection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 price prediction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diagnosis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classification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24400" y="3429000"/>
            <a:ext cx="4114800" cy="1409700"/>
          </a:xfrm>
          <a:prstGeom prst="roundRect">
            <a:avLst>
              <a:gd name="adj" fmla="val 540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53000" y="3657600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Types: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953000" y="4076700"/>
            <a:ext cx="3730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Predict numbers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53000" y="4381500"/>
            <a:ext cx="3730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Predict categories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Learning 🔍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466850"/>
            <a:ext cx="4114800" cy="137160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33375" y="1466850"/>
            <a:ext cx="0" cy="1371600"/>
          </a:xfrm>
          <a:prstGeom prst="line">
            <a:avLst/>
          </a:prstGeom>
          <a:noFill/>
          <a:ln w="57150">
            <a:solidFill>
              <a:srgbClr val="2C3E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0550" y="1695450"/>
            <a:ext cx="36724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it?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0550" y="2152650"/>
            <a:ext cx="36724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hidden patterns in unlabeled data without knowing the correct answer.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4800" y="2990850"/>
            <a:ext cx="41970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4800" y="3409950"/>
            <a:ext cx="571500" cy="266700"/>
          </a:xfrm>
          <a:prstGeom prst="roundRect">
            <a:avLst>
              <a:gd name="adj" fmla="val 28571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1822" y="3409950"/>
            <a:ext cx="973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52500" y="3429000"/>
            <a:ext cx="35364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algorithm data without labels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4800" y="3829050"/>
            <a:ext cx="571500" cy="266700"/>
          </a:xfrm>
          <a:prstGeom prst="roundRect">
            <a:avLst>
              <a:gd name="adj" fmla="val 28571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1822" y="3829050"/>
            <a:ext cx="973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52500" y="3848100"/>
            <a:ext cx="35364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finds structure and patterns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4800" y="4248150"/>
            <a:ext cx="571500" cy="266700"/>
          </a:xfrm>
          <a:prstGeom prst="roundRect">
            <a:avLst>
              <a:gd name="adj" fmla="val 28571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41822" y="4248150"/>
            <a:ext cx="973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52500" y="4267200"/>
            <a:ext cx="35364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similar data or reduces dimensions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24400" y="1143000"/>
            <a:ext cx="4114800" cy="2133600"/>
          </a:xfrm>
          <a:prstGeom prst="roundRect">
            <a:avLst>
              <a:gd name="adj" fmla="val 3571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53000" y="1371600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Examples: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53000" y="1790700"/>
            <a:ext cx="3657600" cy="12573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segmentation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Grouping news articles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systems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24400" y="3429000"/>
            <a:ext cx="4114800" cy="1409700"/>
          </a:xfrm>
          <a:prstGeom prst="roundRect">
            <a:avLst>
              <a:gd name="adj" fmla="val 5405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53000" y="3657600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Types: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953000" y="4076700"/>
            <a:ext cx="3730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Group similar items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53000" y="4381500"/>
            <a:ext cx="3730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Dimensionality Reduction: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Simplify data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55657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Reinforcement Learning 🎮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466850"/>
            <a:ext cx="4114800" cy="137160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33375" y="1466850"/>
            <a:ext cx="0" cy="1371600"/>
          </a:xfrm>
          <a:prstGeom prst="line">
            <a:avLst/>
          </a:prstGeom>
          <a:noFill/>
          <a:ln w="57150">
            <a:solidFill>
              <a:srgbClr val="FF6B9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0550" y="1695450"/>
            <a:ext cx="36724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it?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0550" y="2152650"/>
            <a:ext cx="36724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through trial and error with rewards and penalties.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4800" y="3143250"/>
            <a:ext cx="41970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4800" y="3562350"/>
            <a:ext cx="571500" cy="266700"/>
          </a:xfrm>
          <a:prstGeom prst="roundRect">
            <a:avLst>
              <a:gd name="adj" fmla="val 28571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1822" y="3562350"/>
            <a:ext cx="973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52500" y="3581400"/>
            <a:ext cx="35364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takes actions in environment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4800" y="3981450"/>
            <a:ext cx="571500" cy="266700"/>
          </a:xfrm>
          <a:prstGeom prst="roundRect">
            <a:avLst>
              <a:gd name="adj" fmla="val 28571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1822" y="3981450"/>
            <a:ext cx="973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52500" y="4000500"/>
            <a:ext cx="35364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rewards or penalties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4800" y="4400550"/>
            <a:ext cx="571500" cy="266700"/>
          </a:xfrm>
          <a:prstGeom prst="roundRect">
            <a:avLst>
              <a:gd name="adj" fmla="val 28571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41822" y="4400550"/>
            <a:ext cx="973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52500" y="4419600"/>
            <a:ext cx="35364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to maximize total reward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24400" y="1390650"/>
            <a:ext cx="4114800" cy="2133600"/>
          </a:xfrm>
          <a:prstGeom prst="roundRect">
            <a:avLst>
              <a:gd name="adj" fmla="val 3571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53000" y="1619250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Examples: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53000" y="2038350"/>
            <a:ext cx="3657600" cy="12573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playing (Chess, Go, Video games)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navigation and control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Self-driving cars</a:t>
            </a:r>
            <a:endParaRPr lang="en-US" sz="1200" dirty="0"/>
          </a:p>
          <a:p>
            <a:pPr algn="l" marL="114300" indent="-1143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strategies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24400" y="3829050"/>
            <a:ext cx="4114800" cy="914400"/>
          </a:xfrm>
          <a:prstGeom prst="roundRect">
            <a:avLst>
              <a:gd name="adj" fmla="val 833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16424" y="4057650"/>
            <a:ext cx="3730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like: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Training a dog with treats for good behavior and corrections for bad behavior!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536295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Machine Learning Workflow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261170"/>
            <a:ext cx="2540050" cy="1234380"/>
          </a:xfrm>
          <a:prstGeom prst="roundRect">
            <a:avLst>
              <a:gd name="adj" fmla="val 6173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92888" y="1299270"/>
            <a:ext cx="3637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2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841078" y="1840260"/>
            <a:ext cx="14673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 Collection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54779" y="2305050"/>
            <a:ext cx="12400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 relevant data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56864" y="1725960"/>
            <a:ext cx="2331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02050" y="1261170"/>
            <a:ext cx="2540050" cy="1234380"/>
          </a:xfrm>
          <a:prstGeom prst="roundRect">
            <a:avLst>
              <a:gd name="adj" fmla="val 6173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390138" y="1299270"/>
            <a:ext cx="3637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2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🧹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3775025" y="1840260"/>
            <a:ext cx="15939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Data Preparation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906639" y="2305050"/>
            <a:ext cx="133087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and preprocess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54113" y="1725960"/>
            <a:ext cx="2331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99299" y="1261170"/>
            <a:ext cx="2540050" cy="1234380"/>
          </a:xfrm>
          <a:prstGeom prst="roundRect">
            <a:avLst>
              <a:gd name="adj" fmla="val 6173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387388" y="1299270"/>
            <a:ext cx="3637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2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855159" y="1840260"/>
            <a:ext cx="14283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Model Training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077858" y="2305050"/>
            <a:ext cx="9827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learns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13707" y="2609850"/>
            <a:ext cx="11658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04800" y="3028950"/>
            <a:ext cx="2540050" cy="1234380"/>
          </a:xfrm>
          <a:prstGeom prst="roundRect">
            <a:avLst>
              <a:gd name="adj" fmla="val 6173"/>
            </a:avLst>
          </a:prstGeom>
          <a:solidFill>
            <a:srgbClr val="FF6B9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392888" y="3067050"/>
            <a:ext cx="3637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2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77095" y="3608040"/>
            <a:ext cx="1195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Deployment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68328" y="4072830"/>
            <a:ext cx="10129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in real world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956864" y="3493740"/>
            <a:ext cx="2331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302050" y="3028950"/>
            <a:ext cx="2540050" cy="1234380"/>
          </a:xfrm>
          <a:prstGeom prst="roundRect">
            <a:avLst>
              <a:gd name="adj" fmla="val 6173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390138" y="3067050"/>
            <a:ext cx="3637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2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4189908" y="3608040"/>
            <a:ext cx="7641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Tuning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902997" y="4072830"/>
            <a:ext cx="13380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performance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54113" y="3493740"/>
            <a:ext cx="2331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299299" y="3028950"/>
            <a:ext cx="2540050" cy="1234380"/>
          </a:xfrm>
          <a:prstGeom prst="roundRect">
            <a:avLst>
              <a:gd name="adj" fmla="val 6173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387388" y="3067050"/>
            <a:ext cx="3637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22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7029886" y="3608040"/>
            <a:ext cx="10788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Evaluation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043852" y="4072830"/>
            <a:ext cx="10509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performance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04800" y="4415730"/>
            <a:ext cx="8534400" cy="228600"/>
          </a:xfrm>
          <a:prstGeom prst="roundRect">
            <a:avLst>
              <a:gd name="adj" fmla="val 3333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787689" y="4415730"/>
            <a:ext cx="35684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an </a:t>
            </a:r>
            <a:pPr algn="ctr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process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improve at each step!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572243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Applications Across Industries</a:t>
            </a:r>
            <a:endParaRPr lang="en-US" sz="2700" dirty="0"/>
          </a:p>
        </p:txBody>
      </p:sp>
      <p:pic>
        <p:nvPicPr>
          <p:cNvPr id="4" name="Image 0" descr="/tmp/rasterized-gradient-3ff7446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471017"/>
            <a:ext cx="2844850" cy="9370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1509117"/>
            <a:ext cx="29017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24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28600" y="1920478"/>
            <a:ext cx="29017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24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28600" y="2255639"/>
            <a:ext cx="29017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diagnosis, drug discovery</a:t>
            </a:r>
            <a:endParaRPr lang="en-US" sz="900" dirty="0"/>
          </a:p>
        </p:txBody>
      </p:sp>
      <p:pic>
        <p:nvPicPr>
          <p:cNvPr id="8" name="Image 1" descr="/tmp/rasterized-gradient-faaa4f8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650" y="1471017"/>
            <a:ext cx="2844850" cy="93702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149650" y="1509117"/>
            <a:ext cx="29017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24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3149650" y="1920478"/>
            <a:ext cx="29017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24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149650" y="2255639"/>
            <a:ext cx="29017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detection, credit scoring</a:t>
            </a:r>
            <a:endParaRPr lang="en-US" sz="900" dirty="0"/>
          </a:p>
        </p:txBody>
      </p:sp>
      <p:pic>
        <p:nvPicPr>
          <p:cNvPr id="12" name="Image 2" descr="/tmp/rasterized-gradient-cecc7ae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699" y="1471017"/>
            <a:ext cx="2844850" cy="93702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70699" y="1509117"/>
            <a:ext cx="29017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24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070699" y="1920478"/>
            <a:ext cx="29017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24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070699" y="2255639"/>
            <a:ext cx="29017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Recommendations, forecasting</a:t>
            </a:r>
            <a:endParaRPr lang="en-US" sz="900" dirty="0"/>
          </a:p>
        </p:txBody>
      </p:sp>
      <p:pic>
        <p:nvPicPr>
          <p:cNvPr id="16" name="Image 3" descr="/tmp/rasterized-gradient-03f5685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484239"/>
            <a:ext cx="2844850" cy="93702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28600" y="2522339"/>
            <a:ext cx="29017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24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228600" y="2933700"/>
            <a:ext cx="29017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24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228600" y="3268861"/>
            <a:ext cx="29017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control, maintenance</a:t>
            </a:r>
            <a:endParaRPr lang="en-US" sz="900" dirty="0"/>
          </a:p>
        </p:txBody>
      </p:sp>
      <p:pic>
        <p:nvPicPr>
          <p:cNvPr id="20" name="Image 4" descr="/tmp/rasterized-gradient-c584dc7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9650" y="2484239"/>
            <a:ext cx="2844850" cy="93702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149650" y="2522339"/>
            <a:ext cx="29017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24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3149650" y="2933700"/>
            <a:ext cx="29017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24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Transportation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149650" y="3268861"/>
            <a:ext cx="29017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vehicles, routing</a:t>
            </a:r>
            <a:endParaRPr lang="en-US" sz="900" dirty="0"/>
          </a:p>
        </p:txBody>
      </p:sp>
      <p:pic>
        <p:nvPicPr>
          <p:cNvPr id="24" name="Image 5" descr="/tmp/rasterized-gradient-2e6dd44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0699" y="2484239"/>
            <a:ext cx="2844850" cy="93702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070699" y="2522339"/>
            <a:ext cx="29017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24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800" dirty="0"/>
          </a:p>
        </p:txBody>
      </p:sp>
      <p:sp>
        <p:nvSpPr>
          <p:cNvPr id="26" name="Text 18"/>
          <p:cNvSpPr/>
          <p:nvPr/>
        </p:nvSpPr>
        <p:spPr>
          <a:xfrm>
            <a:off x="6070699" y="2933700"/>
            <a:ext cx="29017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24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070699" y="3268861"/>
            <a:ext cx="29017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recommendations</a:t>
            </a:r>
            <a:endParaRPr lang="en-US" sz="900" dirty="0"/>
          </a:p>
        </p:txBody>
      </p:sp>
      <p:pic>
        <p:nvPicPr>
          <p:cNvPr id="28" name="Image 6" descr="/tmp/rasterized-gradient-eb7c6f7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3497461"/>
            <a:ext cx="2844850" cy="93702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228600" y="3535561"/>
            <a:ext cx="29017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24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</a:t>
            </a:r>
            <a:endParaRPr lang="en-US" sz="1800" dirty="0"/>
          </a:p>
        </p:txBody>
      </p:sp>
      <p:sp>
        <p:nvSpPr>
          <p:cNvPr id="30" name="Text 21"/>
          <p:cNvSpPr/>
          <p:nvPr/>
        </p:nvSpPr>
        <p:spPr>
          <a:xfrm>
            <a:off x="228600" y="3946922"/>
            <a:ext cx="29017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24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Entertainment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228600" y="4282083"/>
            <a:ext cx="29017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AI, content generation</a:t>
            </a:r>
            <a:endParaRPr lang="en-US" sz="900" dirty="0"/>
          </a:p>
        </p:txBody>
      </p:sp>
      <p:pic>
        <p:nvPicPr>
          <p:cNvPr id="32" name="Image 7" descr="/tmp/rasterized-gradient-281e3f89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9650" y="3497461"/>
            <a:ext cx="2844850" cy="93702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3149650" y="3535561"/>
            <a:ext cx="29017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24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800" dirty="0"/>
          </a:p>
        </p:txBody>
      </p:sp>
      <p:sp>
        <p:nvSpPr>
          <p:cNvPr id="34" name="Text 24"/>
          <p:cNvSpPr/>
          <p:nvPr/>
        </p:nvSpPr>
        <p:spPr>
          <a:xfrm>
            <a:off x="3149650" y="3946922"/>
            <a:ext cx="29017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24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3149650" y="4282083"/>
            <a:ext cx="29017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detection</a:t>
            </a:r>
            <a:endParaRPr lang="en-US" sz="900" dirty="0"/>
          </a:p>
        </p:txBody>
      </p:sp>
      <p:pic>
        <p:nvPicPr>
          <p:cNvPr id="36" name="Image 8" descr="/tmp/rasterized-gradient-6a2d58b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0699" y="3497461"/>
            <a:ext cx="2844850" cy="937022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070699" y="3535561"/>
            <a:ext cx="29017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300"/>
              </a:spcBef>
              <a:spcAft>
                <a:spcPts val="24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🌾</a:t>
            </a:r>
            <a:endParaRPr lang="en-US" sz="1800" dirty="0"/>
          </a:p>
        </p:txBody>
      </p:sp>
      <p:sp>
        <p:nvSpPr>
          <p:cNvPr id="38" name="Text 27"/>
          <p:cNvSpPr/>
          <p:nvPr/>
        </p:nvSpPr>
        <p:spPr>
          <a:xfrm>
            <a:off x="6070699" y="3946922"/>
            <a:ext cx="29017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24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Agriculture</a:t>
            </a:r>
            <a:endParaRPr lang="en-US" sz="1200" dirty="0"/>
          </a:p>
        </p:txBody>
      </p:sp>
      <p:sp>
        <p:nvSpPr>
          <p:cNvPr id="39" name="Text 28"/>
          <p:cNvSpPr/>
          <p:nvPr/>
        </p:nvSpPr>
        <p:spPr>
          <a:xfrm>
            <a:off x="6070699" y="4282083"/>
            <a:ext cx="290174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 monitoring, yield prediction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51589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Machine Learning Matters</a:t>
            </a:r>
            <a:endParaRPr lang="en-US" sz="2700" dirty="0"/>
          </a:p>
        </p:txBody>
      </p:sp>
      <p:pic>
        <p:nvPicPr>
          <p:cNvPr id="4" name="Image 0" descr="/tmp/rasterized-gradient-9de80c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306860"/>
            <a:ext cx="2743200" cy="16077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8106" y="1497360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40565" y="2106960"/>
            <a:ext cx="16715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Complexity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01439" y="2571750"/>
            <a:ext cx="15497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Solves complex problems</a:t>
            </a:r>
            <a:endParaRPr lang="en-US" sz="1050" dirty="0"/>
          </a:p>
        </p:txBody>
      </p:sp>
      <p:pic>
        <p:nvPicPr>
          <p:cNvPr id="8" name="Image 1" descr="/tmp/rasterized-gradient-e261e02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306860"/>
            <a:ext cx="2743200" cy="16077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53706" y="1497360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700" dirty="0"/>
          </a:p>
        </p:txBody>
      </p:sp>
      <p:sp>
        <p:nvSpPr>
          <p:cNvPr id="10" name="Text 6"/>
          <p:cNvSpPr/>
          <p:nvPr/>
        </p:nvSpPr>
        <p:spPr>
          <a:xfrm>
            <a:off x="3760302" y="2106960"/>
            <a:ext cx="16232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Leverages Big Data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076813" y="2571750"/>
            <a:ext cx="9903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insights</a:t>
            </a:r>
            <a:endParaRPr lang="en-US" sz="1050" dirty="0"/>
          </a:p>
        </p:txBody>
      </p:sp>
      <p:pic>
        <p:nvPicPr>
          <p:cNvPr id="12" name="Image 2" descr="/tmp/rasterized-gradient-175fdaa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306860"/>
            <a:ext cx="2743200" cy="160779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49306" y="1497360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700" dirty="0"/>
          </a:p>
        </p:txBody>
      </p:sp>
      <p:sp>
        <p:nvSpPr>
          <p:cNvPr id="14" name="Text 9"/>
          <p:cNvSpPr/>
          <p:nvPr/>
        </p:nvSpPr>
        <p:spPr>
          <a:xfrm>
            <a:off x="6408460" y="2106960"/>
            <a:ext cx="21181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Improvement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832601" y="2571750"/>
            <a:ext cx="12699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 better over time</a:t>
            </a:r>
            <a:endParaRPr lang="en-US" sz="1050" dirty="0"/>
          </a:p>
        </p:txBody>
      </p:sp>
      <p:pic>
        <p:nvPicPr>
          <p:cNvPr id="16" name="Image 3" descr="/tmp/rasterized-gradient-c270b38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3067050"/>
            <a:ext cx="2743200" cy="160779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58106" y="3257550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</a:t>
            </a:r>
            <a:endParaRPr lang="en-US" sz="2700" dirty="0"/>
          </a:p>
        </p:txBody>
      </p:sp>
      <p:sp>
        <p:nvSpPr>
          <p:cNvPr id="18" name="Text 12"/>
          <p:cNvSpPr/>
          <p:nvPr/>
        </p:nvSpPr>
        <p:spPr>
          <a:xfrm>
            <a:off x="1112751" y="3867150"/>
            <a:ext cx="1127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Demand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980832" y="4331940"/>
            <a:ext cx="139098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sought-after skills</a:t>
            </a:r>
            <a:endParaRPr lang="en-US" sz="1050" dirty="0"/>
          </a:p>
        </p:txBody>
      </p:sp>
      <p:pic>
        <p:nvPicPr>
          <p:cNvPr id="20" name="Image 4" descr="/tmp/rasterized-gradient-331e784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3067050"/>
            <a:ext cx="2743200" cy="160779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53706" y="3257550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</a:t>
            </a:r>
            <a:endParaRPr lang="en-US" sz="2700" dirty="0"/>
          </a:p>
        </p:txBody>
      </p:sp>
      <p:sp>
        <p:nvSpPr>
          <p:cNvPr id="22" name="Text 15"/>
          <p:cNvSpPr/>
          <p:nvPr/>
        </p:nvSpPr>
        <p:spPr>
          <a:xfrm>
            <a:off x="3993776" y="3867150"/>
            <a:ext cx="11564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Impact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3849867" y="4331940"/>
            <a:ext cx="144411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Solving global problems</a:t>
            </a:r>
            <a:endParaRPr lang="en-US" sz="1050" dirty="0"/>
          </a:p>
        </p:txBody>
      </p:sp>
      <p:pic>
        <p:nvPicPr>
          <p:cNvPr id="24" name="Image 5" descr="/tmp/rasterized-gradient-3be4972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067050"/>
            <a:ext cx="2743200" cy="160779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249306" y="3257550"/>
            <a:ext cx="436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27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700" dirty="0"/>
          </a:p>
        </p:txBody>
      </p:sp>
      <p:sp>
        <p:nvSpPr>
          <p:cNvPr id="26" name="Text 18"/>
          <p:cNvSpPr/>
          <p:nvPr/>
        </p:nvSpPr>
        <p:spPr>
          <a:xfrm>
            <a:off x="6981826" y="3867150"/>
            <a:ext cx="97139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36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1350" dirty="0"/>
          </a:p>
        </p:txBody>
      </p:sp>
      <p:sp>
        <p:nvSpPr>
          <p:cNvPr id="27" name="Text 19"/>
          <p:cNvSpPr/>
          <p:nvPr/>
        </p:nvSpPr>
        <p:spPr>
          <a:xfrm>
            <a:off x="6670018" y="4331940"/>
            <a:ext cx="15951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Automates repetitive tasks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37442" y="381000"/>
            <a:ext cx="36689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Next?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1863328" y="1257300"/>
            <a:ext cx="5417344" cy="1676400"/>
          </a:xfrm>
          <a:prstGeom prst="roundRect">
            <a:avLst>
              <a:gd name="adj" fmla="val 4545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89075" y="1485900"/>
            <a:ext cx="2910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407445" y="1504950"/>
            <a:ext cx="46906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Tomorrow: Linear Regression - Your first ML algorithm!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089075" y="1943100"/>
            <a:ext cx="2910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411322" y="1962150"/>
            <a:ext cx="42951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Week: Feature Engineering &amp; Model Building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89075" y="2400300"/>
            <a:ext cx="29101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407753" y="2419350"/>
            <a:ext cx="46591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Ahead: Deep Learning, NLP, Computer Vision &amp; LLMs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90138" y="3467100"/>
            <a:ext cx="3637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2544952" y="3962400"/>
            <a:ext cx="40540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ML Journey Starts Now!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5 Day 1 - Introduction to Machine Learning</dc:title>
  <dc:subject>PptxGenJS Presentation</dc:subject>
  <dc:creator>AI Bootcamp</dc:creator>
  <cp:lastModifiedBy>AI Bootcamp</cp:lastModifiedBy>
  <cp:revision>1</cp:revision>
  <dcterms:created xsi:type="dcterms:W3CDTF">2025-11-14T07:24:04Z</dcterms:created>
  <dcterms:modified xsi:type="dcterms:W3CDTF">2025-11-14T07:24:04Z</dcterms:modified>
</cp:coreProperties>
</file>
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0501" y="990600"/>
            <a:ext cx="570299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Features &amp; Regularization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553998" y="2438400"/>
            <a:ext cx="20360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600"/>
              </a:spcBef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5 - Day 3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476729" y="3276600"/>
            <a:ext cx="21905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Simple Lines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87497" y="3848100"/>
            <a:ext cx="37690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Overfitting, Underfitting &amp; Model Complexity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6162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Simple Linear Models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192709"/>
            <a:ext cx="8229600" cy="1340941"/>
          </a:xfrm>
          <a:prstGeom prst="roundRect">
            <a:avLst>
              <a:gd name="adj" fmla="val 568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192709"/>
            <a:ext cx="0" cy="1340941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3522" y="1497509"/>
            <a:ext cx="7714107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data is rarely perfectly linear. Sometimes we need more complex patterns!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8463" y="2914650"/>
            <a:ext cx="2312491" cy="1722090"/>
          </a:xfrm>
          <a:prstGeom prst="roundRect">
            <a:avLst>
              <a:gd name="adj" fmla="val 4425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63700" y="295275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65095" y="3684240"/>
            <a:ext cx="19790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Capture Curves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5338" y="4179540"/>
            <a:ext cx="2358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lines miss non-linear patterns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15754" y="2914650"/>
            <a:ext cx="2312491" cy="1722090"/>
          </a:xfrm>
          <a:prstGeom prst="roundRect">
            <a:avLst>
              <a:gd name="adj" fmla="val 442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80992" y="295275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🎢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83753" y="3684240"/>
            <a:ext cx="19763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is Complex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92629" y="4179540"/>
            <a:ext cx="2358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 can be curved or wavy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3046" y="3028950"/>
            <a:ext cx="2312491" cy="1493490"/>
          </a:xfrm>
          <a:prstGeom prst="roundRect">
            <a:avLst>
              <a:gd name="adj" fmla="val 510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98283" y="306705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438" y="3798540"/>
            <a:ext cx="19437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More Flexibility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6357" y="4293840"/>
            <a:ext cx="18058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polynomial features!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vs Underfitting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093589"/>
            <a:ext cx="2743200" cy="1257300"/>
          </a:xfrm>
          <a:prstGeom prst="roundRect">
            <a:avLst>
              <a:gd name="adj" fmla="val 6061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58106" y="1284089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15747" y="1893689"/>
            <a:ext cx="1321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800" y="2503289"/>
            <a:ext cx="2743200" cy="2232571"/>
          </a:xfrm>
          <a:prstGeom prst="roundRect">
            <a:avLst>
              <a:gd name="adj" fmla="val 34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655689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Simple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06179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is too basic to capture patterns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349079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9957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wrong assumptions about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4247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Performance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9296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on both training and test 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0" y="1093589"/>
            <a:ext cx="2743200" cy="1257300"/>
          </a:xfrm>
          <a:prstGeom prst="roundRect">
            <a:avLst>
              <a:gd name="adj" fmla="val 606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53706" y="1284089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4001975" y="1893689"/>
            <a:ext cx="11399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Right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00400" y="2503289"/>
            <a:ext cx="2743200" cy="2232571"/>
          </a:xfrm>
          <a:prstGeom prst="roundRect">
            <a:avLst>
              <a:gd name="adj" fmla="val 34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52800" y="2655689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52800" y="3006179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true patterns without noise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2800" y="3349079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Generalizes Well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52800" y="369957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new, unseen data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2800" y="404247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2800" y="439296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on both training and test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96000" y="1093589"/>
            <a:ext cx="2743200" cy="1257300"/>
          </a:xfrm>
          <a:prstGeom prst="roundRect">
            <a:avLst>
              <a:gd name="adj" fmla="val 606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249306" y="1284089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6878142" y="1893689"/>
            <a:ext cx="11789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96000" y="2503289"/>
            <a:ext cx="2743200" cy="2232571"/>
          </a:xfrm>
          <a:prstGeom prst="roundRect">
            <a:avLst>
              <a:gd name="adj" fmla="val 34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48400" y="2655689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Complex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48400" y="3006179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memorizes training data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48400" y="3349079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Variance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48400" y="369957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sensitive to training data noise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48400" y="404247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Generalize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48400" y="4392960"/>
            <a:ext cx="24871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on training, poor on test data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Regression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948779"/>
            <a:ext cx="8229600" cy="1028700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948779"/>
            <a:ext cx="0" cy="10287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5798" y="1177379"/>
            <a:ext cx="786955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polynomial features to capture non-linear relationships while still using linear regression!</a:t>
            </a:r>
            <a:endParaRPr lang="en-US" sz="1500" dirty="0"/>
          </a:p>
        </p:txBody>
      </p:sp>
      <p:pic>
        <p:nvPicPr>
          <p:cNvPr id="7" name="Image 0" descr="/tmp/rasterized-gradient-b4fbcca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402" y="2282279"/>
            <a:ext cx="4801046" cy="1066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23392" y="2320379"/>
            <a:ext cx="48970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= b + w₁x + w₂x² + w₃x³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005377" y="3082379"/>
            <a:ext cx="313309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features to higher dimensions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023765" y="3825329"/>
            <a:ext cx="1495574" cy="960090"/>
          </a:xfrm>
          <a:prstGeom prst="roundRect">
            <a:avLst>
              <a:gd name="adj" fmla="val 7937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402135" y="3977729"/>
            <a:ext cx="7388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2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178071" y="4442520"/>
            <a:ext cx="11869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Parabola (U-shape)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24139" y="3825329"/>
            <a:ext cx="1495574" cy="960090"/>
          </a:xfrm>
          <a:prstGeom prst="roundRect">
            <a:avLst>
              <a:gd name="adj" fmla="val 793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202509" y="3977729"/>
            <a:ext cx="7388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3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989680" y="4442520"/>
            <a:ext cx="11643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S-curve (one bend)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24513" y="3730079"/>
            <a:ext cx="1495574" cy="1150590"/>
          </a:xfrm>
          <a:prstGeom prst="roundRect">
            <a:avLst>
              <a:gd name="adj" fmla="val 662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74568" y="3882479"/>
            <a:ext cx="11954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Degree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765005" y="4347270"/>
            <a:ext cx="12145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complex curves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982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Bias-Variance Tradeoff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614636" y="1133475"/>
            <a:ext cx="5914579" cy="742950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643211" y="1133475"/>
            <a:ext cx="0" cy="74295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6384" y="1362075"/>
            <a:ext cx="550823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sweet spot between model simplicity and complexity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951583" y="2181225"/>
            <a:ext cx="2468017" cy="1714500"/>
          </a:xfrm>
          <a:prstGeom prst="roundRect">
            <a:avLst>
              <a:gd name="adj" fmla="val 4444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26903" y="2181225"/>
            <a:ext cx="25173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6903" y="2714625"/>
            <a:ext cx="2517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from wrong assumptions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6903" y="3171825"/>
            <a:ext cx="25173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Bias: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Underfitting - model too simple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26903" y="3705225"/>
            <a:ext cx="25173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Bias: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captures patterns well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24400" y="2276475"/>
            <a:ext cx="2468017" cy="152400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99720" y="2276475"/>
            <a:ext cx="25173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99720" y="2809875"/>
            <a:ext cx="2517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to training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99720" y="3267075"/>
            <a:ext cx="25173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Variance: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Overfitting - too sensitive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99720" y="3609975"/>
            <a:ext cx="251737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Variance: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Stable predictions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71043" y="4124325"/>
            <a:ext cx="3401764" cy="571500"/>
          </a:xfrm>
          <a:prstGeom prst="roundRect">
            <a:avLst>
              <a:gd name="adj" fmla="val 1333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992474" y="4276725"/>
            <a:ext cx="31589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 both - minimize total error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Regularization?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95375" y="1091654"/>
            <a:ext cx="6953250" cy="742950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123950" y="1091654"/>
            <a:ext cx="0" cy="74295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16736" y="1320254"/>
            <a:ext cx="656767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technique to prevent overfitting by adding a penalty to large model weights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57474" y="2139404"/>
            <a:ext cx="1974800" cy="1874490"/>
          </a:xfrm>
          <a:prstGeom prst="roundRect">
            <a:avLst>
              <a:gd name="adj" fmla="val 406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26655" y="2329904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593174" y="2939504"/>
            <a:ext cx="170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Complexity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24829" y="3670995"/>
            <a:ext cx="12399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weights small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84674" y="2272754"/>
            <a:ext cx="1974800" cy="1607790"/>
          </a:xfrm>
          <a:prstGeom prst="roundRect">
            <a:avLst>
              <a:gd name="adj" fmla="val 4739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53855" y="2463254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3736314" y="3072854"/>
            <a:ext cx="16715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Overfitting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48233" y="3537645"/>
            <a:ext cx="12476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generalization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1875" y="2177504"/>
            <a:ext cx="1974800" cy="1798290"/>
          </a:xfrm>
          <a:prstGeom prst="roundRect">
            <a:avLst>
              <a:gd name="adj" fmla="val 4237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81056" y="2368004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145265" y="2977604"/>
            <a:ext cx="11078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Penalty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847575" y="3442395"/>
            <a:ext cx="170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accuracy for simplicity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2781" y="4318695"/>
            <a:ext cx="2738289" cy="190500"/>
          </a:xfrm>
          <a:prstGeom prst="roundRect">
            <a:avLst>
              <a:gd name="adj" fmla="val 40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75398" y="4318695"/>
            <a:ext cx="27930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Cost: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MSE + Regularization Penalty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2276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Regularization (Ridge Regression)</a:t>
            </a:r>
            <a:endParaRPr lang="en-US" sz="2700" dirty="0"/>
          </a:p>
        </p:txBody>
      </p:sp>
      <p:pic>
        <p:nvPicPr>
          <p:cNvPr id="4" name="Image 0" descr="/tmp/rasterized-gradient-4af113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284089"/>
            <a:ext cx="4114800" cy="876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45948" y="1284089"/>
            <a:ext cx="16323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Formula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40292" y="1893689"/>
            <a:ext cx="18436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= MSE + λ × Σw²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312789"/>
            <a:ext cx="4114800" cy="2232571"/>
          </a:xfrm>
          <a:prstGeom prst="roundRect">
            <a:avLst>
              <a:gd name="adj" fmla="val 34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46518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Term: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815679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sum of squared weights (L2 norm)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315857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(λ):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50907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strength of regularization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385197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20246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Shrinks weights toward zero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24400" y="1581150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874463" y="1733550"/>
            <a:ext cx="18146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24400" y="2305050"/>
            <a:ext cx="4114800" cy="1600200"/>
          </a:xfrm>
          <a:prstGeom prst="roundRect">
            <a:avLst>
              <a:gd name="adj" fmla="val 476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76800" y="2457450"/>
            <a:ext cx="146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096768" y="2457450"/>
            <a:ext cx="3661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all features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76800" y="2800350"/>
            <a:ext cx="146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96768" y="2800350"/>
            <a:ext cx="3661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weights smaller, not zero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76800" y="3143250"/>
            <a:ext cx="146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096768" y="3143250"/>
            <a:ext cx="3661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well with correlated features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76800" y="3486150"/>
            <a:ext cx="146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096768" y="3486150"/>
            <a:ext cx="3661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continuous predictions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24400" y="4057650"/>
            <a:ext cx="4114800" cy="190500"/>
          </a:xfrm>
          <a:prstGeom prst="roundRect">
            <a:avLst>
              <a:gd name="adj" fmla="val 400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17949" y="4057650"/>
            <a:ext cx="29275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0: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regularization | </a:t>
            </a:r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large: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penalty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2664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Regularization (Lasso Regression)</a:t>
            </a:r>
            <a:endParaRPr lang="en-US" sz="2700" dirty="0"/>
          </a:p>
        </p:txBody>
      </p:sp>
      <p:pic>
        <p:nvPicPr>
          <p:cNvPr id="4" name="Image 0" descr="/tmp/rasterized-gradient-6bed92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284089"/>
            <a:ext cx="4114800" cy="876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2891" y="1284089"/>
            <a:ext cx="16586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Formula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26629" y="1893689"/>
            <a:ext cx="18709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= MSE + λ × Σ|w|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312789"/>
            <a:ext cx="4114800" cy="2232571"/>
          </a:xfrm>
          <a:prstGeom prst="roundRect">
            <a:avLst>
              <a:gd name="adj" fmla="val 341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46518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Term: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815679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sum of absolute weights (L1 norm)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3158579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(λ):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50907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strength of regularization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7200" y="385197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202460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some weights to exactly zero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24400" y="1581150"/>
            <a:ext cx="4114800" cy="571500"/>
          </a:xfrm>
          <a:prstGeom prst="roundRect">
            <a:avLst>
              <a:gd name="adj" fmla="val 13333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874463" y="1733550"/>
            <a:ext cx="18146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724400" y="2305050"/>
            <a:ext cx="4114800" cy="1600200"/>
          </a:xfrm>
          <a:prstGeom prst="roundRect">
            <a:avLst>
              <a:gd name="adj" fmla="val 476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76800" y="2457450"/>
            <a:ext cx="146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096768" y="2457450"/>
            <a:ext cx="3661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feature selection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76800" y="2800350"/>
            <a:ext cx="146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096768" y="2800350"/>
            <a:ext cx="3661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some weights to exactly zero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76800" y="3143250"/>
            <a:ext cx="146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096768" y="3143250"/>
            <a:ext cx="3661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sparse models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76800" y="3486150"/>
            <a:ext cx="1466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096768" y="3486150"/>
            <a:ext cx="3661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when many features irrelevant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24400" y="4057650"/>
            <a:ext cx="4114800" cy="190500"/>
          </a:xfrm>
          <a:prstGeom prst="roundRect">
            <a:avLst>
              <a:gd name="adj" fmla="val 4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57677" y="4057650"/>
            <a:ext cx="38480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feature selection makes models interpretable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2664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vs Lasso: When to Use Which?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112639"/>
            <a:ext cx="2641550" cy="1181100"/>
          </a:xfrm>
          <a:prstGeom prst="roundRect">
            <a:avLst>
              <a:gd name="adj" fmla="val 645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63373" y="1303139"/>
            <a:ext cx="3242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99530" y="1874639"/>
            <a:ext cx="16520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446139"/>
            <a:ext cx="2641550" cy="2270671"/>
          </a:xfrm>
          <a:prstGeom prst="roundRect">
            <a:avLst>
              <a:gd name="adj" fmla="val 33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598539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79539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features might be useful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91929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Features are correlated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04320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Want smooth weight distribution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992910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373910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stable with correlated features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51150" y="1112639"/>
            <a:ext cx="2641550" cy="1181100"/>
          </a:xfrm>
          <a:prstGeom prst="roundRect">
            <a:avLst>
              <a:gd name="adj" fmla="val 6452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09724" y="1303139"/>
            <a:ext cx="3242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3734950" y="1874639"/>
            <a:ext cx="167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 Regression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51150" y="2446139"/>
            <a:ext cx="2641550" cy="2270671"/>
          </a:xfrm>
          <a:prstGeom prst="roundRect">
            <a:avLst>
              <a:gd name="adj" fmla="val 33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03550" y="2598539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3550" y="2979539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Many features, few important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03550" y="3291929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3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Need feature selection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03550" y="3604320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Want interpretable model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03550" y="3992910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03550" y="4373910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feature selection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97501" y="1443930"/>
            <a:ext cx="2641550" cy="114300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72771" y="163443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21495" y="2167830"/>
            <a:ext cx="9935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Net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97501" y="2739330"/>
            <a:ext cx="2641550" cy="1645890"/>
          </a:xfrm>
          <a:prstGeom prst="roundRect">
            <a:avLst>
              <a:gd name="adj" fmla="val 463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49901" y="2891730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Both: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49901" y="3272730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960"/>
              </a:spcAft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L1 + L2 regularization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49901" y="3661321"/>
            <a:ext cx="2383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49901" y="4042321"/>
            <a:ext cx="23834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Unsure which to choose!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1880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Lambda (λ)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63364" y="782985"/>
            <a:ext cx="7217271" cy="742950"/>
          </a:xfrm>
          <a:prstGeom prst="roundRect">
            <a:avLst>
              <a:gd name="adj" fmla="val 102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91939" y="782985"/>
            <a:ext cx="0" cy="74295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2085" y="1011585"/>
            <a:ext cx="683698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controls the strength of regularization - finding the right value is crucial!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222004" y="2021235"/>
            <a:ext cx="1465064" cy="1417290"/>
          </a:xfrm>
          <a:prstGeom prst="roundRect">
            <a:avLst>
              <a:gd name="adj" fmla="val 5376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35635" y="2173635"/>
            <a:ext cx="4376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66901" y="2668935"/>
            <a:ext cx="11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regularization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32935" y="3095625"/>
            <a:ext cx="10432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overfitting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39468" y="2021235"/>
            <a:ext cx="1465064" cy="1417290"/>
          </a:xfrm>
          <a:prstGeom prst="roundRect">
            <a:avLst>
              <a:gd name="adj" fmla="val 5376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45430" y="2173635"/>
            <a:ext cx="852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optimal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31879" y="2668935"/>
            <a:ext cx="10802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balance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93474" y="3095625"/>
            <a:ext cx="11569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generalization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56932" y="1906935"/>
            <a:ext cx="1465064" cy="1645890"/>
          </a:xfrm>
          <a:prstGeom prst="roundRect">
            <a:avLst>
              <a:gd name="adj" fmla="val 520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649193" y="2059335"/>
            <a:ext cx="10803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very large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97729" y="2554635"/>
            <a:ext cx="1183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36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penalty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6118" y="3209925"/>
            <a:ext cx="11265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underfitting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55664" y="3857625"/>
            <a:ext cx="4232523" cy="1188690"/>
          </a:xfrm>
          <a:prstGeom prst="roundRect">
            <a:avLst>
              <a:gd name="adj" fmla="val 641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487053" y="3857625"/>
            <a:ext cx="21697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Find Optimal λ?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32752" y="4398615"/>
            <a:ext cx="1278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13339" y="4855815"/>
            <a:ext cx="43171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multiple λ values and pick the one with best validation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8387" y="209550"/>
            <a:ext cx="426707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42257" y="1085850"/>
            <a:ext cx="4459337" cy="2133600"/>
          </a:xfrm>
          <a:prstGeom prst="roundRect">
            <a:avLst>
              <a:gd name="adj" fmla="val 357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68004" y="13144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896335" y="1333500"/>
            <a:ext cx="3674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features capture non-linear patterns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68004" y="17716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00529" y="1790700"/>
            <a:ext cx="32467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bias and variance for best results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568004" y="22288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06438" y="2247900"/>
            <a:ext cx="26441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prevents overfitting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68004" y="268605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95954" y="2705100"/>
            <a:ext cx="37134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keeps all features, Lasso selects features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389989" y="367665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2773269" y="4171950"/>
            <a:ext cx="35971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Feature Engineering!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Day 3 - Polynomial Features &amp; Regularization</dc:title>
  <dc:subject>PptxGenJS Presentation</dc:subject>
  <dc:creator>AI Bootcamp</dc:creator>
  <cp:lastModifiedBy>AI Bootcamp</cp:lastModifiedBy>
  <cp:revision>1</cp:revision>
  <dcterms:created xsi:type="dcterms:W3CDTF">2025-11-14T10:11:14Z</dcterms:created>
  <dcterms:modified xsi:type="dcterms:W3CDTF">2025-11-14T10:11:14Z</dcterms:modified>
</cp:coreProperties>
</file>
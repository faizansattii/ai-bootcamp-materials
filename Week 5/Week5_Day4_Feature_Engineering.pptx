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3899" y="1276350"/>
            <a:ext cx="563605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553998" y="2152650"/>
            <a:ext cx="20360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600"/>
              </a:spcBef>
              <a:spcAft>
                <a:spcPts val="24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5 - Day 4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757480" y="2990850"/>
            <a:ext cx="36288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 of Creating Better Features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79110" y="3562350"/>
            <a:ext cx="39856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Encoding, Scaling &amp; Dimensionality Reduction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5669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Feature Engineering Matters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34529"/>
            <a:ext cx="8229600" cy="1028700"/>
          </a:xfrm>
          <a:prstGeom prst="roundRect">
            <a:avLst>
              <a:gd name="adj" fmla="val 740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5775" y="1234529"/>
            <a:ext cx="0" cy="102870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5798" y="1463129"/>
            <a:ext cx="786955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"Coming up with features is difficult, time-consuming, requires expert knowledge. Applied machine learning is basically feature engineering." - Andrew 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20986" y="2644229"/>
            <a:ext cx="2030760" cy="1798290"/>
          </a:xfrm>
          <a:prstGeom prst="roundRect">
            <a:avLst>
              <a:gd name="adj" fmla="val 423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18147" y="2834729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594915" y="3444329"/>
            <a:ext cx="1282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Features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56126" y="3909120"/>
            <a:ext cx="17604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important than algorithms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56546" y="2644229"/>
            <a:ext cx="2030760" cy="1798290"/>
          </a:xfrm>
          <a:prstGeom prst="roundRect">
            <a:avLst>
              <a:gd name="adj" fmla="val 423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53706" y="2834729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765311" y="3444329"/>
            <a:ext cx="16132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Boost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91686" y="3909120"/>
            <a:ext cx="176047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Dramatically improves results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92105" y="2739479"/>
            <a:ext cx="2030760" cy="1607790"/>
          </a:xfrm>
          <a:prstGeom prst="roundRect">
            <a:avLst>
              <a:gd name="adj" fmla="val 4739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89266" y="2929979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096165" y="3539579"/>
            <a:ext cx="1622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Knowledge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19431" y="4004370"/>
            <a:ext cx="13761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expert insights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13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Categorical Variables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268760"/>
            <a:ext cx="8534400" cy="1028700"/>
          </a:xfrm>
          <a:prstGeom prst="roundRect">
            <a:avLst>
              <a:gd name="adj" fmla="val 740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3375" y="1268760"/>
            <a:ext cx="0" cy="102870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0350" y="1497360"/>
            <a:ext cx="818045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 need numbers, but data often contains categories like "Red", "Blue", "Green"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2526060"/>
            <a:ext cx="4191000" cy="1539180"/>
          </a:xfrm>
          <a:prstGeom prst="roundRect">
            <a:avLst>
              <a:gd name="adj" fmla="val 495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2526060"/>
            <a:ext cx="0" cy="1539180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5300" y="267846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Encoding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5300" y="3097560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to numbers: 0, 1, 2...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5300" y="3409950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Red→0, Blue→1, Green→2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5300" y="3722340"/>
            <a:ext cx="39250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Problem: Implies ordering!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48200" y="2526060"/>
            <a:ext cx="4191000" cy="1539180"/>
          </a:xfrm>
          <a:prstGeom prst="roundRect">
            <a:avLst>
              <a:gd name="adj" fmla="val 495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67250" y="2526060"/>
            <a:ext cx="0" cy="153918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8700" y="267846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38700" y="3097560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binary columns for each category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38700" y="3409950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Red→[1,0,0], Blue→[0,1,0]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38700" y="3722340"/>
            <a:ext cx="39250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36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No ordering implied!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4800" y="4293840"/>
            <a:ext cx="4191000" cy="190500"/>
          </a:xfrm>
          <a:prstGeom prst="roundRect">
            <a:avLst>
              <a:gd name="adj" fmla="val 4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64306" y="4293840"/>
            <a:ext cx="24719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One-Hot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nominal data (no order)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48200" y="4293840"/>
            <a:ext cx="4191000" cy="190500"/>
          </a:xfrm>
          <a:prstGeom prst="roundRect">
            <a:avLst>
              <a:gd name="adj" fmla="val 40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98334" y="4293840"/>
            <a:ext cx="2290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Label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ordinal data (has order)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2172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Scaling: Why It Matters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95140" y="992535"/>
            <a:ext cx="5953720" cy="742950"/>
          </a:xfrm>
          <a:prstGeom prst="roundRect">
            <a:avLst>
              <a:gd name="adj" fmla="val 102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623715" y="992535"/>
            <a:ext cx="0" cy="74295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6496" y="1221135"/>
            <a:ext cx="55481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with different scales can dominate the learning process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26184" y="2040285"/>
            <a:ext cx="2169616" cy="1958280"/>
          </a:xfrm>
          <a:prstGeom prst="roundRect">
            <a:avLst>
              <a:gd name="adj" fmla="val 389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59935" y="2192685"/>
            <a:ext cx="19021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Without Scaling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459935" y="2611785"/>
            <a:ext cx="19021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Age: 25, 30, 35 (range: 10)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59935" y="2924175"/>
            <a:ext cx="19021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Income: $50k, $80k, $120k (range: 70k)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59935" y="3503265"/>
            <a:ext cx="19021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dominates because of larger scale!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48200" y="2211735"/>
            <a:ext cx="2169616" cy="1615380"/>
          </a:xfrm>
          <a:prstGeom prst="roundRect">
            <a:avLst>
              <a:gd name="adj" fmla="val 47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81952" y="2364135"/>
            <a:ext cx="19021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With Scaling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1952" y="2783235"/>
            <a:ext cx="19021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Age: -1, 0, 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81952" y="3095625"/>
            <a:ext cx="19021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Income: -1, 0, 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81952" y="3484215"/>
            <a:ext cx="19021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features on same scale!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08125" y="4227165"/>
            <a:ext cx="5327749" cy="533400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010296" y="4379565"/>
            <a:ext cx="5123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Faster convergence, better performance, fair feature importance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5281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vs Standardization</a:t>
            </a:r>
            <a:endParaRPr lang="en-US" sz="2700" dirty="0"/>
          </a:p>
        </p:txBody>
      </p:sp>
      <p:pic>
        <p:nvPicPr>
          <p:cNvPr id="4" name="Image 0" descr="/tmp/rasterized-gradient-e40ba15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211610"/>
            <a:ext cx="4114800" cy="12573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3906" y="140211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591336" y="2011710"/>
            <a:ext cx="15417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04800" y="2621310"/>
            <a:ext cx="4114800" cy="1920180"/>
          </a:xfrm>
          <a:prstGeom prst="roundRect">
            <a:avLst>
              <a:gd name="adj" fmla="val 396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277371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(X - min) / (max - min)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15471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to [0, 1] range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34671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377949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min/max bounds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400809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data in [0,1]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23669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</a:t>
            </a:r>
            <a:endParaRPr lang="en-US" sz="900" dirty="0"/>
          </a:p>
        </p:txBody>
      </p:sp>
      <p:pic>
        <p:nvPicPr>
          <p:cNvPr id="14" name="Image 1" descr="/tmp/rasterized-gradient-c16e628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211610"/>
            <a:ext cx="4114800" cy="12573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63506" y="140211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700" dirty="0"/>
          </a:p>
        </p:txBody>
      </p:sp>
      <p:sp>
        <p:nvSpPr>
          <p:cNvPr id="16" name="Text 12"/>
          <p:cNvSpPr/>
          <p:nvPr/>
        </p:nvSpPr>
        <p:spPr>
          <a:xfrm>
            <a:off x="5907255" y="2011710"/>
            <a:ext cx="17489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Standardization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724400" y="2621310"/>
            <a:ext cx="4114800" cy="1920180"/>
          </a:xfrm>
          <a:prstGeom prst="roundRect">
            <a:avLst>
              <a:gd name="adj" fmla="val 396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876800" y="277371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</a:t>
            </a:r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(X - mean) / std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76800" y="315471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Mean=0, Std=1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876800" y="346710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876800" y="377949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has outliers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876800" y="400809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centered data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876800" y="423669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ML algorithms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6111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Component Analysis (PCA)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34789" y="1204020"/>
            <a:ext cx="7274272" cy="975271"/>
          </a:xfrm>
          <a:prstGeom prst="roundRect">
            <a:avLst>
              <a:gd name="adj" fmla="val 781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963364" y="1204020"/>
            <a:ext cx="0" cy="975271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0664" y="1508820"/>
            <a:ext cx="6739673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dimensions while keeping the most important information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2866" y="2560290"/>
            <a:ext cx="1842939" cy="1988790"/>
          </a:xfrm>
          <a:prstGeom prst="roundRect">
            <a:avLst>
              <a:gd name="adj" fmla="val 413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33402" y="2598390"/>
            <a:ext cx="581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🔽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484437" y="3329880"/>
            <a:ext cx="18797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Dimensionality Reduction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84437" y="4091880"/>
            <a:ext cx="18797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features → 10 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0605" y="2807940"/>
            <a:ext cx="1842939" cy="1493490"/>
          </a:xfrm>
          <a:prstGeom prst="roundRect">
            <a:avLst>
              <a:gd name="adj" fmla="val 5102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81141" y="2846040"/>
            <a:ext cx="581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907703" y="3577530"/>
            <a:ext cx="13285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Variance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6790" y="4072830"/>
            <a:ext cx="16504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data patterns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98344" y="2807940"/>
            <a:ext cx="1842939" cy="1493490"/>
          </a:xfrm>
          <a:prstGeom prst="roundRect">
            <a:avLst>
              <a:gd name="adj" fmla="val 5102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28879" y="2846040"/>
            <a:ext cx="581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023259" y="3577530"/>
            <a:ext cx="1392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Training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18362" y="4072830"/>
            <a:ext cx="1602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features = faster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PCA Works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676400"/>
            <a:ext cx="666750" cy="266700"/>
          </a:xfrm>
          <a:prstGeom prst="roundRect">
            <a:avLst>
              <a:gd name="adj" fmla="val 2857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4133" y="16764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7750" y="1695450"/>
            <a:ext cx="7791450" cy="228600"/>
          </a:xfrm>
          <a:prstGeom prst="roundRect">
            <a:avLst>
              <a:gd name="adj" fmla="val 3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695450"/>
            <a:ext cx="79472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the data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(mean=0, std=1)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4800" y="2019300"/>
            <a:ext cx="666750" cy="266700"/>
          </a:xfrm>
          <a:prstGeom prst="roundRect">
            <a:avLst>
              <a:gd name="adj" fmla="val 28571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133" y="20193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47750" y="2038350"/>
            <a:ext cx="7791450" cy="228600"/>
          </a:xfrm>
          <a:prstGeom prst="roundRect">
            <a:avLst>
              <a:gd name="adj" fmla="val 3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47750" y="2038350"/>
            <a:ext cx="79472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covariance matrix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(how features relate)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4800" y="2362200"/>
            <a:ext cx="666750" cy="266700"/>
          </a:xfrm>
          <a:prstGeom prst="roundRect">
            <a:avLst>
              <a:gd name="adj" fmla="val 2857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4133" y="23622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47750" y="2381250"/>
            <a:ext cx="7791450" cy="228600"/>
          </a:xfrm>
          <a:prstGeom prst="roundRect">
            <a:avLst>
              <a:gd name="adj" fmla="val 3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47750" y="2381250"/>
            <a:ext cx="79472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eigenvectors &amp; eigenvalues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(directions of variance)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4800" y="2705100"/>
            <a:ext cx="666750" cy="266700"/>
          </a:xfrm>
          <a:prstGeom prst="roundRect">
            <a:avLst>
              <a:gd name="adj" fmla="val 2857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4133" y="27051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47750" y="2724150"/>
            <a:ext cx="7791450" cy="228600"/>
          </a:xfrm>
          <a:prstGeom prst="roundRect">
            <a:avLst>
              <a:gd name="adj" fmla="val 3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47750" y="2724150"/>
            <a:ext cx="79472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 eigenvalue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(most important first)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4800" y="3048000"/>
            <a:ext cx="666750" cy="266700"/>
          </a:xfrm>
          <a:prstGeom prst="roundRect">
            <a:avLst>
              <a:gd name="adj" fmla="val 28571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84133" y="30480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47750" y="3067050"/>
            <a:ext cx="7791450" cy="228600"/>
          </a:xfrm>
          <a:prstGeom prst="roundRect">
            <a:avLst>
              <a:gd name="adj" fmla="val 3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47750" y="3067050"/>
            <a:ext cx="79472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top k components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(keep most variance)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4800" y="3390900"/>
            <a:ext cx="666750" cy="266700"/>
          </a:xfrm>
          <a:prstGeom prst="roundRect">
            <a:avLst>
              <a:gd name="adj" fmla="val 2857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4133" y="339090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47750" y="3409950"/>
            <a:ext cx="7791450" cy="228600"/>
          </a:xfrm>
          <a:prstGeom prst="roundRect">
            <a:avLst>
              <a:gd name="adj" fmla="val 3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47750" y="3409950"/>
            <a:ext cx="79472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data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new coordinate 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4800" y="3810000"/>
            <a:ext cx="8534400" cy="190500"/>
          </a:xfrm>
          <a:prstGeom prst="roundRect">
            <a:avLst>
              <a:gd name="adj" fmla="val 4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852053" y="3810000"/>
            <a:ext cx="34398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 features are linear combinations of originals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PCA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708720"/>
            <a:ext cx="4114800" cy="1181100"/>
          </a:xfrm>
          <a:prstGeom prst="roundRect">
            <a:avLst>
              <a:gd name="adj" fmla="val 6452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80338" y="89922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63900" y="1470720"/>
            <a:ext cx="13964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PCA When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2042220"/>
            <a:ext cx="4114800" cy="3002161"/>
          </a:xfrm>
          <a:prstGeom prst="roundRect">
            <a:avLst>
              <a:gd name="adj" fmla="val 253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1946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dimensionality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54511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100s or 1000s of features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84991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are correlated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information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5052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up training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85569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computational cost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16049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1098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18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to 2D or 3D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24400" y="708720"/>
            <a:ext cx="4114800" cy="1181100"/>
          </a:xfrm>
          <a:prstGeom prst="roundRect">
            <a:avLst>
              <a:gd name="adj" fmla="val 6452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99938" y="89922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366159" y="1470720"/>
            <a:ext cx="8312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24400" y="2042220"/>
            <a:ext cx="4114800" cy="3002161"/>
          </a:xfrm>
          <a:prstGeom prst="roundRect">
            <a:avLst>
              <a:gd name="adj" fmla="val 253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76800" y="219462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interpretability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5400" y="254511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features are combinations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76800" y="284991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always better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05400" y="320040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hurt performance if features aren't correlated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76800" y="350520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to scaling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05400" y="3855690"/>
            <a:ext cx="36530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standardize first!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76800" y="416049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</a:t>
            </a:r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only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6800" y="4510980"/>
            <a:ext cx="3886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1800"/>
              </a:spcAft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capture non-linear patterns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89730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Best Practices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150739"/>
            <a:ext cx="4191000" cy="883890"/>
          </a:xfrm>
          <a:prstGeom prst="roundRect">
            <a:avLst>
              <a:gd name="adj" fmla="val 862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1150739"/>
            <a:ext cx="0" cy="88389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300" y="1303139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Simple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5300" y="1691729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basic features, add complexity gradually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48200" y="1150739"/>
            <a:ext cx="4191000" cy="883890"/>
          </a:xfrm>
          <a:prstGeom prst="roundRect">
            <a:avLst>
              <a:gd name="adj" fmla="val 862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67250" y="1150739"/>
            <a:ext cx="0" cy="883890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8700" y="1303139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Domain Knowledge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38700" y="1691729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problem and data deeply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4800" y="2187029"/>
            <a:ext cx="4191000" cy="883890"/>
          </a:xfrm>
          <a:prstGeom prst="roundRect">
            <a:avLst>
              <a:gd name="adj" fmla="val 862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3850" y="2187029"/>
            <a:ext cx="0" cy="88389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300" y="2339429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Handle Missing Data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5300" y="2728020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 or remove before engineering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48200" y="2187029"/>
            <a:ext cx="4191000" cy="883890"/>
          </a:xfrm>
          <a:prstGeom prst="roundRect">
            <a:avLst>
              <a:gd name="adj" fmla="val 862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67250" y="2187029"/>
            <a:ext cx="0" cy="88389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8700" y="2339429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Scale Features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38700" y="2728020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or standardize before modeling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4800" y="3223320"/>
            <a:ext cx="4191000" cy="883890"/>
          </a:xfrm>
          <a:prstGeom prst="roundRect">
            <a:avLst>
              <a:gd name="adj" fmla="val 862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23850" y="3223320"/>
            <a:ext cx="0" cy="883890"/>
          </a:xfrm>
          <a:prstGeom prst="line">
            <a:avLst/>
          </a:prstGeom>
          <a:noFill/>
          <a:ln w="38100">
            <a:solidFill>
              <a:srgbClr val="FF6B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300" y="337572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Avoid Data Leakage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5300" y="3764310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transformers on train, apply to test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8200" y="3223320"/>
            <a:ext cx="4191000" cy="883890"/>
          </a:xfrm>
          <a:prstGeom prst="roundRect">
            <a:avLst>
              <a:gd name="adj" fmla="val 862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67250" y="3223320"/>
            <a:ext cx="0" cy="88389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8700" y="3375720"/>
            <a:ext cx="392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Feature Selection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38700" y="3764310"/>
            <a:ext cx="3925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irrelevant or redundant features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4800" y="4335810"/>
            <a:ext cx="8534400" cy="190500"/>
          </a:xfrm>
          <a:prstGeom prst="roundRect">
            <a:avLst>
              <a:gd name="adj" fmla="val 4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413489" y="4335810"/>
            <a:ext cx="43170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 engineering is iterative - experiment and measure!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87161" y="209550"/>
            <a:ext cx="31695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Practice!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734866" y="971550"/>
            <a:ext cx="3674269" cy="2133600"/>
          </a:xfrm>
          <a:prstGeom prst="roundRect">
            <a:avLst>
              <a:gd name="adj" fmla="val 357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60613" y="12001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300613" y="1219200"/>
            <a:ext cx="24842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categorical variables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960613" y="16573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05379" y="1676400"/>
            <a:ext cx="19982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features properly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60613" y="21145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00930" y="2133600"/>
            <a:ext cx="2451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PCA to Titanic dataset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60613" y="25717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96413" y="2590800"/>
            <a:ext cx="29126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dimensionality reduction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90138" y="363855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331363" y="4133850"/>
            <a:ext cx="44812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engineer some features!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 Day 4 - Feature Engineering</dc:title>
  <dc:subject>PptxGenJS Presentation</dc:subject>
  <dc:creator>AI Bootcamp</dc:creator>
  <cp:lastModifiedBy>AI Bootcamp</cp:lastModifiedBy>
  <cp:revision>1</cp:revision>
  <dcterms:created xsi:type="dcterms:W3CDTF">2025-11-14T10:29:35Z</dcterms:created>
  <dcterms:modified xsi:type="dcterms:W3CDTF">2025-11-14T10:29:35Z</dcterms:modified>
</cp:coreProperties>
</file>
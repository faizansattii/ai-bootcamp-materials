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AWS Deep Dive</a:t>
            </a:r>
          </a:p>
          <a:p>
            <a:r>
              <a:t>S3, EC2, and IAM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The Core AWS Services for ML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Week 20 - Day 2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🎯 Today's Learning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3748"/>
                </a:solidFill>
              </a:defRPr>
            </a:pPr>
            <a:r>
              <a:t>1. Navigate AWS Console confidently</a:t>
            </a:r>
          </a:p>
          <a:p>
            <a:pPr>
              <a:spcAft>
                <a:spcPts val="1800"/>
              </a:spcAft>
              <a:defRPr sz="2000">
                <a:solidFill>
                  <a:srgbClr val="2D3748"/>
                </a:solidFill>
              </a:defRPr>
            </a:pPr>
            <a:r>
              <a:t>2. Understand S3 for storage (datasets, models)</a:t>
            </a:r>
          </a:p>
          <a:p>
            <a:pPr>
              <a:spcAft>
                <a:spcPts val="1800"/>
              </a:spcAft>
              <a:defRPr sz="2000">
                <a:solidFill>
                  <a:srgbClr val="2D3748"/>
                </a:solidFill>
              </a:defRPr>
            </a:pPr>
            <a:r>
              <a:t>3. Learn EC2 for virtual servers</a:t>
            </a:r>
          </a:p>
          <a:p>
            <a:pPr>
              <a:spcAft>
                <a:spcPts val="1800"/>
              </a:spcAft>
              <a:defRPr sz="2000">
                <a:solidFill>
                  <a:srgbClr val="2D3748"/>
                </a:solidFill>
              </a:defRPr>
            </a:pPr>
            <a:r>
              <a:t>4. Master IAM for security</a:t>
            </a:r>
          </a:p>
          <a:p>
            <a:pPr>
              <a:spcAft>
                <a:spcPts val="1800"/>
              </a:spcAft>
              <a:defRPr sz="2000">
                <a:solidFill>
                  <a:srgbClr val="2D3748"/>
                </a:solidFill>
              </a:defRPr>
            </a:pPr>
            <a:r>
              <a:t>5. Manage costs effectively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299E1"/>
                </a:solidFill>
              </a:defRPr>
            </a:pPr>
            <a:r>
              <a:t>💡 Today: Theory + Watch demos | Capstone: Hands-on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📊 AWS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ED8936"/>
                </a:solidFill>
              </a:defRPr>
            </a:pPr>
            <a:r>
              <a:t>200+</a:t>
            </a:r>
          </a:p>
          <a:p>
            <a:pPr algn="ctr">
              <a:defRPr sz="1600">
                <a:solidFill>
                  <a:srgbClr val="2D3748"/>
                </a:solidFill>
              </a:defRPr>
            </a:pPr>
            <a:r>
              <a:t>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1887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ED8936"/>
                </a:solidFill>
              </a:defRPr>
            </a:pPr>
            <a:r>
              <a:t>33</a:t>
            </a:r>
          </a:p>
          <a:p>
            <a:pPr algn="ctr">
              <a:defRPr sz="1600">
                <a:solidFill>
                  <a:srgbClr val="2D3748"/>
                </a:solidFill>
              </a:defRPr>
            </a:pPr>
            <a:r>
              <a:t>Regions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ED8936"/>
                </a:solidFill>
              </a:defRPr>
            </a:pPr>
            <a:r>
              <a:t>32%</a:t>
            </a:r>
          </a:p>
          <a:p>
            <a:pPr algn="ctr">
              <a:defRPr sz="1600">
                <a:solidFill>
                  <a:srgbClr val="2D3748"/>
                </a:solidFill>
              </a:defRPr>
            </a:pPr>
            <a:r>
              <a:t>Market Share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ED8936"/>
                </a:solidFill>
              </a:defRPr>
            </a:pPr>
            <a:r>
              <a:t>2006</a:t>
            </a:r>
          </a:p>
          <a:p>
            <a:pPr algn="ctr">
              <a:defRPr sz="1600">
                <a:solidFill>
                  <a:srgbClr val="2D3748"/>
                </a:solidFill>
              </a:defRPr>
            </a:pPr>
            <a:r>
              <a:t>Founded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7432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ED8936"/>
                </a:solidFill>
              </a:defRPr>
            </a:pPr>
            <a:r>
              <a:t>Millions</a:t>
            </a:r>
          </a:p>
          <a:p>
            <a:pPr algn="ctr">
              <a:defRPr sz="1600">
                <a:solidFill>
                  <a:srgbClr val="2D3748"/>
                </a:solidFill>
              </a:defRPr>
            </a:pPr>
            <a: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ED8936"/>
                </a:solidFill>
              </a:defRPr>
            </a:pPr>
            <a:r>
              <a:t>3-4</a:t>
            </a:r>
          </a:p>
          <a:p>
            <a:pPr algn="ctr">
              <a:defRPr sz="1600">
                <a:solidFill>
                  <a:srgbClr val="2D3748"/>
                </a:solidFill>
              </a:defRPr>
            </a:pPr>
            <a:r>
              <a:t>We Need!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C5FD5"/>
                </a:solidFill>
              </a:defRPr>
            </a:pPr>
            <a:r>
              <a:t>For ML: Focus on S3 (storage), EC2 (servers), IAM (security)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🖥️ AWS Console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🔍 Search Bar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Fastest way - type service name</a:t>
            </a:r>
          </a:p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📋 Services Menu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Browse by category</a:t>
            </a:r>
          </a:p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🌍 Region Selector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Choose location (stick to one!)</a:t>
            </a:r>
          </a:p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💳 Billing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Monitor costs (top right menu)</a:t>
            </a:r>
          </a:p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⭐ Recently Visited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Quick access to used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8BB78"/>
                </a:solidFill>
              </a:defRPr>
            </a:pPr>
            <a:r>
              <a:t>🎬 DEMO: Console Tour (Instructor will show)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🎯 The 3 Core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000"/>
            </a:pPr>
            <a:r>
              <a:t>📦</a:t>
            </a:r>
          </a:p>
          <a:p>
            <a:pPr algn="ctr">
              <a:spcAft>
                <a:spcPts val="600"/>
              </a:spcAft>
              <a:defRPr sz="2800" b="1">
                <a:solidFill>
                  <a:srgbClr val="4299E1"/>
                </a:solidFill>
              </a:defRPr>
            </a:pPr>
            <a:r>
              <a:t>S3</a:t>
            </a:r>
          </a:p>
          <a:p>
            <a:pPr algn="ctr"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Storage</a:t>
            </a:r>
          </a:p>
          <a:p>
            <a:pPr algn="ctr">
              <a:defRPr sz="1300">
                <a:solidFill>
                  <a:srgbClr val="718096"/>
                </a:solidFill>
              </a:defRPr>
            </a:pPr>
            <a:r>
              <a:t>Datasets &amp;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3716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000"/>
            </a:pPr>
            <a:r>
              <a:t>💻</a:t>
            </a:r>
          </a:p>
          <a:p>
            <a:pPr algn="ctr">
              <a:spcAft>
                <a:spcPts val="600"/>
              </a:spcAft>
              <a:defRPr sz="2800" b="1">
                <a:solidFill>
                  <a:srgbClr val="ED8936"/>
                </a:solidFill>
              </a:defRPr>
            </a:pPr>
            <a:r>
              <a:t>EC2</a:t>
            </a:r>
          </a:p>
          <a:p>
            <a:pPr algn="ctr"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Servers</a:t>
            </a:r>
          </a:p>
          <a:p>
            <a:pPr algn="ctr">
              <a:defRPr sz="1300">
                <a:solidFill>
                  <a:srgbClr val="718096"/>
                </a:solidFill>
              </a:defRPr>
            </a:pPr>
            <a:r>
              <a:t>Run Your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3716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000"/>
            </a:pPr>
            <a:r>
              <a:t>🔐</a:t>
            </a:r>
          </a:p>
          <a:p>
            <a:pPr algn="ctr">
              <a:spcAft>
                <a:spcPts val="600"/>
              </a:spcAft>
              <a:defRPr sz="2800" b="1">
                <a:solidFill>
                  <a:srgbClr val="F56565"/>
                </a:solidFill>
              </a:defRPr>
            </a:pPr>
            <a:r>
              <a:t>IAM</a:t>
            </a:r>
          </a:p>
          <a:p>
            <a:pPr algn="ctr"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Security</a:t>
            </a:r>
          </a:p>
          <a:p>
            <a:pPr algn="ctr">
              <a:defRPr sz="1300">
                <a:solidFill>
                  <a:srgbClr val="718096"/>
                </a:solidFill>
              </a:defRPr>
            </a:pPr>
            <a:r>
              <a:t>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5FD5"/>
                </a:solidFill>
              </a:defRPr>
            </a:pPr>
            <a:r>
              <a:t>Master these 3 first - they cover 90% of ML deployment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📦 Amazon S3 - Simple Storage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2D3748"/>
                </a:solidFill>
              </a:defRPr>
            </a:pPr>
            <a:r>
              <a:t>Object storage for any file type - like cloud Dropbox</a:t>
            </a:r>
          </a:p>
          <a:p>
            <a:pPr>
              <a:spcAft>
                <a:spcPts val="400"/>
              </a:spcAft>
              <a:defRPr sz="1500" b="1">
                <a:solidFill>
                  <a:srgbClr val="4299E1"/>
                </a:solidFill>
              </a:defRPr>
            </a:pPr>
            <a:r>
              <a:t>🛡️ Extremely Durable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99.999999999% durability (11 nines!)</a:t>
            </a:r>
          </a:p>
          <a:p>
            <a:pPr>
              <a:spcAft>
                <a:spcPts val="400"/>
              </a:spcAft>
              <a:defRPr sz="1500" b="1">
                <a:solidFill>
                  <a:srgbClr val="4299E1"/>
                </a:solidFill>
              </a:defRPr>
            </a:pPr>
            <a:r>
              <a:t>⚡ Unlimited Storage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No capacity limits</a:t>
            </a:r>
          </a:p>
          <a:p>
            <a:pPr>
              <a:spcAft>
                <a:spcPts val="400"/>
              </a:spcAft>
              <a:defRPr sz="1500" b="1">
                <a:solidFill>
                  <a:srgbClr val="4299E1"/>
                </a:solidFill>
              </a:defRPr>
            </a:pPr>
            <a:r>
              <a:t>🌍 Global Access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Access from anywhere via HTTPS</a:t>
            </a:r>
          </a:p>
          <a:p>
            <a:pPr>
              <a:spcAft>
                <a:spcPts val="400"/>
              </a:spcAft>
              <a:defRPr sz="1500" b="1">
                <a:solidFill>
                  <a:srgbClr val="4299E1"/>
                </a:solidFill>
              </a:defRPr>
            </a:pPr>
            <a:r>
              <a:t>💰 Pay Per Use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~$0.023 per GB per month</a:t>
            </a:r>
          </a:p>
          <a:p>
            <a:pPr>
              <a:spcAft>
                <a:spcPts val="400"/>
              </a:spcAft>
              <a:defRPr sz="1500" b="1">
                <a:solidFill>
                  <a:srgbClr val="4299E1"/>
                </a:solidFill>
              </a:defRPr>
            </a:pPr>
            <a:r>
              <a:t>🔒 Secure by Default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Private unless you make public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🗂️ S3 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667EEA"/>
                </a:solidFill>
              </a:defRPr>
            </a:pPr>
            <a:r>
              <a:t>🪣 Bucket: Container for files</a:t>
            </a:r>
          </a:p>
          <a:p>
            <a:pPr>
              <a:spcAft>
                <a:spcPts val="1400"/>
              </a:spcAft>
              <a:defRPr sz="1300" i="1">
                <a:solidFill>
                  <a:srgbClr val="718096"/>
                </a:solidFill>
              </a:defRPr>
            </a:pPr>
            <a:r>
              <a:t>Example: 'ml-models-prod'</a:t>
            </a:r>
          </a:p>
          <a:p>
            <a:pPr>
              <a:spcAft>
                <a:spcPts val="400"/>
              </a:spcAft>
              <a:defRPr sz="1500" b="1">
                <a:solidFill>
                  <a:srgbClr val="667EEA"/>
                </a:solidFill>
              </a:defRPr>
            </a:pPr>
            <a:r>
              <a:t>📄 Object: The actual file</a:t>
            </a:r>
          </a:p>
          <a:p>
            <a:pPr>
              <a:spcAft>
                <a:spcPts val="1400"/>
              </a:spcAft>
              <a:defRPr sz="1300" i="1">
                <a:solidFill>
                  <a:srgbClr val="718096"/>
                </a:solidFill>
              </a:defRPr>
            </a:pPr>
            <a:r>
              <a:t>Any type, up to 5TB</a:t>
            </a:r>
          </a:p>
          <a:p>
            <a:pPr>
              <a:spcAft>
                <a:spcPts val="400"/>
              </a:spcAft>
              <a:defRPr sz="1500" b="1">
                <a:solidFill>
                  <a:srgbClr val="667EEA"/>
                </a:solidFill>
              </a:defRPr>
            </a:pPr>
            <a:r>
              <a:t>🔑 Key: File path/identifier</a:t>
            </a:r>
          </a:p>
          <a:p>
            <a:pPr>
              <a:spcAft>
                <a:spcPts val="1400"/>
              </a:spcAft>
              <a:defRPr sz="1300" i="1">
                <a:solidFill>
                  <a:srgbClr val="718096"/>
                </a:solidFill>
              </a:defRPr>
            </a:pPr>
            <a:r>
              <a:t>Example: 'models/v2/model.pkl'</a:t>
            </a:r>
          </a:p>
          <a:p>
            <a:pPr>
              <a:spcAft>
                <a:spcPts val="400"/>
              </a:spcAft>
              <a:defRPr sz="1500" b="1">
                <a:solidFill>
                  <a:srgbClr val="667EEA"/>
                </a:solidFill>
              </a:defRPr>
            </a:pPr>
            <a:r>
              <a:t>🌍 Region: Physical location</a:t>
            </a:r>
          </a:p>
          <a:p>
            <a:pPr>
              <a:spcAft>
                <a:spcPts val="1400"/>
              </a:spcAft>
              <a:defRPr sz="1300" i="1">
                <a:solidFill>
                  <a:srgbClr val="718096"/>
                </a:solidFill>
              </a:defRPr>
            </a:pPr>
            <a:r>
              <a:t>Choose closest to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🤖 S3 for ML Engineers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48BB78"/>
                </a:solidFill>
              </a:defRPr>
            </a:pPr>
            <a:r>
              <a:t>📊 Datasets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Training/test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2801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48BB78"/>
                </a:solidFill>
              </a:defRPr>
            </a:pPr>
            <a:r>
              <a:t>🎯 Models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Save .pkl, .pt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2801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48BB78"/>
                </a:solidFill>
              </a:defRPr>
            </a:pPr>
            <a:r>
              <a:t>📝 Logs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Track predictions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48BB78"/>
                </a:solidFill>
              </a:defRPr>
            </a:pPr>
            <a:r>
              <a:t>💾 Backups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Disaster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7432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48BB78"/>
                </a:solidFill>
              </a:defRPr>
            </a:pPr>
            <a:r>
              <a:t>🔄 Pipelines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ETL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48BB78"/>
                </a:solidFill>
              </a:defRPr>
            </a:pPr>
            <a:r>
              <a:t>🌐 Serving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Serve model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8BB78"/>
                </a:solidFill>
              </a:defRPr>
            </a:pPr>
            <a:r>
              <a:t>🎬 DEMO: Create bucket, upload files, set permissions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💰 S3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8BB78"/>
                </a:solidFill>
              </a:defRPr>
            </a:pPr>
            <a:r>
              <a:t>🎁 Free Tier (12 months):</a:t>
            </a:r>
          </a:p>
          <a:p>
            <a:pPr>
              <a:spcAft>
                <a:spcPts val="600"/>
              </a:spcAft>
              <a:defRPr sz="1400">
                <a:solidFill>
                  <a:srgbClr val="2D3748"/>
                </a:solidFill>
              </a:defRPr>
            </a:pPr>
            <a:r>
              <a:t>✅ 5 GB storage</a:t>
            </a:r>
          </a:p>
          <a:p>
            <a:pPr>
              <a:spcAft>
                <a:spcPts val="600"/>
              </a:spcAft>
              <a:defRPr sz="1400">
                <a:solidFill>
                  <a:srgbClr val="2D3748"/>
                </a:solidFill>
              </a:defRPr>
            </a:pPr>
            <a:r>
              <a:t>✅ 20K GET requests</a:t>
            </a:r>
          </a:p>
          <a:p>
            <a:pPr>
              <a:spcAft>
                <a:spcPts val="600"/>
              </a:spcAft>
              <a:defRPr sz="1400">
                <a:solidFill>
                  <a:srgbClr val="2D3748"/>
                </a:solidFill>
              </a:defRPr>
            </a:pPr>
            <a:r>
              <a:t>✅ 2K PUT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D8936"/>
                </a:solidFill>
              </a:defRPr>
            </a:pPr>
            <a:r>
              <a:t>💵 After Free Tier: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$0.023 per GB/month</a:t>
            </a:r>
          </a:p>
          <a:p>
            <a:pPr>
              <a:spcAft>
                <a:spcPts val="400"/>
              </a:spcAft>
              <a:defRPr sz="1300">
                <a:solidFill>
                  <a:srgbClr val="718096"/>
                </a:solidFill>
              </a:defRPr>
            </a:pPr>
            <a:r>
              <a:t>• 10 GB = $0.23/mo</a:t>
            </a:r>
          </a:p>
          <a:p>
            <a:pPr>
              <a:spcAft>
                <a:spcPts val="400"/>
              </a:spcAft>
              <a:defRPr sz="1300">
                <a:solidFill>
                  <a:srgbClr val="718096"/>
                </a:solidFill>
              </a:defRPr>
            </a:pPr>
            <a:r>
              <a:t>• 100 GB = $2.30/mo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667EEA"/>
                </a:solidFill>
              </a:defRPr>
            </a:pPr>
            <a:r>
              <a:t>💡 Cost-Saving Tips:</a:t>
            </a:r>
          </a:p>
          <a:p>
            <a:pPr>
              <a:spcAft>
                <a:spcPts val="600"/>
              </a:spcAft>
              <a:defRPr sz="1300">
                <a:solidFill>
                  <a:srgbClr val="718096"/>
                </a:solidFill>
              </a:defRPr>
            </a:pPr>
            <a:r>
              <a:t>• Delete unused files regularly</a:t>
            </a:r>
          </a:p>
          <a:p>
            <a:pPr>
              <a:spcAft>
                <a:spcPts val="600"/>
              </a:spcAft>
              <a:defRPr sz="1300">
                <a:solidFill>
                  <a:srgbClr val="718096"/>
                </a:solidFill>
              </a:defRPr>
            </a:pPr>
            <a:r>
              <a:t>• Set lifecycle rules to auto-delete old data</a:t>
            </a:r>
          </a:p>
          <a:p>
            <a:pPr>
              <a:spcAft>
                <a:spcPts val="600"/>
              </a:spcAft>
              <a:defRPr sz="1300">
                <a:solidFill>
                  <a:srgbClr val="718096"/>
                </a:solidFill>
              </a:defRPr>
            </a:pPr>
            <a:r>
              <a:t>• Monitor usage in Cost Explorer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✨ S3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🔒 Security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Keep buckets private, use IAM policies</a:t>
            </a:r>
          </a:p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📝 Naming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Clear names: 'ml-models-prod'</a:t>
            </a:r>
          </a:p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🗂️ Organization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Use folders: datasets/, models/, logs/</a:t>
            </a:r>
          </a:p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📊 Versioning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Enable for important files</a:t>
            </a:r>
          </a:p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💰 Cost Control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Set up billing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💻 Amazon EC2 - Elastic Compute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2D3748"/>
                </a:solidFill>
              </a:defRPr>
            </a:pPr>
            <a:r>
              <a:t>Virtual servers in the cloud - rent a computer that runs 24/7</a:t>
            </a:r>
          </a:p>
          <a:p>
            <a:pPr>
              <a:spcAft>
                <a:spcPts val="400"/>
              </a:spcAft>
              <a:defRPr sz="1600" b="1">
                <a:solidFill>
                  <a:srgbClr val="ED8936"/>
                </a:solidFill>
              </a:defRPr>
            </a:pPr>
            <a:r>
              <a:t>Physical Server: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Buy hardware, weeks to setup, fixed capacity</a:t>
            </a:r>
          </a:p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EC2 Instance: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Launch in minutes, pay per hour, change specs anytime</a:t>
            </a:r>
          </a:p>
          <a:p>
            <a:pPr>
              <a:spcAft>
                <a:spcPts val="800"/>
              </a:spcAft>
              <a:defRPr sz="1600" b="1">
                <a:solidFill>
                  <a:srgbClr val="4C5FD5"/>
                </a:solidFill>
              </a:defRPr>
            </a:pPr>
            <a:r>
              <a:t>Key Benefits:</a:t>
            </a:r>
          </a:p>
          <a:p>
            <a:pPr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⚡ Launch in minutes</a:t>
            </a:r>
          </a:p>
          <a:p>
            <a:pPr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📏 Choose CPU/RAM/storage</a:t>
            </a:r>
          </a:p>
          <a:p>
            <a:pPr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🌍 Access anywhere</a:t>
            </a:r>
          </a:p>
          <a:p>
            <a:pPr>
              <a:spcAft>
                <a:spcPts val="400"/>
              </a:spcAft>
              <a:defRPr sz="1400">
                <a:solidFill>
                  <a:srgbClr val="2D3748"/>
                </a:solidFill>
              </a:defRPr>
            </a:pPr>
            <a:r>
              <a:t>💰 Pay only when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🔧 EC2 Key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667EEA"/>
                </a:solidFill>
              </a:defRPr>
            </a:pPr>
            <a:r>
              <a:t>💿 AMI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Operating system template (Ubuntu, Amazon Linux)</a:t>
            </a:r>
          </a:p>
          <a:p>
            <a:pPr>
              <a:spcAft>
                <a:spcPts val="400"/>
              </a:spcAft>
              <a:defRPr sz="1500" b="1">
                <a:solidFill>
                  <a:srgbClr val="667EEA"/>
                </a:solidFill>
              </a:defRPr>
            </a:pPr>
            <a:r>
              <a:t>⚙️ Instance Type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CPU/RAM specs (t2.micro, t2.small, etc.)</a:t>
            </a:r>
          </a:p>
          <a:p>
            <a:pPr>
              <a:spcAft>
                <a:spcPts val="400"/>
              </a:spcAft>
              <a:defRPr sz="1500" b="1">
                <a:solidFill>
                  <a:srgbClr val="667EEA"/>
                </a:solidFill>
              </a:defRPr>
            </a:pPr>
            <a:r>
              <a:t>🔒 Security Group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Firewall rules - which ports are open</a:t>
            </a:r>
          </a:p>
          <a:p>
            <a:pPr>
              <a:spcAft>
                <a:spcPts val="400"/>
              </a:spcAft>
              <a:defRPr sz="1500" b="1">
                <a:solidFill>
                  <a:srgbClr val="667EEA"/>
                </a:solidFill>
              </a:defRPr>
            </a:pPr>
            <a:r>
              <a:t>🔑 Key Pair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SSH credentials - your private key (.pem file)</a:t>
            </a:r>
          </a:p>
          <a:p>
            <a:pPr>
              <a:spcAft>
                <a:spcPts val="400"/>
              </a:spcAft>
              <a:defRPr sz="1500" b="1">
                <a:solidFill>
                  <a:srgbClr val="667EEA"/>
                </a:solidFill>
              </a:defRPr>
            </a:pPr>
            <a:r>
              <a:t>💻 Instance</a:t>
            </a:r>
          </a:p>
          <a:p>
            <a:pPr>
              <a:spcAft>
                <a:spcPts val="1200"/>
              </a:spcAft>
              <a:defRPr sz="1300">
                <a:solidFill>
                  <a:srgbClr val="718096"/>
                </a:solidFill>
              </a:defRPr>
            </a:pPr>
            <a:r>
              <a:t>The running virtual server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📊 EC2 Instance Types for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48BB78"/>
                </a:solidFill>
              </a:defRPr>
            </a:pPr>
            <a:r>
              <a:t>t2.micro: 1 CPU, 1GB RAM</a:t>
            </a:r>
          </a:p>
          <a:p>
            <a:pPr>
              <a:spcAft>
                <a:spcPts val="1200"/>
              </a:spcAft>
              <a:defRPr sz="1200">
                <a:solidFill>
                  <a:srgbClr val="718096"/>
                </a:solidFill>
              </a:defRPr>
            </a:pPr>
            <a:r>
              <a:t>FREE | Learning &amp; testing</a:t>
            </a:r>
          </a:p>
          <a:p>
            <a:pPr>
              <a:spcAft>
                <a:spcPts val="300"/>
              </a:spcAft>
              <a:defRPr sz="1400" b="1">
                <a:solidFill>
                  <a:srgbClr val="ED8936"/>
                </a:solidFill>
              </a:defRPr>
            </a:pPr>
            <a:r>
              <a:t>t2.small: 1 CPU, 2GB RAM</a:t>
            </a:r>
          </a:p>
          <a:p>
            <a:pPr>
              <a:spcAft>
                <a:spcPts val="1200"/>
              </a:spcAft>
              <a:defRPr sz="1200">
                <a:solidFill>
                  <a:srgbClr val="718096"/>
                </a:solidFill>
              </a:defRPr>
            </a:pPr>
            <a:r>
              <a:t>$17/mo | Small APIs</a:t>
            </a:r>
          </a:p>
          <a:p>
            <a:pPr>
              <a:spcAft>
                <a:spcPts val="300"/>
              </a:spcAft>
              <a:defRPr sz="1400" b="1">
                <a:solidFill>
                  <a:srgbClr val="ED8936"/>
                </a:solidFill>
              </a:defRPr>
            </a:pPr>
            <a:r>
              <a:t>t2.medium: 2 CPUs, 4GB RAM</a:t>
            </a:r>
          </a:p>
          <a:p>
            <a:pPr>
              <a:spcAft>
                <a:spcPts val="1200"/>
              </a:spcAft>
              <a:defRPr sz="1200">
                <a:solidFill>
                  <a:srgbClr val="718096"/>
                </a:solidFill>
              </a:defRPr>
            </a:pPr>
            <a:r>
              <a:t>$34/mo | Medium workloads</a:t>
            </a:r>
          </a:p>
          <a:p>
            <a:pPr>
              <a:spcAft>
                <a:spcPts val="300"/>
              </a:spcAft>
              <a:defRPr sz="1400" b="1">
                <a:solidFill>
                  <a:srgbClr val="ED8936"/>
                </a:solidFill>
              </a:defRPr>
            </a:pPr>
            <a:r>
              <a:t>t2.large: 2 CPUs, 8GB RAM</a:t>
            </a:r>
          </a:p>
          <a:p>
            <a:pPr>
              <a:spcAft>
                <a:spcPts val="1200"/>
              </a:spcAft>
              <a:defRPr sz="1200">
                <a:solidFill>
                  <a:srgbClr val="718096"/>
                </a:solidFill>
              </a:defRPr>
            </a:pPr>
            <a:r>
              <a:t>$68/mo | Heavier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C5FD5"/>
                </a:solidFill>
              </a:defRPr>
            </a:pPr>
            <a:r>
              <a:t>💡 Recommendation: Start with t2.micro (FREE), upgrade only if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6565"/>
                </a:solidFill>
              </a:defRPr>
            </a:pPr>
            <a:r>
              <a:t>⚠️ EC2 States - VERY IMPORTANT!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D3748"/>
                </a:solidFill>
              </a:defRPr>
            </a:pPr>
            <a:r>
              <a:t>🟢 RUNNING</a:t>
            </a:r>
          </a:p>
          <a:p>
            <a:pPr>
              <a:spcAft>
                <a:spcPts val="1600"/>
              </a:spcAft>
              <a:defRPr sz="1500" b="1">
                <a:solidFill>
                  <a:srgbClr val="F56565"/>
                </a:solidFill>
              </a:defRPr>
            </a:pPr>
            <a:r>
              <a:t>Instance is working → 💰 YOU PAY</a:t>
            </a:r>
          </a:p>
          <a:p>
            <a:pPr>
              <a:spcAft>
                <a:spcPts val="400"/>
              </a:spcAft>
              <a:defRPr sz="1800" b="1">
                <a:solidFill>
                  <a:srgbClr val="2D3748"/>
                </a:solidFill>
              </a:defRPr>
            </a:pPr>
            <a:r>
              <a:t>🟡 STOPPED</a:t>
            </a:r>
          </a:p>
          <a:p>
            <a:pPr>
              <a:spcAft>
                <a:spcPts val="1600"/>
              </a:spcAft>
              <a:defRPr sz="1500" b="1">
                <a:solidFill>
                  <a:srgbClr val="48BB78"/>
                </a:solidFill>
              </a:defRPr>
            </a:pPr>
            <a:r>
              <a:t>Instance powered off → ✅ FREE</a:t>
            </a:r>
          </a:p>
          <a:p>
            <a:pPr>
              <a:spcAft>
                <a:spcPts val="400"/>
              </a:spcAft>
              <a:defRPr sz="1800" b="1">
                <a:solidFill>
                  <a:srgbClr val="2D3748"/>
                </a:solidFill>
              </a:defRPr>
            </a:pPr>
            <a:r>
              <a:t>🔴 TERMINATED</a:t>
            </a:r>
          </a:p>
          <a:p>
            <a:pPr>
              <a:spcAft>
                <a:spcPts val="1600"/>
              </a:spcAft>
              <a:defRPr sz="1500" b="1">
                <a:solidFill>
                  <a:srgbClr val="ED8936"/>
                </a:solidFill>
              </a:defRPr>
            </a:pPr>
            <a:r>
              <a:t>Instance deleted forever → ⚠️ Cannot recover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6565"/>
                </a:solidFill>
              </a:defRPr>
            </a:pPr>
            <a:r>
              <a:t>🚨 ALWAYS STOP instances when not in use! Running = charging!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67EEA"/>
                </a:solidFill>
              </a:defRPr>
            </a:pPr>
            <a:r>
              <a:t>🔐 IAM - Identity and Access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2D3748"/>
                </a:solidFill>
              </a:defRPr>
            </a:pPr>
            <a:r>
              <a:t>Controls WHO can access WHAT in your AWS account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Why IAM Matters:</a:t>
            </a:r>
          </a:p>
          <a:p>
            <a:pPr>
              <a:spcAft>
                <a:spcPts val="1600"/>
              </a:spcAft>
              <a:defRPr sz="1400">
                <a:solidFill>
                  <a:srgbClr val="718096"/>
                </a:solidFill>
              </a:defRPr>
            </a:pPr>
            <a:r>
              <a:t>Without IAM, everyone has full access (dangerous!)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What It Does:</a:t>
            </a:r>
          </a:p>
          <a:p>
            <a:pPr>
              <a:spcAft>
                <a:spcPts val="1600"/>
              </a:spcAft>
              <a:defRPr sz="1400">
                <a:solidFill>
                  <a:srgbClr val="718096"/>
                </a:solidFill>
              </a:defRPr>
            </a:pPr>
            <a:r>
              <a:t>Create users, assign permissions, control access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Real Example:</a:t>
            </a:r>
          </a:p>
          <a:p>
            <a:pPr>
              <a:spcAft>
                <a:spcPts val="1600"/>
              </a:spcAft>
              <a:defRPr sz="1400">
                <a:solidFill>
                  <a:srgbClr val="718096"/>
                </a:solidFill>
              </a:defRPr>
            </a:pPr>
            <a:r>
              <a:t>Allow EC2 to read S3, but not delete anything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🔑 IAM 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67EEA"/>
                </a:solidFill>
              </a:defRPr>
            </a:pPr>
            <a:r>
              <a:t>👤 Users</a:t>
            </a:r>
          </a:p>
          <a:p>
            <a:pPr>
              <a:spcAft>
                <a:spcPts val="1600"/>
              </a:spcAft>
              <a:defRPr sz="1500">
                <a:solidFill>
                  <a:srgbClr val="718096"/>
                </a:solidFill>
              </a:defRPr>
            </a:pPr>
            <a:r>
              <a:t>Individuals with login credentials</a:t>
            </a:r>
          </a:p>
          <a:p>
            <a:pPr>
              <a:spcAft>
                <a:spcPts val="400"/>
              </a:spcAft>
              <a:defRPr sz="1700" b="1">
                <a:solidFill>
                  <a:srgbClr val="667EEA"/>
                </a:solidFill>
              </a:defRPr>
            </a:pPr>
            <a:r>
              <a:t>👥 Groups</a:t>
            </a:r>
          </a:p>
          <a:p>
            <a:pPr>
              <a:spcAft>
                <a:spcPts val="1600"/>
              </a:spcAft>
              <a:defRPr sz="1500">
                <a:solidFill>
                  <a:srgbClr val="718096"/>
                </a:solidFill>
              </a:defRPr>
            </a:pPr>
            <a:r>
              <a:t>Collection of users (e.g., 'ML-Team')</a:t>
            </a:r>
          </a:p>
          <a:p>
            <a:pPr>
              <a:spcAft>
                <a:spcPts val="400"/>
              </a:spcAft>
              <a:defRPr sz="1700" b="1">
                <a:solidFill>
                  <a:srgbClr val="667EEA"/>
                </a:solidFill>
              </a:defRPr>
            </a:pPr>
            <a:r>
              <a:t>📜 Policies</a:t>
            </a:r>
          </a:p>
          <a:p>
            <a:pPr>
              <a:spcAft>
                <a:spcPts val="1600"/>
              </a:spcAft>
              <a:defRPr sz="1500">
                <a:solidFill>
                  <a:srgbClr val="718096"/>
                </a:solidFill>
              </a:defRPr>
            </a:pPr>
            <a:r>
              <a:t>Permission rules (who can do what)</a:t>
            </a:r>
          </a:p>
          <a:p>
            <a:pPr>
              <a:spcAft>
                <a:spcPts val="400"/>
              </a:spcAft>
              <a:defRPr sz="1700" b="1">
                <a:solidFill>
                  <a:srgbClr val="667EEA"/>
                </a:solidFill>
              </a:defRPr>
            </a:pPr>
            <a:r>
              <a:t>🎭 Roles</a:t>
            </a:r>
          </a:p>
          <a:p>
            <a:pPr>
              <a:spcAft>
                <a:spcPts val="1600"/>
              </a:spcAft>
              <a:defRPr sz="1500">
                <a:solidFill>
                  <a:srgbClr val="718096"/>
                </a:solidFill>
              </a:defRPr>
            </a:pPr>
            <a:r>
              <a:t>Temporary permissions for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✨ IAM Security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6565"/>
                </a:solidFill>
              </a:defRPr>
            </a:pPr>
            <a:r>
              <a:t>🚫 Never Use Root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Create IAM users instead</a:t>
            </a:r>
          </a:p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🔐 Enable MFA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Multi-factor authentication for security</a:t>
            </a:r>
          </a:p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📉 Least Privilege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Give minimum permissions needed</a:t>
            </a:r>
          </a:p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🔄 Rotate Keys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Change access keys regularly</a:t>
            </a:r>
          </a:p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📊 Monitor Activity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Check CloudTrail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💳 AWS Cost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🎁 Use Free Tier</a:t>
            </a:r>
          </a:p>
          <a:p>
            <a:pPr>
              <a:spcAft>
                <a:spcPts val="1200"/>
              </a:spcAft>
              <a:defRPr sz="1400">
                <a:solidFill>
                  <a:srgbClr val="718096"/>
                </a:solidFill>
              </a:defRPr>
            </a:pPr>
            <a:r>
              <a:t>t2.micro EC2, 5GB S3 for 12 months</a:t>
            </a:r>
          </a:p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🛑 Stop When Unused</a:t>
            </a:r>
          </a:p>
          <a:p>
            <a:pPr>
              <a:spcAft>
                <a:spcPts val="1200"/>
              </a:spcAft>
              <a:defRPr sz="1400">
                <a:solidFill>
                  <a:srgbClr val="718096"/>
                </a:solidFill>
              </a:defRPr>
            </a:pPr>
            <a:r>
              <a:t>STOP EC2 instances, don't leave running</a:t>
            </a:r>
          </a:p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📊 Set Billing Alerts</a:t>
            </a:r>
          </a:p>
          <a:p>
            <a:pPr>
              <a:spcAft>
                <a:spcPts val="1200"/>
              </a:spcAft>
              <a:defRPr sz="1400">
                <a:solidFill>
                  <a:srgbClr val="718096"/>
                </a:solidFill>
              </a:defRPr>
            </a:pPr>
            <a:r>
              <a:t>Get notified at $5, $10, $20</a:t>
            </a:r>
          </a:p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🗑️ Delete Unused</a:t>
            </a:r>
          </a:p>
          <a:p>
            <a:pPr>
              <a:spcAft>
                <a:spcPts val="1200"/>
              </a:spcAft>
              <a:defRPr sz="1400">
                <a:solidFill>
                  <a:srgbClr val="718096"/>
                </a:solidFill>
              </a:defRPr>
            </a:pPr>
            <a:r>
              <a:t>Remove old S3 files, terminate old instances</a:t>
            </a:r>
          </a:p>
          <a:p>
            <a:pPr>
              <a:spcAft>
                <a:spcPts val="400"/>
              </a:spcAft>
              <a:defRPr sz="1600" b="1">
                <a:solidFill>
                  <a:srgbClr val="48BB78"/>
                </a:solidFill>
              </a:defRPr>
            </a:pPr>
            <a:r>
              <a:t>👀 Monitor Daily</a:t>
            </a:r>
          </a:p>
          <a:p>
            <a:pPr>
              <a:spcAft>
                <a:spcPts val="1200"/>
              </a:spcAft>
              <a:defRPr sz="1400">
                <a:solidFill>
                  <a:srgbClr val="718096"/>
                </a:solidFill>
              </a:defRPr>
            </a:pPr>
            <a:r>
              <a:t>Check AWS Cost Explorer regularly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🎬 Instructor Demo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299E1"/>
                </a:solidFill>
              </a:defRPr>
            </a:pPr>
            <a:r>
              <a:t>Demo 1: Console Tour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Navigate AWS, find services, check billing</a:t>
            </a:r>
          </a:p>
          <a:p>
            <a:pPr>
              <a:spcAft>
                <a:spcPts val="400"/>
              </a:spcAft>
              <a:defRPr sz="1600" b="1">
                <a:solidFill>
                  <a:srgbClr val="4299E1"/>
                </a:solidFill>
              </a:defRPr>
            </a:pPr>
            <a:r>
              <a:t>Demo 2: S3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Create bucket, upload file, set permissions</a:t>
            </a:r>
          </a:p>
          <a:p>
            <a:pPr>
              <a:spcAft>
                <a:spcPts val="400"/>
              </a:spcAft>
              <a:defRPr sz="1600" b="1">
                <a:solidFill>
                  <a:srgbClr val="4299E1"/>
                </a:solidFill>
              </a:defRPr>
            </a:pPr>
            <a:r>
              <a:t>Demo 3: EC2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Launch t2.micro, connect via SSH, stop it</a:t>
            </a:r>
          </a:p>
          <a:p>
            <a:pPr>
              <a:spcAft>
                <a:spcPts val="400"/>
              </a:spcAft>
              <a:defRPr sz="1600" b="1">
                <a:solidFill>
                  <a:srgbClr val="4299E1"/>
                </a:solidFill>
              </a:defRPr>
            </a:pPr>
            <a:r>
              <a:t>Demo 4: IAM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Create user, assign policy, show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D3748"/>
                </a:solidFill>
              </a:defRPr>
            </a:pPr>
            <a:r>
              <a:t>Students: Watch and learn | Capstone weeks: Hands-on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✅ Day 2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Cost control = Monitor and 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Tomorrow: Alternative Platforms &amp; Deployment Planning!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
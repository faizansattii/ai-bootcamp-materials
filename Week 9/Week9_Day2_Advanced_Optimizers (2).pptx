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85515" y="1779389"/>
            <a:ext cx="537267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050"/>
              </a:lnSpc>
              <a:spcAft>
                <a:spcPts val="1200"/>
              </a:spcAft>
              <a:buNone/>
            </a:pPr>
            <a:r>
              <a:rPr lang="en-US" sz="4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Optimizers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975" y="2446139"/>
            <a:ext cx="571590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Aft>
                <a:spcPts val="2400"/>
              </a:spcAft>
              <a:buNone/>
            </a:pPr>
            <a:r>
              <a:rPr lang="en-US" sz="2100" dirty="0">
                <a:solidFill>
                  <a:srgbClr val="F3E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 Adaptation &amp; Smart Optimization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713975" y="3124200"/>
            <a:ext cx="571590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9 - Day 2 | AI Bootcamp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233488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Learning Goals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1633538"/>
            <a:ext cx="8572500" cy="38100"/>
          </a:xfrm>
          <a:prstGeom prst="rect">
            <a:avLst/>
          </a:prstGeom>
          <a:solidFill>
            <a:srgbClr val="7E57C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2205038"/>
            <a:ext cx="85496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Understand learning rate scheduling and decay strategies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81000" y="2614613"/>
            <a:ext cx="85496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Learn how adaptive optimizers work (AdaGrad, RMSProp, Adam)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1000" y="3024188"/>
            <a:ext cx="85496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Compare optimizer performance on real datasets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81000" y="3433763"/>
            <a:ext cx="85496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Know when to use which optimizer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81000" y="3843338"/>
            <a:ext cx="85496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Implement and compare optimizers in practice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050131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Recap from Day 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1450181"/>
            <a:ext cx="8572500" cy="38100"/>
          </a:xfrm>
          <a:prstGeom prst="rect">
            <a:avLst/>
          </a:prstGeom>
          <a:solidFill>
            <a:srgbClr val="7E57C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926431"/>
            <a:ext cx="8382000" cy="638175"/>
          </a:xfrm>
          <a:prstGeom prst="roundRect">
            <a:avLst>
              <a:gd name="adj" fmla="val 11940"/>
            </a:avLst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2116931"/>
            <a:ext cx="81610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Yesterday we learned: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Mini-batch GD with momentum is the industry standard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1000" y="2755106"/>
            <a:ext cx="4095750" cy="820192"/>
          </a:xfrm>
          <a:prstGeom prst="roundRect">
            <a:avLst>
              <a:gd name="adj" fmla="val 9291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2450" y="2926556"/>
            <a:ext cx="1923669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3"/>
              </a:lnSpc>
              <a:spcAft>
                <a:spcPts val="600"/>
              </a:spcAft>
              <a:buNone/>
            </a:pPr>
            <a:r>
              <a:rPr lang="en-US" sz="14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Mini-Batch GD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552450" y="3203823"/>
            <a:ext cx="38279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small batches (32-512) for updates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4667250" y="2755106"/>
            <a:ext cx="4095750" cy="820192"/>
          </a:xfrm>
          <a:prstGeom prst="roundRect">
            <a:avLst>
              <a:gd name="adj" fmla="val 9291"/>
            </a:avLst>
          </a:prstGeom>
          <a:solidFill>
            <a:srgbClr val="F4E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38700" y="2926556"/>
            <a:ext cx="1923669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3"/>
              </a:lnSpc>
              <a:spcAft>
                <a:spcPts val="600"/>
              </a:spcAft>
              <a:buNone/>
            </a:pPr>
            <a:r>
              <a:rPr lang="en-US" sz="14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4838700" y="3203823"/>
            <a:ext cx="38279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Remembers past directions (β=0.9)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381000" y="3765798"/>
            <a:ext cx="8382000" cy="518071"/>
          </a:xfrm>
          <a:prstGeom prst="roundRect">
            <a:avLst>
              <a:gd name="adj" fmla="val 14708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3400" y="3918198"/>
            <a:ext cx="82387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there's a problem: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 still need to manually tune the learning rate!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072009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Learning Rate Problem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1472059"/>
            <a:ext cx="8572500" cy="38100"/>
          </a:xfrm>
          <a:prstGeom prst="rect">
            <a:avLst/>
          </a:prstGeom>
          <a:solidFill>
            <a:srgbClr val="7E57C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948309"/>
            <a:ext cx="4284536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Finding the Right Learning Rate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1000" y="2255193"/>
            <a:ext cx="854964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high → overshoots and diverges | Too low → training takes forever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381000" y="2688580"/>
            <a:ext cx="2667000" cy="832396"/>
          </a:xfrm>
          <a:prstGeom prst="roundRect">
            <a:avLst>
              <a:gd name="adj" fmla="val 9154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2450" y="2860030"/>
            <a:ext cx="237058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= 0.001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2450" y="3149501"/>
            <a:ext cx="23705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but safe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3238500" y="2688580"/>
            <a:ext cx="2667000" cy="832396"/>
          </a:xfrm>
          <a:prstGeom prst="roundRect">
            <a:avLst>
              <a:gd name="adj" fmla="val 9154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09950" y="2860030"/>
            <a:ext cx="237058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= 0.01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09950" y="3149501"/>
            <a:ext cx="23705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works well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6096000" y="2688580"/>
            <a:ext cx="2667000" cy="832396"/>
          </a:xfrm>
          <a:prstGeom prst="roundRect">
            <a:avLst>
              <a:gd name="adj" fmla="val 9154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67450" y="2860030"/>
            <a:ext cx="237058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= 0.1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7450" y="3149501"/>
            <a:ext cx="23705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but risky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381000" y="3692426"/>
            <a:ext cx="8382000" cy="569565"/>
          </a:xfrm>
          <a:prstGeom prst="roundRect">
            <a:avLst>
              <a:gd name="adj" fmla="val 13379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2450" y="3863876"/>
            <a:ext cx="8199882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Adaptive optimizers that automatically adjust learning rates per parameter!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571946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 Scheduling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971996"/>
            <a:ext cx="8572500" cy="38100"/>
          </a:xfrm>
          <a:prstGeom prst="rect">
            <a:avLst/>
          </a:prstGeom>
          <a:solidFill>
            <a:srgbClr val="7E57C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448246"/>
            <a:ext cx="8382000" cy="638175"/>
          </a:xfrm>
          <a:prstGeom prst="roundRect">
            <a:avLst>
              <a:gd name="adj" fmla="val 11940"/>
            </a:avLst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638746"/>
            <a:ext cx="81610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Idea: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Start with large learning rate, gradually decrease it over time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1000" y="2257871"/>
            <a:ext cx="4284536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3"/>
              </a:lnSpc>
              <a:spcAft>
                <a:spcPts val="600"/>
              </a:spcAft>
              <a:buNone/>
            </a:pPr>
            <a:r>
              <a:rPr lang="en-US" sz="1425" b="1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Decay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2535138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learning rate by factor every N epochs (e.g., α = α × 0.5 every 10 epochs)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2919859"/>
            <a:ext cx="4284536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3"/>
              </a:lnSpc>
              <a:spcAft>
                <a:spcPts val="600"/>
              </a:spcAft>
              <a:buNone/>
            </a:pPr>
            <a:r>
              <a:rPr lang="en-US" sz="1425" b="1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 Decay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381000" y="3197126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decay: α = α₀ × e^(-kt) where k is decay rate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1000" y="3581846"/>
            <a:ext cx="4284536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3"/>
              </a:lnSpc>
              <a:spcAft>
                <a:spcPts val="600"/>
              </a:spcAft>
              <a:buNone/>
            </a:pPr>
            <a:r>
              <a:rPr lang="en-US" sz="1425" b="1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Annealing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381000" y="3859113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Follows cosine curve - smooth transitions, popular in modern training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1000" y="4243834"/>
            <a:ext cx="8382000" cy="518071"/>
          </a:xfrm>
          <a:prstGeom prst="roundRect">
            <a:avLst>
              <a:gd name="adj" fmla="val 14708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3400" y="4396234"/>
            <a:ext cx="82387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Fast initial progress, fine-tuning near minimum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94104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AdaGrad: Adaptive Gradient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1341090"/>
            <a:ext cx="8572500" cy="38100"/>
          </a:xfrm>
          <a:prstGeom prst="rect">
            <a:avLst/>
          </a:prstGeom>
          <a:solidFill>
            <a:srgbClr val="7E57C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817340"/>
            <a:ext cx="8382000" cy="638175"/>
          </a:xfrm>
          <a:prstGeom prst="roundRect">
            <a:avLst>
              <a:gd name="adj" fmla="val 11940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2007840"/>
            <a:ext cx="81610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Idea: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Adapt learning rate for each parameter based on past gradients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1000" y="2607915"/>
            <a:ext cx="8382000" cy="794296"/>
          </a:xfrm>
          <a:prstGeom prst="roundRect">
            <a:avLst>
              <a:gd name="adj" fmla="val 959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2760315"/>
            <a:ext cx="82387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Rule: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3400" y="3049786"/>
            <a:ext cx="82387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 = G + (∇J)² → θ = θ - (α / √(G + ε)) × ∇J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381000" y="3554611"/>
            <a:ext cx="20985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81000" y="3821311"/>
            <a:ext cx="4105275" cy="5715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learning rate tuning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for sparse data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57725" y="3554611"/>
            <a:ext cx="20985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Disadvantages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57725" y="3821311"/>
            <a:ext cx="4105275" cy="5715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Decays too fast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ideal for deep learning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941040"/>
            <a:ext cx="51200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RMSProp: Root Mean Square Prop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1341090"/>
            <a:ext cx="8572500" cy="38100"/>
          </a:xfrm>
          <a:prstGeom prst="rect">
            <a:avLst/>
          </a:prstGeom>
          <a:solidFill>
            <a:srgbClr val="7E57C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817340"/>
            <a:ext cx="8382000" cy="638175"/>
          </a:xfrm>
          <a:prstGeom prst="roundRect">
            <a:avLst>
              <a:gd name="adj" fmla="val 11940"/>
            </a:avLst>
          </a:prstGeom>
          <a:solidFill>
            <a:srgbClr val="F4E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2007840"/>
            <a:ext cx="81610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Idea: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Fix AdaGrad by using moving average of squared gradients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1000" y="2607915"/>
            <a:ext cx="8382000" cy="794296"/>
          </a:xfrm>
          <a:prstGeom prst="roundRect">
            <a:avLst>
              <a:gd name="adj" fmla="val 959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2760315"/>
            <a:ext cx="82387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Rule: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3400" y="3049786"/>
            <a:ext cx="82387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E[g²] = β × E[g²] + (1-β) × (∇J)² → θ = θ - (α / √E[g²]) × ∇J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381000" y="3554611"/>
            <a:ext cx="20985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81000" y="3821311"/>
            <a:ext cx="4105275" cy="5715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 RNNs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aggressive decay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57725" y="3554611"/>
            <a:ext cx="20985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Disadvantages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57725" y="3821311"/>
            <a:ext cx="4105275" cy="5715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needs tuning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unstable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84966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Adam: The Industry Standard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1249710"/>
            <a:ext cx="8572500" cy="38100"/>
          </a:xfrm>
          <a:prstGeom prst="rect">
            <a:avLst/>
          </a:prstGeom>
          <a:solidFill>
            <a:srgbClr val="7E57C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725960"/>
            <a:ext cx="8382000" cy="600075"/>
          </a:xfrm>
          <a:prstGeom prst="roundRect">
            <a:avLst>
              <a:gd name="adj" fmla="val 12698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2450" y="1897410"/>
            <a:ext cx="819988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Idea: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Combines momentum + RMSProp (best of both worlds!)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1000" y="2478435"/>
            <a:ext cx="8382000" cy="748605"/>
          </a:xfrm>
          <a:prstGeom prst="roundRect">
            <a:avLst>
              <a:gd name="adj" fmla="val 1017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2630835"/>
            <a:ext cx="82387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moving averages: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533400" y="2888010"/>
            <a:ext cx="823874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= β₁×m + (1-β₁)×∇J (momentum) | v = β₂×v + (1-β₂)×(∇J)² (RMSProp)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360390"/>
            <a:ext cx="20402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Adam Wins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81000" y="3608040"/>
            <a:ext cx="3981450" cy="8763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out of the box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convergence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default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14850" y="3360390"/>
            <a:ext cx="4248150" cy="1123950"/>
          </a:xfrm>
          <a:prstGeom prst="roundRect">
            <a:avLst>
              <a:gd name="adj" fmla="val 6780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48200" y="3493740"/>
            <a:ext cx="406107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Defaults: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48200" y="3737521"/>
            <a:ext cx="4061079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β₁ = 0.9, β₂ = 0.999</a:t>
            </a:r>
            <a:endParaRPr lang="en-US" sz="975" dirty="0"/>
          </a:p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= 0.001, ε = 10⁻⁸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839242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 Comparison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1239292"/>
            <a:ext cx="8572500" cy="38100"/>
          </a:xfrm>
          <a:prstGeom prst="rect">
            <a:avLst/>
          </a:prstGeom>
          <a:solidFill>
            <a:srgbClr val="7E57C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715542"/>
            <a:ext cx="2692450" cy="1489472"/>
          </a:xfrm>
          <a:prstGeom prst="roundRect">
            <a:avLst>
              <a:gd name="adj" fmla="val 3837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15074" y="1867942"/>
            <a:ext cx="12241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AdaGrad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9524" y="2134642"/>
            <a:ext cx="243540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Rate:</a:t>
            </a:r>
            <a:pPr algn="ctr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Decays fast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9524" y="2378422"/>
            <a:ext cx="243540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Memory:</a:t>
            </a:r>
            <a:pPr algn="ctr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Low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9524" y="2622203"/>
            <a:ext cx="243540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pPr algn="ctr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Sparse data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9524" y="2865983"/>
            <a:ext cx="243540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Rarely used now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25850" y="1715542"/>
            <a:ext cx="2692450" cy="1489472"/>
          </a:xfrm>
          <a:prstGeom prst="roundRect">
            <a:avLst>
              <a:gd name="adj" fmla="val 3837"/>
            </a:avLst>
          </a:prstGeom>
          <a:solidFill>
            <a:srgbClr val="F4E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959924" y="1867942"/>
            <a:ext cx="12241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RMSProp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354373" y="2134642"/>
            <a:ext cx="243540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Rate:</a:t>
            </a:r>
            <a:pPr algn="ctr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Stable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54373" y="2378422"/>
            <a:ext cx="243540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Memory:</a:t>
            </a:r>
            <a:pPr algn="ctr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Medium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54373" y="2622203"/>
            <a:ext cx="243540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pPr algn="ctr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RNNs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54373" y="2865983"/>
            <a:ext cx="243540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alternative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70699" y="1715542"/>
            <a:ext cx="2692450" cy="1489472"/>
          </a:xfrm>
          <a:prstGeom prst="roundRect">
            <a:avLst>
              <a:gd name="adj" fmla="val 3837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04773" y="1867942"/>
            <a:ext cx="12241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 ✨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199223" y="2134642"/>
            <a:ext cx="243540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Rate:</a:t>
            </a:r>
            <a:pPr algn="ctr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Adaptive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99223" y="2378422"/>
            <a:ext cx="243540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Memory:</a:t>
            </a:r>
            <a:pPr algn="ctr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99223" y="2622203"/>
            <a:ext cx="243540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pPr algn="ctr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Most tasks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99223" y="2865983"/>
            <a:ext cx="243540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CHOICE!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1000" y="3357414"/>
            <a:ext cx="8382000" cy="518071"/>
          </a:xfrm>
          <a:prstGeom prst="roundRect">
            <a:avLst>
              <a:gd name="adj" fmla="val 14708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52628" y="3509814"/>
            <a:ext cx="82387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Winner:</a:t>
            </a:r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Adam is used in 90%+ of deep learning projects!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1000" y="4027884"/>
            <a:ext cx="8382000" cy="466725"/>
          </a:xfrm>
          <a:prstGeom prst="roundRect">
            <a:avLst>
              <a:gd name="adj" fmla="val 16327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14350" y="4161234"/>
            <a:ext cx="82776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mentions:</a:t>
            </a:r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AdamW (Adam with weight decay), RAdam (rectified Adam) are modern variants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559891"/>
            <a:ext cx="44302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Each Optimizer?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959941"/>
            <a:ext cx="8572500" cy="38100"/>
          </a:xfrm>
          <a:prstGeom prst="rect">
            <a:avLst/>
          </a:prstGeom>
          <a:solidFill>
            <a:srgbClr val="7E57C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436191"/>
            <a:ext cx="8382000" cy="748754"/>
          </a:xfrm>
          <a:prstGeom prst="roundRect">
            <a:avLst>
              <a:gd name="adj" fmla="val 10177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588591"/>
            <a:ext cx="4129088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3"/>
              </a:lnSpc>
              <a:spcAft>
                <a:spcPts val="450"/>
              </a:spcAft>
              <a:buNone/>
            </a:pPr>
            <a:r>
              <a:rPr lang="en-US" sz="1425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 (Default)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533400" y="1846808"/>
            <a:ext cx="823874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CNNs, transformers, most deep learning, image classification, NLP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381000" y="2299246"/>
            <a:ext cx="8382000" cy="748754"/>
          </a:xfrm>
          <a:prstGeom prst="roundRect">
            <a:avLst>
              <a:gd name="adj" fmla="val 10177"/>
            </a:avLst>
          </a:prstGeom>
          <a:solidFill>
            <a:srgbClr val="F4E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400" y="2451646"/>
            <a:ext cx="4129088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3"/>
              </a:lnSpc>
              <a:spcAft>
                <a:spcPts val="450"/>
              </a:spcAft>
              <a:buNone/>
            </a:pPr>
            <a:r>
              <a:rPr lang="en-US" sz="14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RMSProp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533400" y="2709863"/>
            <a:ext cx="823874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RNNs, LSTMs, time series, when Adam fails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381000" y="3162300"/>
            <a:ext cx="8382000" cy="748754"/>
          </a:xfrm>
          <a:prstGeom prst="roundRect">
            <a:avLst>
              <a:gd name="adj" fmla="val 10177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3400" y="3314700"/>
            <a:ext cx="4129088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3"/>
              </a:lnSpc>
              <a:spcAft>
                <a:spcPts val="450"/>
              </a:spcAft>
              <a:buNone/>
            </a:pPr>
            <a:r>
              <a:rPr lang="en-US" sz="14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SGD with Momentum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533400" y="3572917"/>
            <a:ext cx="823874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vision, sometimes better generalization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381000" y="4025354"/>
            <a:ext cx="8382000" cy="748754"/>
          </a:xfrm>
          <a:prstGeom prst="roundRect">
            <a:avLst>
              <a:gd name="adj" fmla="val 10177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3400" y="4177754"/>
            <a:ext cx="4129088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3"/>
              </a:lnSpc>
              <a:spcAft>
                <a:spcPts val="450"/>
              </a:spcAft>
              <a:buNone/>
            </a:pPr>
            <a:r>
              <a:rPr lang="en-US" sz="14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AdaGrad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533400" y="4435971"/>
            <a:ext cx="823874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data, NLP (rarely used in modern deep learning)</a:t>
            </a:r>
            <a:endParaRPr lang="en-US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709613"/>
            <a:ext cx="45565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Tips &amp; Best Practices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1109663"/>
            <a:ext cx="8572500" cy="38100"/>
          </a:xfrm>
          <a:prstGeom prst="rect">
            <a:avLst/>
          </a:prstGeom>
          <a:solidFill>
            <a:srgbClr val="7E57C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585913"/>
            <a:ext cx="4284536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3"/>
              </a:lnSpc>
              <a:spcAft>
                <a:spcPts val="600"/>
              </a:spcAft>
              <a:buNone/>
            </a:pPr>
            <a:r>
              <a:rPr lang="en-US" sz="1425" b="1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Adam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381000" y="1863179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default parameters (α=0.001, β₁=0.9, β₂=0.999) - works 90% of the time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000" y="2228850"/>
            <a:ext cx="4284536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3"/>
              </a:lnSpc>
              <a:spcAft>
                <a:spcPts val="600"/>
              </a:spcAft>
              <a:buNone/>
            </a:pPr>
            <a:r>
              <a:rPr lang="en-US" sz="1425" b="1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 Range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2506117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values: 0.0001 to 0.01. Start with 0.001 and adjust if needed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2871788"/>
            <a:ext cx="4284536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3"/>
              </a:lnSpc>
              <a:spcAft>
                <a:spcPts val="600"/>
              </a:spcAft>
              <a:buNone/>
            </a:pPr>
            <a:r>
              <a:rPr lang="en-US" sz="1425" b="1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Learning Rate Scheduling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381000" y="3149054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Adam with cosine annealing or step decay for better results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1000" y="3514725"/>
            <a:ext cx="4284536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3"/>
              </a:lnSpc>
              <a:spcAft>
                <a:spcPts val="600"/>
              </a:spcAft>
              <a:buNone/>
            </a:pPr>
            <a:r>
              <a:rPr lang="en-US" sz="1425" b="1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Training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381000" y="3791992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loss curves - diverging? Lower learning rate. Too slow? Increase 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1000" y="4157663"/>
            <a:ext cx="8382000" cy="466725"/>
          </a:xfrm>
          <a:prstGeom prst="roundRect">
            <a:avLst>
              <a:gd name="adj" fmla="val 16327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4350" y="4291013"/>
            <a:ext cx="82776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tip:</a:t>
            </a:r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learning rate finder to find optimal starting value</a:t>
            </a:r>
            <a:endParaRPr lang="en-US" sz="11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942975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 to Avoid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1343025"/>
            <a:ext cx="8572500" cy="38100"/>
          </a:xfrm>
          <a:prstGeom prst="rect">
            <a:avLst/>
          </a:prstGeom>
          <a:solidFill>
            <a:srgbClr val="7E57C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819275"/>
            <a:ext cx="4284536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3"/>
              </a:lnSpc>
              <a:spcAft>
                <a:spcPts val="600"/>
              </a:spcAft>
              <a:buNone/>
            </a:pPr>
            <a:r>
              <a:rPr lang="en-US" sz="1425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Mistake 1: Wrong Learning Rate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381000" y="2096542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use SGD's learning rate (0.01) for Adam - use 0.001 instead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000" y="2462213"/>
            <a:ext cx="4284536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3"/>
              </a:lnSpc>
              <a:spcAft>
                <a:spcPts val="600"/>
              </a:spcAft>
              <a:buNone/>
            </a:pPr>
            <a:r>
              <a:rPr lang="en-US" sz="1425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Mistake 2: Not Using Weight Decay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2739479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weight decay (L2 regularization) to prevent overfitting - try 0.0001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3105150"/>
            <a:ext cx="4284536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3"/>
              </a:lnSpc>
              <a:spcAft>
                <a:spcPts val="600"/>
              </a:spcAft>
              <a:buNone/>
            </a:pPr>
            <a:r>
              <a:rPr lang="en-US" sz="1425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Mistake 3: Switching Optimizers Mid-Training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381000" y="3382417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 with one optimizer - switching resets momentum and history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1000" y="3748087"/>
            <a:ext cx="4284536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3"/>
              </a:lnSpc>
              <a:spcAft>
                <a:spcPts val="600"/>
              </a:spcAft>
              <a:buNone/>
            </a:pPr>
            <a:r>
              <a:rPr lang="en-US" sz="1425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Mistake 4: Ignoring Batch Size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381000" y="4025354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batch size = increase learning rate (linear scaling rule)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545306"/>
            <a:ext cx="46925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Adam: Modern Variants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945356"/>
            <a:ext cx="8572500" cy="38100"/>
          </a:xfrm>
          <a:prstGeom prst="rect">
            <a:avLst/>
          </a:prstGeom>
          <a:solidFill>
            <a:srgbClr val="7E57C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421606"/>
            <a:ext cx="8382000" cy="833438"/>
          </a:xfrm>
          <a:prstGeom prst="roundRect">
            <a:avLst>
              <a:gd name="adj" fmla="val 9143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2450" y="1593056"/>
            <a:ext cx="4109657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3"/>
              </a:lnSpc>
              <a:spcAft>
                <a:spcPts val="600"/>
              </a:spcAft>
              <a:buNone/>
            </a:pPr>
            <a:r>
              <a:rPr lang="en-US" sz="1425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AdamW (Most Popular)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552450" y="1870323"/>
            <a:ext cx="819988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 with decoupled weight decay - better generalization, use this over Adam!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" y="2388394"/>
            <a:ext cx="8382000" cy="833438"/>
          </a:xfrm>
          <a:prstGeom prst="roundRect">
            <a:avLst>
              <a:gd name="adj" fmla="val 9143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2450" y="2559844"/>
            <a:ext cx="4109657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3"/>
              </a:lnSpc>
              <a:spcAft>
                <a:spcPts val="600"/>
              </a:spcAft>
              <a:buNone/>
            </a:pPr>
            <a:r>
              <a:rPr lang="en-US" sz="14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RAdam (Rectified Adam)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552450" y="2837111"/>
            <a:ext cx="819988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Fixes warmup issues in early training - more stable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1000" y="3355181"/>
            <a:ext cx="8382000" cy="833438"/>
          </a:xfrm>
          <a:prstGeom prst="roundRect">
            <a:avLst>
              <a:gd name="adj" fmla="val 9143"/>
            </a:avLst>
          </a:prstGeom>
          <a:solidFill>
            <a:srgbClr val="F4E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52450" y="3526631"/>
            <a:ext cx="4109657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3"/>
              </a:lnSpc>
              <a:spcAft>
                <a:spcPts val="600"/>
              </a:spcAft>
              <a:buNone/>
            </a:pPr>
            <a:r>
              <a:rPr lang="en-US" sz="14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Lookahead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552450" y="3803898"/>
            <a:ext cx="819988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Wraps any optimizer - slower but more stable updates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1000" y="4321969"/>
            <a:ext cx="8382000" cy="466725"/>
          </a:xfrm>
          <a:prstGeom prst="roundRect">
            <a:avLst>
              <a:gd name="adj" fmla="val 16327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4350" y="4455319"/>
            <a:ext cx="82776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</a:t>
            </a:r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Start with AdamW for new projects in 2024+</a:t>
            </a:r>
            <a:endParaRPr lang="en-US" sz="11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778669"/>
            <a:ext cx="501319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Hands-On: Optimizer Comparison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1178719"/>
            <a:ext cx="8572500" cy="38100"/>
          </a:xfrm>
          <a:prstGeom prst="rect">
            <a:avLst/>
          </a:prstGeom>
          <a:solidFill>
            <a:srgbClr val="7E57C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654969"/>
            <a:ext cx="8382000" cy="638175"/>
          </a:xfrm>
          <a:prstGeom prst="roundRect">
            <a:avLst>
              <a:gd name="adj" fmla="val 11940"/>
            </a:avLst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845469"/>
            <a:ext cx="81610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We'll implement and compare all optimizers on a real dataset!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1000" y="2445544"/>
            <a:ext cx="4284536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3"/>
              </a:lnSpc>
              <a:spcAft>
                <a:spcPts val="600"/>
              </a:spcAft>
              <a:buNone/>
            </a:pPr>
            <a:r>
              <a:rPr lang="en-US" sz="1425" b="1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Do: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2722811"/>
            <a:ext cx="8382000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 neural network with SGD, SGD+Momentum, AdaGrad, RMSProp, and Adam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training loss curves and convergence speed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how different optimizers navigate the loss landscape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why Adam is the default choice!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81000" y="4037261"/>
            <a:ext cx="8382000" cy="518071"/>
          </a:xfrm>
          <a:prstGeom prst="roundRect">
            <a:avLst>
              <a:gd name="adj" fmla="val 14708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33400" y="4189661"/>
            <a:ext cx="82387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MNIST (handwritten digits) - perfect for comparing optimizers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733425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1133475"/>
            <a:ext cx="8572500" cy="38100"/>
          </a:xfrm>
          <a:prstGeom prst="rect">
            <a:avLst/>
          </a:prstGeom>
          <a:solidFill>
            <a:srgbClr val="7E57C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609725"/>
            <a:ext cx="854964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1050"/>
              </a:spcAft>
              <a:buNone/>
            </a:pPr>
            <a:r>
              <a:rPr lang="en-US" sz="12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l" indent="0" marL="0">
              <a:lnSpc>
                <a:spcPts val="1913"/>
              </a:lnSpc>
              <a:spcAft>
                <a:spcPts val="1050"/>
              </a:spcAft>
              <a:buNone/>
            </a:pPr>
            <a:r>
              <a:rPr lang="en-US" sz="12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Learning rate is crucial - adaptive optimizers solve this problem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381000" y="1985963"/>
            <a:ext cx="854964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1050"/>
              </a:spcAft>
              <a:buNone/>
            </a:pPr>
            <a:r>
              <a:rPr lang="en-US" sz="12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l" indent="0" marL="0">
              <a:lnSpc>
                <a:spcPts val="1913"/>
              </a:lnSpc>
              <a:spcAft>
                <a:spcPts val="1050"/>
              </a:spcAft>
              <a:buNone/>
            </a:pPr>
            <a:r>
              <a:rPr lang="en-US" sz="12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AdaGrad adapts per-parameter but decays too fast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381000" y="2362200"/>
            <a:ext cx="854964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1050"/>
              </a:spcAft>
              <a:buNone/>
            </a:pPr>
            <a:r>
              <a:rPr lang="en-US" sz="12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algn="l" indent="0" marL="0">
              <a:lnSpc>
                <a:spcPts val="1913"/>
              </a:lnSpc>
              <a:spcAft>
                <a:spcPts val="1050"/>
              </a:spcAft>
              <a:buNone/>
            </a:pPr>
            <a:r>
              <a:rPr lang="en-US" sz="12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RMSProp fixes AdaGrad with moving averages - good for RNNs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381000" y="2738438"/>
            <a:ext cx="854964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1050"/>
              </a:spcAft>
              <a:buNone/>
            </a:pPr>
            <a:r>
              <a:rPr lang="en-US" sz="12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pPr algn="l" indent="0" marL="0">
              <a:lnSpc>
                <a:spcPts val="1913"/>
              </a:lnSpc>
              <a:spcAft>
                <a:spcPts val="1050"/>
              </a:spcAft>
              <a:buNone/>
            </a:pPr>
            <a:r>
              <a:rPr lang="en-US" sz="12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Adam combines momentum + RMSProp - industry standard (90%+ usage)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381000" y="3114675"/>
            <a:ext cx="854964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1050"/>
              </a:spcAft>
              <a:buNone/>
            </a:pPr>
            <a:r>
              <a:rPr lang="en-US" sz="12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pPr algn="l" indent="0" marL="0">
              <a:lnSpc>
                <a:spcPts val="1913"/>
              </a:lnSpc>
              <a:spcAft>
                <a:spcPts val="1050"/>
              </a:spcAft>
              <a:buNone/>
            </a:pPr>
            <a:r>
              <a:rPr lang="en-US" sz="12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Start with Adam (α=0.001) and adjust only if needed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381000" y="3490913"/>
            <a:ext cx="854964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Modern: Use AdamW for better generalization in new projects</a:t>
            </a:r>
            <a:endParaRPr lang="en-US" sz="1275" dirty="0"/>
          </a:p>
        </p:txBody>
      </p:sp>
      <p:pic>
        <p:nvPicPr>
          <p:cNvPr id="10" name="Image 0" descr="/tmp/rasterized-gradient-fde584a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3962400"/>
            <a:ext cx="8382000" cy="63817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91490" y="4152900"/>
            <a:ext cx="81610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see these optimizers in action? Let's code! 🚀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826294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1226344"/>
            <a:ext cx="8572500" cy="38100"/>
          </a:xfrm>
          <a:prstGeom prst="rect">
            <a:avLst/>
          </a:prstGeom>
          <a:solidFill>
            <a:srgbClr val="7E57C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702594"/>
            <a:ext cx="8382000" cy="833438"/>
          </a:xfrm>
          <a:prstGeom prst="roundRect">
            <a:avLst>
              <a:gd name="adj" fmla="val 9143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2450" y="1874044"/>
            <a:ext cx="4109657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3"/>
              </a:lnSpc>
              <a:spcAft>
                <a:spcPts val="600"/>
              </a:spcAft>
              <a:buNone/>
            </a:pPr>
            <a:r>
              <a:rPr lang="en-US" sz="1425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(Notebook)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552450" y="2151311"/>
            <a:ext cx="819988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and compare all optimizers on MNIST dataset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" y="2688431"/>
            <a:ext cx="8382000" cy="833438"/>
          </a:xfrm>
          <a:prstGeom prst="roundRect">
            <a:avLst>
              <a:gd name="adj" fmla="val 9143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2450" y="2859881"/>
            <a:ext cx="4109657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3"/>
              </a:lnSpc>
              <a:spcAft>
                <a:spcPts val="600"/>
              </a:spcAft>
              <a:buNone/>
            </a:pPr>
            <a:r>
              <a:rPr lang="en-US" sz="14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 (Day 3)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552450" y="3137148"/>
            <a:ext cx="819988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PyTorch - build neural networks with modern framework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1000" y="3674269"/>
            <a:ext cx="8382000" cy="833438"/>
          </a:xfrm>
          <a:prstGeom prst="roundRect">
            <a:avLst>
              <a:gd name="adj" fmla="val 9143"/>
            </a:avLst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52450" y="3845719"/>
            <a:ext cx="4109657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3"/>
              </a:lnSpc>
              <a:spcAft>
                <a:spcPts val="600"/>
              </a:spcAft>
              <a:buNone/>
            </a:pPr>
            <a:r>
              <a:rPr lang="en-US" sz="1425" b="1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Week's Journey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552450" y="4122986"/>
            <a:ext cx="819988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1: Optimization basics → Day 2: Advanced optimizers → Day 3: PyTorch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AI Bootcamp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Optimizers</dc:title>
  <dc:subject>Week 9 Day 2: Advanced Optimizers</dc:subject>
  <dc:creator>AI Bootcamp</dc:creator>
  <cp:lastModifiedBy>AI Bootcamp</cp:lastModifiedBy>
  <cp:revision>1</cp:revision>
  <dcterms:created xsi:type="dcterms:W3CDTF">2025-11-20T10:08:18Z</dcterms:created>
  <dcterms:modified xsi:type="dcterms:W3CDTF">2025-11-20T10:08:18Z</dcterms:modified>
</cp:coreProperties>
</file>
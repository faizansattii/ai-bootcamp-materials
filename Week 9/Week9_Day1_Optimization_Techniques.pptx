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2453" y="1779389"/>
            <a:ext cx="61989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Techniques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472453" y="2446139"/>
            <a:ext cx="61989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Gradient Descent Faster &amp; Smarter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72453" y="3124200"/>
            <a:ext cx="619894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9 - Day 1 | AI Bootcamp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43013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Learning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643063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119313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Understand why basic gradient descent can be slow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547938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 different types: Batch, Mini-Batch, and Stochastic GD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976563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Discover how momentum accelerates convergence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3405188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Compare optimization paths visually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833812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Know when to use each optimization method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86867"/>
            <a:ext cx="465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Recap: Gradient Descent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86917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63167"/>
            <a:ext cx="8382000" cy="1584871"/>
          </a:xfrm>
          <a:prstGeom prst="roundRect">
            <a:avLst>
              <a:gd name="adj" fmla="val 48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99176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the minimum of a loss function (lowest error)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1845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steps in the direction of steepest descent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84514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Rule: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θ = θ - α × ∇J(θ)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576638"/>
            <a:ext cx="2667000" cy="870496"/>
          </a:xfrm>
          <a:prstGeom prst="roundRect">
            <a:avLst>
              <a:gd name="adj" fmla="val 875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3767138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(theta)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405660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(weights)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238500" y="3576638"/>
            <a:ext cx="2667000" cy="870496"/>
          </a:xfrm>
          <a:prstGeom prst="roundRect">
            <a:avLst>
              <a:gd name="adj" fmla="val 875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3767138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(alpha)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405660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(step size)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0" y="3576638"/>
            <a:ext cx="2667000" cy="870496"/>
          </a:xfrm>
          <a:prstGeom prst="roundRect">
            <a:avLst>
              <a:gd name="adj" fmla="val 875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500" y="3767138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∇J(θ)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6500" y="405660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(direction)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43855"/>
            <a:ext cx="475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Basic GD (Part 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43905"/>
            <a:ext cx="85725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24905"/>
            <a:ext cx="428453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 Too Slow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971973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ALL training data for every single update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291060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millions of samples, one update takes forever!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2762548"/>
            <a:ext cx="428453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 Gets Stuck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81000" y="3109615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get trapped in local minima (not the best solution)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81000" y="3428702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 points slow down convergence significantly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81000" y="3900190"/>
            <a:ext cx="428453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3: Zigzagging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81000" y="4247257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inefficient paths in narrow valleys (oscillates instead of moving smoothly)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86433"/>
            <a:ext cx="475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Basic GD (Part 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86483"/>
            <a:ext cx="85725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67483"/>
            <a:ext cx="428453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4: Learning Rate Sensitivity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2114550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 → Training takes forever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433638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large → Overshoots and diverges (never converges)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2905125"/>
            <a:ext cx="428453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5: Memory Hungry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81000" y="3252192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load entire dataset into memory at once (impossible for large datasets)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81000" y="3723680"/>
            <a:ext cx="8382000" cy="623888"/>
          </a:xfrm>
          <a:prstGeom prst="roundRect">
            <a:avLst>
              <a:gd name="adj" fmla="val 12214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914180"/>
            <a:ext cx="81610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Solution?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need smarter optimization techniques that address these issues!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151037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Gradient Descent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551087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122587"/>
            <a:ext cx="2667000" cy="1222177"/>
          </a:xfrm>
          <a:prstGeom prst="roundRect">
            <a:avLst>
              <a:gd name="adj" fmla="val 623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313087"/>
            <a:ext cx="117557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639020"/>
            <a:ext cx="23317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data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967633"/>
            <a:ext cx="2331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accurate direction but slowest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38500" y="2122587"/>
            <a:ext cx="2667000" cy="1222177"/>
          </a:xfrm>
          <a:prstGeom prst="roundRect">
            <a:avLst>
              <a:gd name="adj" fmla="val 623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9000" y="2313087"/>
            <a:ext cx="1331024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639020"/>
            <a:ext cx="23317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at a time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9000" y="2967633"/>
            <a:ext cx="2331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 but noisy updates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0" y="2122587"/>
            <a:ext cx="2667000" cy="1222177"/>
          </a:xfrm>
          <a:prstGeom prst="roundRect">
            <a:avLst>
              <a:gd name="adj" fmla="val 623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0" y="2313087"/>
            <a:ext cx="1340739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86500" y="2639020"/>
            <a:ext cx="23317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batches</a:t>
            </a:r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(32-512)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286500" y="2967633"/>
            <a:ext cx="2331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balance: fast &amp; stable!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3573363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" y="3763863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Batch = Ask everyone | Stochastic = Ask one person | Mini-Batch = Survey a small group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13321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Gradient Descent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13371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84871"/>
            <a:ext cx="8382000" cy="714375"/>
          </a:xfrm>
          <a:prstGeom prst="roundRect">
            <a:avLst>
              <a:gd name="adj" fmla="val 1066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813471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gradient using ALL training samples, then update weights once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489746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815679"/>
            <a:ext cx="40767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accurate gradient direction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smooth convergence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small datasets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behavior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2489746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6300" y="2815679"/>
            <a:ext cx="40767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slow on large datasets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dataset must fit in memory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online learning possible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get stuck in local minima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4187279"/>
            <a:ext cx="8382000" cy="533400"/>
          </a:xfrm>
          <a:prstGeom prst="roundRect">
            <a:avLst>
              <a:gd name="adj" fmla="val 1428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4339679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to medium datasets where accuracy is more important than speed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5271"/>
            <a:ext cx="52075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Gradient Descent (SGD)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75321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46821"/>
            <a:ext cx="8382000" cy="714375"/>
          </a:xfrm>
          <a:prstGeom prst="roundRect">
            <a:avLst>
              <a:gd name="adj" fmla="val 10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175421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weights after EVERY SINGLE training sample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851696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3177629"/>
            <a:ext cx="40767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 updates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memory requirements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escape local minima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online learning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2851696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6300" y="3177629"/>
            <a:ext cx="40767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Noisy, erratic updates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oscillates heavily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converge exactly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learning rate decay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68077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GD (The Sweet Spot!)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68127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9627"/>
            <a:ext cx="8382000" cy="714375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68227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data into small batches (32, 64, 128), update after each batch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444502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770436"/>
            <a:ext cx="40767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efficient updates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than SGD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GPU-friendly (parallel)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noisy convergence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2444502"/>
            <a:ext cx="2088833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6300" y="2770436"/>
            <a:ext cx="40767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tune batch size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has some noise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still get stuck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4142036"/>
            <a:ext cx="8382000" cy="623888"/>
          </a:xfrm>
          <a:prstGeom prst="roundRect">
            <a:avLst>
              <a:gd name="adj" fmla="val 12214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1490" y="4332536"/>
            <a:ext cx="81610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 Choice!</a:t>
            </a:r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in 95% of modern deep learning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93589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493639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69889"/>
            <a:ext cx="2692450" cy="1618952"/>
          </a:xfrm>
          <a:prstGeom prst="roundRect">
            <a:avLst>
              <a:gd name="adj" fmla="val 353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5358" y="2103239"/>
            <a:ext cx="1243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0093" y="2369939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(m)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0093" y="259467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🐌 Slow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0093" y="281940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0093" y="304413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Smooth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0093" y="3268861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25850" y="1969889"/>
            <a:ext cx="2692450" cy="1618952"/>
          </a:xfrm>
          <a:prstGeom prst="roundRect">
            <a:avLst>
              <a:gd name="adj" fmla="val 35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50208" y="2103239"/>
            <a:ext cx="1243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4942" y="2369939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4942" y="259467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⚡ Very Fast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4942" y="281940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4942" y="304413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Noisy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4942" y="3268861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Online learning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70699" y="1969889"/>
            <a:ext cx="2692450" cy="1618952"/>
          </a:xfrm>
          <a:prstGeom prst="roundRect">
            <a:avLst>
              <a:gd name="adj" fmla="val 35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78472" y="2103239"/>
            <a:ext cx="14767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GD 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9792" y="2369939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32-512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9792" y="259467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🚀 Fast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9792" y="281940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Medium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9792" y="3044130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9792" y="3268861"/>
            <a:ext cx="24742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cases!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3722191"/>
            <a:ext cx="8382000" cy="518071"/>
          </a:xfrm>
          <a:prstGeom prst="roundRect">
            <a:avLst>
              <a:gd name="adj" fmla="val 11031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3874591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Mini-Batch GD offers the best balance of speed, stability, and memory efficiency!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95474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 Momentum!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95524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71774"/>
            <a:ext cx="8382000" cy="670471"/>
          </a:xfrm>
          <a:prstGeom prst="roundRect">
            <a:avLst>
              <a:gd name="adj" fmla="val 11365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762274"/>
            <a:ext cx="8161020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mini-batch GD can be slow in valleys (oscillates back and forth)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2432745"/>
            <a:ext cx="8382000" cy="670471"/>
          </a:xfrm>
          <a:prstGeom prst="roundRect">
            <a:avLst>
              <a:gd name="adj" fmla="val 1136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623245"/>
            <a:ext cx="8161020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momentum - remember previous directions and keep moving that way!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3293715"/>
            <a:ext cx="4076700" cy="1344662"/>
          </a:xfrm>
          <a:prstGeom prst="roundRect">
            <a:avLst>
              <a:gd name="adj" fmla="val 5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5112" y="3465165"/>
            <a:ext cx="38084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15112" y="4040386"/>
            <a:ext cx="380847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Momentum</a:t>
            </a:r>
            <a:pPr algn="ctr" indent="0" marL="0">
              <a:lnSpc>
                <a:spcPts val="1680"/>
              </a:lnSpc>
              <a:buNone/>
            </a:pP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independent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6300" y="3293715"/>
            <a:ext cx="4076700" cy="1344662"/>
          </a:xfrm>
          <a:prstGeom prst="roundRect">
            <a:avLst>
              <a:gd name="adj" fmla="val 566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0412" y="3465165"/>
            <a:ext cx="38084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🏐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820412" y="4040386"/>
            <a:ext cx="380847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Momentum</a:t>
            </a:r>
            <a:pPr algn="ctr" indent="0" marL="0">
              <a:lnSpc>
                <a:spcPts val="1680"/>
              </a:lnSpc>
              <a:buNone/>
            </a:pP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up speed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66291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Momentum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66341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42591"/>
            <a:ext cx="8382000" cy="1728788"/>
          </a:xfrm>
          <a:prstGeom prst="roundRect">
            <a:avLst>
              <a:gd name="adj" fmla="val 4408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633091"/>
            <a:ext cx="81610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Update: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endParaRPr lang="en-US" sz="1275" dirty="0"/>
          </a:p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θ - α × ∇J(θ)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571500" y="2252216"/>
            <a:ext cx="816102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Momentum:</a:t>
            </a:r>
            <a:pPr algn="l" indent="0" marL="0">
              <a:lnSpc>
                <a:spcPts val="1913"/>
              </a:lnSpc>
              <a:buNone/>
            </a:pPr>
            <a:endParaRPr lang="en-US" sz="127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β × v + (1-β) × ∇J(θ)</a:t>
            </a:r>
            <a:endParaRPr lang="en-US" sz="127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θ - α × v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3342829"/>
            <a:ext cx="4105275" cy="735211"/>
          </a:xfrm>
          <a:prstGeom prst="roundRect">
            <a:avLst>
              <a:gd name="adj" fmla="val 10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495229"/>
            <a:ext cx="3876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(velocity)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33400" y="3752404"/>
            <a:ext cx="3876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average of gradients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57725" y="3342829"/>
            <a:ext cx="4105275" cy="735211"/>
          </a:xfrm>
          <a:prstGeom prst="roundRect">
            <a:avLst>
              <a:gd name="adj" fmla="val 10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3495229"/>
            <a:ext cx="3876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(beta)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10125" y="3752404"/>
            <a:ext cx="3876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coefficient (0.9)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4249489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4401889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90% of previous direction, add 10% new gradient. Smooths oscillations!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4576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Momentum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45815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22065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Convergence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381000" y="1799332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in directions that consistently point toward minimum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184053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Oscillations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246132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Dampens zigzagging in narrow valleys, makes path smoother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846040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Escapes Local Minima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1000" y="3123307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push through small bumps due to accumulated velocity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508028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Loss Curves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1000" y="378529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 decreases more consistently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4170015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" y="4322415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Often 2-3x faster training!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26269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Method?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26319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02569"/>
            <a:ext cx="8382000" cy="752475"/>
          </a:xfrm>
          <a:prstGeom prst="roundRect">
            <a:avLst>
              <a:gd name="adj" fmla="val 1012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54969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3400" y="1902619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datasets, need precise gradients, convex optimization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388394"/>
            <a:ext cx="8382000" cy="752475"/>
          </a:xfrm>
          <a:prstGeom prst="roundRect">
            <a:avLst>
              <a:gd name="adj" fmla="val 1012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40794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2788444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learning, streaming data, very limited memory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81000" y="3274219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3445669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GD (with Momentum)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52450" y="3722936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DEEP LEARNING!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datasets, neural networks, GPU 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4241006"/>
            <a:ext cx="8382000" cy="466725"/>
          </a:xfrm>
          <a:prstGeom prst="roundRect">
            <a:avLst>
              <a:gd name="adj" fmla="val 1632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4374356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MORE advanced optimizers (Adam, RMSProp)!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858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85850"/>
            <a:ext cx="85725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57350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gradient descent has major limitations: slow, memory-hungry, gets stuck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033588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types exist: Batch (all data), Stochastic (one sample), Mini-Batch (small batches)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409825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Mini-batch GD is the sweet spot: fast, stable, GPU-friendly (industry standard)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2786063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Momentum accelerates convergence: remembers past directions (2-3x speedup)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81000" y="3162300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 choice: Mini-batch GD with momentum (β=0.9) for almost all deep learning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81000" y="3538538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Tomorrow: Even smarter optimizers (Adam, RMSProp) that adapt learning rates!</a:t>
            </a:r>
            <a:endParaRPr lang="en-US" sz="1275" dirty="0"/>
          </a:p>
        </p:txBody>
      </p:sp>
      <p:pic>
        <p:nvPicPr>
          <p:cNvPr id="10" name="Image 0" descr="/tmp/rasterized-gradient-3d1759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010025"/>
            <a:ext cx="8382000" cy="6381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1490" y="4200525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understand the foundations of modern optimization!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</dc:title>
  <dc:subject>Week 9 Day 1: Optimization Techniques</dc:subject>
  <dc:creator>AI Bootcamp</dc:creator>
  <cp:lastModifiedBy>AI Bootcamp</cp:lastModifiedBy>
  <cp:revision>1</cp:revision>
  <dcterms:created xsi:type="dcterms:W3CDTF">2025-11-20T08:12:00Z</dcterms:created>
  <dcterms:modified xsi:type="dcterms:W3CDTF">2025-11-20T08:12:00Z</dcterms:modified>
</cp:coreProperties>
</file>
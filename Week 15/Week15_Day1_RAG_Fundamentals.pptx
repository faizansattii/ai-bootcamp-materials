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789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d5dac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08116" y="763636"/>
            <a:ext cx="2327469" cy="1059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🔍📚🤖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73393" y="2461847"/>
            <a:ext cx="7597066" cy="23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2351858" y="3405931"/>
            <a:ext cx="4440135" cy="55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LLMs Smarter with Your Data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740023" y="3960465"/>
            <a:ext cx="36638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1800"/>
              </a:spcBef>
              <a:buNone/>
            </a:pPr>
            <a:r>
              <a:rPr lang="en-US" sz="12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hallucinations to accurate, grounded responses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41732" y="472827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6745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The Problem: LLMs Have Limitations</a:t>
            </a:r>
            <a:endParaRPr lang="en-US" sz="2700" dirty="0"/>
          </a:p>
        </p:txBody>
      </p:sp>
      <p:pic>
        <p:nvPicPr>
          <p:cNvPr id="3" name="Image 0" descr="/tmp/rasterized-gradient-182d45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90055"/>
            <a:ext cx="4169569" cy="927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100" y="1542455"/>
            <a:ext cx="39032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Knowledge Cutoff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419100" y="1818680"/>
            <a:ext cx="390320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only know information up to their training date. They can't answer about recent events.</a:t>
            </a:r>
            <a:endParaRPr lang="en-US" sz="975" dirty="0"/>
          </a:p>
        </p:txBody>
      </p:sp>
      <p:pic>
        <p:nvPicPr>
          <p:cNvPr id="6" name="Image 1" descr="/tmp/rasterized-gradient-5920d6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469952"/>
            <a:ext cx="4169569" cy="9274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9100" y="2622352"/>
            <a:ext cx="39032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Hallucinations</a:t>
            </a:r>
            <a:endParaRPr lang="en-US" sz="1125" dirty="0"/>
          </a:p>
        </p:txBody>
      </p:sp>
      <p:sp>
        <p:nvSpPr>
          <p:cNvPr id="8" name="Text 4"/>
          <p:cNvSpPr/>
          <p:nvPr/>
        </p:nvSpPr>
        <p:spPr>
          <a:xfrm>
            <a:off x="419100" y="2898577"/>
            <a:ext cx="390320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confidently generate false information that sounds convincing but is incorrect.</a:t>
            </a:r>
            <a:endParaRPr lang="en-US" sz="975" dirty="0"/>
          </a:p>
        </p:txBody>
      </p:sp>
      <p:pic>
        <p:nvPicPr>
          <p:cNvPr id="9" name="Image 2" descr="/tmp/rasterized-gradient-4974c9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49848"/>
            <a:ext cx="4169569" cy="9274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9100" y="3702248"/>
            <a:ext cx="39032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Private Data Access</a:t>
            </a:r>
            <a:endParaRPr lang="en-US" sz="1125" dirty="0"/>
          </a:p>
        </p:txBody>
      </p:sp>
      <p:sp>
        <p:nvSpPr>
          <p:cNvPr id="11" name="Text 6"/>
          <p:cNvSpPr/>
          <p:nvPr/>
        </p:nvSpPr>
        <p:spPr>
          <a:xfrm>
            <a:off x="419100" y="3978473"/>
            <a:ext cx="390320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can't access your company documents, personal files, or proprietary knowledge.</a:t>
            </a:r>
            <a:endParaRPr lang="en-US" sz="975" dirty="0"/>
          </a:p>
        </p:txBody>
      </p:sp>
      <p:sp>
        <p:nvSpPr>
          <p:cNvPr id="12" name="Text 7"/>
          <p:cNvSpPr/>
          <p:nvPr/>
        </p:nvSpPr>
        <p:spPr>
          <a:xfrm>
            <a:off x="4702969" y="1749921"/>
            <a:ext cx="4169569" cy="2367409"/>
          </a:xfrm>
          <a:prstGeom prst="roundRect">
            <a:avLst>
              <a:gd name="adj" fmla="val 3219"/>
            </a:avLst>
          </a:prstGeom>
          <a:solidFill>
            <a:srgbClr val="1A1A35"/>
          </a:solidFill>
          <a:ln w="9525">
            <a:solidFill>
              <a:srgbClr val="2D2D5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864894" y="1911846"/>
            <a:ext cx="39226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Example Conversation: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864894" y="2212777"/>
            <a:ext cx="3845719" cy="599926"/>
          </a:xfrm>
          <a:prstGeom prst="roundRect">
            <a:avLst>
              <a:gd name="adj" fmla="val 12702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979194" y="2327077"/>
            <a:ext cx="36894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979194" y="2525167"/>
            <a:ext cx="36894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in our Q4 2024 sales report?"</a:t>
            </a:r>
            <a:endParaRPr lang="en-US" sz="975" dirty="0"/>
          </a:p>
        </p:txBody>
      </p:sp>
      <p:sp>
        <p:nvSpPr>
          <p:cNvPr id="17" name="Text 12"/>
          <p:cNvSpPr/>
          <p:nvPr/>
        </p:nvSpPr>
        <p:spPr>
          <a:xfrm>
            <a:off x="4864894" y="2888903"/>
            <a:ext cx="3845719" cy="792212"/>
          </a:xfrm>
          <a:prstGeom prst="roundRect">
            <a:avLst>
              <a:gd name="adj" fmla="val 9619"/>
            </a:avLst>
          </a:prstGeom>
          <a:solidFill>
            <a:srgbClr val="3D2020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988719" y="3012728"/>
            <a:ext cx="36700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(Without RAG):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988719" y="3210818"/>
            <a:ext cx="367003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have access to your company's internal documents. I can only provide general information..."</a:t>
            </a:r>
            <a:endParaRPr lang="en-US" sz="975" dirty="0"/>
          </a:p>
        </p:txBody>
      </p:sp>
      <p:sp>
        <p:nvSpPr>
          <p:cNvPr id="20" name="Text 15"/>
          <p:cNvSpPr/>
          <p:nvPr/>
        </p:nvSpPr>
        <p:spPr>
          <a:xfrm>
            <a:off x="4826437" y="3795415"/>
            <a:ext cx="39226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900"/>
              </a:spcBef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RAG solves this problem!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94581"/>
            <a:ext cx="44399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is RAG?</a:t>
            </a:r>
            <a:endParaRPr lang="en-US" sz="2550" dirty="0"/>
          </a:p>
        </p:txBody>
      </p:sp>
      <p:pic>
        <p:nvPicPr>
          <p:cNvPr id="3" name="Image 0" descr="/tmp/rasterized-gradient-33f369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66081"/>
            <a:ext cx="8686800" cy="7618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418481"/>
            <a:ext cx="854964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(RAG)</a:t>
            </a:r>
            <a:endParaRPr lang="en-US" sz="1275" dirty="0"/>
          </a:p>
        </p:txBody>
      </p:sp>
      <p:sp>
        <p:nvSpPr>
          <p:cNvPr id="5" name="Text 2"/>
          <p:cNvSpPr/>
          <p:nvPr/>
        </p:nvSpPr>
        <p:spPr>
          <a:xfrm>
            <a:off x="381000" y="1702296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technique that enhances LLMs by retrieving relevant information from external sources </a:t>
            </a: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r>
              <a:rPr lang="en-US" sz="97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generating a response.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228600" y="2180332"/>
            <a:ext cx="2605980" cy="1479798"/>
          </a:xfrm>
          <a:prstGeom prst="roundRect">
            <a:avLst>
              <a:gd name="adj" fmla="val 5149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28600" y="2199382"/>
            <a:ext cx="260598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6958" y="2332732"/>
            <a:ext cx="31529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221879" y="2888903"/>
            <a:ext cx="6316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19126" y="3252639"/>
            <a:ext cx="2424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relevant documents from your knowledge base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139380" y="2253555"/>
            <a:ext cx="2605980" cy="1333202"/>
          </a:xfrm>
          <a:prstGeom prst="roundRect">
            <a:avLst>
              <a:gd name="adj" fmla="val 5716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139380" y="2272605"/>
            <a:ext cx="26059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7738" y="2405955"/>
            <a:ext cx="31529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4129385" y="2962126"/>
            <a:ext cx="6384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3488885" y="3325862"/>
            <a:ext cx="19069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retrieved context to the LLM prompt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050161" y="2253555"/>
            <a:ext cx="2605980" cy="1333202"/>
          </a:xfrm>
          <a:prstGeom prst="roundRect">
            <a:avLst>
              <a:gd name="adj" fmla="val 5716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6050161" y="2272605"/>
            <a:ext cx="26059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98519" y="2405955"/>
            <a:ext cx="31529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013674" y="2962126"/>
            <a:ext cx="6923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6164977" y="3325862"/>
            <a:ext cx="23761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answer using retrieved information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228600" y="3812530"/>
            <a:ext cx="8686800" cy="350490"/>
          </a:xfrm>
          <a:prstGeom prst="roundRect">
            <a:avLst>
              <a:gd name="adj" fmla="val 21741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38887" y="3907780"/>
            <a:ext cx="86662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9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RAG = Search Engine + LLM working together!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237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RAG Architecture: The Big Picture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1466106"/>
            <a:ext cx="1310580" cy="733276"/>
          </a:xfrm>
          <a:prstGeom prst="roundRect">
            <a:avLst>
              <a:gd name="adj" fmla="val 10392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0942" y="1580406"/>
            <a:ext cx="1025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0942" y="1938486"/>
            <a:ext cx="1025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14662" y="2389882"/>
            <a:ext cx="938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our sales?"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691580" y="1834604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72580" y="1466106"/>
            <a:ext cx="1310580" cy="733276"/>
          </a:xfrm>
          <a:prstGeom prst="roundRect">
            <a:avLst>
              <a:gd name="adj" fmla="val 10392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14923" y="1580406"/>
            <a:ext cx="1025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14923" y="1938486"/>
            <a:ext cx="1025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QUERY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455079" y="2389882"/>
            <a:ext cx="5454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[0.2, -0.5, ...]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35561" y="1834604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16561" y="1466106"/>
            <a:ext cx="1310580" cy="733276"/>
          </a:xfrm>
          <a:prstGeom prst="roundRect">
            <a:avLst>
              <a:gd name="adj" fmla="val 10392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58903" y="1580406"/>
            <a:ext cx="1025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58903" y="1938486"/>
            <a:ext cx="1025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207368" y="2389882"/>
            <a:ext cx="728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similar docs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79541" y="1834604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60541" y="1466106"/>
            <a:ext cx="1310580" cy="733276"/>
          </a:xfrm>
          <a:prstGeom prst="roundRect">
            <a:avLst>
              <a:gd name="adj" fmla="val 1039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02884" y="1580406"/>
            <a:ext cx="1025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02884" y="1938486"/>
            <a:ext cx="1025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CONTEXT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043151" y="2389882"/>
            <a:ext cx="7453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answer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223522" y="1834604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04522" y="1466106"/>
            <a:ext cx="1310580" cy="733276"/>
          </a:xfrm>
          <a:prstGeom prst="roundRect">
            <a:avLst>
              <a:gd name="adj" fmla="val 10392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46864" y="1580406"/>
            <a:ext cx="1025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46864" y="1938486"/>
            <a:ext cx="1025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7873621" y="2389882"/>
            <a:ext cx="772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828032"/>
            <a:ext cx="8686800" cy="1057126"/>
          </a:xfrm>
          <a:prstGeom prst="roundRect">
            <a:avLst>
              <a:gd name="adj" fmla="val 7208"/>
            </a:avLst>
          </a:prstGeom>
          <a:solidFill>
            <a:srgbClr val="1A1A35"/>
          </a:solidFill>
          <a:ln w="19050">
            <a:solidFill>
              <a:srgbClr val="14B8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00050" y="2999482"/>
            <a:ext cx="85107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Vector Store (Knowledge Base)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00050" y="3262313"/>
            <a:ext cx="2679650" cy="451396"/>
          </a:xfrm>
          <a:prstGeom prst="roundRect">
            <a:avLst>
              <a:gd name="adj" fmla="val 16881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4350" y="3338513"/>
            <a:ext cx="2500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sales_q4.pdf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14350" y="3504158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[0.1, 0.8, -0.3...]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32100" y="3262313"/>
            <a:ext cx="2679650" cy="451396"/>
          </a:xfrm>
          <a:prstGeom prst="roundRect">
            <a:avLst>
              <a:gd name="adj" fmla="val 16881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46400" y="3338513"/>
            <a:ext cx="2500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company_policy.docx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3346400" y="3504158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[0.5, -0.2, 0.9...]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64151" y="3262313"/>
            <a:ext cx="2679650" cy="451396"/>
          </a:xfrm>
          <a:prstGeom prst="roundRect">
            <a:avLst>
              <a:gd name="adj" fmla="val 16881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78451" y="3338513"/>
            <a:ext cx="2500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product_manual.txt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6178451" y="3504158"/>
            <a:ext cx="2500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[-0.4, 0.6, 0.2...]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28600" y="4037558"/>
            <a:ext cx="8686800" cy="363736"/>
          </a:xfrm>
          <a:prstGeom prst="roundRect">
            <a:avLst>
              <a:gd name="adj" fmla="val 20949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38887" y="4132808"/>
            <a:ext cx="86662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</a:t>
            </a:r>
            <a:r>
              <a:rPr lang="en-US" sz="975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are pre-processed into embeddings and stored in a vector database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1977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Understanding Embeddings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1143149"/>
            <a:ext cx="3888581" cy="927497"/>
          </a:xfrm>
          <a:prstGeom prst="roundRect">
            <a:avLst>
              <a:gd name="adj" fmla="val 8216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47650" y="1143149"/>
            <a:ext cx="0" cy="927497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9100" y="1295549"/>
            <a:ext cx="3616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What are Embeddings?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19100" y="1571774"/>
            <a:ext cx="361659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representations of text that capture </a:t>
            </a: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meaning</a:t>
            </a:r>
            <a:r>
              <a:rPr lang="en-US" sz="97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Similar concepts have similar numbers!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28600" y="2223046"/>
            <a:ext cx="3888581" cy="1800225"/>
          </a:xfrm>
          <a:prstGeom prst="roundRect">
            <a:avLst>
              <a:gd name="adj" fmla="val 4233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7650" y="2223046"/>
            <a:ext cx="0" cy="1800225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100" y="2375446"/>
            <a:ext cx="36165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Why Embeddings Matter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19100" y="2651671"/>
            <a:ext cx="3545681" cy="12192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semantic search (meaning, not keywords)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similar content efficiently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"Dog" and "puppy" are close in vector space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28600" y="4175671"/>
            <a:ext cx="3888581" cy="548580"/>
          </a:xfrm>
          <a:prstGeom prst="roundRect">
            <a:avLst>
              <a:gd name="adj" fmla="val 13890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" y="4289971"/>
            <a:ext cx="37331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GPS coordinates for meaning!</a:t>
            </a:r>
            <a:r>
              <a:rPr lang="en-US" sz="9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Close coordinates = similar meanings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21981" y="1414760"/>
            <a:ext cx="4493419" cy="2146548"/>
          </a:xfrm>
          <a:prstGeom prst="roundRect">
            <a:avLst>
              <a:gd name="adj" fmla="val 3550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4381" y="1567160"/>
            <a:ext cx="42723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Text → Numbers Conversion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4381" y="1868091"/>
            <a:ext cx="4188619" cy="535186"/>
          </a:xfrm>
          <a:prstGeom prst="roundRect">
            <a:avLst>
              <a:gd name="adj" fmla="val 14238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9631" y="1963341"/>
            <a:ext cx="40780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cat sat on the mat"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9631" y="2161431"/>
            <a:ext cx="40780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[0.23, -0.45, 0.12, 0.87, ...]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574381" y="2479477"/>
            <a:ext cx="4188619" cy="535186"/>
          </a:xfrm>
          <a:prstGeom prst="roundRect">
            <a:avLst>
              <a:gd name="adj" fmla="val 14238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69631" y="2574727"/>
            <a:ext cx="40780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kitten was lying on the rug"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9631" y="2772817"/>
            <a:ext cx="40780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[0.25, -0.42, 0.15, 0.84, ...]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574381" y="3090863"/>
            <a:ext cx="4188619" cy="318046"/>
          </a:xfrm>
          <a:prstGeom prst="roundRect">
            <a:avLst>
              <a:gd name="adj" fmla="val 23959"/>
            </a:avLst>
          </a:prstGeom>
          <a:solidFill>
            <a:srgbClr val="1E3A2E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19935" y="3176588"/>
            <a:ext cx="40975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Similar meaning → Similar vectors (cosine similarity: 0.95)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421981" y="3713708"/>
            <a:ext cx="4493419" cy="738932"/>
          </a:xfrm>
          <a:prstGeom prst="roundRect">
            <a:avLst>
              <a:gd name="adj" fmla="val 10312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36281" y="3828008"/>
            <a:ext cx="43501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Popular Embedding Models: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536281" y="4077444"/>
            <a:ext cx="755600" cy="260896"/>
          </a:xfrm>
          <a:prstGeom prst="roundRect">
            <a:avLst>
              <a:gd name="adj" fmla="val 29207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31531" y="4134594"/>
            <a:ext cx="5764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Ada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444282" y="4077444"/>
            <a:ext cx="667941" cy="260896"/>
          </a:xfrm>
          <a:prstGeom prst="roundRect">
            <a:avLst>
              <a:gd name="adj" fmla="val 29207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39532" y="4134594"/>
            <a:ext cx="486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264622" y="4077444"/>
            <a:ext cx="411807" cy="260896"/>
          </a:xfrm>
          <a:prstGeom prst="roundRect">
            <a:avLst>
              <a:gd name="adj" fmla="val 29207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59872" y="4134594"/>
            <a:ext cx="2257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828830" y="4077444"/>
            <a:ext cx="534144" cy="260896"/>
          </a:xfrm>
          <a:prstGeom prst="roundRect">
            <a:avLst>
              <a:gd name="adj" fmla="val 29207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924080" y="4134594"/>
            <a:ext cx="3505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7383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Vector Stores: Your Knowledge Database</a:t>
            </a:r>
            <a:endParaRPr lang="en-US" sz="2700" dirty="0"/>
          </a:p>
        </p:txBody>
      </p:sp>
      <p:pic>
        <p:nvPicPr>
          <p:cNvPr id="3" name="Image 0" descr="/tmp/rasterized-gradient-ca4da3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05086"/>
            <a:ext cx="4169569" cy="965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050" y="1576536"/>
            <a:ext cx="39032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What is a Vector Store?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400050" y="1852761"/>
            <a:ext cx="390320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specialized database designed to store and search embedding vectors efficiently using similarity metrics.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228600" y="2523083"/>
            <a:ext cx="4169569" cy="1939230"/>
          </a:xfrm>
          <a:prstGeom prst="roundRect">
            <a:avLst>
              <a:gd name="adj" fmla="val 3929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81000" y="2675483"/>
            <a:ext cx="39420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Key Features: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1000" y="2957364"/>
            <a:ext cx="3864769" cy="1352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similarity search</a:t>
            </a:r>
            <a:r>
              <a:rPr lang="en-US" sz="13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Find nearest neighbors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r>
              <a:rPr lang="en-US" sz="13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Handle millions of vectors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filtering</a:t>
            </a:r>
            <a:r>
              <a:rPr lang="en-US" sz="13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Filter by source, date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storage</a:t>
            </a:r>
            <a:r>
              <a:rPr lang="en-US" sz="13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Save and reload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02969" y="1452711"/>
            <a:ext cx="42529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Popular Vector Stores: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02969" y="1867942"/>
            <a:ext cx="2001292" cy="573286"/>
          </a:xfrm>
          <a:prstGeom prst="roundRect">
            <a:avLst>
              <a:gd name="adj" fmla="val 13292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717256" y="1867942"/>
            <a:ext cx="0" cy="573286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5844" y="1982242"/>
            <a:ext cx="17789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845844" y="2193578"/>
            <a:ext cx="1778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by Meta. Great for local dev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702969" y="2593628"/>
            <a:ext cx="2001292" cy="573286"/>
          </a:xfrm>
          <a:prstGeom prst="roundRect">
            <a:avLst>
              <a:gd name="adj" fmla="val 13292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717256" y="2593628"/>
            <a:ext cx="0" cy="573286"/>
          </a:xfrm>
          <a:prstGeom prst="line">
            <a:avLst/>
          </a:prstGeom>
          <a:noFill/>
          <a:ln w="28575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5844" y="2707928"/>
            <a:ext cx="17789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4845844" y="2919264"/>
            <a:ext cx="1778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use, perfect for learning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702969" y="3319314"/>
            <a:ext cx="2001292" cy="573286"/>
          </a:xfrm>
          <a:prstGeom prst="roundRect">
            <a:avLst>
              <a:gd name="adj" fmla="val 13292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17256" y="3319314"/>
            <a:ext cx="0" cy="573286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5844" y="3433614"/>
            <a:ext cx="17789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4845844" y="3644950"/>
            <a:ext cx="1778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cloud service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856661" y="1867942"/>
            <a:ext cx="2001292" cy="573286"/>
          </a:xfrm>
          <a:prstGeom prst="roundRect">
            <a:avLst>
              <a:gd name="adj" fmla="val 13292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6870948" y="1867942"/>
            <a:ext cx="0" cy="5732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99536" y="1982242"/>
            <a:ext cx="17789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Weaviate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6999536" y="2193578"/>
            <a:ext cx="1778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+ cloud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856661" y="2593628"/>
            <a:ext cx="2001292" cy="573286"/>
          </a:xfrm>
          <a:prstGeom prst="roundRect">
            <a:avLst>
              <a:gd name="adj" fmla="val 13292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6870948" y="2593628"/>
            <a:ext cx="0" cy="573286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99536" y="2707928"/>
            <a:ext cx="17789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6999536" y="2919264"/>
            <a:ext cx="1778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Rust-based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856661" y="3319314"/>
            <a:ext cx="2001292" cy="573286"/>
          </a:xfrm>
          <a:prstGeom prst="roundRect">
            <a:avLst>
              <a:gd name="adj" fmla="val 13292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6870948" y="3319314"/>
            <a:ext cx="0" cy="57328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99536" y="3433614"/>
            <a:ext cx="17789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Milvus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6999536" y="3644950"/>
            <a:ext cx="1778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702969" y="4045000"/>
            <a:ext cx="4169569" cy="369540"/>
          </a:xfrm>
          <a:prstGeom prst="roundRect">
            <a:avLst>
              <a:gd name="adj" fmla="val 20620"/>
            </a:avLst>
          </a:prstGeom>
          <a:solidFill>
            <a:srgbClr val="1E3A2E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768144" y="4149775"/>
            <a:ext cx="40392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Today we'll use </a:t>
            </a: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</a:t>
            </a: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</a:t>
            </a: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free and beginner-friendly!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73254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Document Processing: Indexing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24644" y="1343174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4004" y="1442293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0410" y="2143274"/>
            <a:ext cx="4599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2964" y="2493764"/>
            <a:ext cx="1594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documents (PDF, TXT, DOCX, etc.)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102346" y="1533674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99048" y="1343174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18408" y="1442293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154814" y="2143274"/>
            <a:ext cx="4599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SPLIT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28586" y="2493764"/>
            <a:ext cx="1112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into smaller pieces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76750" y="1533674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73452" y="1343174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92812" y="1442293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83828" y="2143274"/>
            <a:ext cx="550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EMBED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73125" y="2493764"/>
            <a:ext cx="9720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text to vectors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851154" y="1533674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47856" y="1343174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7216" y="1442293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869010" y="2143274"/>
            <a:ext cx="5291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09578" y="2493764"/>
            <a:ext cx="10479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vector database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8600" y="3088035"/>
            <a:ext cx="5341739" cy="834182"/>
          </a:xfrm>
          <a:prstGeom prst="roundRect">
            <a:avLst>
              <a:gd name="adj" fmla="val 9135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1950" y="3221385"/>
            <a:ext cx="51765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Why Chunking Matters: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61950" y="3470821"/>
            <a:ext cx="16218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Too Large Chunks: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61950" y="3655516"/>
            <a:ext cx="1621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Irrelevant info mixed in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104430" y="3470821"/>
            <a:ext cx="16218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Too Small Chunks: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104430" y="3655516"/>
            <a:ext cx="1621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Loses context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46909" y="3470821"/>
            <a:ext cx="16218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Optimal (500-1000 chars):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46909" y="3655516"/>
            <a:ext cx="1621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+ contextual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875139" y="2989064"/>
            <a:ext cx="3040261" cy="1032123"/>
          </a:xfrm>
          <a:prstGeom prst="roundRect">
            <a:avLst>
              <a:gd name="adj" fmla="val 7383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08489" y="3122414"/>
            <a:ext cx="28290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Typical Chunk Settings: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008489" y="3371850"/>
            <a:ext cx="282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size:</a:t>
            </a:r>
            <a:r>
              <a:rPr lang="en-US" sz="82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500-1000 chars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008489" y="3556546"/>
            <a:ext cx="282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Overlap:</a:t>
            </a:r>
            <a:r>
              <a:rPr lang="en-US" sz="82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100-200 chars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008489" y="3741241"/>
            <a:ext cx="282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Separator:</a:t>
            </a:r>
            <a:r>
              <a:rPr lang="en-US" sz="82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newlines, periods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228600" y="4173587"/>
            <a:ext cx="8686800" cy="350490"/>
          </a:xfrm>
          <a:prstGeom prst="roundRect">
            <a:avLst>
              <a:gd name="adj" fmla="val 21741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38887" y="4268837"/>
            <a:ext cx="86662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indexing pipeline runs ONCE</a:t>
            </a:r>
            <a:r>
              <a:rPr lang="en-US" sz="9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you add documents. Query time is fast!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61975"/>
            <a:ext cx="57710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Query Pipeline: Retrieval + Generation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377255"/>
            <a:ext cx="1563588" cy="819150"/>
          </a:xfrm>
          <a:prstGeom prst="roundRect">
            <a:avLst>
              <a:gd name="adj" fmla="val 9302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91480" y="147250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7111" y="1929705"/>
            <a:ext cx="6389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21396" y="1680121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2535"/>
              </a:spcBef>
              <a:spcAft>
                <a:spcPts val="2535"/>
              </a:spcAft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3004" y="1377255"/>
            <a:ext cx="1563588" cy="819150"/>
          </a:xfrm>
          <a:prstGeom prst="roundRect">
            <a:avLst>
              <a:gd name="adj" fmla="val 9302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65884" y="147250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12753" y="1929705"/>
            <a:ext cx="350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495800" y="1680121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2535"/>
              </a:spcBef>
              <a:spcAft>
                <a:spcPts val="2535"/>
              </a:spcAft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77408" y="1358205"/>
            <a:ext cx="1563588" cy="857250"/>
          </a:xfrm>
          <a:prstGeom prst="roundRect">
            <a:avLst>
              <a:gd name="adj" fmla="val 8889"/>
            </a:avLst>
          </a:prstGeom>
          <a:solidFill>
            <a:srgbClr val="1A1A35"/>
          </a:solidFill>
          <a:ln w="19050">
            <a:solidFill>
              <a:srgbClr val="14B8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40288" y="147250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20928" y="1929705"/>
            <a:ext cx="485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870204" y="1680121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2535"/>
              </a:spcBef>
              <a:spcAft>
                <a:spcPts val="2535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51812" y="1358205"/>
            <a:ext cx="1563588" cy="857250"/>
          </a:xfrm>
          <a:prstGeom prst="roundRect">
            <a:avLst>
              <a:gd name="adj" fmla="val 8889"/>
            </a:avLst>
          </a:prstGeom>
          <a:solidFill>
            <a:srgbClr val="1A1A35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14692" y="147250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72413" y="1929705"/>
            <a:ext cx="532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8600" y="2367855"/>
            <a:ext cx="8686800" cy="1626840"/>
          </a:xfrm>
          <a:prstGeom prst="roundRect">
            <a:avLst>
              <a:gd name="adj" fmla="val 4684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47650" y="2367855"/>
            <a:ext cx="0" cy="162684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1000" y="2482155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The Augmented Prompt (What the LLM sees):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1000" y="2718346"/>
            <a:ext cx="8420100" cy="1162050"/>
          </a:xfrm>
          <a:prstGeom prst="roundRect">
            <a:avLst>
              <a:gd name="adj" fmla="val 6557"/>
            </a:avLst>
          </a:prstGeom>
          <a:solidFill>
            <a:srgbClr val="0A0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250" y="2813596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System Prompt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6250" y="2965996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using ONLY the provided context.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6250" y="3156496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Retrieved Context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6250" y="3308896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 reset password: 1) Go to Settings 2) Click Security..."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250" y="3499396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User Question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6250" y="3651796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reset my password?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28600" y="4147096"/>
            <a:ext cx="2793950" cy="304800"/>
          </a:xfrm>
          <a:prstGeom prst="roundRect">
            <a:avLst>
              <a:gd name="adj" fmla="val 25000"/>
            </a:avLst>
          </a:prstGeom>
          <a:solidFill>
            <a:srgbClr val="1E3A2E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14325" y="4232821"/>
            <a:ext cx="2674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Based on your docs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174950" y="4147096"/>
            <a:ext cx="2793950" cy="304800"/>
          </a:xfrm>
          <a:prstGeom prst="roundRect">
            <a:avLst>
              <a:gd name="adj" fmla="val 25000"/>
            </a:avLst>
          </a:prstGeom>
          <a:solidFill>
            <a:srgbClr val="1E3A2E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260675" y="4232821"/>
            <a:ext cx="2674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hallucinations</a:t>
            </a: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Uses facts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21301" y="4147096"/>
            <a:ext cx="2793950" cy="304800"/>
          </a:xfrm>
          <a:prstGeom prst="roundRect">
            <a:avLst>
              <a:gd name="adj" fmla="val 25000"/>
            </a:avLst>
          </a:prstGeom>
          <a:solidFill>
            <a:srgbClr val="1E3A2E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07026" y="4232821"/>
            <a:ext cx="2674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Cite sources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63017"/>
            <a:ext cx="4877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🦜🔗 LangChain: Your RAG Toolkit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153567"/>
            <a:ext cx="3888581" cy="598140"/>
          </a:xfrm>
          <a:prstGeom prst="roundRect">
            <a:avLst>
              <a:gd name="adj" fmla="val 12739"/>
            </a:avLst>
          </a:prstGeom>
          <a:solidFill>
            <a:srgbClr val="1A1A35"/>
          </a:solidFill>
          <a:ln w="19050">
            <a:solidFill>
              <a:srgbClr val="14B8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1950" y="1286917"/>
            <a:ext cx="36943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🦜 What is LangChain?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1950" y="1485007"/>
            <a:ext cx="36943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for building LLM applications with all RAG building blocks!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1904107"/>
            <a:ext cx="3888581" cy="1699171"/>
          </a:xfrm>
          <a:prstGeom prst="roundRect">
            <a:avLst>
              <a:gd name="adj" fmla="val 4485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2900" y="2018407"/>
            <a:ext cx="37331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🧱 Key Components: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42900" y="2222153"/>
            <a:ext cx="3659981" cy="1266825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Loaders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Splitters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21981" y="1244947"/>
            <a:ext cx="4493419" cy="1828800"/>
          </a:xfrm>
          <a:prstGeom prst="roundRect">
            <a:avLst>
              <a:gd name="adj" fmla="val 4167"/>
            </a:avLst>
          </a:prstGeom>
          <a:solidFill>
            <a:srgbClr val="0A0A1A"/>
          </a:solidFill>
          <a:ln w="9525">
            <a:solidFill>
              <a:srgbClr val="2D2D5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26756" y="1349722"/>
            <a:ext cx="43695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RAG in Just a Few Lines!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26756" y="1540222"/>
            <a:ext cx="43695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756" y="1825972"/>
            <a:ext cx="43695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langchain.document_loaders import TextLoader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756" y="2111722"/>
            <a:ext cx="43695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langchain.text_splitter import CharacterTextSplitter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756" y="2397472"/>
            <a:ext cx="43695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langchain.embeddings import OpenAIEmbeddings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756" y="2683222"/>
            <a:ext cx="43695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langchain.vectorstores import FAISS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21981" y="3226147"/>
            <a:ext cx="4493419" cy="285750"/>
          </a:xfrm>
          <a:prstGeom prst="roundRect">
            <a:avLst>
              <a:gd name="adj" fmla="val 26667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98181" y="3302347"/>
            <a:ext cx="4427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pip install langchain faiss-cpu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8600" y="3755678"/>
            <a:ext cx="8686800" cy="481905"/>
          </a:xfrm>
          <a:prstGeom prst="roundRect">
            <a:avLst>
              <a:gd name="adj" fmla="val 15812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3850" y="3850928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Why LangChain?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3850" y="4022378"/>
            <a:ext cx="86662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Abstracts complexity | Swap components easily | Production-ready | Great documentation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07653"/>
            <a:ext cx="61304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RAG vs Fine-Tuning: When to Use Each?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198215"/>
            <a:ext cx="4082653" cy="2447776"/>
          </a:xfrm>
          <a:prstGeom prst="roundRect">
            <a:avLst>
              <a:gd name="adj" fmla="val 3113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28600" y="1217265"/>
            <a:ext cx="4082653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1950" y="1369665"/>
            <a:ext cx="38922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RAG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1950" y="1735336"/>
            <a:ext cx="3892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Dynamic knowledge (updates easily)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1950" y="2040136"/>
            <a:ext cx="3892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training required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950" y="2344936"/>
            <a:ext cx="3892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Source attribution possible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950" y="2649736"/>
            <a:ext cx="3892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 with any LLM 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950" y="3068836"/>
            <a:ext cx="3815953" cy="443805"/>
          </a:xfrm>
          <a:prstGeom prst="roundRect">
            <a:avLst>
              <a:gd name="adj" fmla="val 17170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150" y="3145036"/>
            <a:ext cx="3736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150" y="3316486"/>
            <a:ext cx="37368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over documents, changing knowledge bases, citing sources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616053" y="1198215"/>
            <a:ext cx="4082653" cy="2447776"/>
          </a:xfrm>
          <a:prstGeom prst="roundRect">
            <a:avLst>
              <a:gd name="adj" fmla="val 3113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16053" y="1217265"/>
            <a:ext cx="4082653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9403" y="1369665"/>
            <a:ext cx="38922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Fine-Tuning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49403" y="1735336"/>
            <a:ext cx="3892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Learns new behaviors/style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49403" y="2040136"/>
            <a:ext cx="3892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Faster inference (no retrieval)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49403" y="2344936"/>
            <a:ext cx="3892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Requires training compute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49403" y="2649736"/>
            <a:ext cx="3892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r>
              <a:rPr lang="en-US" sz="15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Hard to update knowledge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49403" y="3068836"/>
            <a:ext cx="3815953" cy="443805"/>
          </a:xfrm>
          <a:prstGeom prst="roundRect">
            <a:avLst>
              <a:gd name="adj" fmla="val 17170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5603" y="3145036"/>
            <a:ext cx="3736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25603" y="3316486"/>
            <a:ext cx="37368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writing style, domain jargon, structured outputs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28600" y="4527203"/>
            <a:ext cx="8686800" cy="337096"/>
          </a:xfrm>
          <a:prstGeom prst="roundRect">
            <a:avLst>
              <a:gd name="adj" fmla="val 22605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8887" y="4622453"/>
            <a:ext cx="8666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r>
              <a:rPr lang="en-US" sz="82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</a:t>
            </a:r>
            <a:r>
              <a:rPr lang="en-US" sz="82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together</a:t>
            </a:r>
            <a:r>
              <a:rPr lang="en-US" sz="82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Fine-tune for style, RAG for facts.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07653"/>
            <a:ext cx="44399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RAG Best Practices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429643"/>
            <a:ext cx="4169569" cy="560040"/>
          </a:xfrm>
          <a:prstGeom prst="roundRect">
            <a:avLst>
              <a:gd name="adj" fmla="val 13606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47650" y="1429643"/>
            <a:ext cx="0" cy="56004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1000" y="1543943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Chunk Size Matters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742033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500-1000 characters. Too small = no context.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2142083"/>
            <a:ext cx="4169569" cy="560040"/>
          </a:xfrm>
          <a:prstGeom prst="roundRect">
            <a:avLst>
              <a:gd name="adj" fmla="val 13606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7650" y="2142083"/>
            <a:ext cx="0" cy="56004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000" y="2256383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Use Chunk Overlap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454473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10-20% overlap ensures context isn't lost at boundaries.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2854523"/>
            <a:ext cx="4169569" cy="560040"/>
          </a:xfrm>
          <a:prstGeom prst="roundRect">
            <a:avLst>
              <a:gd name="adj" fmla="val 13606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7650" y="2854523"/>
            <a:ext cx="0" cy="56004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000" y="2968823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Include Metadata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3166914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source file, page number for filtering and citations.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02969" y="1429643"/>
            <a:ext cx="4169569" cy="560040"/>
          </a:xfrm>
          <a:prstGeom prst="roundRect">
            <a:avLst>
              <a:gd name="adj" fmla="val 13606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22019" y="1429643"/>
            <a:ext cx="0" cy="56004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369" y="1543943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Choose Right k (Top-k)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55369" y="1742033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3-5 chunks typically. More isn't always better!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02969" y="2142083"/>
            <a:ext cx="4169569" cy="560040"/>
          </a:xfrm>
          <a:prstGeom prst="roundRect">
            <a:avLst>
              <a:gd name="adj" fmla="val 13606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22019" y="2142083"/>
            <a:ext cx="0" cy="56004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5369" y="2256383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5️⃣ Craft Good System Prompts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55369" y="2454473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LLM to ONLY use provided context.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02969" y="2854523"/>
            <a:ext cx="4169569" cy="560040"/>
          </a:xfrm>
          <a:prstGeom prst="roundRect">
            <a:avLst>
              <a:gd name="adj" fmla="val 13606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22019" y="2854523"/>
            <a:ext cx="0" cy="56004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5369" y="2968823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6️⃣ Test and Iterate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55369" y="3166914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retrieval quality. Are the right chunks retrieved?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4527203"/>
            <a:ext cx="8686800" cy="337096"/>
          </a:xfrm>
          <a:prstGeom prst="roundRect">
            <a:avLst>
              <a:gd name="adj" fmla="val 22605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38887" y="4622453"/>
            <a:ext cx="8666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</a:t>
            </a:r>
            <a:r>
              <a:rPr lang="en-US" sz="82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</a:t>
            </a:r>
            <a:r>
              <a:rPr lang="en-US" sz="82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Garbage in, garbage out. Quality of retrieval = Quality of answers!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61975"/>
            <a:ext cx="45274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Real-World RAG Applications</a:t>
            </a:r>
            <a:endParaRPr lang="en-US" sz="2250" dirty="0"/>
          </a:p>
        </p:txBody>
      </p:sp>
      <p:pic>
        <p:nvPicPr>
          <p:cNvPr id="3" name="Image 0" descr="/tmp/rasterized-gradient-44b174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717477"/>
            <a:ext cx="2793950" cy="8666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900" y="1860352"/>
            <a:ext cx="261665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2900" y="2138363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Search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900" y="2336453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company docs, wikis, policies.</a:t>
            </a:r>
            <a:endParaRPr lang="en-US" sz="750" dirty="0"/>
          </a:p>
        </p:txBody>
      </p:sp>
      <p:pic>
        <p:nvPicPr>
          <p:cNvPr id="7" name="Image 1" descr="/tmp/rasterized-gradient-43856c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950" y="1717477"/>
            <a:ext cx="2793950" cy="8666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89250" y="1860352"/>
            <a:ext cx="261665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89250" y="2138363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289250" y="2336453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 answering from FAQs.</a:t>
            </a:r>
            <a:endParaRPr lang="en-US" sz="750" dirty="0"/>
          </a:p>
        </p:txBody>
      </p:sp>
      <p:pic>
        <p:nvPicPr>
          <p:cNvPr id="11" name="Image 2" descr="/tmp/rasterized-gradient-844d7a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301" y="1717477"/>
            <a:ext cx="2793950" cy="8666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35601" y="1860352"/>
            <a:ext cx="261665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235601" y="2138363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Research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235601" y="2336453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case law, contracts.</a:t>
            </a:r>
            <a:endParaRPr lang="en-US" sz="750" dirty="0"/>
          </a:p>
        </p:txBody>
      </p:sp>
      <p:pic>
        <p:nvPicPr>
          <p:cNvPr id="15" name="Image 3" descr="/tmp/rasterized-gradient-f3a29d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2736503"/>
            <a:ext cx="2793950" cy="8666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2900" y="2879378"/>
            <a:ext cx="261665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342900" y="3157389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342900" y="3355479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literature search.</a:t>
            </a:r>
            <a:endParaRPr lang="en-US" sz="750" dirty="0"/>
          </a:p>
        </p:txBody>
      </p:sp>
      <p:pic>
        <p:nvPicPr>
          <p:cNvPr id="19" name="Image 4" descr="/tmp/rasterized-gradient-24a8ad4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4950" y="2736503"/>
            <a:ext cx="2793950" cy="86662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289250" y="2879378"/>
            <a:ext cx="261665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3289250" y="3157389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3289250" y="3355479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tutors from textbooks.</a:t>
            </a:r>
            <a:endParaRPr lang="en-US" sz="750" dirty="0"/>
          </a:p>
        </p:txBody>
      </p:sp>
      <p:pic>
        <p:nvPicPr>
          <p:cNvPr id="23" name="Image 5" descr="/tmp/rasterized-gradient-ebe2e09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301" y="2736503"/>
            <a:ext cx="2793950" cy="86662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35601" y="2879378"/>
            <a:ext cx="261665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6235601" y="3157389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Assistants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6235601" y="3355479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coding help.</a:t>
            </a:r>
            <a:endParaRPr lang="en-US" sz="750" dirty="0"/>
          </a:p>
        </p:txBody>
      </p:sp>
      <p:sp>
        <p:nvSpPr>
          <p:cNvPr id="27" name="Text 19"/>
          <p:cNvSpPr/>
          <p:nvPr/>
        </p:nvSpPr>
        <p:spPr>
          <a:xfrm>
            <a:off x="228600" y="3755529"/>
            <a:ext cx="8686800" cy="337096"/>
          </a:xfrm>
          <a:prstGeom prst="roundRect">
            <a:avLst>
              <a:gd name="adj" fmla="val 22605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238887" y="3850779"/>
            <a:ext cx="8666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using RAG:</a:t>
            </a:r>
            <a:r>
              <a:rPr lang="en-US" sz="825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Copilot, Notion AI, Perplexity, ChatGPT, GitHub Copilot</a:t>
            </a:r>
            <a:endParaRPr lang="en-US" sz="825" dirty="0"/>
          </a:p>
        </p:txBody>
      </p:sp>
      <p:sp>
        <p:nvSpPr>
          <p:cNvPr id="29" name="Text 21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61975"/>
            <a:ext cx="60819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Today's Hands-On: Build a RAG System!</a:t>
            </a:r>
            <a:endParaRPr lang="en-US" sz="2250" dirty="0"/>
          </a:p>
        </p:txBody>
      </p:sp>
      <p:pic>
        <p:nvPicPr>
          <p:cNvPr id="3" name="Image 0" descr="/tmp/rasterized-gradient-eedf33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59396"/>
            <a:ext cx="8686800" cy="6514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1950" y="1492746"/>
            <a:ext cx="85885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We'll Build Today: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61950" y="1717477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9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chatbot</a:t>
            </a:r>
            <a:r>
              <a:rPr lang="en-US" sz="9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answers questions from your own documents using RAG!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28600" y="2163217"/>
            <a:ext cx="1615380" cy="1104751"/>
          </a:xfrm>
          <a:prstGeom prst="roundRect">
            <a:avLst>
              <a:gd name="adj" fmla="val 6897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02940" y="2258467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99083" y="2298502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8400" y="2734717"/>
            <a:ext cx="5463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Docs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766383" y="3052763"/>
            <a:ext cx="5396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text files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1996380" y="2163217"/>
            <a:ext cx="1615380" cy="1104751"/>
          </a:xfrm>
          <a:prstGeom prst="roundRect">
            <a:avLst>
              <a:gd name="adj" fmla="val 6897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670721" y="2258467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766864" y="2298502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448967" y="2734717"/>
            <a:ext cx="7244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&amp; Embed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2405433" y="3052763"/>
            <a:ext cx="7971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and vectorize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3764161" y="2163217"/>
            <a:ext cx="1615380" cy="1104751"/>
          </a:xfrm>
          <a:prstGeom prst="roundRect">
            <a:avLst>
              <a:gd name="adj" fmla="val 6897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438501" y="2258467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534644" y="2298502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437906" y="2734717"/>
            <a:ext cx="2732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200081" y="3052763"/>
            <a:ext cx="7435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vector store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5531941" y="2163217"/>
            <a:ext cx="1615380" cy="1104751"/>
          </a:xfrm>
          <a:prstGeom prst="roundRect">
            <a:avLst>
              <a:gd name="adj" fmla="val 6897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06282" y="2258467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302425" y="2298502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048524" y="2734717"/>
            <a:ext cx="5937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Chain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6069875" y="3052763"/>
            <a:ext cx="539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RAG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7299722" y="2163217"/>
            <a:ext cx="1615380" cy="1104751"/>
          </a:xfrm>
          <a:prstGeom prst="roundRect">
            <a:avLst>
              <a:gd name="adj" fmla="val 6897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974062" y="2258467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070205" y="2298502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723138" y="2734717"/>
            <a:ext cx="7839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Questions!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7786649" y="3052763"/>
            <a:ext cx="6415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your docs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228600" y="3420368"/>
            <a:ext cx="2793950" cy="508546"/>
          </a:xfrm>
          <a:prstGeom prst="roundRect">
            <a:avLst>
              <a:gd name="adj" fmla="val 14984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23850" y="3515618"/>
            <a:ext cx="26555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Libraries: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323850" y="3700314"/>
            <a:ext cx="2655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LangChain, FAISS, HuggingFace, Groq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174950" y="3420368"/>
            <a:ext cx="2793950" cy="508546"/>
          </a:xfrm>
          <a:prstGeom prst="roundRect">
            <a:avLst>
              <a:gd name="adj" fmla="val 14984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270200" y="3515618"/>
            <a:ext cx="26555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Time: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3270200" y="3700314"/>
            <a:ext cx="2655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hours hands-on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121301" y="3420368"/>
            <a:ext cx="2793950" cy="508546"/>
          </a:xfrm>
          <a:prstGeom prst="roundRect">
            <a:avLst>
              <a:gd name="adj" fmla="val 14984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216551" y="3515618"/>
            <a:ext cx="26555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Level: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6216551" y="3700314"/>
            <a:ext cx="2655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Beginner-friendly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228600" y="4081314"/>
            <a:ext cx="8686800" cy="369540"/>
          </a:xfrm>
          <a:prstGeom prst="roundRect">
            <a:avLst>
              <a:gd name="adj" fmla="val 20620"/>
            </a:avLst>
          </a:prstGeom>
          <a:solidFill>
            <a:srgbClr val="1E3A2E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248602" y="4186089"/>
            <a:ext cx="86467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</a:t>
            </a: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your first RAG application!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70607"/>
            <a:ext cx="4663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Summary: RAG Fundamentals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324273"/>
            <a:ext cx="42529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Takeaways: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28600" y="1649909"/>
            <a:ext cx="4169569" cy="337096"/>
          </a:xfrm>
          <a:prstGeom prst="roundRect">
            <a:avLst>
              <a:gd name="adj" fmla="val 22605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50" y="1745159"/>
            <a:ext cx="4058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82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r>
              <a:rPr lang="en-US" sz="82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Retrieval + Augmentation + Generation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28600" y="2139404"/>
            <a:ext cx="4169569" cy="337096"/>
          </a:xfrm>
          <a:prstGeom prst="roundRect">
            <a:avLst>
              <a:gd name="adj" fmla="val 22605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850" y="2234654"/>
            <a:ext cx="4058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82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r>
              <a:rPr lang="en-US" sz="82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text to searchable vectors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28600" y="2628900"/>
            <a:ext cx="4169569" cy="337096"/>
          </a:xfrm>
          <a:prstGeom prst="roundRect">
            <a:avLst>
              <a:gd name="adj" fmla="val 22605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3850" y="2724150"/>
            <a:ext cx="4058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82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stores</a:t>
            </a:r>
            <a:r>
              <a:rPr lang="en-US" sz="82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 fast similarity search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28600" y="3118396"/>
            <a:ext cx="4169569" cy="337096"/>
          </a:xfrm>
          <a:prstGeom prst="roundRect">
            <a:avLst>
              <a:gd name="adj" fmla="val 22605"/>
            </a:avLst>
          </a:prstGeom>
          <a:solidFill>
            <a:srgbClr val="1A1A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3850" y="3213646"/>
            <a:ext cx="4058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r>
              <a:rPr lang="en-US" sz="82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25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r>
              <a:rPr lang="en-US" sz="825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makes RAG implementation easy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702969" y="1266974"/>
            <a:ext cx="42529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What's Coming Up:</a:t>
            </a:r>
            <a:endParaRPr lang="en-US" sz="975" dirty="0"/>
          </a:p>
        </p:txBody>
      </p:sp>
      <p:pic>
        <p:nvPicPr>
          <p:cNvPr id="13" name="Image 0" descr="/tmp/rasterized-gradient-191816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969" y="1592610"/>
            <a:ext cx="4169569" cy="56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55369" y="1706910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2: Advanced RAG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55369" y="1905000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retrieval, Hybrid search, Scaling</a:t>
            </a:r>
            <a:endParaRPr lang="en-US" sz="750" dirty="0"/>
          </a:p>
        </p:txBody>
      </p:sp>
      <p:pic>
        <p:nvPicPr>
          <p:cNvPr id="16" name="Image 1" descr="/tmp/rasterized-gradient-f2f362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969" y="2305050"/>
            <a:ext cx="4169569" cy="56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55369" y="2419350"/>
            <a:ext cx="3980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Project: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55369" y="2617440"/>
            <a:ext cx="3980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that answers from uploaded documents!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702969" y="3017490"/>
            <a:ext cx="4169569" cy="495151"/>
          </a:xfrm>
          <a:prstGeom prst="roundRect">
            <a:avLst>
              <a:gd name="adj" fmla="val 15389"/>
            </a:avLst>
          </a:prstGeom>
          <a:solidFill>
            <a:srgbClr val="2525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798219" y="3112740"/>
            <a:ext cx="4058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Resources: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4798219" y="3297436"/>
            <a:ext cx="40586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python.langchain.com | github.com/facebookresearch/faiss</a:t>
            </a:r>
            <a:endParaRPr lang="en-US" sz="675" dirty="0"/>
          </a:p>
        </p:txBody>
      </p:sp>
      <p:pic>
        <p:nvPicPr>
          <p:cNvPr id="22" name="Image 2" descr="/tmp/rasterized-gradient-700aa6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399657"/>
            <a:ext cx="8686800" cy="4018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58318" y="4513957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Now let's build your first RAG system in the notebook!</a:t>
            </a:r>
            <a:endParaRPr lang="en-US" sz="975" dirty="0"/>
          </a:p>
        </p:txBody>
      </p:sp>
      <p:sp>
        <p:nvSpPr>
          <p:cNvPr id="24" name="Text 19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1 | AI Bootcamp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1404</Words>
  <Application>Microsoft Office PowerPoint</Application>
  <PresentationFormat>On-screen Show (16:9)</PresentationFormat>
  <Paragraphs>283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15 Day 1 - Retrieval-Augmented Generation (RAG)</dc:title>
  <dc:subject>PptxGenJS Presentation</dc:subject>
  <dc:creator>AI Bootcamp</dc:creator>
  <cp:lastModifiedBy>faizan zubair</cp:lastModifiedBy>
  <cp:revision>2</cp:revision>
  <dcterms:created xsi:type="dcterms:W3CDTF">2025-11-28T06:43:05Z</dcterms:created>
  <dcterms:modified xsi:type="dcterms:W3CDTF">2025-12-03T06:11:11Z</dcterms:modified>
</cp:coreProperties>
</file>
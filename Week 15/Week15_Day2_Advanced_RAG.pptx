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f2272dd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7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08265" y="969764"/>
            <a:ext cx="2327469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720"/>
              </a:lnSpc>
              <a:spcAft>
                <a:spcPts val="600"/>
              </a:spcAft>
              <a:buNone/>
            </a:pPr>
            <a:r>
              <a:rPr lang="en-US" sz="480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🚀🔍⚡</a:t>
            </a:r>
            <a:endParaRPr lang="en-US" sz="4800" dirty="0"/>
          </a:p>
        </p:txBody>
      </p:sp>
      <p:sp>
        <p:nvSpPr>
          <p:cNvPr id="4" name="Text 1"/>
          <p:cNvSpPr/>
          <p:nvPr/>
        </p:nvSpPr>
        <p:spPr>
          <a:xfrm>
            <a:off x="1389870" y="2204145"/>
            <a:ext cx="636426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900"/>
              </a:lnSpc>
              <a:buNone/>
            </a:pPr>
            <a:r>
              <a:rPr lang="en-US" sz="3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RAG Techniques</a:t>
            </a:r>
            <a:endParaRPr lang="en-US" sz="3900" dirty="0"/>
          </a:p>
        </p:txBody>
      </p:sp>
      <p:sp>
        <p:nvSpPr>
          <p:cNvPr id="5" name="Text 2"/>
          <p:cNvSpPr/>
          <p:nvPr/>
        </p:nvSpPr>
        <p:spPr>
          <a:xfrm>
            <a:off x="3002643" y="3080445"/>
            <a:ext cx="3138714" cy="346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30"/>
              </a:lnSpc>
              <a:spcBef>
                <a:spcPts val="600"/>
              </a:spcBef>
              <a:buNone/>
            </a:pPr>
            <a:r>
              <a:rPr lang="en-US" sz="195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Taking RAG to Production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2757480" y="3960465"/>
            <a:ext cx="3628891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1800"/>
              </a:spcBef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search, graph retrieval, and scaling strategies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41732" y="4728270"/>
            <a:ext cx="886053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15 - Day 2 | AI Bootcamp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821382"/>
            <a:ext cx="548925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 Quick Recap: Basic RAG from Day 1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228600" y="1411932"/>
            <a:ext cx="4752677" cy="1249412"/>
          </a:xfrm>
          <a:prstGeom prst="roundRect">
            <a:avLst>
              <a:gd name="adj" fmla="val 6099"/>
            </a:avLst>
          </a:prstGeom>
          <a:solidFill>
            <a:srgbClr val="1E293B"/>
          </a:solidFill>
          <a:ln w="19050">
            <a:solidFill>
              <a:srgbClr val="0891B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81000" y="1564332"/>
            <a:ext cx="453683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750"/>
              </a:spcAft>
              <a:buNone/>
            </a:pPr>
            <a:r>
              <a:rPr lang="en-US" sz="975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 Basic RAG Pipeline: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381000" y="1832818"/>
            <a:ext cx="476250" cy="365671"/>
          </a:xfrm>
          <a:prstGeom prst="roundRect">
            <a:avLst>
              <a:gd name="adj" fmla="val 20838"/>
            </a:avLst>
          </a:prstGeom>
          <a:solidFill>
            <a:srgbClr val="0891B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53962" y="1909018"/>
            <a:ext cx="330327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📄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21345" y="2388989"/>
            <a:ext cx="19932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</a:t>
            </a:r>
            <a:endParaRPr lang="en-US" sz="675" dirty="0"/>
          </a:p>
        </p:txBody>
      </p:sp>
      <p:sp>
        <p:nvSpPr>
          <p:cNvPr id="8" name="Text 6"/>
          <p:cNvSpPr/>
          <p:nvPr/>
        </p:nvSpPr>
        <p:spPr>
          <a:xfrm>
            <a:off x="1048792" y="2077492"/>
            <a:ext cx="13601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1927"/>
              </a:spcBef>
              <a:spcAft>
                <a:spcPts val="1927"/>
              </a:spcAft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373684" y="1832818"/>
            <a:ext cx="476250" cy="365671"/>
          </a:xfrm>
          <a:prstGeom prst="roundRect">
            <a:avLst>
              <a:gd name="adj" fmla="val 20838"/>
            </a:avLst>
          </a:prstGeom>
          <a:solidFill>
            <a:srgbClr val="8B5C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446645" y="1909018"/>
            <a:ext cx="330327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✂️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487835" y="2388989"/>
            <a:ext cx="25275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Chunk</a:t>
            </a:r>
            <a:endParaRPr lang="en-US" sz="675" dirty="0"/>
          </a:p>
        </p:txBody>
      </p:sp>
      <p:sp>
        <p:nvSpPr>
          <p:cNvPr id="12" name="Text 10"/>
          <p:cNvSpPr/>
          <p:nvPr/>
        </p:nvSpPr>
        <p:spPr>
          <a:xfrm>
            <a:off x="2041475" y="2077492"/>
            <a:ext cx="13601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1927"/>
              </a:spcBef>
              <a:spcAft>
                <a:spcPts val="1927"/>
              </a:spcAft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366367" y="1832818"/>
            <a:ext cx="476250" cy="365671"/>
          </a:xfrm>
          <a:prstGeom prst="roundRect">
            <a:avLst>
              <a:gd name="adj" fmla="val 20838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439329" y="1909018"/>
            <a:ext cx="330327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🔢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468612" y="2388989"/>
            <a:ext cx="27719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</a:t>
            </a:r>
            <a:endParaRPr lang="en-US" sz="675" dirty="0"/>
          </a:p>
        </p:txBody>
      </p:sp>
      <p:sp>
        <p:nvSpPr>
          <p:cNvPr id="16" name="Text 14"/>
          <p:cNvSpPr/>
          <p:nvPr/>
        </p:nvSpPr>
        <p:spPr>
          <a:xfrm>
            <a:off x="3034159" y="2077492"/>
            <a:ext cx="13601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1927"/>
              </a:spcBef>
              <a:spcAft>
                <a:spcPts val="1927"/>
              </a:spcAft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359051" y="1832818"/>
            <a:ext cx="476250" cy="365671"/>
          </a:xfrm>
          <a:prstGeom prst="roundRect">
            <a:avLst>
              <a:gd name="adj" fmla="val 20838"/>
            </a:avLst>
          </a:prstGeom>
          <a:solidFill>
            <a:srgbClr val="22C55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432012" y="1909018"/>
            <a:ext cx="330327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461296" y="2388989"/>
            <a:ext cx="27719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</a:t>
            </a:r>
            <a:endParaRPr lang="en-US" sz="675" dirty="0"/>
          </a:p>
        </p:txBody>
      </p:sp>
      <p:sp>
        <p:nvSpPr>
          <p:cNvPr id="20" name="Text 18"/>
          <p:cNvSpPr/>
          <p:nvPr/>
        </p:nvSpPr>
        <p:spPr>
          <a:xfrm>
            <a:off x="4026843" y="2077492"/>
            <a:ext cx="13601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1927"/>
              </a:spcBef>
              <a:spcAft>
                <a:spcPts val="1927"/>
              </a:spcAft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351734" y="1832818"/>
            <a:ext cx="476250" cy="365671"/>
          </a:xfrm>
          <a:prstGeom prst="roundRect">
            <a:avLst>
              <a:gd name="adj" fmla="val 20838"/>
            </a:avLst>
          </a:prstGeom>
          <a:solidFill>
            <a:srgbClr val="EC489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424696" y="1909018"/>
            <a:ext cx="330327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06367" y="2388989"/>
            <a:ext cx="17017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</a:t>
            </a:r>
            <a:endParaRPr lang="en-US" sz="675" dirty="0"/>
          </a:p>
        </p:txBody>
      </p:sp>
      <p:sp>
        <p:nvSpPr>
          <p:cNvPr id="24" name="Text 22"/>
          <p:cNvSpPr/>
          <p:nvPr/>
        </p:nvSpPr>
        <p:spPr>
          <a:xfrm>
            <a:off x="228600" y="2813745"/>
            <a:ext cx="4752677" cy="1165473"/>
          </a:xfrm>
          <a:prstGeom prst="roundRect">
            <a:avLst>
              <a:gd name="adj" fmla="val 6538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342900" y="2928045"/>
            <a:ext cx="461455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What We Built: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42900" y="3164235"/>
            <a:ext cx="461455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Document loading and chunking</a:t>
            </a: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342900" y="3348930"/>
            <a:ext cx="461455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Embedding with HuggingFace models</a:t>
            </a:r>
            <a:endParaRPr lang="en-US" sz="825" dirty="0"/>
          </a:p>
        </p:txBody>
      </p:sp>
      <p:sp>
        <p:nvSpPr>
          <p:cNvPr id="28" name="Text 26"/>
          <p:cNvSpPr/>
          <p:nvPr/>
        </p:nvSpPr>
        <p:spPr>
          <a:xfrm>
            <a:off x="342900" y="3533626"/>
            <a:ext cx="461455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FAISS vector store for similarity search</a:t>
            </a:r>
            <a:endParaRPr lang="en-US" sz="825" dirty="0"/>
          </a:p>
        </p:txBody>
      </p:sp>
      <p:sp>
        <p:nvSpPr>
          <p:cNvPr id="29" name="Text 27"/>
          <p:cNvSpPr/>
          <p:nvPr/>
        </p:nvSpPr>
        <p:spPr>
          <a:xfrm>
            <a:off x="342900" y="3718322"/>
            <a:ext cx="461455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RetrievalQA chain with LangChain</a:t>
            </a:r>
            <a:endParaRPr lang="en-US" sz="825" dirty="0"/>
          </a:p>
        </p:txBody>
      </p:sp>
      <p:pic>
        <p:nvPicPr>
          <p:cNvPr id="30" name="Image 0" descr="/tmp/rasterized-gradient-f22065d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86077" y="1716435"/>
            <a:ext cx="3629323" cy="1207740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5457527" y="1849785"/>
            <a:ext cx="339101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Basic RAG Limitations: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5457527" y="2085975"/>
            <a:ext cx="339101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Semantic search misses keyword matches</a:t>
            </a:r>
            <a:endParaRPr lang="en-US" sz="750" dirty="0"/>
          </a:p>
        </p:txBody>
      </p:sp>
      <p:sp>
        <p:nvSpPr>
          <p:cNvPr id="33" name="Text 30"/>
          <p:cNvSpPr/>
          <p:nvPr/>
        </p:nvSpPr>
        <p:spPr>
          <a:xfrm>
            <a:off x="5457527" y="2276475"/>
            <a:ext cx="339101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No understanding of document structure</a:t>
            </a:r>
            <a:endParaRPr lang="en-US" sz="750" dirty="0"/>
          </a:p>
        </p:txBody>
      </p:sp>
      <p:sp>
        <p:nvSpPr>
          <p:cNvPr id="34" name="Text 31"/>
          <p:cNvSpPr/>
          <p:nvPr/>
        </p:nvSpPr>
        <p:spPr>
          <a:xfrm>
            <a:off x="5457527" y="2466975"/>
            <a:ext cx="339101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Retrieval order isn't always optimal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5457527" y="2657475"/>
            <a:ext cx="339101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Struggles with large document sets</a:t>
            </a:r>
            <a:endParaRPr lang="en-US" sz="750" dirty="0"/>
          </a:p>
        </p:txBody>
      </p:sp>
      <p:pic>
        <p:nvPicPr>
          <p:cNvPr id="36" name="Image 1" descr="/tmp/rasterized-gradient-a0de960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6077" y="3076575"/>
            <a:ext cx="3629323" cy="598140"/>
          </a:xfrm>
          <a:prstGeom prst="rect">
            <a:avLst/>
          </a:prstGeom>
        </p:spPr>
      </p:pic>
      <p:sp>
        <p:nvSpPr>
          <p:cNvPr id="37" name="Text 33"/>
          <p:cNvSpPr/>
          <p:nvPr/>
        </p:nvSpPr>
        <p:spPr>
          <a:xfrm>
            <a:off x="5409902" y="3200400"/>
            <a:ext cx="344930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Today We'll Learn:</a:t>
            </a:r>
            <a:endParaRPr lang="en-US" sz="900" dirty="0"/>
          </a:p>
        </p:txBody>
      </p:sp>
      <p:sp>
        <p:nvSpPr>
          <p:cNvPr id="38" name="Text 34"/>
          <p:cNvSpPr/>
          <p:nvPr/>
        </p:nvSpPr>
        <p:spPr>
          <a:xfrm>
            <a:off x="5409902" y="3417540"/>
            <a:ext cx="344930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Search | Re-ranking | Graph RAG | Scaling</a:t>
            </a:r>
            <a:endParaRPr lang="en-US" sz="750" dirty="0"/>
          </a:p>
        </p:txBody>
      </p:sp>
      <p:sp>
        <p:nvSpPr>
          <p:cNvPr id="39" name="Text 35"/>
          <p:cNvSpPr/>
          <p:nvPr/>
        </p:nvSpPr>
        <p:spPr>
          <a:xfrm>
            <a:off x="228600" y="4781550"/>
            <a:ext cx="135197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15 - Day 2 | AI Bootcamp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512564"/>
            <a:ext cx="540181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🔀 Hybrid Search: Best of Both Worlds</a:t>
            </a:r>
            <a:endParaRPr lang="en-US" sz="2250" dirty="0"/>
          </a:p>
        </p:txBody>
      </p:sp>
      <p:pic>
        <p:nvPicPr>
          <p:cNvPr id="3" name="Image 0" descr="/tmp/rasterized-gradient-708f716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065014"/>
            <a:ext cx="8686800" cy="70857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1000" y="1217414"/>
            <a:ext cx="854964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What is Hybrid Search?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381000" y="1461195"/>
            <a:ext cx="854964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Combines </a:t>
            </a:r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keyword search</a:t>
            </a:r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(BM25) with </a:t>
            </a:r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search</a:t>
            </a:r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(embeddings) for more robust retrieval.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228600" y="1925985"/>
            <a:ext cx="2692450" cy="1333500"/>
          </a:xfrm>
          <a:prstGeom prst="roundRect">
            <a:avLst>
              <a:gd name="adj" fmla="val 5714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4"/>
          <p:cNvSpPr/>
          <p:nvPr/>
        </p:nvSpPr>
        <p:spPr>
          <a:xfrm>
            <a:off x="228600" y="1940272"/>
            <a:ext cx="2692450" cy="0"/>
          </a:xfrm>
          <a:prstGeom prst="line">
            <a:avLst/>
          </a:prstGeom>
          <a:noFill/>
          <a:ln w="28575">
            <a:solidFill>
              <a:srgbClr val="F9731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42900" y="2068860"/>
            <a:ext cx="251312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🔤 Keyword Search (BM25)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342900" y="2305050"/>
            <a:ext cx="251312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Exact term matching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342900" y="2476500"/>
            <a:ext cx="251312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Great for specific IDs, names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342900" y="2647950"/>
            <a:ext cx="251312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Misses synonyms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342900" y="2819400"/>
            <a:ext cx="251312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No semantic understanding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3225850" y="1925985"/>
            <a:ext cx="2692450" cy="1333500"/>
          </a:xfrm>
          <a:prstGeom prst="roundRect">
            <a:avLst>
              <a:gd name="adj" fmla="val 5714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1"/>
          <p:cNvSpPr/>
          <p:nvPr/>
        </p:nvSpPr>
        <p:spPr>
          <a:xfrm>
            <a:off x="3225850" y="1940272"/>
            <a:ext cx="2692450" cy="0"/>
          </a:xfrm>
          <a:prstGeom prst="line">
            <a:avLst/>
          </a:prstGeom>
          <a:noFill/>
          <a:ln w="28575">
            <a:solidFill>
              <a:srgbClr val="22D3E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340150" y="2068860"/>
            <a:ext cx="251312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🧠 Semantic Search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3340150" y="2305050"/>
            <a:ext cx="251312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Understands meaning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3340150" y="2476500"/>
            <a:ext cx="251312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Handles synonyms well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3340150" y="2647950"/>
            <a:ext cx="251312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May miss exact terms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3340150" y="2819400"/>
            <a:ext cx="251312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Computationally heavier</a:t>
            </a:r>
            <a:endParaRPr lang="en-US" sz="750" dirty="0"/>
          </a:p>
        </p:txBody>
      </p:sp>
      <p:pic>
        <p:nvPicPr>
          <p:cNvPr id="20" name="Image 1" descr="/tmp/rasterized-gradient-ea7e8db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3099" y="1925985"/>
            <a:ext cx="2692450" cy="133350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6337399" y="2068860"/>
            <a:ext cx="251312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🔀 Hybrid Search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6337399" y="2305050"/>
            <a:ext cx="251312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Best of both!</a:t>
            </a:r>
            <a:endParaRPr lang="en-US" sz="750" dirty="0"/>
          </a:p>
        </p:txBody>
      </p:sp>
      <p:sp>
        <p:nvSpPr>
          <p:cNvPr id="23" name="Text 19"/>
          <p:cNvSpPr/>
          <p:nvPr/>
        </p:nvSpPr>
        <p:spPr>
          <a:xfrm>
            <a:off x="6337399" y="2476500"/>
            <a:ext cx="251312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Handles diverse queries</a:t>
            </a:r>
            <a:endParaRPr lang="en-US" sz="750" dirty="0"/>
          </a:p>
        </p:txBody>
      </p:sp>
      <p:sp>
        <p:nvSpPr>
          <p:cNvPr id="24" name="Text 20"/>
          <p:cNvSpPr/>
          <p:nvPr/>
        </p:nvSpPr>
        <p:spPr>
          <a:xfrm>
            <a:off x="6337399" y="2647950"/>
            <a:ext cx="251312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More robust retrieval</a:t>
            </a:r>
            <a:endParaRPr lang="en-US" sz="750" dirty="0"/>
          </a:p>
        </p:txBody>
      </p:sp>
      <p:sp>
        <p:nvSpPr>
          <p:cNvPr id="25" name="Text 21"/>
          <p:cNvSpPr/>
          <p:nvPr/>
        </p:nvSpPr>
        <p:spPr>
          <a:xfrm>
            <a:off x="6337399" y="2819400"/>
            <a:ext cx="251312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Slightly more complex</a:t>
            </a:r>
            <a:endParaRPr lang="en-US" sz="750" dirty="0"/>
          </a:p>
        </p:txBody>
      </p:sp>
      <p:sp>
        <p:nvSpPr>
          <p:cNvPr id="26" name="Text 22"/>
          <p:cNvSpPr/>
          <p:nvPr/>
        </p:nvSpPr>
        <p:spPr>
          <a:xfrm>
            <a:off x="228600" y="3411885"/>
            <a:ext cx="8686800" cy="876151"/>
          </a:xfrm>
          <a:prstGeom prst="roundRect">
            <a:avLst>
              <a:gd name="adj" fmla="val 8697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3"/>
          <p:cNvSpPr/>
          <p:nvPr/>
        </p:nvSpPr>
        <p:spPr>
          <a:xfrm>
            <a:off x="342900" y="3526185"/>
            <a:ext cx="862736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Example: Query "TK-4521 product specifications"</a:t>
            </a:r>
            <a:endParaRPr lang="en-US" sz="825" dirty="0"/>
          </a:p>
        </p:txBody>
      </p:sp>
      <p:sp>
        <p:nvSpPr>
          <p:cNvPr id="28" name="Text 24"/>
          <p:cNvSpPr/>
          <p:nvPr/>
        </p:nvSpPr>
        <p:spPr>
          <a:xfrm>
            <a:off x="342900" y="3748980"/>
            <a:ext cx="2717750" cy="424755"/>
          </a:xfrm>
          <a:prstGeom prst="roundRect">
            <a:avLst>
              <a:gd name="adj" fmla="val 17940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5"/>
          <p:cNvSpPr/>
          <p:nvPr/>
        </p:nvSpPr>
        <p:spPr>
          <a:xfrm>
            <a:off x="419100" y="3825180"/>
            <a:ext cx="261665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150"/>
              </a:spcAft>
              <a:buNone/>
            </a:pPr>
            <a:r>
              <a:rPr lang="en-US" sz="75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Keyword finds:</a:t>
            </a:r>
            <a:endParaRPr lang="en-US" sz="750" dirty="0"/>
          </a:p>
        </p:txBody>
      </p:sp>
      <p:sp>
        <p:nvSpPr>
          <p:cNvPr id="30" name="Text 26"/>
          <p:cNvSpPr/>
          <p:nvPr/>
        </p:nvSpPr>
        <p:spPr>
          <a:xfrm>
            <a:off x="419100" y="3977580"/>
            <a:ext cx="261665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 with exact "TK-4521"</a:t>
            </a:r>
            <a:endParaRPr lang="en-US" sz="675" dirty="0"/>
          </a:p>
        </p:txBody>
      </p:sp>
      <p:sp>
        <p:nvSpPr>
          <p:cNvPr id="31" name="Text 27"/>
          <p:cNvSpPr/>
          <p:nvPr/>
        </p:nvSpPr>
        <p:spPr>
          <a:xfrm>
            <a:off x="3213050" y="3748980"/>
            <a:ext cx="2717750" cy="424755"/>
          </a:xfrm>
          <a:prstGeom prst="roundRect">
            <a:avLst>
              <a:gd name="adj" fmla="val 17940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8"/>
          <p:cNvSpPr/>
          <p:nvPr/>
        </p:nvSpPr>
        <p:spPr>
          <a:xfrm>
            <a:off x="3289250" y="3825180"/>
            <a:ext cx="261665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150"/>
              </a:spcAft>
              <a:buNone/>
            </a:pPr>
            <a:r>
              <a:rPr lang="en-US" sz="75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finds:</a:t>
            </a:r>
            <a:endParaRPr lang="en-US" sz="750" dirty="0"/>
          </a:p>
        </p:txBody>
      </p:sp>
      <p:sp>
        <p:nvSpPr>
          <p:cNvPr id="33" name="Text 29"/>
          <p:cNvSpPr/>
          <p:nvPr/>
        </p:nvSpPr>
        <p:spPr>
          <a:xfrm>
            <a:off x="3289250" y="3977580"/>
            <a:ext cx="261665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 about "product specs"</a:t>
            </a:r>
            <a:endParaRPr lang="en-US" sz="675" dirty="0"/>
          </a:p>
        </p:txBody>
      </p:sp>
      <p:sp>
        <p:nvSpPr>
          <p:cNvPr id="34" name="Text 30"/>
          <p:cNvSpPr/>
          <p:nvPr/>
        </p:nvSpPr>
        <p:spPr>
          <a:xfrm>
            <a:off x="6083201" y="3748980"/>
            <a:ext cx="2717750" cy="424755"/>
          </a:xfrm>
          <a:prstGeom prst="roundRect">
            <a:avLst>
              <a:gd name="adj" fmla="val 17940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1"/>
          <p:cNvSpPr/>
          <p:nvPr/>
        </p:nvSpPr>
        <p:spPr>
          <a:xfrm>
            <a:off x="6159401" y="3825180"/>
            <a:ext cx="261665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150"/>
              </a:spcAft>
              <a:buNone/>
            </a:pPr>
            <a:r>
              <a:rPr lang="en-US" sz="75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finds:</a:t>
            </a:r>
            <a:endParaRPr lang="en-US" sz="750" dirty="0"/>
          </a:p>
        </p:txBody>
      </p:sp>
      <p:sp>
        <p:nvSpPr>
          <p:cNvPr id="36" name="Text 32"/>
          <p:cNvSpPr/>
          <p:nvPr/>
        </p:nvSpPr>
        <p:spPr>
          <a:xfrm>
            <a:off x="6159401" y="3977580"/>
            <a:ext cx="261665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TK-4521 specs (best match!)</a:t>
            </a:r>
            <a:endParaRPr lang="en-US" sz="675" dirty="0"/>
          </a:p>
        </p:txBody>
      </p:sp>
      <p:sp>
        <p:nvSpPr>
          <p:cNvPr id="37" name="Text 33"/>
          <p:cNvSpPr/>
          <p:nvPr/>
        </p:nvSpPr>
        <p:spPr>
          <a:xfrm>
            <a:off x="228600" y="4781550"/>
            <a:ext cx="135197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15 - Day 2 | AI Bootcamp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501253"/>
            <a:ext cx="443998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 How Hybrid Search Works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228600" y="1053703"/>
            <a:ext cx="8686800" cy="1194197"/>
          </a:xfrm>
          <a:prstGeom prst="roundRect">
            <a:avLst>
              <a:gd name="adj" fmla="val 6381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64815" y="1280368"/>
            <a:ext cx="404515" cy="430411"/>
          </a:xfrm>
          <a:prstGeom prst="roundRect">
            <a:avLst>
              <a:gd name="adj" fmla="val 18837"/>
            </a:avLst>
          </a:prstGeom>
          <a:solidFill>
            <a:srgbClr val="0891B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57925" y="1375618"/>
            <a:ext cx="218295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48056" y="1901279"/>
            <a:ext cx="23818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</a:t>
            </a:r>
            <a:endParaRPr lang="en-US" sz="675" dirty="0"/>
          </a:p>
        </p:txBody>
      </p:sp>
      <p:sp>
        <p:nvSpPr>
          <p:cNvPr id="7" name="Text 5"/>
          <p:cNvSpPr/>
          <p:nvPr/>
        </p:nvSpPr>
        <p:spPr>
          <a:xfrm>
            <a:off x="1689050" y="1544092"/>
            <a:ext cx="15544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158157" y="1187053"/>
            <a:ext cx="1186755" cy="617041"/>
          </a:xfrm>
          <a:prstGeom prst="roundRect">
            <a:avLst>
              <a:gd name="adj" fmla="val 12349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668339" y="1263253"/>
            <a:ext cx="16971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🔤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651968" y="1621334"/>
            <a:ext cx="203115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150"/>
              </a:spcBef>
              <a:buNone/>
            </a:pPr>
            <a:r>
              <a:rPr lang="en-US" sz="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BM25</a:t>
            </a:r>
            <a:endParaRPr lang="en-US" sz="600" dirty="0"/>
          </a:p>
        </p:txBody>
      </p:sp>
      <p:sp>
        <p:nvSpPr>
          <p:cNvPr id="11" name="Text 9"/>
          <p:cNvSpPr/>
          <p:nvPr/>
        </p:nvSpPr>
        <p:spPr>
          <a:xfrm>
            <a:off x="3497312" y="1187053"/>
            <a:ext cx="1186755" cy="617041"/>
          </a:xfrm>
          <a:prstGeom prst="roundRect">
            <a:avLst>
              <a:gd name="adj" fmla="val 12349"/>
            </a:avLst>
          </a:prstGeom>
          <a:solidFill>
            <a:srgbClr val="22D3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007495" y="1263253"/>
            <a:ext cx="16971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🧠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982641" y="1621334"/>
            <a:ext cx="220420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150"/>
              </a:spcBef>
              <a:buNone/>
            </a:pPr>
            <a:r>
              <a:rPr lang="en-US" sz="6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</a:t>
            </a:r>
            <a:endParaRPr lang="en-US" sz="600" dirty="0"/>
          </a:p>
        </p:txBody>
      </p:sp>
      <p:sp>
        <p:nvSpPr>
          <p:cNvPr id="14" name="Text 12"/>
          <p:cNvSpPr/>
          <p:nvPr/>
        </p:nvSpPr>
        <p:spPr>
          <a:xfrm>
            <a:off x="2132898" y="1994595"/>
            <a:ext cx="257642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Parallel Search</a:t>
            </a:r>
            <a:endParaRPr lang="en-US" sz="675" dirty="0"/>
          </a:p>
        </p:txBody>
      </p:sp>
      <p:sp>
        <p:nvSpPr>
          <p:cNvPr id="15" name="Text 13"/>
          <p:cNvSpPr/>
          <p:nvPr/>
        </p:nvSpPr>
        <p:spPr>
          <a:xfrm>
            <a:off x="5000774" y="1544092"/>
            <a:ext cx="15544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899100" y="1280368"/>
            <a:ext cx="404515" cy="430411"/>
          </a:xfrm>
          <a:prstGeom prst="roundRect">
            <a:avLst>
              <a:gd name="adj" fmla="val 18837"/>
            </a:avLst>
          </a:prstGeom>
          <a:solidFill>
            <a:srgbClr val="8B5C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992210" y="1375618"/>
            <a:ext cx="218295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🔀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970048" y="1901279"/>
            <a:ext cx="26247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Fusion</a:t>
            </a:r>
            <a:endParaRPr lang="en-US" sz="675" dirty="0"/>
          </a:p>
        </p:txBody>
      </p:sp>
      <p:sp>
        <p:nvSpPr>
          <p:cNvPr id="19" name="Text 17"/>
          <p:cNvSpPr/>
          <p:nvPr/>
        </p:nvSpPr>
        <p:spPr>
          <a:xfrm>
            <a:off x="7049542" y="1544092"/>
            <a:ext cx="15544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947868" y="1280368"/>
            <a:ext cx="404515" cy="430411"/>
          </a:xfrm>
          <a:prstGeom prst="roundRect">
            <a:avLst>
              <a:gd name="adj" fmla="val 18837"/>
            </a:avLst>
          </a:prstGeom>
          <a:solidFill>
            <a:srgbClr val="22C55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8040978" y="1375618"/>
            <a:ext cx="218295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7841357" y="1901279"/>
            <a:ext cx="61739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Ranked Results</a:t>
            </a:r>
            <a:endParaRPr lang="en-US" sz="675" dirty="0"/>
          </a:p>
        </p:txBody>
      </p:sp>
      <p:sp>
        <p:nvSpPr>
          <p:cNvPr id="23" name="Text 21"/>
          <p:cNvSpPr/>
          <p:nvPr/>
        </p:nvSpPr>
        <p:spPr>
          <a:xfrm>
            <a:off x="228600" y="2400300"/>
            <a:ext cx="4169569" cy="1104751"/>
          </a:xfrm>
          <a:prstGeom prst="roundRect">
            <a:avLst>
              <a:gd name="adj" fmla="val 6897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247650" y="2400300"/>
            <a:ext cx="0" cy="1104751"/>
          </a:xfrm>
          <a:prstGeom prst="line">
            <a:avLst/>
          </a:prstGeom>
          <a:noFill/>
          <a:ln w="38100">
            <a:solidFill>
              <a:srgbClr val="8B5C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1000" y="2514600"/>
            <a:ext cx="398092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🔀 Reciprocal Rank Fusion (RRF)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81000" y="2750790"/>
            <a:ext cx="3980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Combines rankings from both searches: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381000" y="2941290"/>
            <a:ext cx="3902869" cy="272355"/>
          </a:xfrm>
          <a:prstGeom prst="roundRect">
            <a:avLst>
              <a:gd name="adj" fmla="val 27978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57200" y="3017490"/>
            <a:ext cx="382547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= 1/(k + rank_bm25) + 1/(k + rank_vec)</a:t>
            </a:r>
            <a:endParaRPr lang="en-US" sz="675" dirty="0"/>
          </a:p>
        </p:txBody>
      </p:sp>
      <p:sp>
        <p:nvSpPr>
          <p:cNvPr id="29" name="Text 27"/>
          <p:cNvSpPr/>
          <p:nvPr/>
        </p:nvSpPr>
        <p:spPr>
          <a:xfrm>
            <a:off x="381000" y="3270796"/>
            <a:ext cx="398092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450"/>
              </a:spcBef>
              <a:buNone/>
            </a:pPr>
            <a:r>
              <a:rPr lang="en-US" sz="6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Simple, effective, no tuning needed!</a:t>
            </a:r>
            <a:endParaRPr lang="en-US" sz="675" dirty="0"/>
          </a:p>
        </p:txBody>
      </p:sp>
      <p:sp>
        <p:nvSpPr>
          <p:cNvPr id="30" name="Text 28"/>
          <p:cNvSpPr/>
          <p:nvPr/>
        </p:nvSpPr>
        <p:spPr>
          <a:xfrm>
            <a:off x="4702969" y="2400300"/>
            <a:ext cx="4169569" cy="1104751"/>
          </a:xfrm>
          <a:prstGeom prst="roundRect">
            <a:avLst>
              <a:gd name="adj" fmla="val 6897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4722019" y="2400300"/>
            <a:ext cx="0" cy="1104751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55369" y="2514600"/>
            <a:ext cx="398092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⚖️ Weighted Combination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855369" y="2750790"/>
            <a:ext cx="3980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 keyword vs semantic: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4855369" y="2941290"/>
            <a:ext cx="3902869" cy="272355"/>
          </a:xfrm>
          <a:prstGeom prst="roundRect">
            <a:avLst>
              <a:gd name="adj" fmla="val 27978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4931569" y="3017490"/>
            <a:ext cx="382547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= α * bm25 + (1-α) * semantic</a:t>
            </a:r>
            <a:endParaRPr lang="en-US" sz="675" dirty="0"/>
          </a:p>
        </p:txBody>
      </p:sp>
      <p:sp>
        <p:nvSpPr>
          <p:cNvPr id="36" name="Text 34"/>
          <p:cNvSpPr/>
          <p:nvPr/>
        </p:nvSpPr>
        <p:spPr>
          <a:xfrm>
            <a:off x="4855369" y="3270796"/>
            <a:ext cx="398092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450"/>
              </a:spcBef>
              <a:buNone/>
            </a:pPr>
            <a:r>
              <a:rPr lang="en-US" sz="6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α = 0.5 is a good starting point</a:t>
            </a:r>
            <a:endParaRPr lang="en-US" sz="675" dirty="0"/>
          </a:p>
        </p:txBody>
      </p:sp>
      <p:sp>
        <p:nvSpPr>
          <p:cNvPr id="37" name="Text 35"/>
          <p:cNvSpPr/>
          <p:nvPr/>
        </p:nvSpPr>
        <p:spPr>
          <a:xfrm>
            <a:off x="228600" y="3657451"/>
            <a:ext cx="8686800" cy="641896"/>
          </a:xfrm>
          <a:prstGeom prst="roundRect">
            <a:avLst>
              <a:gd name="adj" fmla="val 11871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323850" y="3752701"/>
            <a:ext cx="866622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🛠️ Tools with Built-in Hybrid Search:</a:t>
            </a:r>
            <a:endParaRPr lang="en-US" sz="825" dirty="0"/>
          </a:p>
        </p:txBody>
      </p:sp>
      <p:sp>
        <p:nvSpPr>
          <p:cNvPr id="39" name="Text 37"/>
          <p:cNvSpPr/>
          <p:nvPr/>
        </p:nvSpPr>
        <p:spPr>
          <a:xfrm>
            <a:off x="323850" y="3956447"/>
            <a:ext cx="624036" cy="247650"/>
          </a:xfrm>
          <a:prstGeom prst="roundRect">
            <a:avLst>
              <a:gd name="adj" fmla="val 30769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438150" y="4013597"/>
            <a:ext cx="40334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Weaviate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1100286" y="3956447"/>
            <a:ext cx="625822" cy="247650"/>
          </a:xfrm>
          <a:prstGeom prst="roundRect">
            <a:avLst>
              <a:gd name="adj" fmla="val 30769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1214586" y="4013597"/>
            <a:ext cx="40516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Pinecone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1878509" y="3956447"/>
            <a:ext cx="519857" cy="247650"/>
          </a:xfrm>
          <a:prstGeom prst="roundRect">
            <a:avLst>
              <a:gd name="adj" fmla="val 30769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1992809" y="4013597"/>
            <a:ext cx="29708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Qdrant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2550765" y="3956447"/>
            <a:ext cx="795040" cy="247650"/>
          </a:xfrm>
          <a:prstGeom prst="roundRect">
            <a:avLst>
              <a:gd name="adj" fmla="val 30769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2665065" y="4013597"/>
            <a:ext cx="57776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Elasticsearch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3498205" y="3956447"/>
            <a:ext cx="1525786" cy="247650"/>
          </a:xfrm>
          <a:prstGeom prst="roundRect">
            <a:avLst>
              <a:gd name="adj" fmla="val 30769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3612505" y="4013597"/>
            <a:ext cx="132313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LangChain EnsembleRetriever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228600" y="4781550"/>
            <a:ext cx="135197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15 - Day 2 | AI Bootcamp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319236"/>
            <a:ext cx="593617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Re-ranking: Improving Retrieval Quality</a:t>
            </a:r>
            <a:endParaRPr lang="en-US" sz="2250" dirty="0"/>
          </a:p>
        </p:txBody>
      </p:sp>
      <p:pic>
        <p:nvPicPr>
          <p:cNvPr id="3" name="Image 0" descr="/tmp/rasterized-gradient-53f3a36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871686"/>
            <a:ext cx="8686800" cy="70857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1000" y="1024086"/>
            <a:ext cx="854964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What is Re-ranking?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381000" y="1267867"/>
            <a:ext cx="854964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second-stage process that takes initial retrieval results and reorders them using a more powerful (but slower) model to maximize relevance.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228600" y="1732657"/>
            <a:ext cx="8686800" cy="1198066"/>
          </a:xfrm>
          <a:prstGeom prst="roundRect">
            <a:avLst>
              <a:gd name="adj" fmla="val 6360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361950" y="1866007"/>
            <a:ext cx="858850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750"/>
              </a:spcAft>
              <a:buNone/>
            </a:pPr>
            <a:r>
              <a:rPr lang="en-US" sz="9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 Two-Stage Retrieval Pipeline: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822127" y="2121247"/>
            <a:ext cx="342602" cy="365671"/>
          </a:xfrm>
          <a:prstGeom prst="roundRect">
            <a:avLst>
              <a:gd name="adj" fmla="val 22242"/>
            </a:avLst>
          </a:prstGeom>
          <a:solidFill>
            <a:srgbClr val="0891B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896425" y="2197447"/>
            <a:ext cx="19400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76598" y="2677418"/>
            <a:ext cx="23818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</a:t>
            </a:r>
            <a:endParaRPr lang="en-US" sz="675" dirty="0"/>
          </a:p>
        </p:txBody>
      </p:sp>
      <p:sp>
        <p:nvSpPr>
          <p:cNvPr id="11" name="Text 8"/>
          <p:cNvSpPr/>
          <p:nvPr/>
        </p:nvSpPr>
        <p:spPr>
          <a:xfrm>
            <a:off x="1923157" y="2365921"/>
            <a:ext cx="13601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2354759" y="2233613"/>
            <a:ext cx="1852315" cy="451396"/>
          </a:xfrm>
          <a:prstGeom prst="roundRect">
            <a:avLst>
              <a:gd name="adj" fmla="val 16881"/>
            </a:avLst>
          </a:prstGeom>
          <a:solidFill>
            <a:srgbClr val="8B5C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2413959" y="2309813"/>
            <a:ext cx="173391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1: Retrieve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2413959" y="2488853"/>
            <a:ext cx="173391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Fast, get top 20-50</a:t>
            </a:r>
            <a:endParaRPr lang="en-US" sz="675" dirty="0"/>
          </a:p>
        </p:txBody>
      </p:sp>
      <p:sp>
        <p:nvSpPr>
          <p:cNvPr id="15" name="Text 12"/>
          <p:cNvSpPr/>
          <p:nvPr/>
        </p:nvSpPr>
        <p:spPr>
          <a:xfrm>
            <a:off x="4505325" y="2365921"/>
            <a:ext cx="13601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4936927" y="2233613"/>
            <a:ext cx="1852315" cy="451396"/>
          </a:xfrm>
          <a:prstGeom prst="roundRect">
            <a:avLst>
              <a:gd name="adj" fmla="val 16881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4996127" y="2309813"/>
            <a:ext cx="173391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2: Re-rank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4996127" y="2488853"/>
            <a:ext cx="173391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FED7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Slower, precise scoring</a:t>
            </a:r>
            <a:endParaRPr lang="en-US" sz="675" dirty="0"/>
          </a:p>
        </p:txBody>
      </p:sp>
      <p:sp>
        <p:nvSpPr>
          <p:cNvPr id="19" name="Text 16"/>
          <p:cNvSpPr/>
          <p:nvPr/>
        </p:nvSpPr>
        <p:spPr>
          <a:xfrm>
            <a:off x="7087493" y="2365921"/>
            <a:ext cx="13601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7979271" y="2121247"/>
            <a:ext cx="342602" cy="365671"/>
          </a:xfrm>
          <a:prstGeom prst="roundRect">
            <a:avLst>
              <a:gd name="adj" fmla="val 22242"/>
            </a:avLst>
          </a:prstGeom>
          <a:solidFill>
            <a:srgbClr val="22C55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8053569" y="2197447"/>
            <a:ext cx="19400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8007548" y="2677418"/>
            <a:ext cx="29176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3-5</a:t>
            </a:r>
            <a:endParaRPr lang="en-US" sz="675" dirty="0"/>
          </a:p>
        </p:txBody>
      </p:sp>
      <p:sp>
        <p:nvSpPr>
          <p:cNvPr id="23" name="Text 20"/>
          <p:cNvSpPr/>
          <p:nvPr/>
        </p:nvSpPr>
        <p:spPr>
          <a:xfrm>
            <a:off x="228600" y="3083123"/>
            <a:ext cx="4169569" cy="908596"/>
          </a:xfrm>
          <a:prstGeom prst="roundRect">
            <a:avLst>
              <a:gd name="adj" fmla="val 8387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1"/>
          <p:cNvSpPr/>
          <p:nvPr/>
        </p:nvSpPr>
        <p:spPr>
          <a:xfrm>
            <a:off x="247650" y="3083123"/>
            <a:ext cx="0" cy="908596"/>
          </a:xfrm>
          <a:prstGeom prst="line">
            <a:avLst/>
          </a:prstGeom>
          <a:noFill/>
          <a:ln w="38100">
            <a:solidFill>
              <a:srgbClr val="22C55E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81000" y="3197423"/>
            <a:ext cx="398092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Why Re-rank?</a:t>
            </a:r>
            <a:endParaRPr lang="en-US" sz="825" dirty="0"/>
          </a:p>
        </p:txBody>
      </p:sp>
      <p:sp>
        <p:nvSpPr>
          <p:cNvPr id="26" name="Text 23"/>
          <p:cNvSpPr/>
          <p:nvPr/>
        </p:nvSpPr>
        <p:spPr>
          <a:xfrm>
            <a:off x="381000" y="3401169"/>
            <a:ext cx="3980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Cross-encoders are more accurate than bi-encoders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381000" y="3572619"/>
            <a:ext cx="3980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Can consider query-document interaction</a:t>
            </a:r>
            <a:endParaRPr lang="en-US" sz="750" dirty="0"/>
          </a:p>
        </p:txBody>
      </p:sp>
      <p:sp>
        <p:nvSpPr>
          <p:cNvPr id="28" name="Text 25"/>
          <p:cNvSpPr/>
          <p:nvPr/>
        </p:nvSpPr>
        <p:spPr>
          <a:xfrm>
            <a:off x="381000" y="3744069"/>
            <a:ext cx="3980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Improves precision in top results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4702969" y="3083123"/>
            <a:ext cx="4169569" cy="908596"/>
          </a:xfrm>
          <a:prstGeom prst="roundRect">
            <a:avLst>
              <a:gd name="adj" fmla="val 8387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Shape 27"/>
          <p:cNvSpPr/>
          <p:nvPr/>
        </p:nvSpPr>
        <p:spPr>
          <a:xfrm>
            <a:off x="4722019" y="3083123"/>
            <a:ext cx="0" cy="908596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855369" y="3197423"/>
            <a:ext cx="398092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🛠️ Popular Re-rankers:</a:t>
            </a:r>
            <a:endParaRPr lang="en-US" sz="825" dirty="0"/>
          </a:p>
        </p:txBody>
      </p:sp>
      <p:sp>
        <p:nvSpPr>
          <p:cNvPr id="32" name="Text 29"/>
          <p:cNvSpPr/>
          <p:nvPr/>
        </p:nvSpPr>
        <p:spPr>
          <a:xfrm>
            <a:off x="4855369" y="3401169"/>
            <a:ext cx="3980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Cohere Rerank API</a:t>
            </a:r>
            <a:endParaRPr lang="en-US" sz="750" dirty="0"/>
          </a:p>
        </p:txBody>
      </p:sp>
      <p:sp>
        <p:nvSpPr>
          <p:cNvPr id="33" name="Text 30"/>
          <p:cNvSpPr/>
          <p:nvPr/>
        </p:nvSpPr>
        <p:spPr>
          <a:xfrm>
            <a:off x="4855369" y="3572619"/>
            <a:ext cx="3980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BAAI/bge-reranker (HuggingFace)</a:t>
            </a:r>
            <a:endParaRPr lang="en-US" sz="750" dirty="0"/>
          </a:p>
        </p:txBody>
      </p:sp>
      <p:sp>
        <p:nvSpPr>
          <p:cNvPr id="34" name="Text 31"/>
          <p:cNvSpPr/>
          <p:nvPr/>
        </p:nvSpPr>
        <p:spPr>
          <a:xfrm>
            <a:off x="4855369" y="3744069"/>
            <a:ext cx="3980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cross-encoder/ms-marco models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228600" y="4144119"/>
            <a:ext cx="8686800" cy="337096"/>
          </a:xfrm>
          <a:prstGeom prst="roundRect">
            <a:avLst>
              <a:gd name="adj" fmla="val 22605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3"/>
          <p:cNvSpPr/>
          <p:nvPr/>
        </p:nvSpPr>
        <p:spPr>
          <a:xfrm>
            <a:off x="238887" y="4239369"/>
            <a:ext cx="866622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</a:t>
            </a:r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Insight:</a:t>
            </a:r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Retrieve more, re-rank down. Get 50 candidates, return top 5!</a:t>
            </a:r>
            <a:endParaRPr lang="en-US" sz="825" dirty="0"/>
          </a:p>
        </p:txBody>
      </p:sp>
      <p:sp>
        <p:nvSpPr>
          <p:cNvPr id="37" name="Text 34"/>
          <p:cNvSpPr/>
          <p:nvPr/>
        </p:nvSpPr>
        <p:spPr>
          <a:xfrm>
            <a:off x="228600" y="4781550"/>
            <a:ext cx="135197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15 - Day 2 | AI Bootcamp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353467"/>
            <a:ext cx="723804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🕸️ Graph-Based RAG: Understanding Relationships</a:t>
            </a:r>
            <a:endParaRPr lang="en-US" sz="2250" dirty="0"/>
          </a:p>
        </p:txBody>
      </p:sp>
      <p:pic>
        <p:nvPicPr>
          <p:cNvPr id="3" name="Image 0" descr="/tmp/rasterized-gradient-c118c56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905917"/>
            <a:ext cx="8686800" cy="70857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1000" y="1058317"/>
            <a:ext cx="854964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What is Graph RAG?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381000" y="1302097"/>
            <a:ext cx="854964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 </a:t>
            </a:r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graphs</a:t>
            </a:r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capture entity relationships, enabling retrieval that understands connections between concepts.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228600" y="1766888"/>
            <a:ext cx="4169569" cy="1141065"/>
          </a:xfrm>
          <a:prstGeom prst="roundRect">
            <a:avLst>
              <a:gd name="adj" fmla="val 6678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4"/>
          <p:cNvSpPr/>
          <p:nvPr/>
        </p:nvSpPr>
        <p:spPr>
          <a:xfrm>
            <a:off x="228600" y="1781175"/>
            <a:ext cx="4169569" cy="0"/>
          </a:xfrm>
          <a:prstGeom prst="line">
            <a:avLst/>
          </a:prstGeom>
          <a:noFill/>
          <a:ln w="28575">
            <a:solidFill>
              <a:srgbClr val="F9731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42900" y="1909762"/>
            <a:ext cx="401978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📄 Traditional RAG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342900" y="2145953"/>
            <a:ext cx="401978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Documents as isolated chunks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342900" y="2317403"/>
            <a:ext cx="401978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understanding of relationships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342900" y="2488853"/>
            <a:ext cx="401978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"Who is the CEO's manager?"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342900" y="2660303"/>
            <a:ext cx="401978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Struggles with multi-hop reasoning</a:t>
            </a:r>
            <a:endParaRPr lang="en-US" sz="750" dirty="0"/>
          </a:p>
        </p:txBody>
      </p:sp>
      <p:pic>
        <p:nvPicPr>
          <p:cNvPr id="13" name="Image 1" descr="/tmp/rasterized-gradient-44b1308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2969" y="1766888"/>
            <a:ext cx="4169569" cy="114106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817269" y="1909762"/>
            <a:ext cx="401978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🕸️ Graph RAG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4817269" y="2145953"/>
            <a:ext cx="401978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Entities connected by relationships</a:t>
            </a:r>
            <a:endParaRPr lang="en-US" sz="750" dirty="0"/>
          </a:p>
        </p:txBody>
      </p:sp>
      <p:sp>
        <p:nvSpPr>
          <p:cNvPr id="16" name="Text 12"/>
          <p:cNvSpPr/>
          <p:nvPr/>
        </p:nvSpPr>
        <p:spPr>
          <a:xfrm>
            <a:off x="4817269" y="2317403"/>
            <a:ext cx="401978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traverse connections</a:t>
            </a:r>
            <a:endParaRPr lang="en-US" sz="750" dirty="0"/>
          </a:p>
        </p:txBody>
      </p:sp>
      <p:sp>
        <p:nvSpPr>
          <p:cNvPr id="17" name="Text 13"/>
          <p:cNvSpPr/>
          <p:nvPr/>
        </p:nvSpPr>
        <p:spPr>
          <a:xfrm>
            <a:off x="4817269" y="2488853"/>
            <a:ext cx="401978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CEO → reports_to → Board</a:t>
            </a:r>
            <a:endParaRPr lang="en-US" sz="750" dirty="0"/>
          </a:p>
        </p:txBody>
      </p:sp>
      <p:sp>
        <p:nvSpPr>
          <p:cNvPr id="18" name="Text 14"/>
          <p:cNvSpPr/>
          <p:nvPr/>
        </p:nvSpPr>
        <p:spPr>
          <a:xfrm>
            <a:off x="4817269" y="2660303"/>
            <a:ext cx="401978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Handles complex queries naturally</a:t>
            </a:r>
            <a:endParaRPr lang="en-US" sz="750" dirty="0"/>
          </a:p>
        </p:txBody>
      </p:sp>
      <p:sp>
        <p:nvSpPr>
          <p:cNvPr id="19" name="Text 15"/>
          <p:cNvSpPr/>
          <p:nvPr/>
        </p:nvSpPr>
        <p:spPr>
          <a:xfrm>
            <a:off x="228600" y="3060353"/>
            <a:ext cx="8686800" cy="910382"/>
          </a:xfrm>
          <a:prstGeom prst="roundRect">
            <a:avLst>
              <a:gd name="adj" fmla="val 8370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6"/>
          <p:cNvSpPr/>
          <p:nvPr/>
        </p:nvSpPr>
        <p:spPr>
          <a:xfrm>
            <a:off x="342900" y="3174653"/>
            <a:ext cx="862736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🔗 Knowledge Graph Structure:</a:t>
            </a:r>
            <a:endParaRPr lang="en-US" sz="825" dirty="0"/>
          </a:p>
        </p:txBody>
      </p:sp>
      <p:sp>
        <p:nvSpPr>
          <p:cNvPr id="21" name="Text 17"/>
          <p:cNvSpPr/>
          <p:nvPr/>
        </p:nvSpPr>
        <p:spPr>
          <a:xfrm>
            <a:off x="2568476" y="3477369"/>
            <a:ext cx="864096" cy="298996"/>
          </a:xfrm>
          <a:prstGeom prst="roundRect">
            <a:avLst>
              <a:gd name="adj" fmla="val 25485"/>
            </a:avLst>
          </a:prstGeom>
          <a:solidFill>
            <a:srgbClr val="0891B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8"/>
          <p:cNvSpPr/>
          <p:nvPr/>
        </p:nvSpPr>
        <p:spPr>
          <a:xfrm>
            <a:off x="2720876" y="3553569"/>
            <a:ext cx="57048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Sarah Chen</a:t>
            </a:r>
            <a:endParaRPr lang="en-US" sz="825" dirty="0"/>
          </a:p>
        </p:txBody>
      </p:sp>
      <p:sp>
        <p:nvSpPr>
          <p:cNvPr id="23" name="Text 19"/>
          <p:cNvSpPr/>
          <p:nvPr/>
        </p:nvSpPr>
        <p:spPr>
          <a:xfrm>
            <a:off x="3584972" y="3397448"/>
            <a:ext cx="42292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is_CEO_of</a:t>
            </a:r>
            <a:endParaRPr lang="en-US" sz="675" dirty="0"/>
          </a:p>
        </p:txBody>
      </p:sp>
      <p:sp>
        <p:nvSpPr>
          <p:cNvPr id="24" name="Text 20"/>
          <p:cNvSpPr/>
          <p:nvPr/>
        </p:nvSpPr>
        <p:spPr>
          <a:xfrm>
            <a:off x="3725614" y="3669804"/>
            <a:ext cx="13601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50" dirty="0"/>
          </a:p>
        </p:txBody>
      </p:sp>
      <p:sp>
        <p:nvSpPr>
          <p:cNvPr id="25" name="Text 21"/>
          <p:cNvSpPr/>
          <p:nvPr/>
        </p:nvSpPr>
        <p:spPr>
          <a:xfrm>
            <a:off x="4152007" y="3477369"/>
            <a:ext cx="753219" cy="298996"/>
          </a:xfrm>
          <a:prstGeom prst="roundRect">
            <a:avLst>
              <a:gd name="adj" fmla="val 25485"/>
            </a:avLst>
          </a:prstGeom>
          <a:solidFill>
            <a:srgbClr val="8B5C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2"/>
          <p:cNvSpPr/>
          <p:nvPr/>
        </p:nvSpPr>
        <p:spPr>
          <a:xfrm>
            <a:off x="4304407" y="3553569"/>
            <a:ext cx="45738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TechCorp</a:t>
            </a:r>
            <a:endParaRPr lang="en-US" sz="825" dirty="0"/>
          </a:p>
        </p:txBody>
      </p:sp>
      <p:sp>
        <p:nvSpPr>
          <p:cNvPr id="27" name="Text 23"/>
          <p:cNvSpPr/>
          <p:nvPr/>
        </p:nvSpPr>
        <p:spPr>
          <a:xfrm>
            <a:off x="5057626" y="3397448"/>
            <a:ext cx="39879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located_in</a:t>
            </a:r>
            <a:endParaRPr lang="en-US" sz="675" dirty="0"/>
          </a:p>
        </p:txBody>
      </p:sp>
      <p:sp>
        <p:nvSpPr>
          <p:cNvPr id="28" name="Text 24"/>
          <p:cNvSpPr/>
          <p:nvPr/>
        </p:nvSpPr>
        <p:spPr>
          <a:xfrm>
            <a:off x="5186363" y="3669804"/>
            <a:ext cx="13601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50" dirty="0"/>
          </a:p>
        </p:txBody>
      </p:sp>
      <p:sp>
        <p:nvSpPr>
          <p:cNvPr id="29" name="Text 25"/>
          <p:cNvSpPr/>
          <p:nvPr/>
        </p:nvSpPr>
        <p:spPr>
          <a:xfrm>
            <a:off x="5600998" y="3477369"/>
            <a:ext cx="974527" cy="298996"/>
          </a:xfrm>
          <a:prstGeom prst="roundRect">
            <a:avLst>
              <a:gd name="adj" fmla="val 25485"/>
            </a:avLst>
          </a:prstGeom>
          <a:solidFill>
            <a:srgbClr val="22C55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6"/>
          <p:cNvSpPr/>
          <p:nvPr/>
        </p:nvSpPr>
        <p:spPr>
          <a:xfrm>
            <a:off x="5753398" y="3553569"/>
            <a:ext cx="68312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Francisco</a:t>
            </a:r>
            <a:endParaRPr lang="en-US" sz="825" dirty="0"/>
          </a:p>
        </p:txBody>
      </p:sp>
      <p:sp>
        <p:nvSpPr>
          <p:cNvPr id="31" name="Text 27"/>
          <p:cNvSpPr/>
          <p:nvPr/>
        </p:nvSpPr>
        <p:spPr>
          <a:xfrm>
            <a:off x="228600" y="4123134"/>
            <a:ext cx="8686800" cy="323850"/>
          </a:xfrm>
          <a:prstGeom prst="roundRect">
            <a:avLst>
              <a:gd name="adj" fmla="val 23529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8"/>
          <p:cNvSpPr/>
          <p:nvPr/>
        </p:nvSpPr>
        <p:spPr>
          <a:xfrm>
            <a:off x="323850" y="4218384"/>
            <a:ext cx="86662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Tools:</a:t>
            </a:r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Neo4j, LangChain GraphRetriever, LlamaIndex KnowledgeGraphIndex, Microsoft GraphRAG</a:t>
            </a:r>
            <a:endParaRPr lang="en-US" sz="750" dirty="0"/>
          </a:p>
        </p:txBody>
      </p:sp>
      <p:sp>
        <p:nvSpPr>
          <p:cNvPr id="33" name="Text 29"/>
          <p:cNvSpPr/>
          <p:nvPr/>
        </p:nvSpPr>
        <p:spPr>
          <a:xfrm>
            <a:off x="228600" y="4781550"/>
            <a:ext cx="135197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15 - Day 2 | AI Bootcamp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621953"/>
            <a:ext cx="475088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✂️ Advanced Chunking Strategies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228600" y="1174403"/>
            <a:ext cx="2779663" cy="1143000"/>
          </a:xfrm>
          <a:prstGeom prst="roundRect">
            <a:avLst>
              <a:gd name="adj" fmla="val 6667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228600" y="1188690"/>
            <a:ext cx="2779663" cy="0"/>
          </a:xfrm>
          <a:prstGeom prst="line">
            <a:avLst/>
          </a:prstGeom>
          <a:noFill/>
          <a:ln w="28575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2900" y="1317278"/>
            <a:ext cx="260208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📏 Fixed-Size Chunking</a:t>
            </a:r>
            <a:endParaRPr lang="en-US" sz="825" dirty="0"/>
          </a:p>
        </p:txBody>
      </p:sp>
      <p:sp>
        <p:nvSpPr>
          <p:cNvPr id="6" name="Text 4"/>
          <p:cNvSpPr/>
          <p:nvPr/>
        </p:nvSpPr>
        <p:spPr>
          <a:xfrm>
            <a:off x="342900" y="1521023"/>
            <a:ext cx="260208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300"/>
              </a:spcAft>
              <a:buNone/>
            </a:pPr>
            <a:r>
              <a:rPr lang="en-US" sz="67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by character count</a:t>
            </a:r>
            <a:endParaRPr lang="en-US" sz="675" dirty="0"/>
          </a:p>
        </p:txBody>
      </p:sp>
      <p:sp>
        <p:nvSpPr>
          <p:cNvPr id="7" name="Text 5"/>
          <p:cNvSpPr/>
          <p:nvPr/>
        </p:nvSpPr>
        <p:spPr>
          <a:xfrm>
            <a:off x="342900" y="1679079"/>
            <a:ext cx="260208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150"/>
              </a:spcAft>
              <a:buNone/>
            </a:pPr>
            <a:r>
              <a:rPr lang="en-US" sz="675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Simple, predictable</a:t>
            </a:r>
            <a:endParaRPr lang="en-US" sz="675" dirty="0"/>
          </a:p>
        </p:txBody>
      </p:sp>
      <p:sp>
        <p:nvSpPr>
          <p:cNvPr id="8" name="Text 6"/>
          <p:cNvSpPr/>
          <p:nvPr/>
        </p:nvSpPr>
        <p:spPr>
          <a:xfrm>
            <a:off x="342900" y="1818084"/>
            <a:ext cx="260208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May break sentences</a:t>
            </a:r>
            <a:endParaRPr lang="en-US" sz="675" dirty="0"/>
          </a:p>
        </p:txBody>
      </p:sp>
      <p:sp>
        <p:nvSpPr>
          <p:cNvPr id="9" name="Text 7"/>
          <p:cNvSpPr/>
          <p:nvPr/>
        </p:nvSpPr>
        <p:spPr>
          <a:xfrm>
            <a:off x="3160663" y="1174403"/>
            <a:ext cx="2779663" cy="1143000"/>
          </a:xfrm>
          <a:prstGeom prst="roundRect">
            <a:avLst>
              <a:gd name="adj" fmla="val 6667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3160663" y="1188690"/>
            <a:ext cx="2779663" cy="0"/>
          </a:xfrm>
          <a:prstGeom prst="line">
            <a:avLst/>
          </a:prstGeom>
          <a:noFill/>
          <a:ln w="28575">
            <a:solidFill>
              <a:srgbClr val="F9731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74963" y="1317278"/>
            <a:ext cx="260208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Semantic Chunking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3274963" y="1521023"/>
            <a:ext cx="260208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300"/>
              </a:spcAft>
              <a:buNone/>
            </a:pPr>
            <a:r>
              <a:rPr lang="en-US" sz="67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by meaning/topics</a:t>
            </a:r>
            <a:endParaRPr lang="en-US" sz="675" dirty="0"/>
          </a:p>
        </p:txBody>
      </p:sp>
      <p:sp>
        <p:nvSpPr>
          <p:cNvPr id="13" name="Text 11"/>
          <p:cNvSpPr/>
          <p:nvPr/>
        </p:nvSpPr>
        <p:spPr>
          <a:xfrm>
            <a:off x="3274963" y="1679079"/>
            <a:ext cx="260208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150"/>
              </a:spcAft>
              <a:buNone/>
            </a:pPr>
            <a:r>
              <a:rPr lang="en-US" sz="675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Preserves context</a:t>
            </a:r>
            <a:endParaRPr lang="en-US" sz="675" dirty="0"/>
          </a:p>
        </p:txBody>
      </p:sp>
      <p:sp>
        <p:nvSpPr>
          <p:cNvPr id="14" name="Text 12"/>
          <p:cNvSpPr/>
          <p:nvPr/>
        </p:nvSpPr>
        <p:spPr>
          <a:xfrm>
            <a:off x="3274963" y="1818084"/>
            <a:ext cx="260208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Variable chunk sizes</a:t>
            </a:r>
            <a:endParaRPr lang="en-US" sz="675" dirty="0"/>
          </a:p>
        </p:txBody>
      </p:sp>
      <p:pic>
        <p:nvPicPr>
          <p:cNvPr id="15" name="Image 0" descr="/tmp/rasterized-gradient-9fe121d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2726" y="1174403"/>
            <a:ext cx="2779663" cy="114300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6207026" y="1317278"/>
            <a:ext cx="260208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🌳 Hierarchical Chunking</a:t>
            </a:r>
            <a:endParaRPr lang="en-US" sz="825" dirty="0"/>
          </a:p>
        </p:txBody>
      </p:sp>
      <p:sp>
        <p:nvSpPr>
          <p:cNvPr id="17" name="Text 14"/>
          <p:cNvSpPr/>
          <p:nvPr/>
        </p:nvSpPr>
        <p:spPr>
          <a:xfrm>
            <a:off x="6207026" y="1521023"/>
            <a:ext cx="260208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300"/>
              </a:spcAft>
              <a:buNone/>
            </a:pPr>
            <a:r>
              <a:rPr lang="en-US" sz="67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Parent-child relationships</a:t>
            </a:r>
            <a:endParaRPr lang="en-US" sz="675" dirty="0"/>
          </a:p>
        </p:txBody>
      </p:sp>
      <p:sp>
        <p:nvSpPr>
          <p:cNvPr id="18" name="Text 15"/>
          <p:cNvSpPr/>
          <p:nvPr/>
        </p:nvSpPr>
        <p:spPr>
          <a:xfrm>
            <a:off x="6207026" y="1679079"/>
            <a:ext cx="260208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150"/>
              </a:spcAft>
              <a:buNone/>
            </a:pPr>
            <a:r>
              <a:rPr lang="en-US" sz="675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Multi-level context</a:t>
            </a:r>
            <a:endParaRPr lang="en-US" sz="675" dirty="0"/>
          </a:p>
        </p:txBody>
      </p:sp>
      <p:sp>
        <p:nvSpPr>
          <p:cNvPr id="19" name="Text 16"/>
          <p:cNvSpPr/>
          <p:nvPr/>
        </p:nvSpPr>
        <p:spPr>
          <a:xfrm>
            <a:off x="6207026" y="1818084"/>
            <a:ext cx="260208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More complex setup</a:t>
            </a:r>
            <a:endParaRPr lang="en-US" sz="675" dirty="0"/>
          </a:p>
        </p:txBody>
      </p:sp>
      <p:sp>
        <p:nvSpPr>
          <p:cNvPr id="20" name="Text 17"/>
          <p:cNvSpPr/>
          <p:nvPr/>
        </p:nvSpPr>
        <p:spPr>
          <a:xfrm>
            <a:off x="228600" y="2469803"/>
            <a:ext cx="8686800" cy="1232446"/>
          </a:xfrm>
          <a:prstGeom prst="roundRect">
            <a:avLst>
              <a:gd name="adj" fmla="val 6183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342900" y="2584103"/>
            <a:ext cx="862736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🌳 Parent Document Retriever (Recommended):</a:t>
            </a:r>
            <a:endParaRPr lang="en-US" sz="825" dirty="0"/>
          </a:p>
        </p:txBody>
      </p:sp>
      <p:sp>
        <p:nvSpPr>
          <p:cNvPr id="22" name="Text 19"/>
          <p:cNvSpPr/>
          <p:nvPr/>
        </p:nvSpPr>
        <p:spPr>
          <a:xfrm>
            <a:off x="342900" y="2858393"/>
            <a:ext cx="2537371" cy="285750"/>
          </a:xfrm>
          <a:prstGeom prst="roundRect">
            <a:avLst>
              <a:gd name="adj" fmla="val 26667"/>
            </a:avLst>
          </a:prstGeom>
          <a:solidFill>
            <a:srgbClr val="8B5C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395250" y="2934593"/>
            <a:ext cx="243267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Parent Chunk (1000 chars)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874663" y="3353693"/>
            <a:ext cx="389632" cy="182761"/>
          </a:xfrm>
          <a:prstGeom prst="roundRect">
            <a:avLst>
              <a:gd name="adj" fmla="val 41694"/>
            </a:avLst>
          </a:prstGeom>
          <a:solidFill>
            <a:srgbClr val="0891B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950863" y="3391793"/>
            <a:ext cx="241977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Child 1</a:t>
            </a:r>
            <a:endParaRPr lang="en-US" sz="600" dirty="0"/>
          </a:p>
        </p:txBody>
      </p:sp>
      <p:sp>
        <p:nvSpPr>
          <p:cNvPr id="26" name="Text 23"/>
          <p:cNvSpPr/>
          <p:nvPr/>
        </p:nvSpPr>
        <p:spPr>
          <a:xfrm>
            <a:off x="1416695" y="3353693"/>
            <a:ext cx="389632" cy="182761"/>
          </a:xfrm>
          <a:prstGeom prst="roundRect">
            <a:avLst>
              <a:gd name="adj" fmla="val 41694"/>
            </a:avLst>
          </a:prstGeom>
          <a:solidFill>
            <a:srgbClr val="0891B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1492895" y="3391793"/>
            <a:ext cx="241977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Child 2</a:t>
            </a:r>
            <a:endParaRPr lang="en-US" sz="600" dirty="0"/>
          </a:p>
        </p:txBody>
      </p:sp>
      <p:sp>
        <p:nvSpPr>
          <p:cNvPr id="28" name="Text 25"/>
          <p:cNvSpPr/>
          <p:nvPr/>
        </p:nvSpPr>
        <p:spPr>
          <a:xfrm>
            <a:off x="1958727" y="3353693"/>
            <a:ext cx="389632" cy="182761"/>
          </a:xfrm>
          <a:prstGeom prst="roundRect">
            <a:avLst>
              <a:gd name="adj" fmla="val 41694"/>
            </a:avLst>
          </a:prstGeom>
          <a:solidFill>
            <a:srgbClr val="0891B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2034927" y="3391793"/>
            <a:ext cx="241977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Child 3</a:t>
            </a:r>
            <a:endParaRPr lang="en-US" sz="600" dirty="0"/>
          </a:p>
        </p:txBody>
      </p:sp>
      <p:sp>
        <p:nvSpPr>
          <p:cNvPr id="30" name="Text 27"/>
          <p:cNvSpPr/>
          <p:nvPr/>
        </p:nvSpPr>
        <p:spPr>
          <a:xfrm>
            <a:off x="3032671" y="2806898"/>
            <a:ext cx="560766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Search:</a:t>
            </a:r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Match query against small child chunks (precise)</a:t>
            </a:r>
            <a:endParaRPr lang="en-US" sz="750" dirty="0"/>
          </a:p>
        </p:txBody>
      </p:sp>
      <p:sp>
        <p:nvSpPr>
          <p:cNvPr id="31" name="Text 28"/>
          <p:cNvSpPr/>
          <p:nvPr/>
        </p:nvSpPr>
        <p:spPr>
          <a:xfrm>
            <a:off x="3032671" y="3130748"/>
            <a:ext cx="560766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Return:</a:t>
            </a:r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Send parent chunk to LLM (full context)</a:t>
            </a:r>
            <a:endParaRPr lang="en-US" sz="750" dirty="0"/>
          </a:p>
        </p:txBody>
      </p:sp>
      <p:sp>
        <p:nvSpPr>
          <p:cNvPr id="32" name="Text 29"/>
          <p:cNvSpPr/>
          <p:nvPr/>
        </p:nvSpPr>
        <p:spPr>
          <a:xfrm>
            <a:off x="3032671" y="3454598"/>
            <a:ext cx="560766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Best of both: precise search + rich context!</a:t>
            </a:r>
            <a:endParaRPr lang="en-US" sz="750" dirty="0"/>
          </a:p>
        </p:txBody>
      </p:sp>
      <p:sp>
        <p:nvSpPr>
          <p:cNvPr id="33" name="Text 30"/>
          <p:cNvSpPr/>
          <p:nvPr/>
        </p:nvSpPr>
        <p:spPr>
          <a:xfrm>
            <a:off x="228600" y="3854648"/>
            <a:ext cx="8686800" cy="323850"/>
          </a:xfrm>
          <a:prstGeom prst="roundRect">
            <a:avLst>
              <a:gd name="adj" fmla="val 23529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1"/>
          <p:cNvSpPr/>
          <p:nvPr/>
        </p:nvSpPr>
        <p:spPr>
          <a:xfrm>
            <a:off x="323850" y="3949898"/>
            <a:ext cx="86662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Pro Tip:</a:t>
            </a:r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code - chunk by functions. For docs - chunk by sections. For legal - chunk by paragraphs.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228600" y="4781550"/>
            <a:ext cx="135197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15 - Day 2 | AI Bootcamp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540395"/>
            <a:ext cx="516864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 Query Transformation Techniques</a:t>
            </a:r>
            <a:endParaRPr lang="en-US" sz="2250" dirty="0"/>
          </a:p>
        </p:txBody>
      </p:sp>
      <p:pic>
        <p:nvPicPr>
          <p:cNvPr id="3" name="Image 0" descr="/tmp/rasterized-gradient-a4d608f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092845"/>
            <a:ext cx="8686800" cy="6113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1950" y="1226195"/>
            <a:ext cx="858850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Why Transform Queries?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361950" y="1424285"/>
            <a:ext cx="858850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queries are often vague, incomplete, or poorly worded. Transforming them improves retrieval!</a:t>
            </a:r>
            <a:endParaRPr lang="en-US" sz="825" dirty="0"/>
          </a:p>
        </p:txBody>
      </p:sp>
      <p:sp>
        <p:nvSpPr>
          <p:cNvPr id="6" name="Text 3"/>
          <p:cNvSpPr/>
          <p:nvPr/>
        </p:nvSpPr>
        <p:spPr>
          <a:xfrm>
            <a:off x="228600" y="1856631"/>
            <a:ext cx="4169569" cy="653207"/>
          </a:xfrm>
          <a:prstGeom prst="roundRect">
            <a:avLst>
              <a:gd name="adj" fmla="val 11666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4"/>
          <p:cNvSpPr/>
          <p:nvPr/>
        </p:nvSpPr>
        <p:spPr>
          <a:xfrm>
            <a:off x="247650" y="1856631"/>
            <a:ext cx="0" cy="653207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61950" y="1951881"/>
            <a:ext cx="401978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Query Rewriting</a:t>
            </a:r>
            <a:endParaRPr lang="en-US" sz="825" dirty="0"/>
          </a:p>
        </p:txBody>
      </p:sp>
      <p:sp>
        <p:nvSpPr>
          <p:cNvPr id="9" name="Text 6"/>
          <p:cNvSpPr/>
          <p:nvPr/>
        </p:nvSpPr>
        <p:spPr>
          <a:xfrm>
            <a:off x="361950" y="2155627"/>
            <a:ext cx="401978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Original: "how leave?"</a:t>
            </a:r>
            <a:endParaRPr lang="en-US" sz="675" dirty="0"/>
          </a:p>
        </p:txBody>
      </p:sp>
      <p:sp>
        <p:nvSpPr>
          <p:cNvPr id="10" name="Text 7"/>
          <p:cNvSpPr/>
          <p:nvPr/>
        </p:nvSpPr>
        <p:spPr>
          <a:xfrm>
            <a:off x="361950" y="2294632"/>
            <a:ext cx="401978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Rewritten: "What is the company's annual leave policy and how many days do employees get?"</a:t>
            </a:r>
            <a:endParaRPr lang="en-US" sz="675" dirty="0"/>
          </a:p>
        </p:txBody>
      </p:sp>
      <p:sp>
        <p:nvSpPr>
          <p:cNvPr id="11" name="Text 8"/>
          <p:cNvSpPr/>
          <p:nvPr/>
        </p:nvSpPr>
        <p:spPr>
          <a:xfrm>
            <a:off x="228600" y="2662238"/>
            <a:ext cx="4169569" cy="653207"/>
          </a:xfrm>
          <a:prstGeom prst="roundRect">
            <a:avLst>
              <a:gd name="adj" fmla="val 11666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9"/>
          <p:cNvSpPr/>
          <p:nvPr/>
        </p:nvSpPr>
        <p:spPr>
          <a:xfrm>
            <a:off x="247650" y="2662238"/>
            <a:ext cx="0" cy="653207"/>
          </a:xfrm>
          <a:prstGeom prst="line">
            <a:avLst/>
          </a:prstGeom>
          <a:noFill/>
          <a:ln w="38100">
            <a:solidFill>
              <a:srgbClr val="8B5CF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61950" y="2757488"/>
            <a:ext cx="401978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🔀 Multi-Query Generation</a:t>
            </a:r>
            <a:endParaRPr lang="en-US" sz="825" dirty="0"/>
          </a:p>
        </p:txBody>
      </p:sp>
      <p:sp>
        <p:nvSpPr>
          <p:cNvPr id="14" name="Text 11"/>
          <p:cNvSpPr/>
          <p:nvPr/>
        </p:nvSpPr>
        <p:spPr>
          <a:xfrm>
            <a:off x="361950" y="2961233"/>
            <a:ext cx="401978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Original: "benefits info"</a:t>
            </a:r>
            <a:endParaRPr lang="en-US" sz="675" dirty="0"/>
          </a:p>
        </p:txBody>
      </p:sp>
      <p:sp>
        <p:nvSpPr>
          <p:cNvPr id="15" name="Text 12"/>
          <p:cNvSpPr/>
          <p:nvPr/>
        </p:nvSpPr>
        <p:spPr>
          <a:xfrm>
            <a:off x="361950" y="3100239"/>
            <a:ext cx="401978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Queries: ["health insurance plans", "dental coverage", "retirement benefits", "paid time off"]</a:t>
            </a:r>
            <a:endParaRPr lang="en-US" sz="675" dirty="0"/>
          </a:p>
        </p:txBody>
      </p:sp>
      <p:sp>
        <p:nvSpPr>
          <p:cNvPr id="16" name="Text 13"/>
          <p:cNvSpPr/>
          <p:nvPr/>
        </p:nvSpPr>
        <p:spPr>
          <a:xfrm>
            <a:off x="4550569" y="1856631"/>
            <a:ext cx="4169569" cy="653207"/>
          </a:xfrm>
          <a:prstGeom prst="roundRect">
            <a:avLst>
              <a:gd name="adj" fmla="val 11666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4"/>
          <p:cNvSpPr/>
          <p:nvPr/>
        </p:nvSpPr>
        <p:spPr>
          <a:xfrm>
            <a:off x="4569619" y="1856631"/>
            <a:ext cx="0" cy="653207"/>
          </a:xfrm>
          <a:prstGeom prst="line">
            <a:avLst/>
          </a:prstGeom>
          <a:noFill/>
          <a:ln w="38100">
            <a:solidFill>
              <a:srgbClr val="22D3E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683919" y="1951881"/>
            <a:ext cx="401978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HyDE (Hypothetical Document)</a:t>
            </a:r>
            <a:endParaRPr lang="en-US" sz="825" dirty="0"/>
          </a:p>
        </p:txBody>
      </p:sp>
      <p:sp>
        <p:nvSpPr>
          <p:cNvPr id="19" name="Text 16"/>
          <p:cNvSpPr/>
          <p:nvPr/>
        </p:nvSpPr>
        <p:spPr>
          <a:xfrm>
            <a:off x="4683919" y="2155627"/>
            <a:ext cx="401978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a hypothetical answer first, then search for similar real docs</a:t>
            </a:r>
            <a:endParaRPr lang="en-US" sz="675" dirty="0"/>
          </a:p>
        </p:txBody>
      </p:sp>
      <p:sp>
        <p:nvSpPr>
          <p:cNvPr id="20" name="Text 17"/>
          <p:cNvSpPr/>
          <p:nvPr/>
        </p:nvSpPr>
        <p:spPr>
          <a:xfrm>
            <a:off x="4683919" y="2294632"/>
            <a:ext cx="401978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embedding match!</a:t>
            </a:r>
            <a:endParaRPr lang="en-US" sz="675" dirty="0"/>
          </a:p>
        </p:txBody>
      </p:sp>
      <p:sp>
        <p:nvSpPr>
          <p:cNvPr id="21" name="Text 18"/>
          <p:cNvSpPr/>
          <p:nvPr/>
        </p:nvSpPr>
        <p:spPr>
          <a:xfrm>
            <a:off x="4550569" y="2662238"/>
            <a:ext cx="4169569" cy="653207"/>
          </a:xfrm>
          <a:prstGeom prst="roundRect">
            <a:avLst>
              <a:gd name="adj" fmla="val 11666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19"/>
          <p:cNvSpPr/>
          <p:nvPr/>
        </p:nvSpPr>
        <p:spPr>
          <a:xfrm>
            <a:off x="4569619" y="2662238"/>
            <a:ext cx="0" cy="653207"/>
          </a:xfrm>
          <a:prstGeom prst="line">
            <a:avLst/>
          </a:prstGeom>
          <a:noFill/>
          <a:ln w="38100">
            <a:solidFill>
              <a:srgbClr val="22C55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683919" y="2757488"/>
            <a:ext cx="401978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Step-Back Prompting</a:t>
            </a:r>
            <a:endParaRPr lang="en-US" sz="825" dirty="0"/>
          </a:p>
        </p:txBody>
      </p:sp>
      <p:sp>
        <p:nvSpPr>
          <p:cNvPr id="24" name="Text 21"/>
          <p:cNvSpPr/>
          <p:nvPr/>
        </p:nvSpPr>
        <p:spPr>
          <a:xfrm>
            <a:off x="4683919" y="2961233"/>
            <a:ext cx="401978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Original: "Why did sales drop in Q3?"</a:t>
            </a:r>
            <a:endParaRPr lang="en-US" sz="675" dirty="0"/>
          </a:p>
        </p:txBody>
      </p:sp>
      <p:sp>
        <p:nvSpPr>
          <p:cNvPr id="25" name="Text 22"/>
          <p:cNvSpPr/>
          <p:nvPr/>
        </p:nvSpPr>
        <p:spPr>
          <a:xfrm>
            <a:off x="4683919" y="3100239"/>
            <a:ext cx="401978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Step-back: "What factors affect quarterly sales performance?"</a:t>
            </a:r>
            <a:endParaRPr lang="en-US" sz="675" dirty="0"/>
          </a:p>
        </p:txBody>
      </p:sp>
      <p:sp>
        <p:nvSpPr>
          <p:cNvPr id="26" name="Text 23"/>
          <p:cNvSpPr/>
          <p:nvPr/>
        </p:nvSpPr>
        <p:spPr>
          <a:xfrm>
            <a:off x="228600" y="3467844"/>
            <a:ext cx="8686800" cy="792361"/>
          </a:xfrm>
          <a:prstGeom prst="roundRect">
            <a:avLst>
              <a:gd name="adj" fmla="val 9617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323850" y="3563094"/>
            <a:ext cx="86662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75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💻 LangChain Implementation:</a:t>
            </a:r>
            <a:endParaRPr lang="en-US" sz="750" dirty="0"/>
          </a:p>
        </p:txBody>
      </p:sp>
      <p:sp>
        <p:nvSpPr>
          <p:cNvPr id="28" name="Text 25"/>
          <p:cNvSpPr/>
          <p:nvPr/>
        </p:nvSpPr>
        <p:spPr>
          <a:xfrm>
            <a:off x="323850" y="3753594"/>
            <a:ext cx="8496300" cy="411361"/>
          </a:xfrm>
          <a:prstGeom prst="roundRect">
            <a:avLst>
              <a:gd name="adj" fmla="val 18524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400050" y="3829794"/>
            <a:ext cx="851077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langchain.retrievers import MultiQueryRetriever</a:t>
            </a:r>
            <a:endParaRPr lang="en-US" sz="675" dirty="0"/>
          </a:p>
        </p:txBody>
      </p:sp>
      <p:sp>
        <p:nvSpPr>
          <p:cNvPr id="30" name="Text 27"/>
          <p:cNvSpPr/>
          <p:nvPr/>
        </p:nvSpPr>
        <p:spPr>
          <a:xfrm>
            <a:off x="400050" y="3968800"/>
            <a:ext cx="851077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retriever = MultiQueryRetriever.from_llm(vectorstore.as_retriever(), llm)</a:t>
            </a:r>
            <a:endParaRPr lang="en-US" sz="675" dirty="0"/>
          </a:p>
        </p:txBody>
      </p:sp>
      <p:sp>
        <p:nvSpPr>
          <p:cNvPr id="31" name="Text 28"/>
          <p:cNvSpPr/>
          <p:nvPr/>
        </p:nvSpPr>
        <p:spPr>
          <a:xfrm>
            <a:off x="228600" y="4781550"/>
            <a:ext cx="135197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15 - Day 2 | AI Bootcamp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638175"/>
            <a:ext cx="4857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Scaling RAG for Large Datasets</a:t>
            </a:r>
            <a:endParaRPr lang="en-US" sz="2250" dirty="0"/>
          </a:p>
        </p:txBody>
      </p:sp>
      <p:pic>
        <p:nvPicPr>
          <p:cNvPr id="3" name="Image 0" descr="/tmp/rasterized-gradient-bd45f48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190625"/>
            <a:ext cx="8686800" cy="56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1000" y="1304925"/>
            <a:ext cx="858850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The Scaling Challenge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381000" y="1503015"/>
            <a:ext cx="858850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10K docs? Easy. 1M docs? Need strategies. 100M docs? Need infrastructure!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228600" y="1903065"/>
            <a:ext cx="2779663" cy="1333500"/>
          </a:xfrm>
          <a:prstGeom prst="roundRect">
            <a:avLst>
              <a:gd name="adj" fmla="val 5714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4"/>
          <p:cNvSpPr/>
          <p:nvPr/>
        </p:nvSpPr>
        <p:spPr>
          <a:xfrm>
            <a:off x="228600" y="1917353"/>
            <a:ext cx="2779663" cy="0"/>
          </a:xfrm>
          <a:prstGeom prst="line">
            <a:avLst/>
          </a:prstGeom>
          <a:noFill/>
          <a:ln w="28575">
            <a:solidFill>
              <a:srgbClr val="0891B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42900" y="2045940"/>
            <a:ext cx="260208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🗂️ Metadata Filtering</a:t>
            </a:r>
            <a:endParaRPr lang="en-US" sz="825" dirty="0"/>
          </a:p>
        </p:txBody>
      </p:sp>
      <p:sp>
        <p:nvSpPr>
          <p:cNvPr id="9" name="Text 6"/>
          <p:cNvSpPr/>
          <p:nvPr/>
        </p:nvSpPr>
        <p:spPr>
          <a:xfrm>
            <a:off x="342900" y="2268736"/>
            <a:ext cx="260208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300"/>
              </a:spcAft>
              <a:buNone/>
            </a:pPr>
            <a:r>
              <a:rPr lang="en-US" sz="67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Pre-filter by category, date, source before vector search</a:t>
            </a:r>
            <a:endParaRPr lang="en-US" sz="675" dirty="0"/>
          </a:p>
        </p:txBody>
      </p:sp>
      <p:sp>
        <p:nvSpPr>
          <p:cNvPr id="10" name="Text 7"/>
          <p:cNvSpPr/>
          <p:nvPr/>
        </p:nvSpPr>
        <p:spPr>
          <a:xfrm>
            <a:off x="342900" y="2426791"/>
            <a:ext cx="260208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300"/>
              </a:spcAft>
              <a:buNone/>
            </a:pPr>
            <a:r>
              <a:rPr lang="en-US" sz="675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Reduces search space</a:t>
            </a:r>
            <a:endParaRPr lang="en-US" sz="675" dirty="0"/>
          </a:p>
        </p:txBody>
      </p:sp>
      <p:sp>
        <p:nvSpPr>
          <p:cNvPr id="11" name="Text 8"/>
          <p:cNvSpPr/>
          <p:nvPr/>
        </p:nvSpPr>
        <p:spPr>
          <a:xfrm>
            <a:off x="342900" y="2584847"/>
            <a:ext cx="260208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Filter by department first</a:t>
            </a:r>
            <a:endParaRPr lang="en-US" sz="675" dirty="0"/>
          </a:p>
        </p:txBody>
      </p:sp>
      <p:sp>
        <p:nvSpPr>
          <p:cNvPr id="12" name="Text 9"/>
          <p:cNvSpPr/>
          <p:nvPr/>
        </p:nvSpPr>
        <p:spPr>
          <a:xfrm>
            <a:off x="3160663" y="1903065"/>
            <a:ext cx="2779663" cy="1333500"/>
          </a:xfrm>
          <a:prstGeom prst="roundRect">
            <a:avLst>
              <a:gd name="adj" fmla="val 5714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0"/>
          <p:cNvSpPr/>
          <p:nvPr/>
        </p:nvSpPr>
        <p:spPr>
          <a:xfrm>
            <a:off x="3160663" y="1917353"/>
            <a:ext cx="2779663" cy="0"/>
          </a:xfrm>
          <a:prstGeom prst="line">
            <a:avLst/>
          </a:prstGeom>
          <a:noFill/>
          <a:ln w="28575">
            <a:solidFill>
              <a:srgbClr val="F9731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274963" y="2045940"/>
            <a:ext cx="260208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🔀 Index Sharding</a:t>
            </a:r>
            <a:endParaRPr lang="en-US" sz="825" dirty="0"/>
          </a:p>
        </p:txBody>
      </p:sp>
      <p:sp>
        <p:nvSpPr>
          <p:cNvPr id="15" name="Text 12"/>
          <p:cNvSpPr/>
          <p:nvPr/>
        </p:nvSpPr>
        <p:spPr>
          <a:xfrm>
            <a:off x="3274963" y="2268736"/>
            <a:ext cx="260208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300"/>
              </a:spcAft>
              <a:buNone/>
            </a:pPr>
            <a:r>
              <a:rPr lang="en-US" sz="67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index across multiple nodes</a:t>
            </a:r>
            <a:endParaRPr lang="en-US" sz="675" dirty="0"/>
          </a:p>
        </p:txBody>
      </p:sp>
      <p:sp>
        <p:nvSpPr>
          <p:cNvPr id="16" name="Text 13"/>
          <p:cNvSpPr/>
          <p:nvPr/>
        </p:nvSpPr>
        <p:spPr>
          <a:xfrm>
            <a:off x="3274963" y="2426791"/>
            <a:ext cx="260208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300"/>
              </a:spcAft>
              <a:buNone/>
            </a:pPr>
            <a:r>
              <a:rPr lang="en-US" sz="675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Parallel search</a:t>
            </a:r>
            <a:endParaRPr lang="en-US" sz="675" dirty="0"/>
          </a:p>
        </p:txBody>
      </p:sp>
      <p:sp>
        <p:nvSpPr>
          <p:cNvPr id="17" name="Text 14"/>
          <p:cNvSpPr/>
          <p:nvPr/>
        </p:nvSpPr>
        <p:spPr>
          <a:xfrm>
            <a:off x="3274963" y="2584847"/>
            <a:ext cx="260208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Shard by topic, time, region</a:t>
            </a:r>
            <a:endParaRPr lang="en-US" sz="675" dirty="0"/>
          </a:p>
        </p:txBody>
      </p:sp>
      <p:sp>
        <p:nvSpPr>
          <p:cNvPr id="18" name="Text 15"/>
          <p:cNvSpPr/>
          <p:nvPr/>
        </p:nvSpPr>
        <p:spPr>
          <a:xfrm>
            <a:off x="6092726" y="1903065"/>
            <a:ext cx="2779663" cy="1333500"/>
          </a:xfrm>
          <a:prstGeom prst="roundRect">
            <a:avLst>
              <a:gd name="adj" fmla="val 5714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6"/>
          <p:cNvSpPr/>
          <p:nvPr/>
        </p:nvSpPr>
        <p:spPr>
          <a:xfrm>
            <a:off x="6092726" y="1917353"/>
            <a:ext cx="2779663" cy="0"/>
          </a:xfrm>
          <a:prstGeom prst="line">
            <a:avLst/>
          </a:prstGeom>
          <a:noFill/>
          <a:ln w="28575">
            <a:solidFill>
              <a:srgbClr val="22C55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207026" y="2045940"/>
            <a:ext cx="260208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ANN Algorithms</a:t>
            </a:r>
            <a:endParaRPr lang="en-US" sz="825" dirty="0"/>
          </a:p>
        </p:txBody>
      </p:sp>
      <p:sp>
        <p:nvSpPr>
          <p:cNvPr id="21" name="Text 18"/>
          <p:cNvSpPr/>
          <p:nvPr/>
        </p:nvSpPr>
        <p:spPr>
          <a:xfrm>
            <a:off x="6207026" y="2268736"/>
            <a:ext cx="260208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300"/>
              </a:spcAft>
              <a:buNone/>
            </a:pPr>
            <a:r>
              <a:rPr lang="en-US" sz="67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Approximate Nearest Neighbors (HNSW, IVF)</a:t>
            </a:r>
            <a:endParaRPr lang="en-US" sz="675" dirty="0"/>
          </a:p>
        </p:txBody>
      </p:sp>
      <p:sp>
        <p:nvSpPr>
          <p:cNvPr id="22" name="Text 19"/>
          <p:cNvSpPr/>
          <p:nvPr/>
        </p:nvSpPr>
        <p:spPr>
          <a:xfrm>
            <a:off x="6207026" y="2426791"/>
            <a:ext cx="260208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300"/>
              </a:spcAft>
              <a:buNone/>
            </a:pPr>
            <a:r>
              <a:rPr lang="en-US" sz="675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Sub-linear search time</a:t>
            </a:r>
            <a:endParaRPr lang="en-US" sz="675" dirty="0"/>
          </a:p>
        </p:txBody>
      </p:sp>
      <p:sp>
        <p:nvSpPr>
          <p:cNvPr id="23" name="Text 20"/>
          <p:cNvSpPr/>
          <p:nvPr/>
        </p:nvSpPr>
        <p:spPr>
          <a:xfrm>
            <a:off x="6207026" y="2584847"/>
            <a:ext cx="260208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 accuracy for speed</a:t>
            </a:r>
            <a:endParaRPr lang="en-US" sz="675" dirty="0"/>
          </a:p>
        </p:txBody>
      </p:sp>
      <p:sp>
        <p:nvSpPr>
          <p:cNvPr id="24" name="Text 21"/>
          <p:cNvSpPr/>
          <p:nvPr/>
        </p:nvSpPr>
        <p:spPr>
          <a:xfrm>
            <a:off x="228600" y="3388965"/>
            <a:ext cx="8686800" cy="773311"/>
          </a:xfrm>
          <a:prstGeom prst="roundRect">
            <a:avLst>
              <a:gd name="adj" fmla="val 9854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323850" y="3484215"/>
            <a:ext cx="86662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600"/>
              </a:spcAft>
              <a:buNone/>
            </a:pPr>
            <a:r>
              <a:rPr lang="en-US" sz="75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🗄️ Vector Database Options for Scale: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323850" y="3693765"/>
            <a:ext cx="2009775" cy="373261"/>
          </a:xfrm>
          <a:prstGeom prst="roundRect">
            <a:avLst>
              <a:gd name="adj" fmla="val 20415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419100" y="3750915"/>
            <a:ext cx="185566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Pinecone</a:t>
            </a:r>
            <a:endParaRPr lang="en-US" sz="750" dirty="0"/>
          </a:p>
        </p:txBody>
      </p:sp>
      <p:sp>
        <p:nvSpPr>
          <p:cNvPr id="28" name="Text 25"/>
          <p:cNvSpPr/>
          <p:nvPr/>
        </p:nvSpPr>
        <p:spPr>
          <a:xfrm>
            <a:off x="419100" y="3903315"/>
            <a:ext cx="1855661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150"/>
              </a:spcBef>
              <a:buNone/>
            </a:pPr>
            <a:r>
              <a:rPr lang="en-US" sz="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Managed, scales to billions</a:t>
            </a:r>
            <a:endParaRPr lang="en-US" sz="600" dirty="0"/>
          </a:p>
        </p:txBody>
      </p:sp>
      <p:sp>
        <p:nvSpPr>
          <p:cNvPr id="29" name="Text 26"/>
          <p:cNvSpPr/>
          <p:nvPr/>
        </p:nvSpPr>
        <p:spPr>
          <a:xfrm>
            <a:off x="2486025" y="3693765"/>
            <a:ext cx="2009775" cy="373261"/>
          </a:xfrm>
          <a:prstGeom prst="roundRect">
            <a:avLst>
              <a:gd name="adj" fmla="val 20415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2581275" y="3750915"/>
            <a:ext cx="185566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Weaviate</a:t>
            </a:r>
            <a:endParaRPr lang="en-US" sz="750" dirty="0"/>
          </a:p>
        </p:txBody>
      </p:sp>
      <p:sp>
        <p:nvSpPr>
          <p:cNvPr id="31" name="Text 28"/>
          <p:cNvSpPr/>
          <p:nvPr/>
        </p:nvSpPr>
        <p:spPr>
          <a:xfrm>
            <a:off x="2581275" y="3903315"/>
            <a:ext cx="1855661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150"/>
              </a:spcBef>
              <a:buNone/>
            </a:pPr>
            <a:r>
              <a:rPr lang="en-US" sz="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search built-in</a:t>
            </a:r>
            <a:endParaRPr lang="en-US" sz="600" dirty="0"/>
          </a:p>
        </p:txBody>
      </p:sp>
      <p:sp>
        <p:nvSpPr>
          <p:cNvPr id="32" name="Text 29"/>
          <p:cNvSpPr/>
          <p:nvPr/>
        </p:nvSpPr>
        <p:spPr>
          <a:xfrm>
            <a:off x="4648200" y="3693765"/>
            <a:ext cx="2009775" cy="373261"/>
          </a:xfrm>
          <a:prstGeom prst="roundRect">
            <a:avLst>
              <a:gd name="adj" fmla="val 20415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0"/>
          <p:cNvSpPr/>
          <p:nvPr/>
        </p:nvSpPr>
        <p:spPr>
          <a:xfrm>
            <a:off x="4743450" y="3750915"/>
            <a:ext cx="185566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Milvus</a:t>
            </a:r>
            <a:endParaRPr lang="en-US" sz="750" dirty="0"/>
          </a:p>
        </p:txBody>
      </p:sp>
      <p:sp>
        <p:nvSpPr>
          <p:cNvPr id="34" name="Text 31"/>
          <p:cNvSpPr/>
          <p:nvPr/>
        </p:nvSpPr>
        <p:spPr>
          <a:xfrm>
            <a:off x="4743450" y="3903315"/>
            <a:ext cx="1855661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150"/>
              </a:spcBef>
              <a:buNone/>
            </a:pPr>
            <a:r>
              <a:rPr lang="en-US" sz="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source, distributed</a:t>
            </a:r>
            <a:endParaRPr lang="en-US" sz="600" dirty="0"/>
          </a:p>
        </p:txBody>
      </p:sp>
      <p:sp>
        <p:nvSpPr>
          <p:cNvPr id="35" name="Text 32"/>
          <p:cNvSpPr/>
          <p:nvPr/>
        </p:nvSpPr>
        <p:spPr>
          <a:xfrm>
            <a:off x="6810375" y="3693765"/>
            <a:ext cx="2009775" cy="373261"/>
          </a:xfrm>
          <a:prstGeom prst="roundRect">
            <a:avLst>
              <a:gd name="adj" fmla="val 20415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3"/>
          <p:cNvSpPr/>
          <p:nvPr/>
        </p:nvSpPr>
        <p:spPr>
          <a:xfrm>
            <a:off x="6905625" y="3750915"/>
            <a:ext cx="185566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Qdrant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6905625" y="3903315"/>
            <a:ext cx="1855661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150"/>
              </a:spcBef>
              <a:buNone/>
            </a:pPr>
            <a:r>
              <a:rPr lang="en-US" sz="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Fast, Rust-based</a:t>
            </a:r>
            <a:endParaRPr lang="en-US" sz="600" dirty="0"/>
          </a:p>
        </p:txBody>
      </p:sp>
      <p:sp>
        <p:nvSpPr>
          <p:cNvPr id="38" name="Text 35"/>
          <p:cNvSpPr/>
          <p:nvPr/>
        </p:nvSpPr>
        <p:spPr>
          <a:xfrm>
            <a:off x="228600" y="4781550"/>
            <a:ext cx="135197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15 - Day 2 | AI Bootcamp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543074"/>
            <a:ext cx="535324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RAG Evaluation: Measuring Quality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228600" y="1095524"/>
            <a:ext cx="4169569" cy="1891457"/>
          </a:xfrm>
          <a:prstGeom prst="roundRect">
            <a:avLst>
              <a:gd name="adj" fmla="val 4029"/>
            </a:avLst>
          </a:prstGeom>
          <a:solidFill>
            <a:srgbClr val="1E293B"/>
          </a:solidFill>
          <a:ln w="19050">
            <a:solidFill>
              <a:srgbClr val="0891B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61950" y="1228874"/>
            <a:ext cx="398092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Retrieval Metrics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1950" y="1465064"/>
            <a:ext cx="3902869" cy="424755"/>
          </a:xfrm>
          <a:prstGeom prst="roundRect">
            <a:avLst>
              <a:gd name="adj" fmla="val 17940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38150" y="1541264"/>
            <a:ext cx="382547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Recall@K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38150" y="1693664"/>
            <a:ext cx="382547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 of relevant docs in top K results</a:t>
            </a:r>
            <a:endParaRPr lang="en-US" sz="675" dirty="0"/>
          </a:p>
        </p:txBody>
      </p:sp>
      <p:sp>
        <p:nvSpPr>
          <p:cNvPr id="8" name="Text 6"/>
          <p:cNvSpPr/>
          <p:nvPr/>
        </p:nvSpPr>
        <p:spPr>
          <a:xfrm>
            <a:off x="361950" y="1946970"/>
            <a:ext cx="3902869" cy="424755"/>
          </a:xfrm>
          <a:prstGeom prst="roundRect">
            <a:avLst>
              <a:gd name="adj" fmla="val 17940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38150" y="2023170"/>
            <a:ext cx="382547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MRR (Mean Reciprocal Rank)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438150" y="2175570"/>
            <a:ext cx="382547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high is the first relevant doc?</a:t>
            </a:r>
            <a:endParaRPr lang="en-US" sz="675" dirty="0"/>
          </a:p>
        </p:txBody>
      </p:sp>
      <p:sp>
        <p:nvSpPr>
          <p:cNvPr id="11" name="Text 9"/>
          <p:cNvSpPr/>
          <p:nvPr/>
        </p:nvSpPr>
        <p:spPr>
          <a:xfrm>
            <a:off x="361950" y="2428875"/>
            <a:ext cx="3902869" cy="424755"/>
          </a:xfrm>
          <a:prstGeom prst="roundRect">
            <a:avLst>
              <a:gd name="adj" fmla="val 17940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38150" y="2505075"/>
            <a:ext cx="382547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NDCG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438150" y="2657475"/>
            <a:ext cx="382547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Measures ranking quality overall</a:t>
            </a:r>
            <a:endParaRPr lang="en-US" sz="675" dirty="0"/>
          </a:p>
        </p:txBody>
      </p:sp>
      <p:sp>
        <p:nvSpPr>
          <p:cNvPr id="14" name="Text 12"/>
          <p:cNvSpPr/>
          <p:nvPr/>
        </p:nvSpPr>
        <p:spPr>
          <a:xfrm>
            <a:off x="4702969" y="1095524"/>
            <a:ext cx="4169569" cy="1891457"/>
          </a:xfrm>
          <a:prstGeom prst="roundRect">
            <a:avLst>
              <a:gd name="adj" fmla="val 4029"/>
            </a:avLst>
          </a:prstGeom>
          <a:solidFill>
            <a:srgbClr val="1E293B"/>
          </a:solidFill>
          <a:ln w="19050">
            <a:solidFill>
              <a:srgbClr val="F9731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836319" y="1228874"/>
            <a:ext cx="398092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✨ Generation Metrics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836319" y="1465064"/>
            <a:ext cx="3902869" cy="424755"/>
          </a:xfrm>
          <a:prstGeom prst="roundRect">
            <a:avLst>
              <a:gd name="adj" fmla="val 17940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912519" y="1541264"/>
            <a:ext cx="382547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Faithfulness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4912519" y="1693664"/>
            <a:ext cx="382547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answer supported by retrieved docs?</a:t>
            </a:r>
            <a:endParaRPr lang="en-US" sz="675" dirty="0"/>
          </a:p>
        </p:txBody>
      </p:sp>
      <p:sp>
        <p:nvSpPr>
          <p:cNvPr id="19" name="Text 17"/>
          <p:cNvSpPr/>
          <p:nvPr/>
        </p:nvSpPr>
        <p:spPr>
          <a:xfrm>
            <a:off x="4836319" y="1946970"/>
            <a:ext cx="3902869" cy="424755"/>
          </a:xfrm>
          <a:prstGeom prst="roundRect">
            <a:avLst>
              <a:gd name="adj" fmla="val 17940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912519" y="2023170"/>
            <a:ext cx="382547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Relevance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4912519" y="2175570"/>
            <a:ext cx="382547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answer address the question?</a:t>
            </a:r>
            <a:endParaRPr lang="en-US" sz="675" dirty="0"/>
          </a:p>
        </p:txBody>
      </p:sp>
      <p:sp>
        <p:nvSpPr>
          <p:cNvPr id="22" name="Text 20"/>
          <p:cNvSpPr/>
          <p:nvPr/>
        </p:nvSpPr>
        <p:spPr>
          <a:xfrm>
            <a:off x="4836319" y="2428875"/>
            <a:ext cx="3902869" cy="424755"/>
          </a:xfrm>
          <a:prstGeom prst="roundRect">
            <a:avLst>
              <a:gd name="adj" fmla="val 17940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912519" y="2505075"/>
            <a:ext cx="382547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Precision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4912519" y="2657475"/>
            <a:ext cx="382547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 of retrieved context that's used</a:t>
            </a:r>
            <a:endParaRPr lang="en-US" sz="675" dirty="0"/>
          </a:p>
        </p:txBody>
      </p:sp>
      <p:sp>
        <p:nvSpPr>
          <p:cNvPr id="25" name="Text 23"/>
          <p:cNvSpPr/>
          <p:nvPr/>
        </p:nvSpPr>
        <p:spPr>
          <a:xfrm>
            <a:off x="228600" y="3139380"/>
            <a:ext cx="8686800" cy="628650"/>
          </a:xfrm>
          <a:prstGeom prst="roundRect">
            <a:avLst>
              <a:gd name="adj" fmla="val 12121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323850" y="3234630"/>
            <a:ext cx="86662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75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🛠️ Evaluation Frameworks: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323850" y="3425130"/>
            <a:ext cx="1403747" cy="247650"/>
          </a:xfrm>
          <a:prstGeom prst="roundRect">
            <a:avLst>
              <a:gd name="adj" fmla="val 30769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38150" y="3482280"/>
            <a:ext cx="11986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RAGAS</a:t>
            </a:r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RAG Assessment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1879997" y="3425130"/>
            <a:ext cx="1117848" cy="247650"/>
          </a:xfrm>
          <a:prstGeom prst="roundRect">
            <a:avLst>
              <a:gd name="adj" fmla="val 30769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1994297" y="3482280"/>
            <a:ext cx="90703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LangSmith</a:t>
            </a:r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Tracing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3150245" y="3425130"/>
            <a:ext cx="1026170" cy="247650"/>
          </a:xfrm>
          <a:prstGeom prst="roundRect">
            <a:avLst>
              <a:gd name="adj" fmla="val 30769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3264545" y="3482280"/>
            <a:ext cx="81352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Weights &amp; Biases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4328815" y="3425130"/>
            <a:ext cx="599182" cy="247650"/>
          </a:xfrm>
          <a:prstGeom prst="roundRect">
            <a:avLst>
              <a:gd name="adj" fmla="val 30769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4443115" y="3482280"/>
            <a:ext cx="37799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TruLens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228600" y="3920430"/>
            <a:ext cx="8686800" cy="337096"/>
          </a:xfrm>
          <a:prstGeom prst="roundRect">
            <a:avLst>
              <a:gd name="adj" fmla="val 22605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238887" y="4015680"/>
            <a:ext cx="866622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</a:t>
            </a:r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retrieval and generation separately!</a:t>
            </a:r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 good retriever + bad LLM = bad answers.</a:t>
            </a:r>
            <a:endParaRPr lang="en-US" sz="825" dirty="0"/>
          </a:p>
        </p:txBody>
      </p:sp>
      <p:sp>
        <p:nvSpPr>
          <p:cNvPr id="37" name="Text 35"/>
          <p:cNvSpPr/>
          <p:nvPr/>
        </p:nvSpPr>
        <p:spPr>
          <a:xfrm>
            <a:off x="228600" y="4781550"/>
            <a:ext cx="135197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15 - Day 2 | AI Bootcamp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438299"/>
            <a:ext cx="450799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🏗️ Production RAG Architecture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228600" y="990749"/>
            <a:ext cx="8686800" cy="2260997"/>
          </a:xfrm>
          <a:prstGeom prst="roundRect">
            <a:avLst>
              <a:gd name="adj" fmla="val 3370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206103" y="1124099"/>
            <a:ext cx="6826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600"/>
              </a:spcAft>
              <a:buNone/>
            </a:pPr>
            <a:r>
              <a:rPr lang="en-US" sz="75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📥 INGESTION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61950" y="1486049"/>
            <a:ext cx="2357586" cy="234255"/>
          </a:xfrm>
          <a:prstGeom prst="roundRect">
            <a:avLst>
              <a:gd name="adj" fmla="val 32529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96667" y="1543199"/>
            <a:ext cx="228815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 Loaders</a:t>
            </a:r>
            <a:endParaRPr lang="en-US" sz="675" dirty="0"/>
          </a:p>
        </p:txBody>
      </p:sp>
      <p:sp>
        <p:nvSpPr>
          <p:cNvPr id="7" name="Text 5"/>
          <p:cNvSpPr/>
          <p:nvPr/>
        </p:nvSpPr>
        <p:spPr>
          <a:xfrm>
            <a:off x="338374" y="1872704"/>
            <a:ext cx="240473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1950" y="2185095"/>
            <a:ext cx="2357586" cy="234255"/>
          </a:xfrm>
          <a:prstGeom prst="roundRect">
            <a:avLst>
              <a:gd name="adj" fmla="val 32529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96667" y="2242245"/>
            <a:ext cx="228815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Chunking</a:t>
            </a:r>
            <a:endParaRPr lang="en-US" sz="675" dirty="0"/>
          </a:p>
        </p:txBody>
      </p:sp>
      <p:sp>
        <p:nvSpPr>
          <p:cNvPr id="10" name="Text 8"/>
          <p:cNvSpPr/>
          <p:nvPr/>
        </p:nvSpPr>
        <p:spPr>
          <a:xfrm>
            <a:off x="338374" y="2571750"/>
            <a:ext cx="240473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1950" y="2884140"/>
            <a:ext cx="2357586" cy="234255"/>
          </a:xfrm>
          <a:prstGeom prst="roundRect">
            <a:avLst>
              <a:gd name="adj" fmla="val 32529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96667" y="2941290"/>
            <a:ext cx="228815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</a:t>
            </a:r>
            <a:endParaRPr lang="en-US" sz="675" dirty="0"/>
          </a:p>
        </p:txBody>
      </p:sp>
      <p:sp>
        <p:nvSpPr>
          <p:cNvPr id="13" name="Text 11"/>
          <p:cNvSpPr/>
          <p:nvPr/>
        </p:nvSpPr>
        <p:spPr>
          <a:xfrm>
            <a:off x="3548807" y="1686967"/>
            <a:ext cx="62695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600"/>
              </a:spcAft>
              <a:buNone/>
            </a:pPr>
            <a:r>
              <a:rPr lang="en-US" sz="75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💾 STORAGE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3014216" y="2048917"/>
            <a:ext cx="1683990" cy="506611"/>
          </a:xfrm>
          <a:prstGeom prst="roundRect">
            <a:avLst>
              <a:gd name="adj" fmla="val 15041"/>
            </a:avLst>
          </a:prstGeom>
          <a:solidFill>
            <a:srgbClr val="8B5C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113962" y="2163217"/>
            <a:ext cx="148449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DB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113962" y="2334667"/>
            <a:ext cx="1484498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0"/>
              </a:lnSpc>
              <a:spcBef>
                <a:spcPts val="300"/>
              </a:spcBef>
              <a:buNone/>
            </a:pPr>
            <a:r>
              <a:rPr lang="en-US" sz="600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Metadata</a:t>
            </a:r>
            <a:endParaRPr lang="en-US" sz="600" dirty="0"/>
          </a:p>
        </p:txBody>
      </p:sp>
      <p:sp>
        <p:nvSpPr>
          <p:cNvPr id="17" name="Text 15"/>
          <p:cNvSpPr/>
          <p:nvPr/>
        </p:nvSpPr>
        <p:spPr>
          <a:xfrm>
            <a:off x="6417618" y="1456581"/>
            <a:ext cx="95819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600"/>
              </a:spcAft>
              <a:buNone/>
            </a:pPr>
            <a:r>
              <a:rPr lang="en-US" sz="75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QUERY PIPELINE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4992886" y="1818531"/>
            <a:ext cx="1685032" cy="220861"/>
          </a:xfrm>
          <a:prstGeom prst="roundRect">
            <a:avLst>
              <a:gd name="adj" fmla="val 34501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034329" y="1875681"/>
            <a:ext cx="1602147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Transform</a:t>
            </a:r>
            <a:endParaRPr lang="en-US" sz="600" dirty="0"/>
          </a:p>
        </p:txBody>
      </p:sp>
      <p:sp>
        <p:nvSpPr>
          <p:cNvPr id="20" name="Text 18"/>
          <p:cNvSpPr/>
          <p:nvPr/>
        </p:nvSpPr>
        <p:spPr>
          <a:xfrm>
            <a:off x="4992886" y="2191792"/>
            <a:ext cx="1685032" cy="220861"/>
          </a:xfrm>
          <a:prstGeom prst="roundRect">
            <a:avLst>
              <a:gd name="adj" fmla="val 34501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034329" y="2248942"/>
            <a:ext cx="1602147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Search</a:t>
            </a:r>
            <a:endParaRPr lang="en-US" sz="600" dirty="0"/>
          </a:p>
        </p:txBody>
      </p:sp>
      <p:sp>
        <p:nvSpPr>
          <p:cNvPr id="22" name="Text 20"/>
          <p:cNvSpPr/>
          <p:nvPr/>
        </p:nvSpPr>
        <p:spPr>
          <a:xfrm>
            <a:off x="4992886" y="2565053"/>
            <a:ext cx="1685032" cy="220861"/>
          </a:xfrm>
          <a:prstGeom prst="roundRect">
            <a:avLst>
              <a:gd name="adj" fmla="val 34501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034329" y="2622203"/>
            <a:ext cx="1602147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Re-rank</a:t>
            </a:r>
            <a:endParaRPr lang="en-US" sz="600" dirty="0"/>
          </a:p>
        </p:txBody>
      </p:sp>
      <p:sp>
        <p:nvSpPr>
          <p:cNvPr id="24" name="Text 22"/>
          <p:cNvSpPr/>
          <p:nvPr/>
        </p:nvSpPr>
        <p:spPr>
          <a:xfrm>
            <a:off x="6830318" y="2222153"/>
            <a:ext cx="11658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178"/>
              </a:spcBef>
              <a:spcAft>
                <a:spcPts val="3178"/>
              </a:spcAft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097018" y="2005161"/>
            <a:ext cx="1685032" cy="220861"/>
          </a:xfrm>
          <a:prstGeom prst="roundRect">
            <a:avLst>
              <a:gd name="adj" fmla="val 34501"/>
            </a:avLst>
          </a:prstGeom>
          <a:solidFill>
            <a:srgbClr val="22C55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7138461" y="2062311"/>
            <a:ext cx="1602147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</a:t>
            </a:r>
            <a:endParaRPr lang="en-US" sz="600" dirty="0"/>
          </a:p>
        </p:txBody>
      </p:sp>
      <p:sp>
        <p:nvSpPr>
          <p:cNvPr id="27" name="Text 25"/>
          <p:cNvSpPr/>
          <p:nvPr/>
        </p:nvSpPr>
        <p:spPr>
          <a:xfrm>
            <a:off x="7097018" y="2378422"/>
            <a:ext cx="1685032" cy="220861"/>
          </a:xfrm>
          <a:prstGeom prst="roundRect">
            <a:avLst>
              <a:gd name="adj" fmla="val 34501"/>
            </a:avLst>
          </a:prstGeom>
          <a:solidFill>
            <a:srgbClr val="0891B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7138461" y="2435572"/>
            <a:ext cx="1602147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</a:t>
            </a:r>
            <a:endParaRPr lang="en-US" sz="600" dirty="0"/>
          </a:p>
        </p:txBody>
      </p:sp>
      <p:sp>
        <p:nvSpPr>
          <p:cNvPr id="29" name="Text 27"/>
          <p:cNvSpPr/>
          <p:nvPr/>
        </p:nvSpPr>
        <p:spPr>
          <a:xfrm>
            <a:off x="228600" y="3404146"/>
            <a:ext cx="2057400" cy="481905"/>
          </a:xfrm>
          <a:prstGeom prst="roundRect">
            <a:avLst>
              <a:gd name="adj" fmla="val 15812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242888" y="3404146"/>
            <a:ext cx="0" cy="481905"/>
          </a:xfrm>
          <a:prstGeom prst="line">
            <a:avLst/>
          </a:prstGeom>
          <a:noFill/>
          <a:ln w="28575">
            <a:solidFill>
              <a:srgbClr val="0891B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52425" y="3499396"/>
            <a:ext cx="187509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 Caching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352425" y="3670846"/>
            <a:ext cx="187509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 embeddings, responses</a:t>
            </a:r>
            <a:endParaRPr lang="en-US" sz="675" dirty="0"/>
          </a:p>
        </p:txBody>
      </p:sp>
      <p:sp>
        <p:nvSpPr>
          <p:cNvPr id="33" name="Text 31"/>
          <p:cNvSpPr/>
          <p:nvPr/>
        </p:nvSpPr>
        <p:spPr>
          <a:xfrm>
            <a:off x="2438400" y="3404146"/>
            <a:ext cx="2057400" cy="481905"/>
          </a:xfrm>
          <a:prstGeom prst="roundRect">
            <a:avLst>
              <a:gd name="adj" fmla="val 15812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Shape 32"/>
          <p:cNvSpPr/>
          <p:nvPr/>
        </p:nvSpPr>
        <p:spPr>
          <a:xfrm>
            <a:off x="2452688" y="3404146"/>
            <a:ext cx="0" cy="481905"/>
          </a:xfrm>
          <a:prstGeom prst="line">
            <a:avLst/>
          </a:prstGeom>
          <a:noFill/>
          <a:ln w="28575">
            <a:solidFill>
              <a:srgbClr val="F9731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562225" y="3499396"/>
            <a:ext cx="187509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Monitoring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2562225" y="3670846"/>
            <a:ext cx="187509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Latency, quality, costs</a:t>
            </a:r>
            <a:endParaRPr lang="en-US" sz="675" dirty="0"/>
          </a:p>
        </p:txBody>
      </p:sp>
      <p:sp>
        <p:nvSpPr>
          <p:cNvPr id="37" name="Text 35"/>
          <p:cNvSpPr/>
          <p:nvPr/>
        </p:nvSpPr>
        <p:spPr>
          <a:xfrm>
            <a:off x="4648200" y="3404146"/>
            <a:ext cx="2057400" cy="481905"/>
          </a:xfrm>
          <a:prstGeom prst="roundRect">
            <a:avLst>
              <a:gd name="adj" fmla="val 15812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Shape 36"/>
          <p:cNvSpPr/>
          <p:nvPr/>
        </p:nvSpPr>
        <p:spPr>
          <a:xfrm>
            <a:off x="4662488" y="3404146"/>
            <a:ext cx="0" cy="481905"/>
          </a:xfrm>
          <a:prstGeom prst="line">
            <a:avLst/>
          </a:prstGeom>
          <a:noFill/>
          <a:ln w="28575">
            <a:solidFill>
              <a:srgbClr val="22C55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72025" y="3499396"/>
            <a:ext cx="187509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Auth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4772025" y="3670846"/>
            <a:ext cx="187509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control per doc</a:t>
            </a:r>
            <a:endParaRPr lang="en-US" sz="675" dirty="0"/>
          </a:p>
        </p:txBody>
      </p:sp>
      <p:sp>
        <p:nvSpPr>
          <p:cNvPr id="41" name="Text 39"/>
          <p:cNvSpPr/>
          <p:nvPr/>
        </p:nvSpPr>
        <p:spPr>
          <a:xfrm>
            <a:off x="6858000" y="3404146"/>
            <a:ext cx="2057400" cy="481905"/>
          </a:xfrm>
          <a:prstGeom prst="roundRect">
            <a:avLst>
              <a:gd name="adj" fmla="val 15812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Shape 40"/>
          <p:cNvSpPr/>
          <p:nvPr/>
        </p:nvSpPr>
        <p:spPr>
          <a:xfrm>
            <a:off x="6872288" y="3404146"/>
            <a:ext cx="0" cy="481905"/>
          </a:xfrm>
          <a:prstGeom prst="line">
            <a:avLst/>
          </a:prstGeom>
          <a:noFill/>
          <a:ln w="28575">
            <a:solidFill>
              <a:srgbClr val="8B5CF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981825" y="3499396"/>
            <a:ext cx="187509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♻️ Updates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6981825" y="3670846"/>
            <a:ext cx="187509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Incremental indexing</a:t>
            </a:r>
            <a:endParaRPr lang="en-US" sz="675" dirty="0"/>
          </a:p>
        </p:txBody>
      </p:sp>
      <p:sp>
        <p:nvSpPr>
          <p:cNvPr id="45" name="Text 43"/>
          <p:cNvSpPr/>
          <p:nvPr/>
        </p:nvSpPr>
        <p:spPr>
          <a:xfrm>
            <a:off x="228600" y="4038451"/>
            <a:ext cx="8686800" cy="323850"/>
          </a:xfrm>
          <a:prstGeom prst="roundRect">
            <a:avLst>
              <a:gd name="adj" fmla="val 23529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238887" y="4133701"/>
            <a:ext cx="86662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</a:t>
            </a:r>
            <a:pPr algn="ctr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simple, add complexity only when needed.</a:t>
            </a:r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Basic RAG often works great!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228600" y="4781550"/>
            <a:ext cx="135197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15 - Day 2 | AI Bootcamp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618381"/>
            <a:ext cx="527551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🛠️ Today's Hands-On: Advanced RAG</a:t>
            </a:r>
            <a:endParaRPr lang="en-US" sz="2250" dirty="0"/>
          </a:p>
        </p:txBody>
      </p:sp>
      <p:pic>
        <p:nvPicPr>
          <p:cNvPr id="3" name="Image 0" descr="/tmp/rasterized-gradient-3ca455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170831"/>
            <a:ext cx="8686800" cy="6246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1950" y="1304181"/>
            <a:ext cx="858850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What We'll Build Today:</a:t>
            </a:r>
            <a:endParaRPr lang="en-US" sz="975" dirty="0"/>
          </a:p>
        </p:txBody>
      </p:sp>
      <p:sp>
        <p:nvSpPr>
          <p:cNvPr id="5" name="Text 2"/>
          <p:cNvSpPr/>
          <p:nvPr/>
        </p:nvSpPr>
        <p:spPr>
          <a:xfrm>
            <a:off x="361950" y="1515517"/>
            <a:ext cx="858850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</a:t>
            </a:r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RAG system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with hybrid search, re-ranking, and query transformation!</a:t>
            </a:r>
            <a:endParaRPr lang="en-US" sz="825" dirty="0"/>
          </a:p>
        </p:txBody>
      </p:sp>
      <p:sp>
        <p:nvSpPr>
          <p:cNvPr id="6" name="Text 3"/>
          <p:cNvSpPr/>
          <p:nvPr/>
        </p:nvSpPr>
        <p:spPr>
          <a:xfrm>
            <a:off x="228600" y="1947863"/>
            <a:ext cx="1615380" cy="1078111"/>
          </a:xfrm>
          <a:prstGeom prst="roundRect">
            <a:avLst>
              <a:gd name="adj" fmla="val 7068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902940" y="2043113"/>
            <a:ext cx="266700" cy="266700"/>
          </a:xfrm>
          <a:prstGeom prst="roundRect">
            <a:avLst>
              <a:gd name="adj" fmla="val 28571"/>
            </a:avLst>
          </a:prstGeom>
          <a:solidFill>
            <a:srgbClr val="0891B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999083" y="2083147"/>
            <a:ext cx="7575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713333" y="2519363"/>
            <a:ext cx="65883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450"/>
              </a:spcBef>
              <a:spcAft>
                <a:spcPts val="150"/>
              </a:spcAft>
              <a:buNone/>
            </a:pPr>
            <a:r>
              <a:rPr lang="en-US" sz="75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Search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80197" y="2824163"/>
            <a:ext cx="512037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BM25 + Vector</a:t>
            </a:r>
            <a:endParaRPr lang="en-US" sz="600" dirty="0"/>
          </a:p>
        </p:txBody>
      </p:sp>
      <p:sp>
        <p:nvSpPr>
          <p:cNvPr id="11" name="Text 8"/>
          <p:cNvSpPr/>
          <p:nvPr/>
        </p:nvSpPr>
        <p:spPr>
          <a:xfrm>
            <a:off x="1996380" y="1947863"/>
            <a:ext cx="1615380" cy="1078111"/>
          </a:xfrm>
          <a:prstGeom prst="roundRect">
            <a:avLst>
              <a:gd name="adj" fmla="val 7068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2670721" y="2043113"/>
            <a:ext cx="266700" cy="266700"/>
          </a:xfrm>
          <a:prstGeom prst="roundRect">
            <a:avLst>
              <a:gd name="adj" fmla="val 28571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2766864" y="2083147"/>
            <a:ext cx="7575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2555230" y="2519363"/>
            <a:ext cx="50748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450"/>
              </a:spcBef>
              <a:spcAft>
                <a:spcPts val="150"/>
              </a:spcAft>
              <a:buNone/>
            </a:pPr>
            <a:r>
              <a:rPr lang="en-US" sz="75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Re-ranking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2549191" y="2824163"/>
            <a:ext cx="509760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Cross-encoder</a:t>
            </a:r>
            <a:endParaRPr lang="en-US" sz="600" dirty="0"/>
          </a:p>
        </p:txBody>
      </p:sp>
      <p:sp>
        <p:nvSpPr>
          <p:cNvPr id="16" name="Text 13"/>
          <p:cNvSpPr/>
          <p:nvPr/>
        </p:nvSpPr>
        <p:spPr>
          <a:xfrm>
            <a:off x="3764161" y="1947863"/>
            <a:ext cx="1615380" cy="1078111"/>
          </a:xfrm>
          <a:prstGeom prst="roundRect">
            <a:avLst>
              <a:gd name="adj" fmla="val 7068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4438501" y="2043113"/>
            <a:ext cx="266700" cy="266700"/>
          </a:xfrm>
          <a:prstGeom prst="roundRect">
            <a:avLst>
              <a:gd name="adj" fmla="val 28571"/>
            </a:avLst>
          </a:prstGeom>
          <a:solidFill>
            <a:srgbClr val="8B5C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4534644" y="2083147"/>
            <a:ext cx="7575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4307235" y="2519363"/>
            <a:ext cx="5398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450"/>
              </a:spcBef>
              <a:spcAft>
                <a:spcPts val="150"/>
              </a:spcAft>
              <a:buNone/>
            </a:pPr>
            <a:r>
              <a:rPr lang="en-US" sz="75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Multi-Query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4277959" y="2824163"/>
            <a:ext cx="587636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expansion</a:t>
            </a:r>
            <a:endParaRPr lang="en-US" sz="600" dirty="0"/>
          </a:p>
        </p:txBody>
      </p:sp>
      <p:sp>
        <p:nvSpPr>
          <p:cNvPr id="21" name="Text 18"/>
          <p:cNvSpPr/>
          <p:nvPr/>
        </p:nvSpPr>
        <p:spPr>
          <a:xfrm>
            <a:off x="5531941" y="1947863"/>
            <a:ext cx="1615380" cy="1078111"/>
          </a:xfrm>
          <a:prstGeom prst="roundRect">
            <a:avLst>
              <a:gd name="adj" fmla="val 7068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6206282" y="2043113"/>
            <a:ext cx="266700" cy="266700"/>
          </a:xfrm>
          <a:prstGeom prst="roundRect">
            <a:avLst>
              <a:gd name="adj" fmla="val 28571"/>
            </a:avLst>
          </a:prstGeom>
          <a:solidFill>
            <a:srgbClr val="22C55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6302425" y="2083147"/>
            <a:ext cx="7575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6056412" y="2519363"/>
            <a:ext cx="5776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450"/>
              </a:spcBef>
              <a:spcAft>
                <a:spcPts val="150"/>
              </a:spcAft>
              <a:buNone/>
            </a:pPr>
            <a:r>
              <a:rPr lang="en-US" sz="75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Parent-Child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6000500" y="2824163"/>
            <a:ext cx="678263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Hierarchical chunks</a:t>
            </a:r>
            <a:endParaRPr lang="en-US" sz="600" dirty="0"/>
          </a:p>
        </p:txBody>
      </p:sp>
      <p:sp>
        <p:nvSpPr>
          <p:cNvPr id="26" name="Text 23"/>
          <p:cNvSpPr/>
          <p:nvPr/>
        </p:nvSpPr>
        <p:spPr>
          <a:xfrm>
            <a:off x="7299722" y="1947863"/>
            <a:ext cx="1615380" cy="1078111"/>
          </a:xfrm>
          <a:prstGeom prst="roundRect">
            <a:avLst>
              <a:gd name="adj" fmla="val 7068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7974062" y="2043113"/>
            <a:ext cx="266700" cy="266700"/>
          </a:xfrm>
          <a:prstGeom prst="roundRect">
            <a:avLst>
              <a:gd name="adj" fmla="val 28571"/>
            </a:avLst>
          </a:prstGeom>
          <a:solidFill>
            <a:srgbClr val="EC489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8070205" y="2083147"/>
            <a:ext cx="7575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7885063" y="2519363"/>
            <a:ext cx="45359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450"/>
              </a:spcBef>
              <a:spcAft>
                <a:spcPts val="150"/>
              </a:spcAft>
              <a:buNone/>
            </a:pPr>
            <a:r>
              <a:rPr lang="en-US" sz="750" b="1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Compare!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7781184" y="2824163"/>
            <a:ext cx="652457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vs Advanced</a:t>
            </a:r>
            <a:endParaRPr lang="en-US" sz="600" dirty="0"/>
          </a:p>
        </p:txBody>
      </p:sp>
      <p:sp>
        <p:nvSpPr>
          <p:cNvPr id="31" name="Text 28"/>
          <p:cNvSpPr/>
          <p:nvPr/>
        </p:nvSpPr>
        <p:spPr>
          <a:xfrm>
            <a:off x="228600" y="3178373"/>
            <a:ext cx="2793950" cy="481905"/>
          </a:xfrm>
          <a:prstGeom prst="roundRect">
            <a:avLst>
              <a:gd name="adj" fmla="val 15812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9"/>
          <p:cNvSpPr/>
          <p:nvPr/>
        </p:nvSpPr>
        <p:spPr>
          <a:xfrm>
            <a:off x="323850" y="3273623"/>
            <a:ext cx="265551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📦 New Libraries:</a:t>
            </a:r>
            <a:endParaRPr lang="en-US" sz="750" dirty="0"/>
          </a:p>
        </p:txBody>
      </p:sp>
      <p:sp>
        <p:nvSpPr>
          <p:cNvPr id="33" name="Text 30"/>
          <p:cNvSpPr/>
          <p:nvPr/>
        </p:nvSpPr>
        <p:spPr>
          <a:xfrm>
            <a:off x="323850" y="3445073"/>
            <a:ext cx="265551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rank_bm25, sentence-transformers cross-encoders</a:t>
            </a:r>
            <a:endParaRPr lang="en-US" sz="675" dirty="0"/>
          </a:p>
        </p:txBody>
      </p:sp>
      <p:sp>
        <p:nvSpPr>
          <p:cNvPr id="34" name="Text 31"/>
          <p:cNvSpPr/>
          <p:nvPr/>
        </p:nvSpPr>
        <p:spPr>
          <a:xfrm>
            <a:off x="3174950" y="3178373"/>
            <a:ext cx="2793950" cy="481905"/>
          </a:xfrm>
          <a:prstGeom prst="roundRect">
            <a:avLst>
              <a:gd name="adj" fmla="val 15812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2"/>
          <p:cNvSpPr/>
          <p:nvPr/>
        </p:nvSpPr>
        <p:spPr>
          <a:xfrm>
            <a:off x="3270200" y="3273623"/>
            <a:ext cx="265551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⏱️ Time:</a:t>
            </a:r>
            <a:endParaRPr lang="en-US" sz="750" dirty="0"/>
          </a:p>
        </p:txBody>
      </p:sp>
      <p:sp>
        <p:nvSpPr>
          <p:cNvPr id="36" name="Text 33"/>
          <p:cNvSpPr/>
          <p:nvPr/>
        </p:nvSpPr>
        <p:spPr>
          <a:xfrm>
            <a:off x="3270200" y="3445073"/>
            <a:ext cx="265551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 hours hands-on</a:t>
            </a:r>
            <a:endParaRPr lang="en-US" sz="675" dirty="0"/>
          </a:p>
        </p:txBody>
      </p:sp>
      <p:sp>
        <p:nvSpPr>
          <p:cNvPr id="37" name="Text 34"/>
          <p:cNvSpPr/>
          <p:nvPr/>
        </p:nvSpPr>
        <p:spPr>
          <a:xfrm>
            <a:off x="6121301" y="3178373"/>
            <a:ext cx="2793950" cy="481905"/>
          </a:xfrm>
          <a:prstGeom prst="roundRect">
            <a:avLst>
              <a:gd name="adj" fmla="val 15812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5"/>
          <p:cNvSpPr/>
          <p:nvPr/>
        </p:nvSpPr>
        <p:spPr>
          <a:xfrm>
            <a:off x="6216551" y="3273623"/>
            <a:ext cx="265551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🎓 Builds on:</a:t>
            </a:r>
            <a:endParaRPr lang="en-US" sz="750" dirty="0"/>
          </a:p>
        </p:txBody>
      </p:sp>
      <p:sp>
        <p:nvSpPr>
          <p:cNvPr id="39" name="Text 36"/>
          <p:cNvSpPr/>
          <p:nvPr/>
        </p:nvSpPr>
        <p:spPr>
          <a:xfrm>
            <a:off x="6216551" y="3445073"/>
            <a:ext cx="265551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 RAG foundation</a:t>
            </a:r>
            <a:endParaRPr lang="en-US" sz="675" dirty="0"/>
          </a:p>
        </p:txBody>
      </p:sp>
      <p:pic>
        <p:nvPicPr>
          <p:cNvPr id="40" name="Image 1" descr="/tmp/rasterized-gradient-1e53902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3812679"/>
            <a:ext cx="8686800" cy="369540"/>
          </a:xfrm>
          <a:prstGeom prst="rect">
            <a:avLst/>
          </a:prstGeom>
        </p:spPr>
      </p:pic>
      <p:sp>
        <p:nvSpPr>
          <p:cNvPr id="41" name="Text 37"/>
          <p:cNvSpPr/>
          <p:nvPr/>
        </p:nvSpPr>
        <p:spPr>
          <a:xfrm>
            <a:off x="248602" y="3917454"/>
            <a:ext cx="864679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</a:t>
            </a:r>
            <a:pPr algn="ctr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make your RAG production-ready!</a:t>
            </a:r>
            <a:endParaRPr lang="en-US" sz="900" dirty="0"/>
          </a:p>
        </p:txBody>
      </p:sp>
      <p:sp>
        <p:nvSpPr>
          <p:cNvPr id="42" name="Text 38"/>
          <p:cNvSpPr/>
          <p:nvPr/>
        </p:nvSpPr>
        <p:spPr>
          <a:xfrm>
            <a:off x="228600" y="4781550"/>
            <a:ext cx="135197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15 - Day 2 | AI Bootcamp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777478"/>
            <a:ext cx="574186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 Summary: Advanced RAG Techniques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228600" y="1373535"/>
            <a:ext cx="425296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Key Techniques Learned: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28600" y="1685925"/>
            <a:ext cx="4169569" cy="323850"/>
          </a:xfrm>
          <a:prstGeom prst="roundRect">
            <a:avLst>
              <a:gd name="adj" fmla="val 23529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23850" y="1781175"/>
            <a:ext cx="40586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Search</a:t>
            </a:r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BM25 + semantic for best coverage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228600" y="2162175"/>
            <a:ext cx="4169569" cy="323850"/>
          </a:xfrm>
          <a:prstGeom prst="roundRect">
            <a:avLst>
              <a:gd name="adj" fmla="val 23529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23850" y="2257425"/>
            <a:ext cx="40586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Re-ranking</a:t>
            </a:r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Two-stage retrieval for precision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228600" y="2638425"/>
            <a:ext cx="4169569" cy="323850"/>
          </a:xfrm>
          <a:prstGeom prst="roundRect">
            <a:avLst>
              <a:gd name="adj" fmla="val 23529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23850" y="2733675"/>
            <a:ext cx="40586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Transformation</a:t>
            </a:r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Rewrite, expand, step-back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228600" y="3114675"/>
            <a:ext cx="4169569" cy="323850"/>
          </a:xfrm>
          <a:prstGeom prst="roundRect">
            <a:avLst>
              <a:gd name="adj" fmla="val 23529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23850" y="3209925"/>
            <a:ext cx="40586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Scaling Strategies</a:t>
            </a:r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Filtering, sharding, ANN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4702969" y="1329928"/>
            <a:ext cx="425296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Coming Up:</a:t>
            </a:r>
            <a:endParaRPr lang="en-US" sz="900" dirty="0"/>
          </a:p>
        </p:txBody>
      </p:sp>
      <p:pic>
        <p:nvPicPr>
          <p:cNvPr id="13" name="Image 0" descr="/tmp/rasterized-gradient-6070a2a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02969" y="1642318"/>
            <a:ext cx="4169569" cy="533251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4855369" y="1756618"/>
            <a:ext cx="398092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3: Communication Skills</a:t>
            </a:r>
            <a:endParaRPr lang="en-US" sz="825" dirty="0"/>
          </a:p>
        </p:txBody>
      </p:sp>
      <p:sp>
        <p:nvSpPr>
          <p:cNvPr id="15" name="Text 12"/>
          <p:cNvSpPr/>
          <p:nvPr/>
        </p:nvSpPr>
        <p:spPr>
          <a:xfrm>
            <a:off x="4855369" y="1941314"/>
            <a:ext cx="398092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Presenting AI projects to stakeholders</a:t>
            </a:r>
            <a:endParaRPr lang="en-US" sz="675" dirty="0"/>
          </a:p>
        </p:txBody>
      </p:sp>
      <p:pic>
        <p:nvPicPr>
          <p:cNvPr id="16" name="Image 1" descr="/tmp/rasterized-gradient-a1c2610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2969" y="2327970"/>
            <a:ext cx="4169569" cy="533251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855369" y="2442270"/>
            <a:ext cx="398092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Project:</a:t>
            </a:r>
            <a:endParaRPr lang="en-US" sz="825" dirty="0"/>
          </a:p>
        </p:txBody>
      </p:sp>
      <p:sp>
        <p:nvSpPr>
          <p:cNvPr id="18" name="Text 14"/>
          <p:cNvSpPr/>
          <p:nvPr/>
        </p:nvSpPr>
        <p:spPr>
          <a:xfrm>
            <a:off x="4855369" y="2626965"/>
            <a:ext cx="398092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Chatbot answering from uploaded documents!</a:t>
            </a:r>
            <a:endParaRPr lang="en-US" sz="675" dirty="0"/>
          </a:p>
        </p:txBody>
      </p:sp>
      <p:sp>
        <p:nvSpPr>
          <p:cNvPr id="19" name="Text 15"/>
          <p:cNvSpPr/>
          <p:nvPr/>
        </p:nvSpPr>
        <p:spPr>
          <a:xfrm>
            <a:off x="4702969" y="3013621"/>
            <a:ext cx="4169569" cy="468511"/>
          </a:xfrm>
          <a:prstGeom prst="roundRect">
            <a:avLst>
              <a:gd name="adj" fmla="val 16264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6"/>
          <p:cNvSpPr/>
          <p:nvPr/>
        </p:nvSpPr>
        <p:spPr>
          <a:xfrm>
            <a:off x="4798219" y="3108871"/>
            <a:ext cx="40586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📖 Resources:</a:t>
            </a:r>
            <a:endParaRPr lang="en-US" sz="750" dirty="0"/>
          </a:p>
        </p:txBody>
      </p:sp>
      <p:sp>
        <p:nvSpPr>
          <p:cNvPr id="21" name="Text 17"/>
          <p:cNvSpPr/>
          <p:nvPr/>
        </p:nvSpPr>
        <p:spPr>
          <a:xfrm>
            <a:off x="4798219" y="3280321"/>
            <a:ext cx="4058650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LangChain Docs | RAGAS | Pinecone Learning Center</a:t>
            </a:r>
            <a:endParaRPr lang="en-US" sz="600" dirty="0"/>
          </a:p>
        </p:txBody>
      </p:sp>
      <p:pic>
        <p:nvPicPr>
          <p:cNvPr id="22" name="Image 2" descr="/tmp/rasterized-gradient-f900f82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4206032"/>
            <a:ext cx="8686800" cy="38859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258318" y="4320332"/>
            <a:ext cx="862736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🎉 You now have production-ready RAG skills! Let's practice in the notebook!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228600" y="4781550"/>
            <a:ext cx="135197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15 - Day 2 | AI Bootcamp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15 Day 2 - Advanced RAG Techniques</dc:title>
  <dc:subject>PptxGenJS Presentation</dc:subject>
  <dc:creator>AI Bootcamp</dc:creator>
  <cp:lastModifiedBy>AI Bootcamp</cp:lastModifiedBy>
  <cp:revision>1</cp:revision>
  <dcterms:created xsi:type="dcterms:W3CDTF">2025-11-28T11:28:58Z</dcterms:created>
  <dcterms:modified xsi:type="dcterms:W3CDTF">2025-11-28T11:28:58Z</dcterms:modified>
</cp:coreProperties>
</file>
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e03d42b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08116" y="988814"/>
            <a:ext cx="2327469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720"/>
              </a:lnSpc>
              <a:spcAft>
                <a:spcPts val="600"/>
              </a:spcAft>
              <a:buNone/>
            </a:pPr>
            <a:r>
              <a:rPr lang="en-US" sz="4800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🎤💡🎯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2233298" y="2223195"/>
            <a:ext cx="46772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Skills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2561957" y="3061395"/>
            <a:ext cx="4019788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30"/>
              </a:lnSpc>
              <a:spcBef>
                <a:spcPts val="600"/>
              </a:spcBef>
              <a:buNone/>
            </a:pPr>
            <a:r>
              <a:rPr lang="en-US" sz="19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Presenting AI Projects Effectively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2389962" y="3941415"/>
            <a:ext cx="436377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1800"/>
              </a:spcBef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storytelling, audience engagement, and clear delivery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41732" y="4728270"/>
            <a:ext cx="886053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15 - Day 3 | AI Bootcamp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6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601117"/>
            <a:ext cx="516864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Why Communication Matters in AI</a:t>
            </a:r>
            <a:endParaRPr lang="en-US" sz="2250" dirty="0"/>
          </a:p>
        </p:txBody>
      </p:sp>
      <p:pic>
        <p:nvPicPr>
          <p:cNvPr id="3" name="Image 0" descr="/tmp/rasterized-gradient-8de71d5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191667"/>
            <a:ext cx="8686800" cy="7218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1000" y="1344067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The Hard Truth: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381000" y="1587847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brilliant AI model that nobody understands has </a:t>
            </a:r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impact</a:t>
            </a:r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Your ability to communicate determines your project's success.</a:t>
            </a:r>
            <a:endParaRPr lang="en-US" sz="975" dirty="0"/>
          </a:p>
        </p:txBody>
      </p:sp>
      <p:sp>
        <p:nvSpPr>
          <p:cNvPr id="6" name="Text 3"/>
          <p:cNvSpPr/>
          <p:nvPr/>
        </p:nvSpPr>
        <p:spPr>
          <a:xfrm>
            <a:off x="228600" y="2132558"/>
            <a:ext cx="2692450" cy="1097161"/>
          </a:xfrm>
          <a:prstGeom prst="roundRect">
            <a:avLst>
              <a:gd name="adj" fmla="val 6945"/>
            </a:avLst>
          </a:prstGeom>
          <a:solidFill>
            <a:srgbClr val="2D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307902" y="2265908"/>
            <a:ext cx="54452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872654" y="2829669"/>
            <a:ext cx="14041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AI projects fail due to</a:t>
            </a:r>
            <a:endParaRPr lang="en-US" sz="750" dirty="0"/>
          </a:p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stakeholder communication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3225850" y="2065883"/>
            <a:ext cx="2692450" cy="1230511"/>
          </a:xfrm>
          <a:prstGeom prst="roundRect">
            <a:avLst>
              <a:gd name="adj" fmla="val 6193"/>
            </a:avLst>
          </a:prstGeom>
          <a:solidFill>
            <a:srgbClr val="2D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423618" y="2199233"/>
            <a:ext cx="30269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4126453" y="2762994"/>
            <a:ext cx="89109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likely to get</a:t>
            </a:r>
            <a:endParaRPr lang="en-US" sz="750" dirty="0"/>
          </a:p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approval with</a:t>
            </a:r>
            <a:endParaRPr lang="en-US" sz="750" dirty="0"/>
          </a:p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presentations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6223099" y="2065883"/>
            <a:ext cx="2692450" cy="1230511"/>
          </a:xfrm>
          <a:prstGeom prst="roundRect">
            <a:avLst>
              <a:gd name="adj" fmla="val 6193"/>
            </a:avLst>
          </a:prstGeom>
          <a:solidFill>
            <a:srgbClr val="2D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7302401" y="2199233"/>
            <a:ext cx="54452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7145409" y="2762994"/>
            <a:ext cx="84782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executives prefer</a:t>
            </a:r>
            <a:endParaRPr lang="en-US" sz="750" dirty="0"/>
          </a:p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explanations</a:t>
            </a:r>
            <a:endParaRPr lang="en-US" sz="750" dirty="0"/>
          </a:p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technical docs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228600" y="3448794"/>
            <a:ext cx="8686800" cy="750540"/>
          </a:xfrm>
          <a:prstGeom prst="roundRect">
            <a:avLst>
              <a:gd name="adj" fmla="val 10153"/>
            </a:avLst>
          </a:prstGeom>
          <a:solidFill>
            <a:srgbClr val="2D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342900" y="3563094"/>
            <a:ext cx="862736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Today You'll Master: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42900" y="3799284"/>
            <a:ext cx="2000250" cy="285750"/>
          </a:xfrm>
          <a:prstGeom prst="roundRect">
            <a:avLst>
              <a:gd name="adj" fmla="val 26667"/>
            </a:avLst>
          </a:prstGeom>
          <a:solidFill>
            <a:srgbClr val="1A16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00622" y="3875484"/>
            <a:ext cx="18848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Your Audience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2495550" y="3799284"/>
            <a:ext cx="2000250" cy="285750"/>
          </a:xfrm>
          <a:prstGeom prst="roundRect">
            <a:avLst>
              <a:gd name="adj" fmla="val 26667"/>
            </a:avLst>
          </a:prstGeom>
          <a:solidFill>
            <a:srgbClr val="1A16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553272" y="3875484"/>
            <a:ext cx="18848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Storytelling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4648200" y="3799284"/>
            <a:ext cx="2000250" cy="285750"/>
          </a:xfrm>
          <a:prstGeom prst="roundRect">
            <a:avLst>
              <a:gd name="adj" fmla="val 26667"/>
            </a:avLst>
          </a:prstGeom>
          <a:solidFill>
            <a:srgbClr val="1A16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705922" y="3875484"/>
            <a:ext cx="18848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Design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6800850" y="3799284"/>
            <a:ext cx="2000250" cy="285750"/>
          </a:xfrm>
          <a:prstGeom prst="roundRect">
            <a:avLst>
              <a:gd name="adj" fmla="val 26667"/>
            </a:avLst>
          </a:prstGeom>
          <a:solidFill>
            <a:srgbClr val="1A16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6858571" y="3875484"/>
            <a:ext cx="18848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Handling Q&amp;A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228600" y="4781550"/>
            <a:ext cx="13519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15 - Day 3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6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516434"/>
            <a:ext cx="44399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Know Your Audience</a:t>
            </a:r>
            <a:endParaRPr lang="en-US" sz="2250" dirty="0"/>
          </a:p>
        </p:txBody>
      </p:sp>
      <p:pic>
        <p:nvPicPr>
          <p:cNvPr id="3" name="Image 0" descr="/tmp/rasterized-gradient-1a7fb27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68884"/>
            <a:ext cx="8686800" cy="3885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1000" y="1183184"/>
            <a:ext cx="85885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Rule: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Adapt your message to your audience, not the other way around.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228600" y="1609874"/>
            <a:ext cx="2057400" cy="2007543"/>
          </a:xfrm>
          <a:prstGeom prst="roundRect">
            <a:avLst>
              <a:gd name="adj" fmla="val 3796"/>
            </a:avLst>
          </a:prstGeom>
          <a:solidFill>
            <a:srgbClr val="2D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228600" y="1624161"/>
            <a:ext cx="2057400" cy="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42900" y="1752749"/>
            <a:ext cx="18653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👔 Executives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42900" y="2141339"/>
            <a:ext cx="18653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450"/>
              </a:spcAft>
              <a:buNone/>
            </a:pPr>
            <a:r>
              <a:rPr lang="en-US" sz="675" b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 about:</a:t>
            </a:r>
            <a:endParaRPr lang="en-US" sz="675" dirty="0"/>
          </a:p>
        </p:txBody>
      </p:sp>
      <p:sp>
        <p:nvSpPr>
          <p:cNvPr id="9" name="Text 6"/>
          <p:cNvSpPr/>
          <p:nvPr/>
        </p:nvSpPr>
        <p:spPr>
          <a:xfrm>
            <a:off x="342900" y="2470845"/>
            <a:ext cx="18653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Business impact &amp; ROI</a:t>
            </a:r>
            <a:endParaRPr lang="en-US" sz="675" dirty="0"/>
          </a:p>
        </p:txBody>
      </p:sp>
      <p:sp>
        <p:nvSpPr>
          <p:cNvPr id="10" name="Text 7"/>
          <p:cNvSpPr/>
          <p:nvPr/>
        </p:nvSpPr>
        <p:spPr>
          <a:xfrm>
            <a:off x="342900" y="2762250"/>
            <a:ext cx="18653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Risk and timeline</a:t>
            </a:r>
            <a:endParaRPr lang="en-US" sz="675" dirty="0"/>
          </a:p>
        </p:txBody>
      </p:sp>
      <p:sp>
        <p:nvSpPr>
          <p:cNvPr id="11" name="Text 8"/>
          <p:cNvSpPr/>
          <p:nvPr/>
        </p:nvSpPr>
        <p:spPr>
          <a:xfrm>
            <a:off x="342900" y="3053655"/>
            <a:ext cx="18653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450"/>
              </a:spcAft>
              <a:buNone/>
            </a:pPr>
            <a:r>
              <a:rPr lang="en-US" sz="67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Competitive advantage</a:t>
            </a:r>
            <a:endParaRPr lang="en-US" sz="675" dirty="0"/>
          </a:p>
        </p:txBody>
      </p:sp>
      <p:sp>
        <p:nvSpPr>
          <p:cNvPr id="12" name="Text 9"/>
          <p:cNvSpPr/>
          <p:nvPr/>
        </p:nvSpPr>
        <p:spPr>
          <a:xfrm>
            <a:off x="342900" y="3383161"/>
            <a:ext cx="18653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Avoid: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Technical jargon</a:t>
            </a:r>
            <a:endParaRPr lang="en-US" sz="675" dirty="0"/>
          </a:p>
        </p:txBody>
      </p:sp>
      <p:sp>
        <p:nvSpPr>
          <p:cNvPr id="13" name="Text 10"/>
          <p:cNvSpPr/>
          <p:nvPr/>
        </p:nvSpPr>
        <p:spPr>
          <a:xfrm>
            <a:off x="2438400" y="1609874"/>
            <a:ext cx="2057400" cy="2007543"/>
          </a:xfrm>
          <a:prstGeom prst="roundRect">
            <a:avLst>
              <a:gd name="adj" fmla="val 3796"/>
            </a:avLst>
          </a:prstGeom>
          <a:solidFill>
            <a:srgbClr val="2D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2438400" y="1624161"/>
            <a:ext cx="2057400" cy="0"/>
          </a:xfrm>
          <a:prstGeom prst="line">
            <a:avLst/>
          </a:prstGeom>
          <a:noFill/>
          <a:ln w="28575">
            <a:solidFill>
              <a:srgbClr val="A855F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52700" y="1752749"/>
            <a:ext cx="18653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Technical Team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552700" y="2141339"/>
            <a:ext cx="18653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450"/>
              </a:spcAft>
              <a:buNone/>
            </a:pPr>
            <a:r>
              <a:rPr lang="en-US" sz="675" b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 about:</a:t>
            </a:r>
            <a:endParaRPr lang="en-US" sz="675" dirty="0"/>
          </a:p>
        </p:txBody>
      </p:sp>
      <p:sp>
        <p:nvSpPr>
          <p:cNvPr id="17" name="Text 14"/>
          <p:cNvSpPr/>
          <p:nvPr/>
        </p:nvSpPr>
        <p:spPr>
          <a:xfrm>
            <a:off x="2552700" y="2470845"/>
            <a:ext cx="18653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Architecture &amp; stack</a:t>
            </a:r>
            <a:endParaRPr lang="en-US" sz="675" dirty="0"/>
          </a:p>
        </p:txBody>
      </p:sp>
      <p:sp>
        <p:nvSpPr>
          <p:cNvPr id="18" name="Text 15"/>
          <p:cNvSpPr/>
          <p:nvPr/>
        </p:nvSpPr>
        <p:spPr>
          <a:xfrm>
            <a:off x="2552700" y="2762250"/>
            <a:ext cx="18653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Performance metrics</a:t>
            </a:r>
            <a:endParaRPr lang="en-US" sz="675" dirty="0"/>
          </a:p>
        </p:txBody>
      </p:sp>
      <p:sp>
        <p:nvSpPr>
          <p:cNvPr id="19" name="Text 16"/>
          <p:cNvSpPr/>
          <p:nvPr/>
        </p:nvSpPr>
        <p:spPr>
          <a:xfrm>
            <a:off x="2552700" y="3053655"/>
            <a:ext cx="18653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450"/>
              </a:spcAft>
              <a:buNone/>
            </a:pPr>
            <a:r>
              <a:rPr lang="en-US" sz="67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Integration details</a:t>
            </a:r>
            <a:endParaRPr lang="en-US" sz="675" dirty="0"/>
          </a:p>
        </p:txBody>
      </p:sp>
      <p:sp>
        <p:nvSpPr>
          <p:cNvPr id="20" name="Text 17"/>
          <p:cNvSpPr/>
          <p:nvPr/>
        </p:nvSpPr>
        <p:spPr>
          <a:xfrm>
            <a:off x="2552700" y="3383161"/>
            <a:ext cx="18653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Avoid: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Over-simplifying</a:t>
            </a:r>
            <a:endParaRPr lang="en-US" sz="675" dirty="0"/>
          </a:p>
        </p:txBody>
      </p:sp>
      <p:sp>
        <p:nvSpPr>
          <p:cNvPr id="21" name="Text 18"/>
          <p:cNvSpPr/>
          <p:nvPr/>
        </p:nvSpPr>
        <p:spPr>
          <a:xfrm>
            <a:off x="4648200" y="1609874"/>
            <a:ext cx="2057400" cy="2007543"/>
          </a:xfrm>
          <a:prstGeom prst="roundRect">
            <a:avLst>
              <a:gd name="adj" fmla="val 3796"/>
            </a:avLst>
          </a:prstGeom>
          <a:solidFill>
            <a:srgbClr val="2D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4648200" y="1624161"/>
            <a:ext cx="2057400" cy="0"/>
          </a:xfrm>
          <a:prstGeom prst="line">
            <a:avLst/>
          </a:prstGeom>
          <a:noFill/>
          <a:ln w="28575">
            <a:solidFill>
              <a:srgbClr val="FBBF2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62500" y="1752749"/>
            <a:ext cx="18653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Product/Business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762500" y="2141339"/>
            <a:ext cx="18653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450"/>
              </a:spcAft>
              <a:buNone/>
            </a:pPr>
            <a:r>
              <a:rPr lang="en-US" sz="675" b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 about:</a:t>
            </a:r>
            <a:endParaRPr lang="en-US" sz="675" dirty="0"/>
          </a:p>
        </p:txBody>
      </p:sp>
      <p:sp>
        <p:nvSpPr>
          <p:cNvPr id="25" name="Text 22"/>
          <p:cNvSpPr/>
          <p:nvPr/>
        </p:nvSpPr>
        <p:spPr>
          <a:xfrm>
            <a:off x="4762500" y="2470845"/>
            <a:ext cx="18653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User experience</a:t>
            </a:r>
            <a:endParaRPr lang="en-US" sz="675" dirty="0"/>
          </a:p>
        </p:txBody>
      </p:sp>
      <p:sp>
        <p:nvSpPr>
          <p:cNvPr id="26" name="Text 23"/>
          <p:cNvSpPr/>
          <p:nvPr/>
        </p:nvSpPr>
        <p:spPr>
          <a:xfrm>
            <a:off x="4762500" y="2762250"/>
            <a:ext cx="18653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Feature capabilities</a:t>
            </a:r>
            <a:endParaRPr lang="en-US" sz="675" dirty="0"/>
          </a:p>
        </p:txBody>
      </p:sp>
      <p:sp>
        <p:nvSpPr>
          <p:cNvPr id="27" name="Text 24"/>
          <p:cNvSpPr/>
          <p:nvPr/>
        </p:nvSpPr>
        <p:spPr>
          <a:xfrm>
            <a:off x="4762500" y="3053655"/>
            <a:ext cx="18653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450"/>
              </a:spcAft>
              <a:buNone/>
            </a:pPr>
            <a:r>
              <a:rPr lang="en-US" sz="67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Limitations &amp; edge cases</a:t>
            </a:r>
            <a:endParaRPr lang="en-US" sz="675" dirty="0"/>
          </a:p>
        </p:txBody>
      </p:sp>
      <p:sp>
        <p:nvSpPr>
          <p:cNvPr id="28" name="Text 25"/>
          <p:cNvSpPr/>
          <p:nvPr/>
        </p:nvSpPr>
        <p:spPr>
          <a:xfrm>
            <a:off x="4762500" y="3383161"/>
            <a:ext cx="18653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Avoid: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Implementation focus</a:t>
            </a:r>
            <a:endParaRPr lang="en-US" sz="675" dirty="0"/>
          </a:p>
        </p:txBody>
      </p:sp>
      <p:sp>
        <p:nvSpPr>
          <p:cNvPr id="29" name="Text 26"/>
          <p:cNvSpPr/>
          <p:nvPr/>
        </p:nvSpPr>
        <p:spPr>
          <a:xfrm>
            <a:off x="6858000" y="1609874"/>
            <a:ext cx="2057400" cy="2007543"/>
          </a:xfrm>
          <a:prstGeom prst="roundRect">
            <a:avLst>
              <a:gd name="adj" fmla="val 3796"/>
            </a:avLst>
          </a:prstGeom>
          <a:solidFill>
            <a:srgbClr val="2D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7"/>
          <p:cNvSpPr/>
          <p:nvPr/>
        </p:nvSpPr>
        <p:spPr>
          <a:xfrm>
            <a:off x="6858000" y="1624161"/>
            <a:ext cx="2057400" cy="0"/>
          </a:xfrm>
          <a:prstGeom prst="line">
            <a:avLst/>
          </a:prstGeom>
          <a:noFill/>
          <a:ln w="28575">
            <a:solidFill>
              <a:srgbClr val="0891B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972300" y="1752749"/>
            <a:ext cx="18653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End Users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972300" y="2141339"/>
            <a:ext cx="18653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450"/>
              </a:spcAft>
              <a:buNone/>
            </a:pPr>
            <a:r>
              <a:rPr lang="en-US" sz="675" b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 about:</a:t>
            </a:r>
            <a:endParaRPr lang="en-US" sz="675" dirty="0"/>
          </a:p>
        </p:txBody>
      </p:sp>
      <p:sp>
        <p:nvSpPr>
          <p:cNvPr id="33" name="Text 30"/>
          <p:cNvSpPr/>
          <p:nvPr/>
        </p:nvSpPr>
        <p:spPr>
          <a:xfrm>
            <a:off x="6972300" y="2470845"/>
            <a:ext cx="18653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How it helps them</a:t>
            </a:r>
            <a:endParaRPr lang="en-US" sz="675" dirty="0"/>
          </a:p>
        </p:txBody>
      </p:sp>
      <p:sp>
        <p:nvSpPr>
          <p:cNvPr id="34" name="Text 31"/>
          <p:cNvSpPr/>
          <p:nvPr/>
        </p:nvSpPr>
        <p:spPr>
          <a:xfrm>
            <a:off x="6972300" y="2762250"/>
            <a:ext cx="18653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Ease of use</a:t>
            </a:r>
            <a:endParaRPr lang="en-US" sz="675" dirty="0"/>
          </a:p>
        </p:txBody>
      </p:sp>
      <p:sp>
        <p:nvSpPr>
          <p:cNvPr id="35" name="Text 32"/>
          <p:cNvSpPr/>
          <p:nvPr/>
        </p:nvSpPr>
        <p:spPr>
          <a:xfrm>
            <a:off x="6972300" y="3053655"/>
            <a:ext cx="18653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450"/>
              </a:spcAft>
              <a:buNone/>
            </a:pPr>
            <a:r>
              <a:rPr lang="en-US" sz="67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Trust &amp; privacy</a:t>
            </a:r>
            <a:endParaRPr lang="en-US" sz="675" dirty="0"/>
          </a:p>
        </p:txBody>
      </p:sp>
      <p:sp>
        <p:nvSpPr>
          <p:cNvPr id="36" name="Text 33"/>
          <p:cNvSpPr/>
          <p:nvPr/>
        </p:nvSpPr>
        <p:spPr>
          <a:xfrm>
            <a:off x="6972300" y="3383161"/>
            <a:ext cx="18653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Avoid: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Any jargon</a:t>
            </a:r>
            <a:endParaRPr lang="en-US" sz="675" dirty="0"/>
          </a:p>
        </p:txBody>
      </p:sp>
      <p:sp>
        <p:nvSpPr>
          <p:cNvPr id="37" name="Text 34"/>
          <p:cNvSpPr/>
          <p:nvPr/>
        </p:nvSpPr>
        <p:spPr>
          <a:xfrm>
            <a:off x="228600" y="3769816"/>
            <a:ext cx="8686800" cy="514201"/>
          </a:xfrm>
          <a:prstGeom prst="roundRect">
            <a:avLst>
              <a:gd name="adj" fmla="val 14819"/>
            </a:avLst>
          </a:prstGeom>
          <a:solidFill>
            <a:srgbClr val="2D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323850" y="3865066"/>
            <a:ext cx="86662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🤔 Ask Yourself Before Presenting:</a:t>
            </a:r>
            <a:endParaRPr lang="en-US" sz="825" dirty="0"/>
          </a:p>
        </p:txBody>
      </p:sp>
      <p:sp>
        <p:nvSpPr>
          <p:cNvPr id="39" name="Text 36"/>
          <p:cNvSpPr/>
          <p:nvPr/>
        </p:nvSpPr>
        <p:spPr>
          <a:xfrm>
            <a:off x="323850" y="4068812"/>
            <a:ext cx="278516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What decisions will they make?</a:t>
            </a:r>
            <a:endParaRPr lang="en-US" sz="675" dirty="0"/>
          </a:p>
        </p:txBody>
      </p:sp>
      <p:sp>
        <p:nvSpPr>
          <p:cNvPr id="40" name="Text 37"/>
          <p:cNvSpPr/>
          <p:nvPr/>
        </p:nvSpPr>
        <p:spPr>
          <a:xfrm>
            <a:off x="3206800" y="4068812"/>
            <a:ext cx="278516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What's their AI knowledge level?</a:t>
            </a:r>
            <a:endParaRPr lang="en-US" sz="675" dirty="0"/>
          </a:p>
        </p:txBody>
      </p:sp>
      <p:sp>
        <p:nvSpPr>
          <p:cNvPr id="41" name="Text 38"/>
          <p:cNvSpPr/>
          <p:nvPr/>
        </p:nvSpPr>
        <p:spPr>
          <a:xfrm>
            <a:off x="6089749" y="4068812"/>
            <a:ext cx="278516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What concerns might they have?</a:t>
            </a:r>
            <a:endParaRPr lang="en-US" sz="675" dirty="0"/>
          </a:p>
        </p:txBody>
      </p:sp>
      <p:sp>
        <p:nvSpPr>
          <p:cNvPr id="42" name="Text 39"/>
          <p:cNvSpPr/>
          <p:nvPr/>
        </p:nvSpPr>
        <p:spPr>
          <a:xfrm>
            <a:off x="228600" y="4781550"/>
            <a:ext cx="13519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15 - Day 3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6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363141"/>
            <a:ext cx="55184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The STAR Framework for AI Projects</a:t>
            </a:r>
            <a:endParaRPr lang="en-US" sz="2250" dirty="0"/>
          </a:p>
        </p:txBody>
      </p:sp>
      <p:pic>
        <p:nvPicPr>
          <p:cNvPr id="3" name="Image 0" descr="/tmp/rasterized-gradient-e919f49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915591"/>
            <a:ext cx="2057400" cy="212377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1000" y="1067991"/>
            <a:ext cx="17876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81000" y="1578471"/>
            <a:ext cx="178765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</a:t>
            </a:r>
            <a:endParaRPr lang="en-US" sz="975" dirty="0"/>
          </a:p>
        </p:txBody>
      </p:sp>
      <p:sp>
        <p:nvSpPr>
          <p:cNvPr id="6" name="Text 3"/>
          <p:cNvSpPr/>
          <p:nvPr/>
        </p:nvSpPr>
        <p:spPr>
          <a:xfrm>
            <a:off x="381000" y="1980307"/>
            <a:ext cx="17876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problem exists?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381000" y="2285107"/>
            <a:ext cx="17876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it matter?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381000" y="2647057"/>
            <a:ext cx="178765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600"/>
              </a:spcBef>
              <a:buNone/>
            </a:pPr>
            <a:r>
              <a:rPr lang="en-US" sz="675" i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"Customer support receives 10K tickets daily..."</a:t>
            </a:r>
            <a:endParaRPr lang="en-US" sz="675" dirty="0"/>
          </a:p>
        </p:txBody>
      </p:sp>
      <p:pic>
        <p:nvPicPr>
          <p:cNvPr id="9" name="Image 1" descr="/tmp/rasterized-gradient-b02c61f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915591"/>
            <a:ext cx="2057400" cy="212377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90800" y="1067991"/>
            <a:ext cx="17876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2590800" y="1578471"/>
            <a:ext cx="178765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975" dirty="0"/>
          </a:p>
        </p:txBody>
      </p:sp>
      <p:sp>
        <p:nvSpPr>
          <p:cNvPr id="12" name="Text 8"/>
          <p:cNvSpPr/>
          <p:nvPr/>
        </p:nvSpPr>
        <p:spPr>
          <a:xfrm>
            <a:off x="2590800" y="1980307"/>
            <a:ext cx="17876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you set out to do?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2590800" y="2285107"/>
            <a:ext cx="17876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the goal?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2590800" y="2647057"/>
            <a:ext cx="178765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600"/>
              </a:spcBef>
              <a:buNone/>
            </a:pPr>
            <a:r>
              <a:rPr lang="en-US" sz="675" i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"Build an AI assistant to handle 60% automatically..."</a:t>
            </a:r>
            <a:endParaRPr lang="en-US" sz="675" dirty="0"/>
          </a:p>
        </p:txBody>
      </p:sp>
      <p:pic>
        <p:nvPicPr>
          <p:cNvPr id="15" name="Image 2" descr="/tmp/rasterized-gradient-3c6d950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915591"/>
            <a:ext cx="2057400" cy="212377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800600" y="1067991"/>
            <a:ext cx="17876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4800600" y="1578471"/>
            <a:ext cx="178765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975" dirty="0"/>
          </a:p>
        </p:txBody>
      </p:sp>
      <p:sp>
        <p:nvSpPr>
          <p:cNvPr id="18" name="Text 13"/>
          <p:cNvSpPr/>
          <p:nvPr/>
        </p:nvSpPr>
        <p:spPr>
          <a:xfrm>
            <a:off x="4800600" y="1980307"/>
            <a:ext cx="17876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you build?</a:t>
            </a:r>
            <a:endParaRPr lang="en-US" sz="750" dirty="0"/>
          </a:p>
        </p:txBody>
      </p:sp>
      <p:sp>
        <p:nvSpPr>
          <p:cNvPr id="19" name="Text 14"/>
          <p:cNvSpPr/>
          <p:nvPr/>
        </p:nvSpPr>
        <p:spPr>
          <a:xfrm>
            <a:off x="4800600" y="2285107"/>
            <a:ext cx="17876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it work?</a:t>
            </a:r>
            <a:endParaRPr lang="en-US" sz="750" dirty="0"/>
          </a:p>
        </p:txBody>
      </p:sp>
      <p:sp>
        <p:nvSpPr>
          <p:cNvPr id="20" name="Text 15"/>
          <p:cNvSpPr/>
          <p:nvPr/>
        </p:nvSpPr>
        <p:spPr>
          <a:xfrm>
            <a:off x="4800600" y="2647057"/>
            <a:ext cx="178765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600"/>
              </a:spcBef>
              <a:buNone/>
            </a:pPr>
            <a:r>
              <a:rPr lang="en-US" sz="675" i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"Used RAG with company docs to provide accurate answers..."</a:t>
            </a:r>
            <a:endParaRPr lang="en-US" sz="675" dirty="0"/>
          </a:p>
        </p:txBody>
      </p:sp>
      <p:pic>
        <p:nvPicPr>
          <p:cNvPr id="21" name="Image 3" descr="/tmp/rasterized-gradient-e96dc5e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915591"/>
            <a:ext cx="2057400" cy="212377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10400" y="1067991"/>
            <a:ext cx="17876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7010400" y="1578471"/>
            <a:ext cx="178765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975" dirty="0"/>
          </a:p>
        </p:txBody>
      </p:sp>
      <p:sp>
        <p:nvSpPr>
          <p:cNvPr id="24" name="Text 18"/>
          <p:cNvSpPr/>
          <p:nvPr/>
        </p:nvSpPr>
        <p:spPr>
          <a:xfrm>
            <a:off x="7010400" y="1980307"/>
            <a:ext cx="17876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achieved?</a:t>
            </a:r>
            <a:endParaRPr lang="en-US" sz="750" dirty="0"/>
          </a:p>
        </p:txBody>
      </p:sp>
      <p:sp>
        <p:nvSpPr>
          <p:cNvPr id="25" name="Text 19"/>
          <p:cNvSpPr/>
          <p:nvPr/>
        </p:nvSpPr>
        <p:spPr>
          <a:xfrm>
            <a:off x="7010400" y="2285107"/>
            <a:ext cx="17876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the impact?</a:t>
            </a:r>
            <a:endParaRPr lang="en-US" sz="750" dirty="0"/>
          </a:p>
        </p:txBody>
      </p:sp>
      <p:sp>
        <p:nvSpPr>
          <p:cNvPr id="26" name="Text 20"/>
          <p:cNvSpPr/>
          <p:nvPr/>
        </p:nvSpPr>
        <p:spPr>
          <a:xfrm>
            <a:off x="7010400" y="2647057"/>
            <a:ext cx="178765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600"/>
              </a:spcBef>
              <a:buNone/>
            </a:pPr>
            <a:r>
              <a:rPr lang="en-US" sz="675" i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"Reduced response time by 80%, saved $2M/year..."</a:t>
            </a:r>
            <a:endParaRPr lang="en-US" sz="675" dirty="0"/>
          </a:p>
        </p:txBody>
      </p:sp>
      <p:sp>
        <p:nvSpPr>
          <p:cNvPr id="27" name="Text 21"/>
          <p:cNvSpPr/>
          <p:nvPr/>
        </p:nvSpPr>
        <p:spPr>
          <a:xfrm>
            <a:off x="228600" y="3191768"/>
            <a:ext cx="8686800" cy="737146"/>
          </a:xfrm>
          <a:prstGeom prst="roundRect">
            <a:avLst>
              <a:gd name="adj" fmla="val 10337"/>
            </a:avLst>
          </a:prstGeom>
          <a:solidFill>
            <a:srgbClr val="2D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2"/>
          <p:cNvSpPr/>
          <p:nvPr/>
        </p:nvSpPr>
        <p:spPr>
          <a:xfrm>
            <a:off x="342900" y="3306068"/>
            <a:ext cx="86273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Presentation Time Allocation (15 min talk):</a:t>
            </a:r>
            <a:endParaRPr lang="en-US" sz="825" dirty="0"/>
          </a:p>
        </p:txBody>
      </p:sp>
      <p:sp>
        <p:nvSpPr>
          <p:cNvPr id="29" name="Text 23"/>
          <p:cNvSpPr/>
          <p:nvPr/>
        </p:nvSpPr>
        <p:spPr>
          <a:xfrm>
            <a:off x="342900" y="3528864"/>
            <a:ext cx="1268611" cy="285750"/>
          </a:xfrm>
          <a:prstGeom prst="roundRect">
            <a:avLst>
              <a:gd name="adj" fmla="val 26667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407938" y="3605064"/>
            <a:ext cx="11385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S: 2 min</a:t>
            </a:r>
            <a:endParaRPr lang="en-US" sz="750" dirty="0"/>
          </a:p>
        </p:txBody>
      </p:sp>
      <p:sp>
        <p:nvSpPr>
          <p:cNvPr id="31" name="Text 25"/>
          <p:cNvSpPr/>
          <p:nvPr/>
        </p:nvSpPr>
        <p:spPr>
          <a:xfrm>
            <a:off x="1763911" y="3528864"/>
            <a:ext cx="1268611" cy="285750"/>
          </a:xfrm>
          <a:prstGeom prst="roundRect">
            <a:avLst>
              <a:gd name="adj" fmla="val 26667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6"/>
          <p:cNvSpPr/>
          <p:nvPr/>
        </p:nvSpPr>
        <p:spPr>
          <a:xfrm>
            <a:off x="1828949" y="3605064"/>
            <a:ext cx="11385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T: 2 min</a:t>
            </a:r>
            <a:endParaRPr lang="en-US" sz="750" dirty="0"/>
          </a:p>
        </p:txBody>
      </p:sp>
      <p:sp>
        <p:nvSpPr>
          <p:cNvPr id="33" name="Text 27"/>
          <p:cNvSpPr/>
          <p:nvPr/>
        </p:nvSpPr>
        <p:spPr>
          <a:xfrm>
            <a:off x="3184922" y="3528864"/>
            <a:ext cx="3383161" cy="285750"/>
          </a:xfrm>
          <a:prstGeom prst="roundRect">
            <a:avLst>
              <a:gd name="adj" fmla="val 26667"/>
            </a:avLst>
          </a:prstGeom>
          <a:solidFill>
            <a:srgbClr val="A85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8"/>
          <p:cNvSpPr/>
          <p:nvPr/>
        </p:nvSpPr>
        <p:spPr>
          <a:xfrm>
            <a:off x="3228814" y="3605064"/>
            <a:ext cx="32953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7 min (Demo!)</a:t>
            </a:r>
            <a:endParaRPr lang="en-US" sz="750" dirty="0"/>
          </a:p>
        </p:txBody>
      </p:sp>
      <p:sp>
        <p:nvSpPr>
          <p:cNvPr id="35" name="Text 29"/>
          <p:cNvSpPr/>
          <p:nvPr/>
        </p:nvSpPr>
        <p:spPr>
          <a:xfrm>
            <a:off x="6720483" y="3528864"/>
            <a:ext cx="1691580" cy="285750"/>
          </a:xfrm>
          <a:prstGeom prst="roundRect">
            <a:avLst>
              <a:gd name="adj" fmla="val 26667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0"/>
          <p:cNvSpPr/>
          <p:nvPr/>
        </p:nvSpPr>
        <p:spPr>
          <a:xfrm>
            <a:off x="6781291" y="3605064"/>
            <a:ext cx="15699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A16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R: 4 min</a:t>
            </a:r>
            <a:endParaRPr lang="en-US" sz="750" dirty="0"/>
          </a:p>
        </p:txBody>
      </p:sp>
      <p:sp>
        <p:nvSpPr>
          <p:cNvPr id="37" name="Text 31"/>
          <p:cNvSpPr/>
          <p:nvPr/>
        </p:nvSpPr>
        <p:spPr>
          <a:xfrm>
            <a:off x="228600" y="4081314"/>
            <a:ext cx="8686800" cy="356146"/>
          </a:xfrm>
          <a:prstGeom prst="roundRect">
            <a:avLst>
              <a:gd name="adj" fmla="val 21396"/>
            </a:avLst>
          </a:prstGeom>
          <a:solidFill>
            <a:srgbClr val="1A1625"/>
          </a:solidFill>
          <a:ln w="9525">
            <a:solidFill>
              <a:srgbClr val="3D365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2"/>
          <p:cNvSpPr/>
          <p:nvPr/>
        </p:nvSpPr>
        <p:spPr>
          <a:xfrm>
            <a:off x="248602" y="4186089"/>
            <a:ext cx="864679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</a:t>
            </a:r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Tip:</a:t>
            </a:r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Lead with the Result for executives! They want impact first, details later.</a:t>
            </a:r>
            <a:endParaRPr lang="en-US" sz="825" dirty="0"/>
          </a:p>
        </p:txBody>
      </p:sp>
      <p:sp>
        <p:nvSpPr>
          <p:cNvPr id="39" name="Text 33"/>
          <p:cNvSpPr/>
          <p:nvPr/>
        </p:nvSpPr>
        <p:spPr>
          <a:xfrm>
            <a:off x="228600" y="4781550"/>
            <a:ext cx="13519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15 - Day 3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6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637282"/>
            <a:ext cx="473144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Explaining AI Concepts Simply</a:t>
            </a:r>
            <a:endParaRPr lang="en-US" sz="2250" dirty="0"/>
          </a:p>
        </p:txBody>
      </p:sp>
      <p:pic>
        <p:nvPicPr>
          <p:cNvPr id="3" name="Image 0" descr="/tmp/rasterized-gradient-239630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189732"/>
            <a:ext cx="8686800" cy="4266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1950" y="1323082"/>
            <a:ext cx="85885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Feynman Technique: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you can't explain it simply, you don't understand it well enough.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228600" y="1768822"/>
            <a:ext cx="42529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Too Technical: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28600" y="2081212"/>
            <a:ext cx="4169569" cy="457200"/>
          </a:xfrm>
          <a:prstGeom prst="roundRect">
            <a:avLst>
              <a:gd name="adj" fmla="val 16667"/>
            </a:avLst>
          </a:prstGeom>
          <a:solidFill>
            <a:srgbClr val="2D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242888" y="2081212"/>
            <a:ext cx="0" cy="457200"/>
          </a:xfrm>
          <a:prstGeom prst="line">
            <a:avLst/>
          </a:prstGeom>
          <a:noFill/>
          <a:ln w="28575">
            <a:solidFill>
              <a:srgbClr val="EF444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52425" y="2176463"/>
            <a:ext cx="40295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implemented a transformer-based retrieval-augmented generation system with HNSW indexing and cross-encoder re-ranking for sub-linear query complexity."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228600" y="2690813"/>
            <a:ext cx="4169569" cy="457200"/>
          </a:xfrm>
          <a:prstGeom prst="roundRect">
            <a:avLst>
              <a:gd name="adj" fmla="val 16667"/>
            </a:avLst>
          </a:prstGeom>
          <a:solidFill>
            <a:srgbClr val="2D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242888" y="2690813"/>
            <a:ext cx="0" cy="457200"/>
          </a:xfrm>
          <a:prstGeom prst="line">
            <a:avLst/>
          </a:prstGeom>
          <a:noFill/>
          <a:ln w="28575">
            <a:solidFill>
              <a:srgbClr val="EF44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2425" y="2786063"/>
            <a:ext cx="40295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model uses attention mechanisms with positional encoding to capture sequential dependencies in the latent embedding space."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4702969" y="1768822"/>
            <a:ext cx="42529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Clear &amp; Simple: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702969" y="2081212"/>
            <a:ext cx="4169569" cy="457200"/>
          </a:xfrm>
          <a:prstGeom prst="roundRect">
            <a:avLst>
              <a:gd name="adj" fmla="val 16667"/>
            </a:avLst>
          </a:prstGeom>
          <a:solidFill>
            <a:srgbClr val="2D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717256" y="2081212"/>
            <a:ext cx="0" cy="45720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26794" y="2176463"/>
            <a:ext cx="40295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AI searches our documents like a smart librarian, finds the most relevant information, and writes a helpful answer based on what it found."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4702969" y="2690813"/>
            <a:ext cx="4169569" cy="457200"/>
          </a:xfrm>
          <a:prstGeom prst="roundRect">
            <a:avLst>
              <a:gd name="adj" fmla="val 16667"/>
            </a:avLst>
          </a:prstGeom>
          <a:solidFill>
            <a:srgbClr val="2D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4717256" y="2690813"/>
            <a:ext cx="0" cy="45720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26794" y="2786063"/>
            <a:ext cx="40295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model reads entire sentences at once (like we do) instead of word-by-word, so it understands context much better."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228600" y="3300413"/>
            <a:ext cx="8686800" cy="862757"/>
          </a:xfrm>
          <a:prstGeom prst="roundRect">
            <a:avLst>
              <a:gd name="adj" fmla="val 8832"/>
            </a:avLst>
          </a:prstGeom>
          <a:solidFill>
            <a:srgbClr val="2D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342900" y="3414713"/>
            <a:ext cx="86273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Your Analogy Toolkit: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342900" y="3637508"/>
            <a:ext cx="2000250" cy="411361"/>
          </a:xfrm>
          <a:prstGeom prst="roundRect">
            <a:avLst>
              <a:gd name="adj" fmla="val 18524"/>
            </a:avLst>
          </a:prstGeom>
          <a:solidFill>
            <a:srgbClr val="1A16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19100" y="3713708"/>
            <a:ext cx="188480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=</a:t>
            </a:r>
            <a:endParaRPr lang="en-US" sz="675" dirty="0"/>
          </a:p>
        </p:txBody>
      </p:sp>
      <p:sp>
        <p:nvSpPr>
          <p:cNvPr id="23" name="Text 20"/>
          <p:cNvSpPr/>
          <p:nvPr/>
        </p:nvSpPr>
        <p:spPr>
          <a:xfrm>
            <a:off x="419100" y="3852714"/>
            <a:ext cx="188480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"Open-book exam"</a:t>
            </a:r>
            <a:endParaRPr lang="en-US" sz="675" dirty="0"/>
          </a:p>
        </p:txBody>
      </p:sp>
      <p:sp>
        <p:nvSpPr>
          <p:cNvPr id="24" name="Text 21"/>
          <p:cNvSpPr/>
          <p:nvPr/>
        </p:nvSpPr>
        <p:spPr>
          <a:xfrm>
            <a:off x="2495550" y="3637508"/>
            <a:ext cx="2000250" cy="411361"/>
          </a:xfrm>
          <a:prstGeom prst="roundRect">
            <a:avLst>
              <a:gd name="adj" fmla="val 18524"/>
            </a:avLst>
          </a:prstGeom>
          <a:solidFill>
            <a:srgbClr val="1A16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2571750" y="3713708"/>
            <a:ext cx="188480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 =</a:t>
            </a:r>
            <a:endParaRPr lang="en-US" sz="675" dirty="0"/>
          </a:p>
        </p:txBody>
      </p:sp>
      <p:sp>
        <p:nvSpPr>
          <p:cNvPr id="26" name="Text 23"/>
          <p:cNvSpPr/>
          <p:nvPr/>
        </p:nvSpPr>
        <p:spPr>
          <a:xfrm>
            <a:off x="2571750" y="3852714"/>
            <a:ext cx="188480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"Meaning as numbers"</a:t>
            </a:r>
            <a:endParaRPr lang="en-US" sz="675" dirty="0"/>
          </a:p>
        </p:txBody>
      </p:sp>
      <p:sp>
        <p:nvSpPr>
          <p:cNvPr id="27" name="Text 24"/>
          <p:cNvSpPr/>
          <p:nvPr/>
        </p:nvSpPr>
        <p:spPr>
          <a:xfrm>
            <a:off x="4648200" y="3637508"/>
            <a:ext cx="2000250" cy="411361"/>
          </a:xfrm>
          <a:prstGeom prst="roundRect">
            <a:avLst>
              <a:gd name="adj" fmla="val 18524"/>
            </a:avLst>
          </a:prstGeom>
          <a:solidFill>
            <a:srgbClr val="1A16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724400" y="3713708"/>
            <a:ext cx="188480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=</a:t>
            </a:r>
            <a:endParaRPr lang="en-US" sz="675" dirty="0"/>
          </a:p>
        </p:txBody>
      </p:sp>
      <p:sp>
        <p:nvSpPr>
          <p:cNvPr id="29" name="Text 26"/>
          <p:cNvSpPr/>
          <p:nvPr/>
        </p:nvSpPr>
        <p:spPr>
          <a:xfrm>
            <a:off x="4724400" y="3852714"/>
            <a:ext cx="188480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"Training a specialist"</a:t>
            </a:r>
            <a:endParaRPr lang="en-US" sz="675" dirty="0"/>
          </a:p>
        </p:txBody>
      </p:sp>
      <p:sp>
        <p:nvSpPr>
          <p:cNvPr id="30" name="Text 27"/>
          <p:cNvSpPr/>
          <p:nvPr/>
        </p:nvSpPr>
        <p:spPr>
          <a:xfrm>
            <a:off x="6800850" y="3637508"/>
            <a:ext cx="2000250" cy="411361"/>
          </a:xfrm>
          <a:prstGeom prst="roundRect">
            <a:avLst>
              <a:gd name="adj" fmla="val 18524"/>
            </a:avLst>
          </a:prstGeom>
          <a:solidFill>
            <a:srgbClr val="1A16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6877050" y="3713708"/>
            <a:ext cx="188480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DB =</a:t>
            </a:r>
            <a:endParaRPr lang="en-US" sz="675" dirty="0"/>
          </a:p>
        </p:txBody>
      </p:sp>
      <p:sp>
        <p:nvSpPr>
          <p:cNvPr id="32" name="Text 29"/>
          <p:cNvSpPr/>
          <p:nvPr/>
        </p:nvSpPr>
        <p:spPr>
          <a:xfrm>
            <a:off x="6877050" y="3852714"/>
            <a:ext cx="188480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"Smart filing cabinet"</a:t>
            </a:r>
            <a:endParaRPr lang="en-US" sz="675" dirty="0"/>
          </a:p>
        </p:txBody>
      </p:sp>
      <p:sp>
        <p:nvSpPr>
          <p:cNvPr id="33" name="Text 30"/>
          <p:cNvSpPr/>
          <p:nvPr/>
        </p:nvSpPr>
        <p:spPr>
          <a:xfrm>
            <a:off x="228600" y="4781550"/>
            <a:ext cx="13519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15 - Day 3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6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621209"/>
            <a:ext cx="519779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Visual Design for AI Presentations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228600" y="1173659"/>
            <a:ext cx="2779663" cy="952500"/>
          </a:xfrm>
          <a:prstGeom prst="roundRect">
            <a:avLst>
              <a:gd name="adj" fmla="val 8000"/>
            </a:avLst>
          </a:prstGeom>
          <a:solidFill>
            <a:srgbClr val="2D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228600" y="1187946"/>
            <a:ext cx="2779663" cy="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2900" y="1316534"/>
            <a:ext cx="260208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One Idea Per Slide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42900" y="1533674"/>
            <a:ext cx="260208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slide should have ONE main point. If you need bullet points, you need more slides.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3160663" y="1173659"/>
            <a:ext cx="2779663" cy="952500"/>
          </a:xfrm>
          <a:prstGeom prst="roundRect">
            <a:avLst>
              <a:gd name="adj" fmla="val 8000"/>
            </a:avLst>
          </a:prstGeom>
          <a:solidFill>
            <a:srgbClr val="2D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160663" y="1187946"/>
            <a:ext cx="2779663" cy="0"/>
          </a:xfrm>
          <a:prstGeom prst="line">
            <a:avLst/>
          </a:prstGeom>
          <a:noFill/>
          <a:ln w="28575">
            <a:solidFill>
              <a:srgbClr val="A855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74963" y="1316534"/>
            <a:ext cx="260208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📐 Less Text, More Visuals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74963" y="1533674"/>
            <a:ext cx="260208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diagrams, charts, and screenshots. Text should guide, not dominate.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6092726" y="1173659"/>
            <a:ext cx="2779663" cy="952500"/>
          </a:xfrm>
          <a:prstGeom prst="roundRect">
            <a:avLst>
              <a:gd name="adj" fmla="val 8000"/>
            </a:avLst>
          </a:prstGeom>
          <a:solidFill>
            <a:srgbClr val="2D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092726" y="1187946"/>
            <a:ext cx="2779663" cy="0"/>
          </a:xfrm>
          <a:prstGeom prst="line">
            <a:avLst/>
          </a:prstGeom>
          <a:noFill/>
          <a:ln w="28575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07026" y="1316534"/>
            <a:ext cx="260208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Consistent Styling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07026" y="1533674"/>
            <a:ext cx="260208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fonts, colors, spacing throughout. Inconsistency distracts from your message.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228600" y="2278559"/>
            <a:ext cx="8686800" cy="1405533"/>
          </a:xfrm>
          <a:prstGeom prst="roundRect">
            <a:avLst>
              <a:gd name="adj" fmla="val 5421"/>
            </a:avLst>
          </a:prstGeom>
          <a:solidFill>
            <a:srgbClr val="2D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42900" y="2392859"/>
            <a:ext cx="86273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Must-Have Visuals for AI Projects: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342900" y="2615654"/>
            <a:ext cx="1569690" cy="954137"/>
          </a:xfrm>
          <a:prstGeom prst="roundRect">
            <a:avLst>
              <a:gd name="adj" fmla="val 7986"/>
            </a:avLst>
          </a:prstGeom>
          <a:solidFill>
            <a:srgbClr val="1A16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032570" y="2691854"/>
            <a:ext cx="19400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6470" y="3095625"/>
            <a:ext cx="78240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Charts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788539" y="3387030"/>
            <a:ext cx="67826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Before/after metrics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2064990" y="2615654"/>
            <a:ext cx="1569690" cy="954137"/>
          </a:xfrm>
          <a:prstGeom prst="roundRect">
            <a:avLst>
              <a:gd name="adj" fmla="val 7986"/>
            </a:avLst>
          </a:prstGeom>
          <a:solidFill>
            <a:srgbClr val="1A16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754660" y="2691854"/>
            <a:ext cx="19400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17269" y="3095625"/>
            <a:ext cx="86498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Diagrams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2640270" y="3387030"/>
            <a:ext cx="41898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flow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3787080" y="2615654"/>
            <a:ext cx="1569690" cy="954137"/>
          </a:xfrm>
          <a:prstGeom prst="roundRect">
            <a:avLst>
              <a:gd name="adj" fmla="val 7986"/>
            </a:avLst>
          </a:prstGeom>
          <a:solidFill>
            <a:srgbClr val="1A16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476750" y="2691854"/>
            <a:ext cx="19400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272948" y="3095625"/>
            <a:ext cx="59780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Screenshots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4332150" y="3387030"/>
            <a:ext cx="47955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interface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5509171" y="2615654"/>
            <a:ext cx="1569690" cy="954137"/>
          </a:xfrm>
          <a:prstGeom prst="roundRect">
            <a:avLst>
              <a:gd name="adj" fmla="val 7986"/>
            </a:avLst>
          </a:prstGeom>
          <a:solidFill>
            <a:srgbClr val="1A16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198840" y="2691854"/>
            <a:ext cx="19400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🎬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084906" y="3095625"/>
            <a:ext cx="41807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675" dirty="0"/>
          </a:p>
        </p:txBody>
      </p:sp>
      <p:sp>
        <p:nvSpPr>
          <p:cNvPr id="32" name="Text 30"/>
          <p:cNvSpPr/>
          <p:nvPr/>
        </p:nvSpPr>
        <p:spPr>
          <a:xfrm>
            <a:off x="6018263" y="3387030"/>
            <a:ext cx="55150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system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7231261" y="2615654"/>
            <a:ext cx="1569690" cy="954137"/>
          </a:xfrm>
          <a:prstGeom prst="roundRect">
            <a:avLst>
              <a:gd name="adj" fmla="val 7986"/>
            </a:avLst>
          </a:prstGeom>
          <a:solidFill>
            <a:srgbClr val="1A16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920930" y="2691854"/>
            <a:ext cx="19400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642592" y="3095625"/>
            <a:ext cx="74687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Tables</a:t>
            </a:r>
            <a:endParaRPr lang="en-US" sz="675" dirty="0"/>
          </a:p>
        </p:txBody>
      </p:sp>
      <p:sp>
        <p:nvSpPr>
          <p:cNvPr id="36" name="Text 34"/>
          <p:cNvSpPr/>
          <p:nvPr/>
        </p:nvSpPr>
        <p:spPr>
          <a:xfrm>
            <a:off x="7702707" y="3387030"/>
            <a:ext cx="62665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 evaluated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228600" y="3836491"/>
            <a:ext cx="8686800" cy="342900"/>
          </a:xfrm>
          <a:prstGeom prst="roundRect">
            <a:avLst>
              <a:gd name="adj" fmla="val 22222"/>
            </a:avLst>
          </a:prstGeom>
          <a:solidFill>
            <a:srgbClr val="1A1625"/>
          </a:solidFill>
          <a:ln w="9525">
            <a:solidFill>
              <a:srgbClr val="3D365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33375" y="3941266"/>
            <a:ext cx="86467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Use color meaningfully: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Green = good/success, Red = warning/issue, Blue = information, Yellow = attention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228600" y="4781550"/>
            <a:ext cx="13519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15 - Day 3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6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616595"/>
            <a:ext cx="44399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🎬 The Power of a Great Demo</a:t>
            </a:r>
            <a:endParaRPr lang="en-US" sz="2250" dirty="0"/>
          </a:p>
        </p:txBody>
      </p:sp>
      <p:pic>
        <p:nvPicPr>
          <p:cNvPr id="3" name="Image 0" descr="/tmp/rasterized-gradient-e8dcbe8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169045"/>
            <a:ext cx="8686800" cy="4914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1000" y="1321445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"Show, don't tell."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2-minute demo is worth 20 slides of explanation.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228600" y="1812875"/>
            <a:ext cx="4169569" cy="1184523"/>
          </a:xfrm>
          <a:prstGeom prst="roundRect">
            <a:avLst>
              <a:gd name="adj" fmla="val 6433"/>
            </a:avLst>
          </a:prstGeom>
          <a:solidFill>
            <a:srgbClr val="2D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247650" y="1812875"/>
            <a:ext cx="0" cy="1184523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1000" y="1927175"/>
            <a:ext cx="39809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Demo Best Practices: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381000" y="2130921"/>
            <a:ext cx="398092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Prepare 3 specific scenarios in advance</a:t>
            </a:r>
            <a:endParaRPr lang="en-US" sz="675" dirty="0"/>
          </a:p>
        </p:txBody>
      </p:sp>
      <p:sp>
        <p:nvSpPr>
          <p:cNvPr id="9" name="Text 6"/>
          <p:cNvSpPr/>
          <p:nvPr/>
        </p:nvSpPr>
        <p:spPr>
          <a:xfrm>
            <a:off x="381000" y="2288977"/>
            <a:ext cx="398092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Start with a simple, impressive example</a:t>
            </a:r>
            <a:endParaRPr lang="en-US" sz="675" dirty="0"/>
          </a:p>
        </p:txBody>
      </p:sp>
      <p:sp>
        <p:nvSpPr>
          <p:cNvPr id="10" name="Text 7"/>
          <p:cNvSpPr/>
          <p:nvPr/>
        </p:nvSpPr>
        <p:spPr>
          <a:xfrm>
            <a:off x="381000" y="2447032"/>
            <a:ext cx="398092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Narrate what's happening as you demo</a:t>
            </a:r>
            <a:endParaRPr lang="en-US" sz="675" dirty="0"/>
          </a:p>
        </p:txBody>
      </p:sp>
      <p:sp>
        <p:nvSpPr>
          <p:cNvPr id="11" name="Text 8"/>
          <p:cNvSpPr/>
          <p:nvPr/>
        </p:nvSpPr>
        <p:spPr>
          <a:xfrm>
            <a:off x="381000" y="2605088"/>
            <a:ext cx="398092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Have a backup video recording ready</a:t>
            </a:r>
            <a:endParaRPr lang="en-US" sz="675" dirty="0"/>
          </a:p>
        </p:txBody>
      </p:sp>
      <p:sp>
        <p:nvSpPr>
          <p:cNvPr id="12" name="Text 9"/>
          <p:cNvSpPr/>
          <p:nvPr/>
        </p:nvSpPr>
        <p:spPr>
          <a:xfrm>
            <a:off x="381000" y="2763143"/>
            <a:ext cx="398092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Test everything 10 minutes before</a:t>
            </a:r>
            <a:endParaRPr lang="en-US" sz="675" dirty="0"/>
          </a:p>
        </p:txBody>
      </p:sp>
      <p:sp>
        <p:nvSpPr>
          <p:cNvPr id="13" name="Text 10"/>
          <p:cNvSpPr/>
          <p:nvPr/>
        </p:nvSpPr>
        <p:spPr>
          <a:xfrm>
            <a:off x="4550569" y="1812875"/>
            <a:ext cx="4169569" cy="1184523"/>
          </a:xfrm>
          <a:prstGeom prst="roundRect">
            <a:avLst>
              <a:gd name="adj" fmla="val 6433"/>
            </a:avLst>
          </a:prstGeom>
          <a:solidFill>
            <a:srgbClr val="2D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569619" y="1812875"/>
            <a:ext cx="0" cy="1184523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02969" y="1927175"/>
            <a:ext cx="39809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Common Demo Mistakes: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4702969" y="2130921"/>
            <a:ext cx="398092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Too complex for first example</a:t>
            </a:r>
            <a:endParaRPr lang="en-US" sz="675" dirty="0"/>
          </a:p>
        </p:txBody>
      </p:sp>
      <p:sp>
        <p:nvSpPr>
          <p:cNvPr id="17" name="Text 14"/>
          <p:cNvSpPr/>
          <p:nvPr/>
        </p:nvSpPr>
        <p:spPr>
          <a:xfrm>
            <a:off x="4702969" y="2288977"/>
            <a:ext cx="398092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Relying on live internet/APIs</a:t>
            </a:r>
            <a:endParaRPr lang="en-US" sz="675" dirty="0"/>
          </a:p>
        </p:txBody>
      </p:sp>
      <p:sp>
        <p:nvSpPr>
          <p:cNvPr id="18" name="Text 15"/>
          <p:cNvSpPr/>
          <p:nvPr/>
        </p:nvSpPr>
        <p:spPr>
          <a:xfrm>
            <a:off x="4702969" y="2447032"/>
            <a:ext cx="398092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Not having fallback plan</a:t>
            </a:r>
            <a:endParaRPr lang="en-US" sz="675" dirty="0"/>
          </a:p>
        </p:txBody>
      </p:sp>
      <p:sp>
        <p:nvSpPr>
          <p:cNvPr id="19" name="Text 16"/>
          <p:cNvSpPr/>
          <p:nvPr/>
        </p:nvSpPr>
        <p:spPr>
          <a:xfrm>
            <a:off x="4702969" y="2605088"/>
            <a:ext cx="398092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Going too fast without explanation</a:t>
            </a:r>
            <a:endParaRPr lang="en-US" sz="675" dirty="0"/>
          </a:p>
        </p:txBody>
      </p:sp>
      <p:sp>
        <p:nvSpPr>
          <p:cNvPr id="20" name="Text 17"/>
          <p:cNvSpPr/>
          <p:nvPr/>
        </p:nvSpPr>
        <p:spPr>
          <a:xfrm>
            <a:off x="4702969" y="2763143"/>
            <a:ext cx="398092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Ignoring edge cases that might fail</a:t>
            </a:r>
            <a:endParaRPr lang="en-US" sz="675" dirty="0"/>
          </a:p>
        </p:txBody>
      </p:sp>
      <p:sp>
        <p:nvSpPr>
          <p:cNvPr id="21" name="Text 18"/>
          <p:cNvSpPr/>
          <p:nvPr/>
        </p:nvSpPr>
        <p:spPr>
          <a:xfrm>
            <a:off x="228600" y="3149798"/>
            <a:ext cx="8686800" cy="1034207"/>
          </a:xfrm>
          <a:prstGeom prst="roundRect">
            <a:avLst>
              <a:gd name="adj" fmla="val 7368"/>
            </a:avLst>
          </a:prstGeom>
          <a:solidFill>
            <a:srgbClr val="2D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342900" y="3264098"/>
            <a:ext cx="86273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The Perfect Demo Structure (3 minutes):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1274118" y="3486894"/>
            <a:ext cx="664666" cy="285750"/>
          </a:xfrm>
          <a:prstGeom prst="roundRect">
            <a:avLst>
              <a:gd name="adj" fmla="val 26667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1426518" y="3563094"/>
            <a:ext cx="3670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WOW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1286768" y="3963144"/>
            <a:ext cx="65230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Simple, impressive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3022550" y="3684984"/>
            <a:ext cx="1360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3D3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250085" y="3486894"/>
            <a:ext cx="643533" cy="285750"/>
          </a:xfrm>
          <a:prstGeom prst="roundRect">
            <a:avLst>
              <a:gd name="adj" fmla="val 26667"/>
            </a:avLst>
          </a:prstGeom>
          <a:solidFill>
            <a:srgbClr val="A85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402485" y="3563094"/>
            <a:ext cx="3455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HOW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4309170" y="3963144"/>
            <a:ext cx="53587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hood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5987951" y="3684984"/>
            <a:ext cx="1360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3D3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7215485" y="3486894"/>
            <a:ext cx="643533" cy="285750"/>
          </a:xfrm>
          <a:prstGeom prst="roundRect">
            <a:avLst>
              <a:gd name="adj" fmla="val 26667"/>
            </a:avLst>
          </a:prstGeom>
          <a:solidFill>
            <a:srgbClr val="FBBF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7367885" y="3563094"/>
            <a:ext cx="3455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A16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NOW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7283202" y="3963144"/>
            <a:ext cx="51841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use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228600" y="4781550"/>
            <a:ext cx="13519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15 - Day 3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6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458391"/>
            <a:ext cx="44399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Handling Tough Questions</a:t>
            </a:r>
            <a:endParaRPr lang="en-US" sz="2250" dirty="0"/>
          </a:p>
        </p:txBody>
      </p:sp>
      <p:pic>
        <p:nvPicPr>
          <p:cNvPr id="3" name="Image 0" descr="/tmp/rasterized-gradient-fd81cf5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10841"/>
            <a:ext cx="8686800" cy="6113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1950" y="1144191"/>
            <a:ext cx="85885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The PREP Response Framework: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61950" y="1342281"/>
            <a:ext cx="858850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oint → </a:t>
            </a:r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eason → </a:t>
            </a:r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xample → </a:t>
            </a:r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oint (restate)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228600" y="1774627"/>
            <a:ext cx="4169569" cy="601861"/>
          </a:xfrm>
          <a:prstGeom prst="roundRect">
            <a:avLst>
              <a:gd name="adj" fmla="val 12661"/>
            </a:avLst>
          </a:prstGeom>
          <a:solidFill>
            <a:srgbClr val="2D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23850" y="1869877"/>
            <a:ext cx="40586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"Why didn't you use [other approach]?"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323850" y="2041327"/>
            <a:ext cx="405865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"Great question! We evaluated [approach] and chose our method because [specific reason]. For example, [evidence]. That said, [approach] could work well for [other scenario]."</a:t>
            </a:r>
            <a:endParaRPr lang="en-US" sz="675" dirty="0"/>
          </a:p>
        </p:txBody>
      </p:sp>
      <p:sp>
        <p:nvSpPr>
          <p:cNvPr id="9" name="Text 6"/>
          <p:cNvSpPr/>
          <p:nvPr/>
        </p:nvSpPr>
        <p:spPr>
          <a:xfrm>
            <a:off x="228600" y="2528888"/>
            <a:ext cx="4169569" cy="601861"/>
          </a:xfrm>
          <a:prstGeom prst="roundRect">
            <a:avLst>
              <a:gd name="adj" fmla="val 12661"/>
            </a:avLst>
          </a:prstGeom>
          <a:solidFill>
            <a:srgbClr val="2D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23850" y="2624138"/>
            <a:ext cx="40586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"What about accuracy/hallucinations?"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323850" y="2795588"/>
            <a:ext cx="405865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"We measured accuracy at X% on our test set. We mitigate hallucinations by [technique]. Here's a specific safeguard we built in..."</a:t>
            </a:r>
            <a:endParaRPr lang="en-US" sz="675" dirty="0"/>
          </a:p>
        </p:txBody>
      </p:sp>
      <p:sp>
        <p:nvSpPr>
          <p:cNvPr id="12" name="Text 9"/>
          <p:cNvSpPr/>
          <p:nvPr/>
        </p:nvSpPr>
        <p:spPr>
          <a:xfrm>
            <a:off x="4550569" y="1774627"/>
            <a:ext cx="4169569" cy="601861"/>
          </a:xfrm>
          <a:prstGeom prst="roundRect">
            <a:avLst>
              <a:gd name="adj" fmla="val 12661"/>
            </a:avLst>
          </a:prstGeom>
          <a:solidFill>
            <a:srgbClr val="2D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645819" y="1869877"/>
            <a:ext cx="40586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"How does this scale?"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4645819" y="2041327"/>
            <a:ext cx="405865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"Currently handles X req/sec. For scale, we'd [specific plan]. Our architecture supports [growth path] with [infrastructure changes]."</a:t>
            </a:r>
            <a:endParaRPr lang="en-US" sz="675" dirty="0"/>
          </a:p>
        </p:txBody>
      </p:sp>
      <p:sp>
        <p:nvSpPr>
          <p:cNvPr id="15" name="Text 12"/>
          <p:cNvSpPr/>
          <p:nvPr/>
        </p:nvSpPr>
        <p:spPr>
          <a:xfrm>
            <a:off x="4550569" y="2528888"/>
            <a:ext cx="4169569" cy="601861"/>
          </a:xfrm>
          <a:prstGeom prst="roundRect">
            <a:avLst>
              <a:gd name="adj" fmla="val 12661"/>
            </a:avLst>
          </a:prstGeom>
          <a:solidFill>
            <a:srgbClr val="2D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645819" y="2624138"/>
            <a:ext cx="40586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"What are the limitations?"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4645819" y="2795588"/>
            <a:ext cx="405865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"Currently, [honest limitation]. We're addressing this by [plan]. For now, we recommend [workaround] for edge cases."</a:t>
            </a:r>
            <a:endParaRPr lang="en-US" sz="675" dirty="0"/>
          </a:p>
        </p:txBody>
      </p:sp>
      <p:sp>
        <p:nvSpPr>
          <p:cNvPr id="18" name="Text 15"/>
          <p:cNvSpPr/>
          <p:nvPr/>
        </p:nvSpPr>
        <p:spPr>
          <a:xfrm>
            <a:off x="228600" y="3283148"/>
            <a:ext cx="8686800" cy="601861"/>
          </a:xfrm>
          <a:prstGeom prst="roundRect">
            <a:avLst>
              <a:gd name="adj" fmla="val 12661"/>
            </a:avLst>
          </a:prstGeom>
          <a:solidFill>
            <a:srgbClr val="2D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323850" y="3378398"/>
            <a:ext cx="86662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💪 Power Phrases for Q&amp;A: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323850" y="3568898"/>
            <a:ext cx="2009775" cy="220861"/>
          </a:xfrm>
          <a:prstGeom prst="roundRect">
            <a:avLst>
              <a:gd name="adj" fmla="val 34501"/>
            </a:avLst>
          </a:prstGeom>
          <a:solidFill>
            <a:srgbClr val="1A16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381000" y="3626048"/>
            <a:ext cx="193338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"That's a great observation..."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2486025" y="3568898"/>
            <a:ext cx="2009775" cy="220861"/>
          </a:xfrm>
          <a:prstGeom prst="roundRect">
            <a:avLst>
              <a:gd name="adj" fmla="val 34501"/>
            </a:avLst>
          </a:prstGeom>
          <a:solidFill>
            <a:srgbClr val="1A16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2543175" y="3626048"/>
            <a:ext cx="193338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"Let me show you..."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4648200" y="3568898"/>
            <a:ext cx="2009775" cy="220861"/>
          </a:xfrm>
          <a:prstGeom prst="roundRect">
            <a:avLst>
              <a:gd name="adj" fmla="val 34501"/>
            </a:avLst>
          </a:prstGeom>
          <a:solidFill>
            <a:srgbClr val="1A16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705350" y="3626048"/>
            <a:ext cx="193338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"I'd need to verify, but..."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6810375" y="3568898"/>
            <a:ext cx="2009775" cy="220861"/>
          </a:xfrm>
          <a:prstGeom prst="roundRect">
            <a:avLst>
              <a:gd name="adj" fmla="val 34501"/>
            </a:avLst>
          </a:prstGeom>
          <a:solidFill>
            <a:srgbClr val="1A16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6867525" y="3626048"/>
            <a:ext cx="193338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"Here's what we learned..."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228600" y="4037409"/>
            <a:ext cx="8686800" cy="304800"/>
          </a:xfrm>
          <a:prstGeom prst="roundRect">
            <a:avLst>
              <a:gd name="adj" fmla="val 25000"/>
            </a:avLst>
          </a:prstGeom>
          <a:solidFill>
            <a:srgbClr val="1A1625"/>
          </a:solidFill>
          <a:ln w="9525">
            <a:solidFill>
              <a:srgbClr val="3D365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229172" y="4123134"/>
            <a:ext cx="86856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</a:t>
            </a:r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bluff!</a:t>
            </a:r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"I don't know, but I'll find out" builds more trust than a wrong answer.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228600" y="4781550"/>
            <a:ext cx="13519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15 - Day 3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6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509885"/>
            <a:ext cx="531437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Discussing AI Limitations Honestly</a:t>
            </a:r>
            <a:endParaRPr lang="en-US" sz="2250" dirty="0"/>
          </a:p>
        </p:txBody>
      </p:sp>
      <p:pic>
        <p:nvPicPr>
          <p:cNvPr id="3" name="Image 0" descr="/tmp/rasterized-gradient-0434f39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62335"/>
            <a:ext cx="8686800" cy="4266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1950" y="1195685"/>
            <a:ext cx="85885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&gt; Hype.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Being honest about limitations builds credibility and prevents future problems.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228600" y="1641425"/>
            <a:ext cx="42529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Bad Framing: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28600" y="1953816"/>
            <a:ext cx="4169569" cy="455116"/>
          </a:xfrm>
          <a:prstGeom prst="roundRect">
            <a:avLst>
              <a:gd name="adj" fmla="val 16743"/>
            </a:avLst>
          </a:prstGeom>
          <a:solidFill>
            <a:srgbClr val="2D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242888" y="1953816"/>
            <a:ext cx="0" cy="455116"/>
          </a:xfrm>
          <a:prstGeom prst="line">
            <a:avLst/>
          </a:prstGeom>
          <a:noFill/>
          <a:ln w="28575">
            <a:solidFill>
              <a:srgbClr val="EF444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52425" y="2049066"/>
            <a:ext cx="402950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model sometimes gets things wrong."</a:t>
            </a:r>
            <a:endParaRPr lang="en-US" sz="675" dirty="0"/>
          </a:p>
        </p:txBody>
      </p:sp>
      <p:sp>
        <p:nvSpPr>
          <p:cNvPr id="9" name="Text 6"/>
          <p:cNvSpPr/>
          <p:nvPr/>
        </p:nvSpPr>
        <p:spPr>
          <a:xfrm>
            <a:off x="352425" y="2207121"/>
            <a:ext cx="402950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i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Vague, doesn't inspire confidence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228600" y="2561332"/>
            <a:ext cx="4169569" cy="455116"/>
          </a:xfrm>
          <a:prstGeom prst="roundRect">
            <a:avLst>
              <a:gd name="adj" fmla="val 16743"/>
            </a:avLst>
          </a:prstGeom>
          <a:solidFill>
            <a:srgbClr val="2D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242888" y="2561332"/>
            <a:ext cx="0" cy="455116"/>
          </a:xfrm>
          <a:prstGeom prst="line">
            <a:avLst/>
          </a:prstGeom>
          <a:noFill/>
          <a:ln w="28575">
            <a:solidFill>
              <a:srgbClr val="EF44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2425" y="2656582"/>
            <a:ext cx="402950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"It works most of the time."</a:t>
            </a:r>
            <a:endParaRPr lang="en-US" sz="675" dirty="0"/>
          </a:p>
        </p:txBody>
      </p:sp>
      <p:sp>
        <p:nvSpPr>
          <p:cNvPr id="13" name="Text 10"/>
          <p:cNvSpPr/>
          <p:nvPr/>
        </p:nvSpPr>
        <p:spPr>
          <a:xfrm>
            <a:off x="352425" y="2814638"/>
            <a:ext cx="402950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i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specifics, raises concerns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228600" y="3168848"/>
            <a:ext cx="4169569" cy="455116"/>
          </a:xfrm>
          <a:prstGeom prst="roundRect">
            <a:avLst>
              <a:gd name="adj" fmla="val 16743"/>
            </a:avLst>
          </a:prstGeom>
          <a:solidFill>
            <a:srgbClr val="2D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242888" y="3168848"/>
            <a:ext cx="0" cy="455116"/>
          </a:xfrm>
          <a:prstGeom prst="line">
            <a:avLst/>
          </a:prstGeom>
          <a:noFill/>
          <a:ln w="28575">
            <a:solidFill>
              <a:srgbClr val="EF44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2425" y="3264098"/>
            <a:ext cx="402950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"There might be some edge cases..."</a:t>
            </a:r>
            <a:endParaRPr lang="en-US" sz="675" dirty="0"/>
          </a:p>
        </p:txBody>
      </p:sp>
      <p:sp>
        <p:nvSpPr>
          <p:cNvPr id="17" name="Text 14"/>
          <p:cNvSpPr/>
          <p:nvPr/>
        </p:nvSpPr>
        <p:spPr>
          <a:xfrm>
            <a:off x="352425" y="3422154"/>
            <a:ext cx="402950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i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Downplaying real issues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4702969" y="1678484"/>
            <a:ext cx="42529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Good Framing: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702969" y="1990874"/>
            <a:ext cx="4169569" cy="430411"/>
          </a:xfrm>
          <a:prstGeom prst="roundRect">
            <a:avLst>
              <a:gd name="adj" fmla="val 17704"/>
            </a:avLst>
          </a:prstGeom>
          <a:solidFill>
            <a:srgbClr val="2D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4717256" y="1990874"/>
            <a:ext cx="0" cy="430411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26794" y="2086124"/>
            <a:ext cx="402950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"Accuracy is 92% on standard queries, 78% on complex multi-step questions. We recommend human review for the latter."</a:t>
            </a:r>
            <a:endParaRPr lang="en-US" sz="675" dirty="0"/>
          </a:p>
        </p:txBody>
      </p:sp>
      <p:sp>
        <p:nvSpPr>
          <p:cNvPr id="22" name="Text 19"/>
          <p:cNvSpPr/>
          <p:nvPr/>
        </p:nvSpPr>
        <p:spPr>
          <a:xfrm>
            <a:off x="4702969" y="2573685"/>
            <a:ext cx="4169569" cy="430411"/>
          </a:xfrm>
          <a:prstGeom prst="roundRect">
            <a:avLst>
              <a:gd name="adj" fmla="val 17704"/>
            </a:avLst>
          </a:prstGeom>
          <a:solidFill>
            <a:srgbClr val="2D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4717256" y="2573685"/>
            <a:ext cx="0" cy="430411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26794" y="2668935"/>
            <a:ext cx="402950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"Processing time increases from 2s to 8s for documents over 50 pages. We're implementing chunking to address this."</a:t>
            </a:r>
            <a:endParaRPr lang="en-US" sz="675" dirty="0"/>
          </a:p>
        </p:txBody>
      </p:sp>
      <p:sp>
        <p:nvSpPr>
          <p:cNvPr id="25" name="Text 22"/>
          <p:cNvSpPr/>
          <p:nvPr/>
        </p:nvSpPr>
        <p:spPr>
          <a:xfrm>
            <a:off x="4702969" y="3156496"/>
            <a:ext cx="4169569" cy="430411"/>
          </a:xfrm>
          <a:prstGeom prst="roundRect">
            <a:avLst>
              <a:gd name="adj" fmla="val 17704"/>
            </a:avLst>
          </a:prstGeom>
          <a:solidFill>
            <a:srgbClr val="2D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4717256" y="3156496"/>
            <a:ext cx="0" cy="430411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26794" y="3251746"/>
            <a:ext cx="402950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model struggles with tables and charts. For now, we've added a fallback to flag these for manual handling."</a:t>
            </a:r>
            <a:endParaRPr lang="en-US" sz="675" dirty="0"/>
          </a:p>
        </p:txBody>
      </p:sp>
      <p:sp>
        <p:nvSpPr>
          <p:cNvPr id="28" name="Text 25"/>
          <p:cNvSpPr/>
          <p:nvPr/>
        </p:nvSpPr>
        <p:spPr>
          <a:xfrm>
            <a:off x="228600" y="3776365"/>
            <a:ext cx="8686800" cy="514350"/>
          </a:xfrm>
          <a:prstGeom prst="roundRect">
            <a:avLst>
              <a:gd name="adj" fmla="val 14815"/>
            </a:avLst>
          </a:prstGeom>
          <a:solidFill>
            <a:srgbClr val="2D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323850" y="3871615"/>
            <a:ext cx="86662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The Limitation Formula: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323850" y="4062115"/>
            <a:ext cx="86662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[Specific limitation]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[Measured impact]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[Mitigation/Plan]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228600" y="4781550"/>
            <a:ext cx="13519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15 - Day 3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6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601266"/>
            <a:ext cx="499376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15-Minute Presentation Template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228600" y="1153716"/>
            <a:ext cx="1514921" cy="1820614"/>
          </a:xfrm>
          <a:prstGeom prst="roundRect">
            <a:avLst>
              <a:gd name="adj" fmla="val 5030"/>
            </a:avLst>
          </a:prstGeom>
          <a:solidFill>
            <a:srgbClr val="2D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228600" y="1168003"/>
            <a:ext cx="1514921" cy="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3850" y="1426071"/>
            <a:ext cx="135091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0-2 min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323850" y="1782217"/>
            <a:ext cx="13509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Hook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23850" y="2106067"/>
            <a:ext cx="135091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323850" y="2365028"/>
            <a:ext cx="135091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323850" y="2623989"/>
            <a:ext cx="135091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impact preview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1895921" y="1153716"/>
            <a:ext cx="1514921" cy="1820614"/>
          </a:xfrm>
          <a:prstGeom prst="roundRect">
            <a:avLst>
              <a:gd name="adj" fmla="val 5030"/>
            </a:avLst>
          </a:prstGeom>
          <a:solidFill>
            <a:srgbClr val="2D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1895921" y="1168003"/>
            <a:ext cx="1514921" cy="0"/>
          </a:xfrm>
          <a:prstGeom prst="line">
            <a:avLst/>
          </a:prstGeom>
          <a:noFill/>
          <a:ln w="28575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91171" y="1426071"/>
            <a:ext cx="135091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2-4 min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991171" y="1782217"/>
            <a:ext cx="13509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Solution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991171" y="2106067"/>
            <a:ext cx="135091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 approach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1991171" y="2365028"/>
            <a:ext cx="135091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innovation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1991171" y="2623989"/>
            <a:ext cx="135091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overview</a:t>
            </a:r>
            <a:endParaRPr lang="en-US" sz="600" dirty="0"/>
          </a:p>
        </p:txBody>
      </p:sp>
      <p:pic>
        <p:nvPicPr>
          <p:cNvPr id="17" name="Image 0" descr="/tmp/rasterized-gradient-eb2fc2f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3243" y="1153716"/>
            <a:ext cx="2352824" cy="182061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3658493" y="1277541"/>
            <a:ext cx="22055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4-9 min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3658493" y="1633686"/>
            <a:ext cx="22055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🎬 Demo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3658493" y="1957536"/>
            <a:ext cx="220557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demonstration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3658493" y="2216497"/>
            <a:ext cx="220557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key scenarios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3658493" y="2475458"/>
            <a:ext cx="220557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through interface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3658493" y="2772519"/>
            <a:ext cx="220557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star!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6068467" y="1153716"/>
            <a:ext cx="1514921" cy="1820614"/>
          </a:xfrm>
          <a:prstGeom prst="roundRect">
            <a:avLst>
              <a:gd name="adj" fmla="val 5030"/>
            </a:avLst>
          </a:prstGeom>
          <a:solidFill>
            <a:srgbClr val="2D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2"/>
          <p:cNvSpPr/>
          <p:nvPr/>
        </p:nvSpPr>
        <p:spPr>
          <a:xfrm>
            <a:off x="6068467" y="1168003"/>
            <a:ext cx="1514921" cy="0"/>
          </a:xfrm>
          <a:prstGeom prst="line">
            <a:avLst/>
          </a:prstGeom>
          <a:noFill/>
          <a:ln w="28575">
            <a:solidFill>
              <a:srgbClr val="FBBF2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163717" y="1426071"/>
            <a:ext cx="135091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9-12 min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6163717" y="1782217"/>
            <a:ext cx="13509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Results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6163717" y="2106067"/>
            <a:ext cx="135091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&amp; impact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6163717" y="2365028"/>
            <a:ext cx="135091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vs after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6163717" y="2623989"/>
            <a:ext cx="135091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feedback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7735788" y="1153716"/>
            <a:ext cx="1179761" cy="1820614"/>
          </a:xfrm>
          <a:prstGeom prst="roundRect">
            <a:avLst>
              <a:gd name="adj" fmla="val 6459"/>
            </a:avLst>
          </a:prstGeom>
          <a:solidFill>
            <a:srgbClr val="2D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29"/>
          <p:cNvSpPr/>
          <p:nvPr/>
        </p:nvSpPr>
        <p:spPr>
          <a:xfrm>
            <a:off x="7735788" y="1168003"/>
            <a:ext cx="1179761" cy="0"/>
          </a:xfrm>
          <a:prstGeom prst="line">
            <a:avLst/>
          </a:prstGeom>
          <a:noFill/>
          <a:ln w="28575">
            <a:solidFill>
              <a:srgbClr val="EC489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831038" y="1426071"/>
            <a:ext cx="100904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12-15 min</a:t>
            </a:r>
            <a:endParaRPr lang="en-US" sz="825" dirty="0"/>
          </a:p>
        </p:txBody>
      </p:sp>
      <p:sp>
        <p:nvSpPr>
          <p:cNvPr id="34" name="Text 31"/>
          <p:cNvSpPr/>
          <p:nvPr/>
        </p:nvSpPr>
        <p:spPr>
          <a:xfrm>
            <a:off x="7831038" y="1782217"/>
            <a:ext cx="10090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Next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831038" y="2106067"/>
            <a:ext cx="100904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plans</a:t>
            </a:r>
            <a:endParaRPr lang="en-US" sz="600" dirty="0"/>
          </a:p>
        </p:txBody>
      </p:sp>
      <p:sp>
        <p:nvSpPr>
          <p:cNvPr id="36" name="Text 33"/>
          <p:cNvSpPr/>
          <p:nvPr/>
        </p:nvSpPr>
        <p:spPr>
          <a:xfrm>
            <a:off x="7831038" y="2365028"/>
            <a:ext cx="100904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to action</a:t>
            </a:r>
            <a:endParaRPr lang="en-US" sz="600" dirty="0"/>
          </a:p>
        </p:txBody>
      </p:sp>
      <p:sp>
        <p:nvSpPr>
          <p:cNvPr id="37" name="Text 34"/>
          <p:cNvSpPr/>
          <p:nvPr/>
        </p:nvSpPr>
        <p:spPr>
          <a:xfrm>
            <a:off x="7831038" y="2623989"/>
            <a:ext cx="100904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600" dirty="0"/>
          </a:p>
        </p:txBody>
      </p:sp>
      <p:sp>
        <p:nvSpPr>
          <p:cNvPr id="38" name="Text 35"/>
          <p:cNvSpPr/>
          <p:nvPr/>
        </p:nvSpPr>
        <p:spPr>
          <a:xfrm>
            <a:off x="228600" y="3126730"/>
            <a:ext cx="8686800" cy="615255"/>
          </a:xfrm>
          <a:prstGeom prst="roundRect">
            <a:avLst>
              <a:gd name="adj" fmla="val 12385"/>
            </a:avLst>
          </a:prstGeom>
          <a:solidFill>
            <a:srgbClr val="2D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323850" y="3221980"/>
            <a:ext cx="86662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Recommended Slide Count: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323850" y="3412480"/>
            <a:ext cx="1289000" cy="234255"/>
          </a:xfrm>
          <a:prstGeom prst="roundRect">
            <a:avLst>
              <a:gd name="adj" fmla="val 32529"/>
            </a:avLst>
          </a:prstGeom>
          <a:solidFill>
            <a:srgbClr val="1A16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369253" y="3469630"/>
            <a:ext cx="119819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Hook: 2-3</a:t>
            </a:r>
            <a:endParaRPr lang="en-US" sz="675" dirty="0"/>
          </a:p>
        </p:txBody>
      </p:sp>
      <p:sp>
        <p:nvSpPr>
          <p:cNvPr id="42" name="Text 39"/>
          <p:cNvSpPr/>
          <p:nvPr/>
        </p:nvSpPr>
        <p:spPr>
          <a:xfrm>
            <a:off x="1765250" y="3412480"/>
            <a:ext cx="1289000" cy="234255"/>
          </a:xfrm>
          <a:prstGeom prst="roundRect">
            <a:avLst>
              <a:gd name="adj" fmla="val 32529"/>
            </a:avLst>
          </a:prstGeom>
          <a:solidFill>
            <a:srgbClr val="1A16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1810653" y="3469630"/>
            <a:ext cx="119819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3-4</a:t>
            </a:r>
            <a:endParaRPr lang="en-US" sz="675" dirty="0"/>
          </a:p>
        </p:txBody>
      </p:sp>
      <p:sp>
        <p:nvSpPr>
          <p:cNvPr id="44" name="Text 41"/>
          <p:cNvSpPr/>
          <p:nvPr/>
        </p:nvSpPr>
        <p:spPr>
          <a:xfrm>
            <a:off x="3206651" y="3412480"/>
            <a:ext cx="1289000" cy="234255"/>
          </a:xfrm>
          <a:prstGeom prst="roundRect">
            <a:avLst>
              <a:gd name="adj" fmla="val 32529"/>
            </a:avLst>
          </a:prstGeom>
          <a:solidFill>
            <a:srgbClr val="1A16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2"/>
          <p:cNvSpPr/>
          <p:nvPr/>
        </p:nvSpPr>
        <p:spPr>
          <a:xfrm>
            <a:off x="3252054" y="3469630"/>
            <a:ext cx="119819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 1-2</a:t>
            </a:r>
            <a:endParaRPr lang="en-US" sz="675" dirty="0"/>
          </a:p>
        </p:txBody>
      </p:sp>
      <p:sp>
        <p:nvSpPr>
          <p:cNvPr id="46" name="Text 43"/>
          <p:cNvSpPr/>
          <p:nvPr/>
        </p:nvSpPr>
        <p:spPr>
          <a:xfrm>
            <a:off x="4648051" y="3412480"/>
            <a:ext cx="1289000" cy="234255"/>
          </a:xfrm>
          <a:prstGeom prst="roundRect">
            <a:avLst>
              <a:gd name="adj" fmla="val 32529"/>
            </a:avLst>
          </a:prstGeom>
          <a:solidFill>
            <a:srgbClr val="1A16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4"/>
          <p:cNvSpPr/>
          <p:nvPr/>
        </p:nvSpPr>
        <p:spPr>
          <a:xfrm>
            <a:off x="4693454" y="3469630"/>
            <a:ext cx="119819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2-3</a:t>
            </a:r>
            <a:endParaRPr lang="en-US" sz="675" dirty="0"/>
          </a:p>
        </p:txBody>
      </p:sp>
      <p:sp>
        <p:nvSpPr>
          <p:cNvPr id="48" name="Text 45"/>
          <p:cNvSpPr/>
          <p:nvPr/>
        </p:nvSpPr>
        <p:spPr>
          <a:xfrm>
            <a:off x="6089452" y="3412480"/>
            <a:ext cx="1289000" cy="234255"/>
          </a:xfrm>
          <a:prstGeom prst="roundRect">
            <a:avLst>
              <a:gd name="adj" fmla="val 32529"/>
            </a:avLst>
          </a:prstGeom>
          <a:solidFill>
            <a:srgbClr val="1A16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6134855" y="3469630"/>
            <a:ext cx="119819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1-2</a:t>
            </a:r>
            <a:endParaRPr lang="en-US" sz="675" dirty="0"/>
          </a:p>
        </p:txBody>
      </p:sp>
      <p:sp>
        <p:nvSpPr>
          <p:cNvPr id="50" name="Text 47"/>
          <p:cNvSpPr/>
          <p:nvPr/>
        </p:nvSpPr>
        <p:spPr>
          <a:xfrm>
            <a:off x="7530852" y="3412480"/>
            <a:ext cx="1289000" cy="234255"/>
          </a:xfrm>
          <a:prstGeom prst="roundRect">
            <a:avLst>
              <a:gd name="adj" fmla="val 32529"/>
            </a:avLst>
          </a:prstGeom>
          <a:solidFill>
            <a:srgbClr val="1A16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8"/>
          <p:cNvSpPr/>
          <p:nvPr/>
        </p:nvSpPr>
        <p:spPr>
          <a:xfrm>
            <a:off x="7576255" y="3469630"/>
            <a:ext cx="119819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10-15</a:t>
            </a:r>
            <a:endParaRPr lang="en-US" sz="675" dirty="0"/>
          </a:p>
        </p:txBody>
      </p:sp>
      <p:sp>
        <p:nvSpPr>
          <p:cNvPr id="52" name="Text 49"/>
          <p:cNvSpPr/>
          <p:nvPr/>
        </p:nvSpPr>
        <p:spPr>
          <a:xfrm>
            <a:off x="228600" y="3894386"/>
            <a:ext cx="8686800" cy="304800"/>
          </a:xfrm>
          <a:prstGeom prst="roundRect">
            <a:avLst>
              <a:gd name="adj" fmla="val 25000"/>
            </a:avLst>
          </a:prstGeom>
          <a:solidFill>
            <a:srgbClr val="1A1625"/>
          </a:solidFill>
          <a:ln w="9525">
            <a:solidFill>
              <a:srgbClr val="FBBF2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0"/>
          <p:cNvSpPr/>
          <p:nvPr/>
        </p:nvSpPr>
        <p:spPr>
          <a:xfrm>
            <a:off x="229172" y="3980111"/>
            <a:ext cx="86856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</a:t>
            </a:r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of thumb:</a:t>
            </a:r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 slide per minute. More slides = rushed feeling. Fewer = more impact.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228600" y="4781550"/>
            <a:ext cx="13519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15 - Day 3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6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609600"/>
            <a:ext cx="444969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🎭 Body Language and Delivery</a:t>
            </a:r>
            <a:endParaRPr lang="en-US" sz="2250" dirty="0"/>
          </a:p>
        </p:txBody>
      </p:sp>
      <p:pic>
        <p:nvPicPr>
          <p:cNvPr id="3" name="Image 0" descr="/tmp/rasterized-gradient-316f768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162050"/>
            <a:ext cx="8686800" cy="4266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1950" y="1295400"/>
            <a:ext cx="85885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7-38-55 Rule: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7% words, 38% tone, 55% body language. How you say it matters more than what you say!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228600" y="1741140"/>
            <a:ext cx="2779663" cy="1238250"/>
          </a:xfrm>
          <a:prstGeom prst="roundRect">
            <a:avLst>
              <a:gd name="adj" fmla="val 6154"/>
            </a:avLst>
          </a:prstGeom>
          <a:solidFill>
            <a:srgbClr val="2D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228600" y="1755428"/>
            <a:ext cx="2779663" cy="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42900" y="1884015"/>
            <a:ext cx="260208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👁️ Eye Contact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42900" y="2120205"/>
            <a:ext cx="260208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Look at people, not slides</a:t>
            </a:r>
            <a:endParaRPr lang="en-US" sz="675" dirty="0"/>
          </a:p>
        </p:txBody>
      </p:sp>
      <p:sp>
        <p:nvSpPr>
          <p:cNvPr id="9" name="Text 6"/>
          <p:cNvSpPr/>
          <p:nvPr/>
        </p:nvSpPr>
        <p:spPr>
          <a:xfrm>
            <a:off x="342900" y="2278261"/>
            <a:ext cx="260208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Scan the room slowly</a:t>
            </a:r>
            <a:endParaRPr lang="en-US" sz="675" dirty="0"/>
          </a:p>
        </p:txBody>
      </p:sp>
      <p:sp>
        <p:nvSpPr>
          <p:cNvPr id="10" name="Text 7"/>
          <p:cNvSpPr/>
          <p:nvPr/>
        </p:nvSpPr>
        <p:spPr>
          <a:xfrm>
            <a:off x="342900" y="2436316"/>
            <a:ext cx="260208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3-5 seconds per person</a:t>
            </a:r>
            <a:endParaRPr lang="en-US" sz="675" dirty="0"/>
          </a:p>
        </p:txBody>
      </p:sp>
      <p:sp>
        <p:nvSpPr>
          <p:cNvPr id="11" name="Text 8"/>
          <p:cNvSpPr/>
          <p:nvPr/>
        </p:nvSpPr>
        <p:spPr>
          <a:xfrm>
            <a:off x="3160663" y="1741140"/>
            <a:ext cx="2779663" cy="1238250"/>
          </a:xfrm>
          <a:prstGeom prst="roundRect">
            <a:avLst>
              <a:gd name="adj" fmla="val 6154"/>
            </a:avLst>
          </a:prstGeom>
          <a:solidFill>
            <a:srgbClr val="2D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3160663" y="1755428"/>
            <a:ext cx="2779663" cy="0"/>
          </a:xfrm>
          <a:prstGeom prst="line">
            <a:avLst/>
          </a:prstGeom>
          <a:noFill/>
          <a:ln w="28575">
            <a:solidFill>
              <a:srgbClr val="A855F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74963" y="1884015"/>
            <a:ext cx="260208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🧍 Posture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274963" y="2120205"/>
            <a:ext cx="260208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Stand tall, shoulders back</a:t>
            </a:r>
            <a:endParaRPr lang="en-US" sz="675" dirty="0"/>
          </a:p>
        </p:txBody>
      </p:sp>
      <p:sp>
        <p:nvSpPr>
          <p:cNvPr id="15" name="Text 12"/>
          <p:cNvSpPr/>
          <p:nvPr/>
        </p:nvSpPr>
        <p:spPr>
          <a:xfrm>
            <a:off x="3274963" y="2278261"/>
            <a:ext cx="260208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Open stance (no crossed arms)</a:t>
            </a:r>
            <a:endParaRPr lang="en-US" sz="675" dirty="0"/>
          </a:p>
        </p:txBody>
      </p:sp>
      <p:sp>
        <p:nvSpPr>
          <p:cNvPr id="16" name="Text 13"/>
          <p:cNvSpPr/>
          <p:nvPr/>
        </p:nvSpPr>
        <p:spPr>
          <a:xfrm>
            <a:off x="3274963" y="2436316"/>
            <a:ext cx="260208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Move with purpose</a:t>
            </a:r>
            <a:endParaRPr lang="en-US" sz="675" dirty="0"/>
          </a:p>
        </p:txBody>
      </p:sp>
      <p:sp>
        <p:nvSpPr>
          <p:cNvPr id="17" name="Text 14"/>
          <p:cNvSpPr/>
          <p:nvPr/>
        </p:nvSpPr>
        <p:spPr>
          <a:xfrm>
            <a:off x="6092726" y="1741140"/>
            <a:ext cx="2779663" cy="1238250"/>
          </a:xfrm>
          <a:prstGeom prst="roundRect">
            <a:avLst>
              <a:gd name="adj" fmla="val 6154"/>
            </a:avLst>
          </a:prstGeom>
          <a:solidFill>
            <a:srgbClr val="2D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6092726" y="1755428"/>
            <a:ext cx="2779663" cy="0"/>
          </a:xfrm>
          <a:prstGeom prst="line">
            <a:avLst/>
          </a:prstGeom>
          <a:noFill/>
          <a:ln w="28575">
            <a:solidFill>
              <a:srgbClr val="FBBF2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07026" y="1884015"/>
            <a:ext cx="260208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🗣️ Voice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207026" y="2120205"/>
            <a:ext cx="260208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Vary pace and tone</a:t>
            </a:r>
            <a:endParaRPr lang="en-US" sz="675" dirty="0"/>
          </a:p>
        </p:txBody>
      </p:sp>
      <p:sp>
        <p:nvSpPr>
          <p:cNvPr id="21" name="Text 18"/>
          <p:cNvSpPr/>
          <p:nvPr/>
        </p:nvSpPr>
        <p:spPr>
          <a:xfrm>
            <a:off x="6207026" y="2278261"/>
            <a:ext cx="260208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Pause for emphasis</a:t>
            </a:r>
            <a:endParaRPr lang="en-US" sz="675" dirty="0"/>
          </a:p>
        </p:txBody>
      </p:sp>
      <p:sp>
        <p:nvSpPr>
          <p:cNvPr id="22" name="Text 19"/>
          <p:cNvSpPr/>
          <p:nvPr/>
        </p:nvSpPr>
        <p:spPr>
          <a:xfrm>
            <a:off x="6207026" y="2436316"/>
            <a:ext cx="260208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Project confidence</a:t>
            </a:r>
            <a:endParaRPr lang="en-US" sz="675" dirty="0"/>
          </a:p>
        </p:txBody>
      </p:sp>
      <p:sp>
        <p:nvSpPr>
          <p:cNvPr id="23" name="Text 20"/>
          <p:cNvSpPr/>
          <p:nvPr/>
        </p:nvSpPr>
        <p:spPr>
          <a:xfrm>
            <a:off x="228600" y="3131790"/>
            <a:ext cx="8686800" cy="601861"/>
          </a:xfrm>
          <a:prstGeom prst="roundRect">
            <a:avLst>
              <a:gd name="adj" fmla="val 12661"/>
            </a:avLst>
          </a:prstGeom>
          <a:solidFill>
            <a:srgbClr val="2D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323850" y="3227040"/>
            <a:ext cx="86662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😰 If You're Nervous: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323850" y="3417540"/>
            <a:ext cx="2009775" cy="220861"/>
          </a:xfrm>
          <a:prstGeom prst="roundRect">
            <a:avLst>
              <a:gd name="adj" fmla="val 34501"/>
            </a:avLst>
          </a:prstGeom>
          <a:solidFill>
            <a:srgbClr val="1A16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381000" y="3474690"/>
            <a:ext cx="193338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3 deep breaths before starting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2486025" y="3417540"/>
            <a:ext cx="2009775" cy="220861"/>
          </a:xfrm>
          <a:prstGeom prst="roundRect">
            <a:avLst>
              <a:gd name="adj" fmla="val 34501"/>
            </a:avLst>
          </a:prstGeom>
          <a:solidFill>
            <a:srgbClr val="1A16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2543175" y="3474690"/>
            <a:ext cx="193338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pose for 2 min beforehand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4648200" y="3417540"/>
            <a:ext cx="2009775" cy="220861"/>
          </a:xfrm>
          <a:prstGeom prst="roundRect">
            <a:avLst>
              <a:gd name="adj" fmla="val 34501"/>
            </a:avLst>
          </a:prstGeom>
          <a:solidFill>
            <a:srgbClr val="1A16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705350" y="3474690"/>
            <a:ext cx="193338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 friendly face to start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6810375" y="3417540"/>
            <a:ext cx="2009775" cy="220861"/>
          </a:xfrm>
          <a:prstGeom prst="roundRect">
            <a:avLst>
              <a:gd name="adj" fmla="val 34501"/>
            </a:avLst>
          </a:prstGeom>
          <a:solidFill>
            <a:srgbClr val="1A16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6867525" y="3474690"/>
            <a:ext cx="193338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 they want you to succeed!</a:t>
            </a:r>
            <a:endParaRPr lang="en-US" sz="600" dirty="0"/>
          </a:p>
        </p:txBody>
      </p:sp>
      <p:sp>
        <p:nvSpPr>
          <p:cNvPr id="33" name="Text 30"/>
          <p:cNvSpPr/>
          <p:nvPr/>
        </p:nvSpPr>
        <p:spPr>
          <a:xfrm>
            <a:off x="228600" y="3886051"/>
            <a:ext cx="8686800" cy="304800"/>
          </a:xfrm>
          <a:prstGeom prst="roundRect">
            <a:avLst>
              <a:gd name="adj" fmla="val 25000"/>
            </a:avLst>
          </a:prstGeom>
          <a:solidFill>
            <a:srgbClr val="1A1625"/>
          </a:solidFill>
          <a:ln w="9525">
            <a:solidFill>
              <a:srgbClr val="3D365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229172" y="3971776"/>
            <a:ext cx="86856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</a:t>
            </a:r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tip:</a:t>
            </a:r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Record yourself presenting. It's uncomfortable but incredibly effective!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228600" y="4781550"/>
            <a:ext cx="13519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15 - Day 3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6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508992"/>
            <a:ext cx="44399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Team Presentation Exercise</a:t>
            </a:r>
            <a:endParaRPr lang="en-US" sz="2250" dirty="0"/>
          </a:p>
        </p:txBody>
      </p:sp>
      <p:pic>
        <p:nvPicPr>
          <p:cNvPr id="3" name="Image 0" descr="/tmp/rasterized-gradient-7df5a77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61442"/>
            <a:ext cx="8686800" cy="695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1000" y="1213842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Today's Exercise: Present Your RAG Project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381000" y="1457623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You'll present the RAG system you built in Days 1-2 to your classmates as if presenting to a non-technical stakeholder.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228600" y="1909018"/>
            <a:ext cx="4169569" cy="1026468"/>
          </a:xfrm>
          <a:prstGeom prst="roundRect">
            <a:avLst>
              <a:gd name="adj" fmla="val 7424"/>
            </a:avLst>
          </a:prstGeom>
          <a:solidFill>
            <a:srgbClr val="2D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247650" y="1909018"/>
            <a:ext cx="0" cy="1026468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1000" y="2023318"/>
            <a:ext cx="39809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Your Task (5 minutes each):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381000" y="2227064"/>
            <a:ext cx="398092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Explain the problem your RAG solves</a:t>
            </a:r>
            <a:endParaRPr lang="en-US" sz="675" dirty="0"/>
          </a:p>
        </p:txBody>
      </p:sp>
      <p:sp>
        <p:nvSpPr>
          <p:cNvPr id="10" name="Text 7"/>
          <p:cNvSpPr/>
          <p:nvPr/>
        </p:nvSpPr>
        <p:spPr>
          <a:xfrm>
            <a:off x="381000" y="2385120"/>
            <a:ext cx="398092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Show a brief demo (2 min max)</a:t>
            </a:r>
            <a:endParaRPr lang="en-US" sz="675" dirty="0"/>
          </a:p>
        </p:txBody>
      </p:sp>
      <p:sp>
        <p:nvSpPr>
          <p:cNvPr id="11" name="Text 8"/>
          <p:cNvSpPr/>
          <p:nvPr/>
        </p:nvSpPr>
        <p:spPr>
          <a:xfrm>
            <a:off x="381000" y="2543175"/>
            <a:ext cx="398092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Explain ONE technical choice simply</a:t>
            </a:r>
            <a:endParaRPr lang="en-US" sz="675" dirty="0"/>
          </a:p>
        </p:txBody>
      </p:sp>
      <p:sp>
        <p:nvSpPr>
          <p:cNvPr id="12" name="Text 9"/>
          <p:cNvSpPr/>
          <p:nvPr/>
        </p:nvSpPr>
        <p:spPr>
          <a:xfrm>
            <a:off x="381000" y="2701230"/>
            <a:ext cx="398092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Handle 1-2 questions from peers</a:t>
            </a:r>
            <a:endParaRPr lang="en-US" sz="675" dirty="0"/>
          </a:p>
        </p:txBody>
      </p:sp>
      <p:sp>
        <p:nvSpPr>
          <p:cNvPr id="13" name="Text 10"/>
          <p:cNvSpPr/>
          <p:nvPr/>
        </p:nvSpPr>
        <p:spPr>
          <a:xfrm>
            <a:off x="4702969" y="1909018"/>
            <a:ext cx="4169569" cy="1026468"/>
          </a:xfrm>
          <a:prstGeom prst="roundRect">
            <a:avLst>
              <a:gd name="adj" fmla="val 7424"/>
            </a:avLst>
          </a:prstGeom>
          <a:solidFill>
            <a:srgbClr val="2D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722019" y="1909018"/>
            <a:ext cx="0" cy="1026468"/>
          </a:xfrm>
          <a:prstGeom prst="line">
            <a:avLst/>
          </a:prstGeom>
          <a:noFill/>
          <a:ln w="38100">
            <a:solidFill>
              <a:srgbClr val="FBBF2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55369" y="2023318"/>
            <a:ext cx="39809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Evaluation Criteria: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4855369" y="2227064"/>
            <a:ext cx="398092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Clarity of explanation (non-technical friendly)</a:t>
            </a:r>
            <a:endParaRPr lang="en-US" sz="675" dirty="0"/>
          </a:p>
        </p:txBody>
      </p:sp>
      <p:sp>
        <p:nvSpPr>
          <p:cNvPr id="17" name="Text 14"/>
          <p:cNvSpPr/>
          <p:nvPr/>
        </p:nvSpPr>
        <p:spPr>
          <a:xfrm>
            <a:off x="4855369" y="2385120"/>
            <a:ext cx="398092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Quality of demo (prepared, smooth)</a:t>
            </a:r>
            <a:endParaRPr lang="en-US" sz="675" dirty="0"/>
          </a:p>
        </p:txBody>
      </p:sp>
      <p:sp>
        <p:nvSpPr>
          <p:cNvPr id="18" name="Text 15"/>
          <p:cNvSpPr/>
          <p:nvPr/>
        </p:nvSpPr>
        <p:spPr>
          <a:xfrm>
            <a:off x="4855369" y="2543175"/>
            <a:ext cx="398092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Use of analogies and visuals</a:t>
            </a:r>
            <a:endParaRPr lang="en-US" sz="675" dirty="0"/>
          </a:p>
        </p:txBody>
      </p:sp>
      <p:sp>
        <p:nvSpPr>
          <p:cNvPr id="19" name="Text 16"/>
          <p:cNvSpPr/>
          <p:nvPr/>
        </p:nvSpPr>
        <p:spPr>
          <a:xfrm>
            <a:off x="4855369" y="2701230"/>
            <a:ext cx="398092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Handling of questions gracefully</a:t>
            </a:r>
            <a:endParaRPr lang="en-US" sz="675" dirty="0"/>
          </a:p>
        </p:txBody>
      </p:sp>
      <p:sp>
        <p:nvSpPr>
          <p:cNvPr id="20" name="Text 17"/>
          <p:cNvSpPr/>
          <p:nvPr/>
        </p:nvSpPr>
        <p:spPr>
          <a:xfrm>
            <a:off x="228600" y="3087886"/>
            <a:ext cx="8686800" cy="714226"/>
          </a:xfrm>
          <a:prstGeom prst="roundRect">
            <a:avLst>
              <a:gd name="adj" fmla="val 10669"/>
            </a:avLst>
          </a:prstGeom>
          <a:solidFill>
            <a:srgbClr val="2D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323850" y="3183136"/>
            <a:ext cx="86662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✍️ Peer Feedback Template (give to each presenter):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323850" y="3373636"/>
            <a:ext cx="2730550" cy="333226"/>
          </a:xfrm>
          <a:prstGeom prst="roundRect">
            <a:avLst>
              <a:gd name="adj" fmla="val 22867"/>
            </a:avLst>
          </a:prstGeom>
          <a:solidFill>
            <a:srgbClr val="1A16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381000" y="3430786"/>
            <a:ext cx="266857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Aft>
                <a:spcPts val="150"/>
              </a:spcAft>
              <a:buNone/>
            </a:pPr>
            <a:r>
              <a:rPr lang="en-US" sz="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worked well?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381000" y="3556397"/>
            <a:ext cx="2668575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(Specific positive feedback)</a:t>
            </a:r>
            <a:endParaRPr lang="en-US" sz="525" dirty="0"/>
          </a:p>
        </p:txBody>
      </p:sp>
      <p:sp>
        <p:nvSpPr>
          <p:cNvPr id="25" name="Text 22"/>
          <p:cNvSpPr/>
          <p:nvPr/>
        </p:nvSpPr>
        <p:spPr>
          <a:xfrm>
            <a:off x="3206800" y="3373636"/>
            <a:ext cx="2730550" cy="333226"/>
          </a:xfrm>
          <a:prstGeom prst="roundRect">
            <a:avLst>
              <a:gd name="adj" fmla="val 22867"/>
            </a:avLst>
          </a:prstGeom>
          <a:solidFill>
            <a:srgbClr val="1A16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3263950" y="3430786"/>
            <a:ext cx="266857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Aft>
                <a:spcPts val="150"/>
              </a:spcAft>
              <a:buNone/>
            </a:pPr>
            <a:r>
              <a:rPr lang="en-US" sz="6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thing to improve?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3263950" y="3556397"/>
            <a:ext cx="2668575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(Constructive suggestion)</a:t>
            </a:r>
            <a:endParaRPr lang="en-US" sz="525" dirty="0"/>
          </a:p>
        </p:txBody>
      </p:sp>
      <p:sp>
        <p:nvSpPr>
          <p:cNvPr id="28" name="Text 25"/>
          <p:cNvSpPr/>
          <p:nvPr/>
        </p:nvSpPr>
        <p:spPr>
          <a:xfrm>
            <a:off x="6089749" y="3373636"/>
            <a:ext cx="2730550" cy="333226"/>
          </a:xfrm>
          <a:prstGeom prst="roundRect">
            <a:avLst>
              <a:gd name="adj" fmla="val 22867"/>
            </a:avLst>
          </a:prstGeom>
          <a:solidFill>
            <a:srgbClr val="1A16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6146899" y="3430786"/>
            <a:ext cx="266857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Aft>
                <a:spcPts val="150"/>
              </a:spcAft>
              <a:buNone/>
            </a:pPr>
            <a:r>
              <a:rPr lang="en-US" sz="6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you understand it?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6146899" y="3556397"/>
            <a:ext cx="2668575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5"/>
              </a:lnSpc>
              <a:buNone/>
            </a:pPr>
            <a:r>
              <a:rPr lang="en-US" sz="52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(Non-technical clarity)</a:t>
            </a:r>
            <a:endParaRPr lang="en-US" sz="525" dirty="0"/>
          </a:p>
        </p:txBody>
      </p:sp>
      <p:pic>
        <p:nvPicPr>
          <p:cNvPr id="31" name="Image 1" descr="/tmp/rasterized-gradient-68afa8b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954512"/>
            <a:ext cx="8686800" cy="337096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238887" y="4049762"/>
            <a:ext cx="86662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This is practice for your capstone presentation! Embrace the feedback!</a:t>
            </a:r>
            <a:endParaRPr lang="en-US" sz="825" dirty="0"/>
          </a:p>
        </p:txBody>
      </p:sp>
      <p:sp>
        <p:nvSpPr>
          <p:cNvPr id="33" name="Text 29"/>
          <p:cNvSpPr/>
          <p:nvPr/>
        </p:nvSpPr>
        <p:spPr>
          <a:xfrm>
            <a:off x="228600" y="4781550"/>
            <a:ext cx="13519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15 - Day 3 | AI Bootcamp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6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582960"/>
            <a:ext cx="500348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Summary: Communication Skills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228600" y="1135410"/>
            <a:ext cx="42529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Key Takeaways: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28600" y="1447800"/>
            <a:ext cx="4169569" cy="323850"/>
          </a:xfrm>
          <a:prstGeom prst="roundRect">
            <a:avLst>
              <a:gd name="adj" fmla="val 23529"/>
            </a:avLst>
          </a:prstGeom>
          <a:solidFill>
            <a:srgbClr val="2D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23850" y="1543050"/>
            <a:ext cx="40586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your audience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adapt your message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28600" y="1924050"/>
            <a:ext cx="4169569" cy="323850"/>
          </a:xfrm>
          <a:prstGeom prst="roundRect">
            <a:avLst>
              <a:gd name="adj" fmla="val 23529"/>
            </a:avLst>
          </a:prstGeom>
          <a:solidFill>
            <a:srgbClr val="2D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23850" y="2019300"/>
            <a:ext cx="40586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STAR framework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Situation, Task, Action, Result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28600" y="2400300"/>
            <a:ext cx="4169569" cy="323850"/>
          </a:xfrm>
          <a:prstGeom prst="roundRect">
            <a:avLst>
              <a:gd name="adj" fmla="val 23529"/>
            </a:avLst>
          </a:prstGeom>
          <a:solidFill>
            <a:srgbClr val="2D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23850" y="2495550"/>
            <a:ext cx="40586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Show, don't tell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demos beat slides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28600" y="2876550"/>
            <a:ext cx="4169569" cy="323850"/>
          </a:xfrm>
          <a:prstGeom prst="roundRect">
            <a:avLst>
              <a:gd name="adj" fmla="val 23529"/>
            </a:avLst>
          </a:prstGeom>
          <a:solidFill>
            <a:srgbClr val="2D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3850" y="2971800"/>
            <a:ext cx="40586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honest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trust comes from transparency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28600" y="3352800"/>
            <a:ext cx="4169569" cy="323850"/>
          </a:xfrm>
          <a:prstGeom prst="roundRect">
            <a:avLst>
              <a:gd name="adj" fmla="val 23529"/>
            </a:avLst>
          </a:prstGeom>
          <a:solidFill>
            <a:srgbClr val="2D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23850" y="3448050"/>
            <a:ext cx="40586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Practice!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record and review yourself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702969" y="1276648"/>
            <a:ext cx="42529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Coming Up:</a:t>
            </a:r>
            <a:endParaRPr lang="en-US" sz="900" dirty="0"/>
          </a:p>
        </p:txBody>
      </p:sp>
      <p:pic>
        <p:nvPicPr>
          <p:cNvPr id="15" name="Image 0" descr="/tmp/rasterized-gradient-4d11a88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2969" y="1589038"/>
            <a:ext cx="4169569" cy="533251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855369" y="1703338"/>
            <a:ext cx="39809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 Project: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4855369" y="1888034"/>
            <a:ext cx="398092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chatbot that answers from uploaded documents using RAG!</a:t>
            </a:r>
            <a:endParaRPr lang="en-US" sz="675" dirty="0"/>
          </a:p>
        </p:txBody>
      </p:sp>
      <p:pic>
        <p:nvPicPr>
          <p:cNvPr id="18" name="Image 1" descr="/tmp/rasterized-gradient-fa4269d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969" y="2274689"/>
            <a:ext cx="4169569" cy="533251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855369" y="2388989"/>
            <a:ext cx="39809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16: AI Agents</a:t>
            </a:r>
            <a:endParaRPr lang="en-US" sz="825" dirty="0"/>
          </a:p>
        </p:txBody>
      </p:sp>
      <p:sp>
        <p:nvSpPr>
          <p:cNvPr id="20" name="Text 16"/>
          <p:cNvSpPr/>
          <p:nvPr/>
        </p:nvSpPr>
        <p:spPr>
          <a:xfrm>
            <a:off x="4855369" y="2573685"/>
            <a:ext cx="398092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E9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LangGraph and multi-agent workflows</a:t>
            </a:r>
            <a:endParaRPr lang="en-US" sz="675" dirty="0"/>
          </a:p>
        </p:txBody>
      </p:sp>
      <p:sp>
        <p:nvSpPr>
          <p:cNvPr id="21" name="Text 17"/>
          <p:cNvSpPr/>
          <p:nvPr/>
        </p:nvSpPr>
        <p:spPr>
          <a:xfrm>
            <a:off x="4702969" y="2960340"/>
            <a:ext cx="4169569" cy="575072"/>
          </a:xfrm>
          <a:prstGeom prst="roundRect">
            <a:avLst>
              <a:gd name="adj" fmla="val 13251"/>
            </a:avLst>
          </a:prstGeom>
          <a:solidFill>
            <a:srgbClr val="2D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4798219" y="3055590"/>
            <a:ext cx="40586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Resources: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4798219" y="3227040"/>
            <a:ext cx="405865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"Presentation Zen" by Garr Reynolds</a:t>
            </a:r>
            <a:endParaRPr lang="en-US" sz="600" dirty="0"/>
          </a:p>
        </p:txBody>
      </p:sp>
      <p:sp>
        <p:nvSpPr>
          <p:cNvPr id="24" name="Text 20"/>
          <p:cNvSpPr/>
          <p:nvPr/>
        </p:nvSpPr>
        <p:spPr>
          <a:xfrm>
            <a:off x="4798219" y="3333601"/>
            <a:ext cx="405865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"Talk Like TED" by Carmine Gallo</a:t>
            </a:r>
            <a:endParaRPr lang="en-US" sz="600" dirty="0"/>
          </a:p>
        </p:txBody>
      </p:sp>
      <p:pic>
        <p:nvPicPr>
          <p:cNvPr id="25" name="Image 2" descr="/tmp/rasterized-gradient-8faea93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400550"/>
            <a:ext cx="8686800" cy="38859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258318" y="4514850"/>
            <a:ext cx="862736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🎉 Great communication = Great career! You've got this!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228600" y="4781550"/>
            <a:ext cx="13519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15 - Day 3 | AI Bootcamp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15 Day 3 - Communication Skills</dc:title>
  <dc:subject>PptxGenJS Presentation</dc:subject>
  <dc:creator>AI Bootcamp</dc:creator>
  <cp:lastModifiedBy>AI Bootcamp</cp:lastModifiedBy>
  <cp:revision>1</cp:revision>
  <dcterms:created xsi:type="dcterms:W3CDTF">2025-11-28T11:57:42Z</dcterms:created>
  <dcterms:modified xsi:type="dcterms:W3CDTF">2025-11-28T11:57:42Z</dcterms:modified>
</cp:coreProperties>
</file>
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9125" y="381000"/>
            <a:ext cx="174560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🤖🔧⚡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139028" y="1325761"/>
            <a:ext cx="48657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spcAft>
                <a:spcPts val="9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AI Agents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2670951" y="1992511"/>
            <a:ext cx="38019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Intelligent Systems with LangGraph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80099" y="2487811"/>
            <a:ext cx="35836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simple chains to autonomous decision-making agents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28461" y="4577804"/>
            <a:ext cx="1487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3787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1 | AI Bootcamp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8286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2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The Problem: LLMs Have Limitations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615678"/>
            <a:ext cx="4076700" cy="624632"/>
          </a:xfrm>
          <a:prstGeom prst="roundRect">
            <a:avLst>
              <a:gd name="adj" fmla="val 1219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615678"/>
            <a:ext cx="0" cy="62463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450" y="1749028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Knowledge Cutoff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52450" y="196036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only know info up to their training date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354610"/>
            <a:ext cx="4076700" cy="624632"/>
          </a:xfrm>
          <a:prstGeom prst="roundRect">
            <a:avLst>
              <a:gd name="adj" fmla="val 1219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354610"/>
            <a:ext cx="0" cy="62463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2450" y="2487960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Cannot Take Actions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52450" y="2699296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send emails, query databases, or execute code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3093541"/>
            <a:ext cx="4076700" cy="624632"/>
          </a:xfrm>
          <a:prstGeom prst="roundRect">
            <a:avLst>
              <a:gd name="adj" fmla="val 1219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093541"/>
            <a:ext cx="0" cy="62463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450" y="3226891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Memory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52450" y="343822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request is stateless - forgets previous chats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86300" y="1699468"/>
            <a:ext cx="4076700" cy="573286"/>
          </a:xfrm>
          <a:prstGeom prst="roundRect">
            <a:avLst>
              <a:gd name="adj" fmla="val 1661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0600" y="181376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asks: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800600" y="1998464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15% tip on my $85 dinner bill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86300" y="2368004"/>
            <a:ext cx="4076700" cy="559891"/>
          </a:xfrm>
          <a:prstGeom prst="roundRect">
            <a:avLst>
              <a:gd name="adj" fmla="val 1701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00600" y="2482304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without tools: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00600" y="266700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math in text - may hallucinate numbers!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3023146"/>
            <a:ext cx="4076700" cy="611386"/>
          </a:xfrm>
          <a:prstGeom prst="roundRect">
            <a:avLst>
              <a:gd name="adj" fmla="val 15579"/>
            </a:avLst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9650" y="3156496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AI Agents solve this!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19650" y="3354586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use real calculators, databases, APIs!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is an AI Agent?</a:t>
            </a:r>
            <a:endParaRPr lang="en-US" sz="1950" dirty="0"/>
          </a:p>
        </p:txBody>
      </p:sp>
      <p:pic>
        <p:nvPicPr>
          <p:cNvPr id="3" name="Image 0" descr="/tmp/rasterized-gradient-6839104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19150"/>
            <a:ext cx="8382000" cy="6380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952500"/>
            <a:ext cx="82776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= LLM + Tools + Decision Loop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14350" y="1177230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system that reasons about tasks, takes actions with tools, and decides what to do next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381000" y="1980158"/>
            <a:ext cx="4095750" cy="502890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00050" y="1980158"/>
            <a:ext cx="0" cy="50289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2075408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REASON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14350" y="2254448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task and decides what to do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1000" y="2559248"/>
            <a:ext cx="4095750" cy="502890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00050" y="2559248"/>
            <a:ext cx="0" cy="50289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4350" y="2654498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ACT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14350" y="283353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tools to accomplish tasks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81000" y="3138339"/>
            <a:ext cx="4095750" cy="502890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00050" y="3138339"/>
            <a:ext cx="0" cy="50289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4350" y="3233589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OBSERVE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4350" y="341262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results from tool execution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81000" y="3717429"/>
            <a:ext cx="4095750" cy="502890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00050" y="3717429"/>
            <a:ext cx="0" cy="50289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4350" y="3812679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ITERATE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14350" y="399171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Continues until task is complete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153745" y="1960513"/>
            <a:ext cx="1122611" cy="2279600"/>
          </a:xfrm>
          <a:prstGeom prst="roundRect">
            <a:avLst>
              <a:gd name="adj" fmla="val 848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297967" y="2112913"/>
            <a:ext cx="8341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 Loop: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297967" y="2316659"/>
            <a:ext cx="8341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6297967" y="2501354"/>
            <a:ext cx="8341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97967" y="2726085"/>
            <a:ext cx="8341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Reason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6297967" y="2910780"/>
            <a:ext cx="8341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97967" y="3135511"/>
            <a:ext cx="8341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Act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6297967" y="3320207"/>
            <a:ext cx="8341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297967" y="3544937"/>
            <a:ext cx="8341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 Observe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6297967" y="3729633"/>
            <a:ext cx="8341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97967" y="3954363"/>
            <a:ext cx="834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or Done ✅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51006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2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Chain vs Agent: What's the Difference?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716459"/>
            <a:ext cx="3714750" cy="872282"/>
          </a:xfrm>
          <a:prstGeom prst="roundRect">
            <a:avLst>
              <a:gd name="adj" fmla="val 10920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0439" y="830759"/>
            <a:ext cx="355587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60439" y="1261170"/>
            <a:ext cx="35558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1683990"/>
            <a:ext cx="3714750" cy="137160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1779240"/>
            <a:ext cx="352425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Fixed, predefined steps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same execution path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loops or decisions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output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150840"/>
            <a:ext cx="3714750" cy="481905"/>
          </a:xfrm>
          <a:prstGeom prst="roundRect">
            <a:avLst>
              <a:gd name="adj" fmla="val 158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1008" y="3246090"/>
            <a:ext cx="35947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→ Step1 → Step2 → Output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41008" y="3417540"/>
            <a:ext cx="35947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(Always the same)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1000" y="3727996"/>
            <a:ext cx="3714750" cy="28575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3804196"/>
            <a:ext cx="3633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Simple, linear workflows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400550" y="219357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94126" y="2284958"/>
            <a:ext cx="1556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48250" y="716459"/>
            <a:ext cx="3714750" cy="872282"/>
          </a:xfrm>
          <a:prstGeom prst="roundRect">
            <a:avLst>
              <a:gd name="adj" fmla="val 1092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27689" y="830759"/>
            <a:ext cx="355587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127689" y="1261170"/>
            <a:ext cx="355587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48250" y="1683990"/>
            <a:ext cx="3714750" cy="137160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43500" y="1779240"/>
            <a:ext cx="352425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decision making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Chooses which tools to use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loop and retry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behavior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48250" y="3150840"/>
            <a:ext cx="3714750" cy="481905"/>
          </a:xfrm>
          <a:prstGeom prst="roundRect">
            <a:avLst>
              <a:gd name="adj" fmla="val 158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08258" y="3246090"/>
            <a:ext cx="35947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→ Act → Observe → ...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108258" y="3417540"/>
            <a:ext cx="35947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(Decides at each step!)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048250" y="3727996"/>
            <a:ext cx="3714750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24450" y="3804196"/>
            <a:ext cx="36335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Complex, dynamic tasks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1000" y="4139654"/>
            <a:ext cx="8382000" cy="337096"/>
          </a:xfrm>
          <a:prstGeom prst="roundRect">
            <a:avLst>
              <a:gd name="adj" fmla="val 226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250" y="4234904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Think of it: Chains follow a recipe. Agents are like a chef who decides what to cook!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🦜 What is LangGraph?</a:t>
            </a:r>
            <a:endParaRPr lang="en-US" sz="1950" dirty="0"/>
          </a:p>
        </p:txBody>
      </p:sp>
      <p:pic>
        <p:nvPicPr>
          <p:cNvPr id="3" name="Image 0" descr="/tmp/rasterized-gradient-ffbe3b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19150"/>
            <a:ext cx="8382000" cy="4018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5300" y="933450"/>
            <a:ext cx="83164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is a framework for building AI agents using graph-based workflows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381000" y="1695450"/>
            <a:ext cx="37978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Why LangGraph?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81000" y="1969740"/>
            <a:ext cx="3723382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57200" y="2045940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Stateful - Maintains context across steps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81000" y="2331690"/>
            <a:ext cx="3723382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7200" y="2407890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Flexible - Build any agent architecture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1000" y="2693640"/>
            <a:ext cx="3723382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" y="2769840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Cyclic - Supports loops (Reason → Act → Observe)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81000" y="3055590"/>
            <a:ext cx="3723382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57200" y="3131790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Visual - Easy to understand and debug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81000" y="3417540"/>
            <a:ext cx="3723382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57200" y="3493740"/>
            <a:ext cx="3642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Production Ready - Used by top companies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294882" y="1606004"/>
            <a:ext cx="4557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Agent as a Graph: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294882" y="1994595"/>
            <a:ext cx="4468118" cy="1798141"/>
          </a:xfrm>
          <a:prstGeom prst="roundRect">
            <a:avLst>
              <a:gd name="adj" fmla="val 529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240363" y="2146995"/>
            <a:ext cx="577155" cy="247650"/>
          </a:xfrm>
          <a:prstGeom prst="roundRect">
            <a:avLst>
              <a:gd name="adj" fmla="val 2307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370609" y="2204145"/>
            <a:ext cx="316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405649" y="2451795"/>
            <a:ext cx="4246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50025" y="2668935"/>
            <a:ext cx="757684" cy="298996"/>
          </a:xfrm>
          <a:prstGeom prst="roundRect">
            <a:avLst>
              <a:gd name="adj" fmla="val 19114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97896" y="2745135"/>
            <a:ext cx="4619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405649" y="3025080"/>
            <a:ext cx="42465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tool call? → done?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908328" y="3215580"/>
            <a:ext cx="620911" cy="247650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018705" y="3272730"/>
            <a:ext cx="4001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Tools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719739" y="3215580"/>
            <a:ext cx="429816" cy="247650"/>
          </a:xfrm>
          <a:prstGeom prst="roundRect">
            <a:avLst>
              <a:gd name="adj" fmla="val 2307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832027" y="3272730"/>
            <a:ext cx="205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405649" y="3520380"/>
            <a:ext cx="42465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loop back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381000" y="4139654"/>
            <a:ext cx="8382000" cy="337096"/>
          </a:xfrm>
          <a:prstGeom prst="roundRect">
            <a:avLst>
              <a:gd name="adj" fmla="val 226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6250" y="4234904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Think of it as: A flowchart that the AI follows, making decisions at each step!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🔷 LangGraph Core Concepts</a:t>
            </a:r>
            <a:endParaRPr lang="en-US" sz="1950" dirty="0"/>
          </a:p>
        </p:txBody>
      </p:sp>
      <p:pic>
        <p:nvPicPr>
          <p:cNvPr id="3" name="Image 0" descr="/tmp/rasterized-gradient-596e31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425029"/>
            <a:ext cx="4114800" cy="7581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5300" y="1539329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STATE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95300" y="176406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data that flows through the graph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95300" y="193551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notebook every node can read and write</a:t>
            </a:r>
            <a:endParaRPr lang="en-US" sz="750" dirty="0"/>
          </a:p>
        </p:txBody>
      </p:sp>
      <p:pic>
        <p:nvPicPr>
          <p:cNvPr id="7" name="Image 1" descr="/tmp/rasterized-gradient-99ce6a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78410"/>
            <a:ext cx="4114800" cy="7581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5300" y="2392710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NODES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95300" y="261744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of work - Python functions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495300" y="278889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stations on a train line</a:t>
            </a:r>
            <a:endParaRPr lang="en-US" sz="750" dirty="0"/>
          </a:p>
        </p:txBody>
      </p:sp>
      <p:pic>
        <p:nvPicPr>
          <p:cNvPr id="11" name="Image 2" descr="/tmp/rasterized-gradient-8dd881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131790"/>
            <a:ext cx="4114800" cy="7581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5300" y="3246090"/>
            <a:ext cx="39639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EDGES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495300" y="3470821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between nodes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495300" y="3642271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conditional with if else logic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4648200" y="1462980"/>
            <a:ext cx="41970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How They Work Together: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648200" y="1851571"/>
            <a:ext cx="4114800" cy="1485900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800600" y="2003971"/>
            <a:ext cx="3810000" cy="28575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840224" y="2080171"/>
            <a:ext cx="373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STATE with messages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4762500" y="2365921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 to nodes below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6016526" y="2575471"/>
            <a:ext cx="648295" cy="247650"/>
          </a:xfrm>
          <a:prstGeom prst="roundRect">
            <a:avLst>
              <a:gd name="adj" fmla="val 23077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111776" y="2632621"/>
            <a:ext cx="4669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Node A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6741021" y="2575471"/>
            <a:ext cx="653653" cy="247650"/>
          </a:xfrm>
          <a:prstGeom prst="roundRect">
            <a:avLst>
              <a:gd name="adj" fmla="val 23077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836271" y="2632621"/>
            <a:ext cx="472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Node B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4800600" y="2899321"/>
            <a:ext cx="3810000" cy="28575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840224" y="2975521"/>
            <a:ext cx="373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Updated STATE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4648200" y="3566071"/>
            <a:ext cx="411480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724400" y="3642271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 State is the train, Nodes are stations, Edges are the tracks!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5760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Tools: Giving Agents Superpowers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800100"/>
            <a:ext cx="8382000" cy="350490"/>
          </a:xfrm>
          <a:prstGeom prst="roundRect">
            <a:avLst>
              <a:gd name="adj" fmla="val 2174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800100"/>
            <a:ext cx="0" cy="35049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4350" y="895350"/>
            <a:ext cx="8316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are functions that agents can call to interact with the world - calculate, search, send emails, query databases!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148780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Example Tools: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384971"/>
            <a:ext cx="764679" cy="209550"/>
          </a:xfrm>
          <a:prstGeom prst="roundRect">
            <a:avLst>
              <a:gd name="adj" fmla="val 72727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" y="2423071"/>
            <a:ext cx="5856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Calculator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202829" y="2384971"/>
            <a:ext cx="858292" cy="209550"/>
          </a:xfrm>
          <a:prstGeom prst="roundRect">
            <a:avLst>
              <a:gd name="adj" fmla="val 72727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98079" y="2423071"/>
            <a:ext cx="6811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Web Search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118271" y="2384971"/>
            <a:ext cx="574030" cy="209550"/>
          </a:xfrm>
          <a:prstGeom prst="roundRect">
            <a:avLst>
              <a:gd name="adj" fmla="val 7272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13521" y="2423071"/>
            <a:ext cx="3912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49451" y="2384971"/>
            <a:ext cx="743694" cy="209550"/>
          </a:xfrm>
          <a:prstGeom prst="roundRect">
            <a:avLst>
              <a:gd name="adj" fmla="val 72727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44701" y="2423071"/>
            <a:ext cx="564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Database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550295" y="2384971"/>
            <a:ext cx="531763" cy="209550"/>
          </a:xfrm>
          <a:prstGeom prst="roundRect">
            <a:avLst>
              <a:gd name="adj" fmla="val 72727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45545" y="2423071"/>
            <a:ext cx="348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APIs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1000" y="2746921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Creating Tools with @tool: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3021211"/>
            <a:ext cx="4095750" cy="72390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6250" y="3116461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@tool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6250" y="3249811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0A5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add(a: int, b: int):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9600" y="3383161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"""Add two numbers."""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9600" y="3516511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a + b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67250" y="1657648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Makes a Good Tool?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7250" y="1893838"/>
            <a:ext cx="4095750" cy="438001"/>
          </a:xfrm>
          <a:prstGeom prst="roundRect">
            <a:avLst>
              <a:gd name="adj" fmla="val 1304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81538" y="1893838"/>
            <a:ext cx="0" cy="43800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2025" y="1970038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Clear Name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772025" y="2135684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Describes what the tool does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667250" y="2408039"/>
            <a:ext cx="4095750" cy="438001"/>
          </a:xfrm>
          <a:prstGeom prst="roundRect">
            <a:avLst>
              <a:gd name="adj" fmla="val 1304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81538" y="2408039"/>
            <a:ext cx="0" cy="43800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2025" y="2484239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Good Docstring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772025" y="2649885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reads this to know WHEN to use it!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667250" y="2922240"/>
            <a:ext cx="4095750" cy="438001"/>
          </a:xfrm>
          <a:prstGeom prst="roundRect">
            <a:avLst>
              <a:gd name="adj" fmla="val 1304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81538" y="2922240"/>
            <a:ext cx="0" cy="43800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2025" y="2998440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Type Hints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772025" y="3164086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input and output types - REQUIRED!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667250" y="3436441"/>
            <a:ext cx="4095750" cy="438001"/>
          </a:xfrm>
          <a:prstGeom prst="roundRect">
            <a:avLst>
              <a:gd name="adj" fmla="val 1304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81538" y="3436441"/>
            <a:ext cx="0" cy="43800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2025" y="3512641"/>
            <a:ext cx="39930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Single Purpose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4772025" y="3678287"/>
            <a:ext cx="39930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one thing well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667250" y="3950643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43450" y="4026843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Pro Tip: The docstring is critical!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Building Your First Agent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create_react_agent - just 5 lines of code!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258491"/>
            <a:ext cx="4630043" cy="786557"/>
          </a:xfrm>
          <a:prstGeom prst="roundRect">
            <a:avLst>
              <a:gd name="adj" fmla="val 968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353741"/>
            <a:ext cx="45283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Import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76250" y="1538436"/>
            <a:ext cx="4439543" cy="411361"/>
          </a:xfrm>
          <a:prstGeom prst="roundRect">
            <a:avLst>
              <a:gd name="adj" fmla="val 138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1614636"/>
            <a:ext cx="43728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0A5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from langgraph.prebuilt import create_react_agent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552450" y="1753642"/>
            <a:ext cx="43728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0A5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from langchain_groq import ChatGroq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81000" y="2121247"/>
            <a:ext cx="4630043" cy="647551"/>
          </a:xfrm>
          <a:prstGeom prst="roundRect">
            <a:avLst>
              <a:gd name="adj" fmla="val 117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2216497"/>
            <a:ext cx="45283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Initialize LLM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250" y="2401193"/>
            <a:ext cx="4439543" cy="272355"/>
          </a:xfrm>
          <a:prstGeom prst="roundRect">
            <a:avLst>
              <a:gd name="adj" fmla="val 209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2450" y="2477393"/>
            <a:ext cx="43728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llm = ChatGroq(model="llama-3.1-8b-instant")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81000" y="2844998"/>
            <a:ext cx="4630043" cy="647551"/>
          </a:xfrm>
          <a:prstGeom prst="roundRect">
            <a:avLst>
              <a:gd name="adj" fmla="val 117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" y="2940248"/>
            <a:ext cx="45283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Define Tools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6250" y="3124944"/>
            <a:ext cx="4439543" cy="272355"/>
          </a:xfrm>
          <a:prstGeom prst="roundRect">
            <a:avLst>
              <a:gd name="adj" fmla="val 209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2450" y="3201144"/>
            <a:ext cx="43728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tools = [add, multiply, subtract]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81000" y="3568750"/>
            <a:ext cx="4630043" cy="685651"/>
          </a:xfrm>
          <a:prstGeom prst="roundRect">
            <a:avLst>
              <a:gd name="adj" fmla="val 11114"/>
            </a:avLst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5300" y="3683050"/>
            <a:ext cx="44894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Create Agent! ✨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95300" y="3867745"/>
            <a:ext cx="4401443" cy="272355"/>
          </a:xfrm>
          <a:prstGeom prst="roundRect">
            <a:avLst>
              <a:gd name="adj" fmla="val 209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1500" y="3943945"/>
            <a:ext cx="43340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agent = create_react_agent(model=llm, tools=tools)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201543" y="1546920"/>
            <a:ext cx="3632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it Creates Automatically: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01543" y="1783110"/>
            <a:ext cx="3561457" cy="97155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96793" y="1878360"/>
            <a:ext cx="3438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Agent node for LLM reasoning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96793" y="2040285"/>
            <a:ext cx="3438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Tool node for execution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296793" y="2202210"/>
            <a:ext cx="3438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Conditional edges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296793" y="2364135"/>
            <a:ext cx="3438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State management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296793" y="2526060"/>
            <a:ext cx="3438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The ReAct loop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201543" y="2830860"/>
            <a:ext cx="3561457" cy="773162"/>
          </a:xfrm>
          <a:prstGeom prst="roundRect">
            <a:avLst>
              <a:gd name="adj" fmla="val 985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96793" y="2926110"/>
            <a:ext cx="34383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🆓 Using Groq - FREE!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296793" y="3110805"/>
            <a:ext cx="3438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free API key at console.groq.com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5296793" y="3249811"/>
            <a:ext cx="3438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Ultra-fast inference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5296793" y="3388816"/>
            <a:ext cx="3438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tool calling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5201543" y="3680222"/>
            <a:ext cx="3561457" cy="285750"/>
          </a:xfrm>
          <a:prstGeom prst="roundRect">
            <a:avLst>
              <a:gd name="adj" fmla="val 266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77743" y="3756422"/>
            <a:ext cx="34772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This is the easiest way to build an agent!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Agent in Action: Step by Step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368921"/>
            <a:ext cx="4114800" cy="489496"/>
          </a:xfrm>
          <a:prstGeom prst="roundRect">
            <a:avLst>
              <a:gd name="adj" fmla="val 19459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464171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User Question: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6250" y="1616571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25 times 4, then subtract 15?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1934617"/>
            <a:ext cx="411480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1934617"/>
            <a:ext cx="0" cy="424755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300" y="2010817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REASON 🤔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5300" y="2163217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need to multiply first, then subtract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81000" y="2435572"/>
            <a:ext cx="411480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435572"/>
            <a:ext cx="0" cy="424755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300" y="2511772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ACT 🔧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95300" y="2664172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Tool Call: multiply(25, 4)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81000" y="2936528"/>
            <a:ext cx="411480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2936528"/>
            <a:ext cx="0" cy="42475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300" y="3012728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OBSERVE 👀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95300" y="3165128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100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648200" y="1207889"/>
            <a:ext cx="411480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67250" y="1207889"/>
            <a:ext cx="0" cy="424755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2500" y="1284089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REASON Again 🤔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62500" y="1436489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 have 100. Need to subtract 15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648200" y="1708845"/>
            <a:ext cx="411480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67250" y="1708845"/>
            <a:ext cx="0" cy="424755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2500" y="1785045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ACT Again 🔧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62500" y="1937445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Tool Call: subtract(100, 15)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648200" y="2209800"/>
            <a:ext cx="4114800" cy="424755"/>
          </a:xfrm>
          <a:prstGeom prst="roundRect">
            <a:avLst>
              <a:gd name="adj" fmla="val 13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67250" y="2209800"/>
            <a:ext cx="0" cy="42475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2500" y="2286000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OBSERVE 👀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62500" y="2438400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85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648200" y="2710755"/>
            <a:ext cx="4114800" cy="462855"/>
          </a:xfrm>
          <a:prstGeom prst="roundRect">
            <a:avLst>
              <a:gd name="adj" fmla="val 12347"/>
            </a:avLst>
          </a:prstGeom>
          <a:solidFill>
            <a:srgbClr val="DCFCE7"/>
          </a:solidFill>
          <a:ln w="19050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43450" y="2806005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ANSWER ✅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43450" y="2958405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times 4 equals 100, minus 15 equals 85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648200" y="3249811"/>
            <a:ext cx="4114800" cy="272355"/>
          </a:xfrm>
          <a:prstGeom prst="roundRect">
            <a:avLst>
              <a:gd name="adj" fmla="val 2098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24400" y="3326011"/>
            <a:ext cx="40416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agent decided on its own to use multiply first, then subtract!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381000" y="4139654"/>
            <a:ext cx="8382000" cy="337096"/>
          </a:xfrm>
          <a:prstGeom prst="roundRect">
            <a:avLst>
              <a:gd name="adj" fmla="val 226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94335" y="4234904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The ReAct Loop: Reason then Act then Observe then Reason then Act then Observe then Done!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Building a Custom Agent Graph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7620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spcAft>
                <a:spcPts val="75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more control, build the graph yourself!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1659582"/>
            <a:ext cx="4488805" cy="2313682"/>
          </a:xfrm>
          <a:prstGeom prst="roundRect">
            <a:avLst>
              <a:gd name="adj" fmla="val 32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754832"/>
            <a:ext cx="4384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1. Define State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476250" y="1912888"/>
            <a:ext cx="4384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0A5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AgentState(TypedDict):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571500" y="2032843"/>
            <a:ext cx="42871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messages: Annotated[list, add_messages]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76250" y="2209949"/>
            <a:ext cx="4384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2. Create Nodes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76250" y="2368004"/>
            <a:ext cx="4384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0A5F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 agent_node(state):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571500" y="2487960"/>
            <a:ext cx="42871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response = llm.invoke(state["messages"])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71500" y="2607915"/>
            <a:ext cx="42871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{"messages": [response]}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76250" y="2785021"/>
            <a:ext cx="4384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3. Build Graph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76250" y="2943076"/>
            <a:ext cx="4384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graph = StateGraph(AgentState)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76250" y="3063032"/>
            <a:ext cx="4384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graph.add_node("agent", agent_node)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76250" y="3182987"/>
            <a:ext cx="4384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graph.add_node("tools", tool_node)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76250" y="3360093"/>
            <a:ext cx="4384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4. Add Edges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76250" y="3518148"/>
            <a:ext cx="4384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graph.add_edge(START, "agent")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76250" y="3638104"/>
            <a:ext cx="4384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graph.add_conditional_edges(...)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76250" y="3758059"/>
            <a:ext cx="4384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8FAF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graph.add_edge("tools", "agent")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5022205" y="1197471"/>
            <a:ext cx="38156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The Graph Structure: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022205" y="1420267"/>
            <a:ext cx="3740795" cy="1428452"/>
          </a:xfrm>
          <a:prstGeom prst="roundRect">
            <a:avLst>
              <a:gd name="adj" fmla="val 533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38479" y="1544092"/>
            <a:ext cx="508099" cy="196155"/>
          </a:xfrm>
          <a:prstGeom prst="roundRect">
            <a:avLst>
              <a:gd name="adj" fmla="val 19423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49984" y="1582192"/>
            <a:ext cx="2850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5101383" y="1778347"/>
            <a:ext cx="35824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53349" y="1949797"/>
            <a:ext cx="678359" cy="247650"/>
          </a:xfrm>
          <a:prstGeom prst="roundRect">
            <a:avLst>
              <a:gd name="adj" fmla="val 15385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82582" y="2006947"/>
            <a:ext cx="419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101383" y="2235547"/>
            <a:ext cx="35824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tool call? → done?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6370588" y="2393603"/>
            <a:ext cx="519857" cy="196155"/>
          </a:xfrm>
          <a:prstGeom prst="roundRect">
            <a:avLst>
              <a:gd name="adj" fmla="val 1942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62544" y="2431703"/>
            <a:ext cx="3359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Tools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7042845" y="2393603"/>
            <a:ext cx="371624" cy="196155"/>
          </a:xfrm>
          <a:prstGeom prst="roundRect">
            <a:avLst>
              <a:gd name="adj" fmla="val 19423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136283" y="2431703"/>
            <a:ext cx="1847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5101383" y="2627858"/>
            <a:ext cx="358243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loop back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022205" y="2924919"/>
            <a:ext cx="3740795" cy="120015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98405" y="3001119"/>
            <a:ext cx="36601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Key Functions: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98405" y="3172569"/>
            <a:ext cx="3588395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add_node() - Add a processing step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add_edge() - Connect nodes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add_conditional_edges() - If/else routing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022205" y="4201269"/>
            <a:ext cx="3740795" cy="234255"/>
          </a:xfrm>
          <a:prstGeom prst="roundRect">
            <a:avLst>
              <a:gd name="adj" fmla="val 2439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79355" y="4258419"/>
            <a:ext cx="36990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Custom graphs give full control over agent behavior!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05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Real-World Agent Applications</a:t>
            </a:r>
            <a:endParaRPr lang="en-US" sz="1950" dirty="0"/>
          </a:p>
        </p:txBody>
      </p:sp>
      <p:pic>
        <p:nvPicPr>
          <p:cNvPr id="3" name="Image 0" descr="/tmp/rasterized-gradient-96f4a8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98488"/>
            <a:ext cx="4124325" cy="777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1093738"/>
            <a:ext cx="39736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14350" y="1371749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Assistant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14350" y="1560314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products, compare prices, check reviews</a:t>
            </a:r>
            <a:endParaRPr lang="en-US" sz="675" dirty="0"/>
          </a:p>
        </p:txBody>
      </p:sp>
      <p:pic>
        <p:nvPicPr>
          <p:cNvPr id="7" name="Image 1" descr="/tmp/rasterized-gradient-3dbce9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70770"/>
            <a:ext cx="4124325" cy="777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4350" y="1966020"/>
            <a:ext cx="39736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14350" y="2244030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14350" y="2432596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databases, create visualizations, reports</a:t>
            </a:r>
            <a:endParaRPr lang="en-US" sz="675" dirty="0"/>
          </a:p>
        </p:txBody>
      </p:sp>
      <p:pic>
        <p:nvPicPr>
          <p:cNvPr id="11" name="Image 2" descr="/tmp/rasterized-gradient-fc008ad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743051"/>
            <a:ext cx="4124325" cy="777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4350" y="2838301"/>
            <a:ext cx="39736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14350" y="3116312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Assistant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14350" y="3304877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code, run tests, debug errors</a:t>
            </a:r>
            <a:endParaRPr lang="en-US" sz="675" dirty="0"/>
          </a:p>
        </p:txBody>
      </p:sp>
      <p:pic>
        <p:nvPicPr>
          <p:cNvPr id="15" name="Image 3" descr="/tmp/rasterized-gradient-5756d03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675" y="998488"/>
            <a:ext cx="4124325" cy="777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72025" y="1093738"/>
            <a:ext cx="39736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772025" y="1371749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Manager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772025" y="1560314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emails, draft replies, schedule</a:t>
            </a:r>
            <a:endParaRPr lang="en-US" sz="675" dirty="0"/>
          </a:p>
        </p:txBody>
      </p:sp>
      <p:pic>
        <p:nvPicPr>
          <p:cNvPr id="19" name="Image 4" descr="/tmp/rasterized-gradient-2c1ae36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675" y="1870770"/>
            <a:ext cx="4124325" cy="777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72025" y="1966020"/>
            <a:ext cx="39736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4772025" y="2244030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Assistant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772025" y="2432596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papers, summarize findings, cite sources</a:t>
            </a:r>
            <a:endParaRPr lang="en-US" sz="675" dirty="0"/>
          </a:p>
        </p:txBody>
      </p:sp>
      <p:pic>
        <p:nvPicPr>
          <p:cNvPr id="23" name="Image 5" descr="/tmp/rasterized-gradient-cd28e0f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675" y="2743051"/>
            <a:ext cx="4124325" cy="777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772025" y="2838301"/>
            <a:ext cx="39736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4772025" y="3116312"/>
            <a:ext cx="3973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Tutor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4772025" y="3304877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concepts, create quizzes, track progress</a:t>
            </a:r>
            <a:endParaRPr lang="en-US" sz="675" dirty="0"/>
          </a:p>
        </p:txBody>
      </p:sp>
      <p:sp>
        <p:nvSpPr>
          <p:cNvPr id="27" name="Text 19"/>
          <p:cNvSpPr/>
          <p:nvPr/>
        </p:nvSpPr>
        <p:spPr>
          <a:xfrm>
            <a:off x="381000" y="3928170"/>
            <a:ext cx="8382000" cy="548580"/>
          </a:xfrm>
          <a:prstGeom prst="roundRect">
            <a:avLst>
              <a:gd name="adj" fmla="val 1389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0"/>
          <p:cNvSpPr/>
          <p:nvPr/>
        </p:nvSpPr>
        <p:spPr>
          <a:xfrm>
            <a:off x="495300" y="4042470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800" dirty="0"/>
          </a:p>
        </p:txBody>
      </p:sp>
      <p:sp>
        <p:nvSpPr>
          <p:cNvPr id="29" name="Text 21"/>
          <p:cNvSpPr/>
          <p:nvPr/>
        </p:nvSpPr>
        <p:spPr>
          <a:xfrm>
            <a:off x="894904" y="4046190"/>
            <a:ext cx="2000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is Agentic!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94904" y="4225230"/>
            <a:ext cx="2000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don't just respond - they take action!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Today's Hands-On Lab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286917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 What We Will Build: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523107"/>
            <a:ext cx="4095750" cy="1209377"/>
          </a:xfrm>
          <a:prstGeom prst="roundRect">
            <a:avLst>
              <a:gd name="adj" fmla="val 630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618357"/>
            <a:ext cx="390674" cy="158055"/>
          </a:xfrm>
          <a:prstGeom prst="roundRect">
            <a:avLst>
              <a:gd name="adj" fmla="val 24106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2450" y="1637407"/>
            <a:ext cx="243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943124" y="1624013"/>
            <a:ext cx="15625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State, Nodes, Edges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76250" y="1833563"/>
            <a:ext cx="390674" cy="158055"/>
          </a:xfrm>
          <a:prstGeom prst="roundRect">
            <a:avLst>
              <a:gd name="adj" fmla="val 24106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852612"/>
            <a:ext cx="243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943124" y="1839218"/>
            <a:ext cx="15877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tools with @tool decorator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250" y="2048768"/>
            <a:ext cx="390674" cy="158055"/>
          </a:xfrm>
          <a:prstGeom prst="roundRect">
            <a:avLst>
              <a:gd name="adj" fmla="val 2410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2450" y="2067818"/>
            <a:ext cx="243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943124" y="2054423"/>
            <a:ext cx="17052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agent with create_react_agent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76250" y="2263973"/>
            <a:ext cx="390674" cy="158055"/>
          </a:xfrm>
          <a:prstGeom prst="roundRect">
            <a:avLst>
              <a:gd name="adj" fmla="val 24106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450" y="2283023"/>
            <a:ext cx="243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943124" y="2269629"/>
            <a:ext cx="115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with multiple tools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6250" y="2479179"/>
            <a:ext cx="390674" cy="158055"/>
          </a:xfrm>
          <a:prstGeom prst="roundRect">
            <a:avLst>
              <a:gd name="adj" fmla="val 2410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2450" y="2498229"/>
            <a:ext cx="2430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943124" y="2484834"/>
            <a:ext cx="12120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custom agent graph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81000" y="2808684"/>
            <a:ext cx="4095750" cy="120015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2884884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Requirements: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3056334"/>
            <a:ext cx="394335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3.8+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 Key (free!)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 or Colab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67250" y="1682204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Tools We Will Create: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7250" y="1918395"/>
            <a:ext cx="558254" cy="247650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62500" y="1975545"/>
            <a:ext cx="375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add()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282654" y="1918395"/>
            <a:ext cx="722114" cy="247650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77904" y="1975545"/>
            <a:ext cx="5422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✖️ multiply()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061918" y="1918395"/>
            <a:ext cx="738188" cy="247650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57168" y="1975545"/>
            <a:ext cx="558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➖ subtract()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857256" y="1918395"/>
            <a:ext cx="918270" cy="247650"/>
          </a:xfrm>
          <a:prstGeom prst="roundRect">
            <a:avLst>
              <a:gd name="adj" fmla="val 23077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52506" y="1975545"/>
            <a:ext cx="7423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 word_length()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832675" y="1918395"/>
            <a:ext cx="716905" cy="247650"/>
          </a:xfrm>
          <a:prstGeom prst="roundRect">
            <a:avLst>
              <a:gd name="adj" fmla="val 23077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927925" y="1975545"/>
            <a:ext cx="536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reverse()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67250" y="2223195"/>
            <a:ext cx="690414" cy="247650"/>
          </a:xfrm>
          <a:prstGeom prst="roundRect">
            <a:avLst>
              <a:gd name="adj" fmla="val 23077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62500" y="2280345"/>
            <a:ext cx="5099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 vowels()</a:t>
            </a:r>
            <a:endParaRPr lang="en-US" sz="750" dirty="0"/>
          </a:p>
        </p:txBody>
      </p:sp>
      <p:pic>
        <p:nvPicPr>
          <p:cNvPr id="36" name="Image 0" descr="/tmp/rasterized-gradient-984c4f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0" y="2547045"/>
            <a:ext cx="4095750" cy="704701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781550" y="2661345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Mini Challenge: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4781550" y="284604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own agent with custom tools!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4781550" y="3017490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Ideas: Temp converter, Tip calc, BMI calc</a:t>
            </a:r>
            <a:endParaRPr lang="en-US" sz="675" dirty="0"/>
          </a:p>
        </p:txBody>
      </p:sp>
      <p:sp>
        <p:nvSpPr>
          <p:cNvPr id="40" name="Text 37"/>
          <p:cNvSpPr/>
          <p:nvPr/>
        </p:nvSpPr>
        <p:spPr>
          <a:xfrm>
            <a:off x="4667250" y="3327946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743450" y="3404146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Pro Tip: Write clear docstrings - they tell the LLM when to use your tools!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1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Summary: Key Takeaways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145977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We Learned: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38216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5288" y="138216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5775" y="145836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Agents = LLM + Tools + Decision Loop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174411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5288" y="174411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5775" y="182031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ReAct Pattern: Reason → Act → Observe → Repeat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210606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210606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775" y="218226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LangGraph uses State, Nodes, and Edges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246801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246801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775" y="254421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@tool decorator creates tools with docstrings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2829967"/>
            <a:ext cx="409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95288" y="2829967"/>
            <a:ext cx="0" cy="28575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775" y="2906167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create_react_agent = easiest way to build agents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67250" y="1061442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Coming Up Tomorrow:</a:t>
            </a:r>
            <a:endParaRPr lang="en-US" sz="900" dirty="0"/>
          </a:p>
        </p:txBody>
      </p:sp>
      <p:pic>
        <p:nvPicPr>
          <p:cNvPr id="20" name="Image 0" descr="/tmp/rasterized-gradient-25ba636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0" y="1297632"/>
            <a:ext cx="4095750" cy="98271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781550" y="1411932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2: LangGraph Workflows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81550" y="1629073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and parallel edges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4781550" y="1768078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workflow creation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4781550" y="1907084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Inter-agent communication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781550" y="2046089"/>
            <a:ext cx="39444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orchestration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4667250" y="2413695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Resources: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667250" y="2649885"/>
            <a:ext cx="4095750" cy="550366"/>
          </a:xfrm>
          <a:prstGeom prst="roundRect">
            <a:avLst>
              <a:gd name="adj" fmla="val 1038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43450" y="2726085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LangGraph: langchain-ai.github.io/langgraph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743450" y="2865090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Console: console.groq.com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4743450" y="3004096"/>
            <a:ext cx="40222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LangChain: python.langchain.com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381000" y="3671143"/>
            <a:ext cx="8382000" cy="805607"/>
          </a:xfrm>
          <a:prstGeom prst="roundRect">
            <a:avLst>
              <a:gd name="adj" fmla="val 94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13766" y="3785443"/>
            <a:ext cx="83164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13766" y="4036814"/>
            <a:ext cx="83164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now ready to build AI Agents!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413766" y="4229100"/>
            <a:ext cx="8316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open the notebook and start coding! 💻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381000" y="47053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16 - Day 1 | AI Bootcamp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16 Day 1 - Introduction to AI Agents</dc:title>
  <dc:subject>AI Agents and LangGraph</dc:subject>
  <dc:creator>AI Bootcamp</dc:creator>
  <cp:lastModifiedBy>AI Bootcamp</cp:lastModifiedBy>
  <cp:revision>1</cp:revision>
  <dcterms:created xsi:type="dcterms:W3CDTF">2025-12-01T07:13:13Z</dcterms:created>
  <dcterms:modified xsi:type="dcterms:W3CDTF">2025-12-01T07:13:13Z</dcterms:modified>
</cp:coreProperties>
</file>
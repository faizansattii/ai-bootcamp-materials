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9125" y="381000"/>
            <a:ext cx="174560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🗣️💬🤝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40662" y="1325761"/>
            <a:ext cx="42626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Aft>
                <a:spcPts val="9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Skills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3778213" y="1992511"/>
            <a:ext cx="15875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 Practitioners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598539" y="2487811"/>
            <a:ext cx="39469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AI, managing expectations, and ethical communication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28461" y="4577804"/>
            <a:ext cx="1487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3787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4788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Why Communication Matters in AI</a:t>
            </a:r>
            <a:endParaRPr lang="en-US" sz="1950" dirty="0"/>
          </a:p>
        </p:txBody>
      </p:sp>
      <p:pic>
        <p:nvPicPr>
          <p:cNvPr id="3" name="Image 0" descr="/tmp/rasterized-gradient-909a59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19150"/>
            <a:ext cx="8382000" cy="5732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933450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33400" y="1131540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AI projects fail because of miscommunication, unrealistic expectations, and lack of understanding.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381000" y="1947863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😰 Common Challenges: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81000" y="2203103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2279303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AI will solve everything!"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57200" y="2431703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Unrealistic expectations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381000" y="2723108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" y="2799308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understand what it does"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57200" y="2951708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Technical jargon overload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81000" y="3243114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57200" y="3319314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is it taking so long?"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57200" y="3471714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Poor timeline communication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381000" y="3763119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57200" y="3839319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AI safe to use?"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57200" y="3991719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Trust and ethical concerns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4667250" y="2035373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Good Communication Achieves: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67250" y="2290614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681538" y="2290614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2025" y="2366814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buy-in and support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667250" y="2671614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681538" y="2671614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2025" y="2747814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project expectations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667250" y="3052614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681538" y="3052614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72025" y="3128814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AI systems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667250" y="3433614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681538" y="3433614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72025" y="3509814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adoption and usage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667250" y="3814614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681538" y="3814614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72025" y="3890814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deployment practices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Know Your Audience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audiences need different explanations</a:t>
            </a:r>
            <a:endParaRPr lang="en-US" sz="900" dirty="0"/>
          </a:p>
        </p:txBody>
      </p:sp>
      <p:pic>
        <p:nvPicPr>
          <p:cNvPr id="4" name="Image 0" descr="/tmp/rasterized-gradient-4331ea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823293"/>
            <a:ext cx="4124325" cy="6475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4350" y="1918543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 Executives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14350" y="2116634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on: Business value, ROI, competitive advantage, high-level capabilities</a:t>
            </a:r>
            <a:endParaRPr lang="en-US" sz="675" dirty="0"/>
          </a:p>
        </p:txBody>
      </p:sp>
      <p:sp>
        <p:nvSpPr>
          <p:cNvPr id="7" name="Text 4"/>
          <p:cNvSpPr/>
          <p:nvPr/>
        </p:nvSpPr>
        <p:spPr>
          <a:xfrm>
            <a:off x="514350" y="2255639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Avoid: Technical details, jargon, implementation specifics</a:t>
            </a:r>
            <a:endParaRPr lang="en-US" sz="675" dirty="0"/>
          </a:p>
        </p:txBody>
      </p:sp>
      <p:pic>
        <p:nvPicPr>
          <p:cNvPr id="8" name="Image 1" descr="/tmp/rasterized-gradient-ed33e6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547045"/>
            <a:ext cx="4124325" cy="6475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4350" y="2642295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Product Managers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14350" y="2840385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on: Features, timelines, user impact, integration points</a:t>
            </a:r>
            <a:endParaRPr lang="en-US" sz="675" dirty="0"/>
          </a:p>
        </p:txBody>
      </p:sp>
      <p:sp>
        <p:nvSpPr>
          <p:cNvPr id="11" name="Text 7"/>
          <p:cNvSpPr/>
          <p:nvPr/>
        </p:nvSpPr>
        <p:spPr>
          <a:xfrm>
            <a:off x="514350" y="2979390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Avoid: Algorithm math, infrastructure details</a:t>
            </a:r>
            <a:endParaRPr lang="en-US" sz="675" dirty="0"/>
          </a:p>
        </p:txBody>
      </p:sp>
      <p:pic>
        <p:nvPicPr>
          <p:cNvPr id="12" name="Image 2" descr="/tmp/rasterized-gradient-47e7c4a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270796"/>
            <a:ext cx="4124325" cy="6475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4350" y="3366046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Engineers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14350" y="3564136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on: Architecture, APIs, performance, scalability</a:t>
            </a:r>
            <a:endParaRPr lang="en-US" sz="675" dirty="0"/>
          </a:p>
        </p:txBody>
      </p:sp>
      <p:sp>
        <p:nvSpPr>
          <p:cNvPr id="15" name="Text 10"/>
          <p:cNvSpPr/>
          <p:nvPr/>
        </p:nvSpPr>
        <p:spPr>
          <a:xfrm>
            <a:off x="514350" y="3703141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handle: Technical depth, code examples</a:t>
            </a:r>
            <a:endParaRPr lang="en-US" sz="675" dirty="0"/>
          </a:p>
        </p:txBody>
      </p:sp>
      <p:pic>
        <p:nvPicPr>
          <p:cNvPr id="16" name="Image 3" descr="/tmp/rasterized-gradient-da9c5dd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675" y="1899345"/>
            <a:ext cx="4124325" cy="64755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72025" y="1994595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End Users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772025" y="2192685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on: What it does for them, how to use it, benefits</a:t>
            </a:r>
            <a:endParaRPr lang="en-US" sz="675" dirty="0"/>
          </a:p>
        </p:txBody>
      </p:sp>
      <p:sp>
        <p:nvSpPr>
          <p:cNvPr id="19" name="Text 13"/>
          <p:cNvSpPr/>
          <p:nvPr/>
        </p:nvSpPr>
        <p:spPr>
          <a:xfrm>
            <a:off x="4772025" y="2331690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Avoid: Everything technical</a:t>
            </a:r>
            <a:endParaRPr lang="en-US" sz="675" dirty="0"/>
          </a:p>
        </p:txBody>
      </p:sp>
      <p:pic>
        <p:nvPicPr>
          <p:cNvPr id="20" name="Image 4" descr="/tmp/rasterized-gradient-c2e94a2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675" y="2623096"/>
            <a:ext cx="4124325" cy="64755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72025" y="2718346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Legal/Compliance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772025" y="2916436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on: Data handling, privacy, risks, documentation</a:t>
            </a:r>
            <a:endParaRPr lang="en-US" sz="675" dirty="0"/>
          </a:p>
        </p:txBody>
      </p:sp>
      <p:sp>
        <p:nvSpPr>
          <p:cNvPr id="23" name="Text 16"/>
          <p:cNvSpPr/>
          <p:nvPr/>
        </p:nvSpPr>
        <p:spPr>
          <a:xfrm>
            <a:off x="4772025" y="3055441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Need: Clear, precise language</a:t>
            </a:r>
            <a:endParaRPr lang="en-US" sz="675" dirty="0"/>
          </a:p>
        </p:txBody>
      </p:sp>
      <p:sp>
        <p:nvSpPr>
          <p:cNvPr id="24" name="Text 17"/>
          <p:cNvSpPr/>
          <p:nvPr/>
        </p:nvSpPr>
        <p:spPr>
          <a:xfrm>
            <a:off x="4638675" y="3346847"/>
            <a:ext cx="4124325" cy="49530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4733925" y="3442097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Pro Tip: Always ask yourself:</a:t>
            </a:r>
            <a:endParaRPr lang="en-US" sz="750" dirty="0"/>
          </a:p>
        </p:txBody>
      </p:sp>
      <p:sp>
        <p:nvSpPr>
          <p:cNvPr id="26" name="Text 19"/>
          <p:cNvSpPr/>
          <p:nvPr/>
        </p:nvSpPr>
        <p:spPr>
          <a:xfrm>
            <a:off x="4733925" y="3613547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THIS person need to know?"</a:t>
            </a:r>
            <a:endParaRPr lang="en-US" sz="750" dirty="0"/>
          </a:p>
        </p:txBody>
      </p:sp>
      <p:sp>
        <p:nvSpPr>
          <p:cNvPr id="27" name="Text 20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Explaining AI Agents Simply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analogies and simple language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780282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Don't Say: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2035522"/>
            <a:ext cx="4095750" cy="457200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130772"/>
            <a:ext cx="3983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LangGraph state machine uses conditional edges to route between nodes based on the tool_calls attribute in the message response..."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2664172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Do Say: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919413"/>
            <a:ext cx="4095750" cy="45720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3014663"/>
            <a:ext cx="3983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of an AI agent like a smart assistant. It can understand your request, use different tools to help you, and figure out the best way to complete your task."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667250" y="1496467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Powerful Analogies: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7250" y="1732657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43450" y="180885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= Smart Assistant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43450" y="1961257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"Like having a helpful coworker who can use different tools"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667250" y="2233613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43450" y="2309813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= Team of Specialists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43450" y="2462213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"Like a team where each person has their own expertise"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67250" y="2734568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43450" y="2810768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= Apps on a Phone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43450" y="2963168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AI picks which app to use based on what you need"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667250" y="3235523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43450" y="3311723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= Recipe Steps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43450" y="3464123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follows steps, but can adjust based on results"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81000" y="4139654"/>
            <a:ext cx="8382000" cy="337096"/>
          </a:xfrm>
          <a:prstGeom prst="roundRect">
            <a:avLst>
              <a:gd name="adj" fmla="val 22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4335" y="4234904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Rule of Thumb: If your grandmother wouldn't understand it, simplify more!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4496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Managing AI Project Expectations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283196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Common Misconceptions: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519386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288" y="1519386"/>
            <a:ext cx="0" cy="424755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5775" y="1595586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is 100% accurate"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85775" y="1747986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Reality: AI makes mistakes, especially in edge cases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1000" y="2020342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020342"/>
            <a:ext cx="0" cy="424755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775" y="2096542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will work immediately"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5775" y="2248942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Reality: AI needs tuning, testing, and iteration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81000" y="2521297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5288" y="2521297"/>
            <a:ext cx="0" cy="424755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775" y="259749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"Set it and forget it"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5775" y="2749897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Reality: AI needs monitoring and maintenance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81000" y="3022253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95288" y="3022253"/>
            <a:ext cx="0" cy="424755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775" y="3098453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replaces humans"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5775" y="3250853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Reality: AI augments human capabilities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667250" y="1283196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How to Set Right Expectations: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7250" y="1519386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81538" y="1519386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2025" y="1595586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Be Honest About Limitations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2025" y="1747986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works best for X, less well for Y"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667250" y="2020342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81538" y="2020342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2025" y="2096542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Show Real Examples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2025" y="2248942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both successes AND failures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67250" y="2521297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81538" y="2521297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2025" y="259749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Define Success Metrics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72025" y="2749897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aim for 90% accuracy, not 100%"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667250" y="3022253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81538" y="3022253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2025" y="3098453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Explain the Process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72025" y="3250853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"We'll iterate and improve over time"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381000" y="4139654"/>
            <a:ext cx="8382000" cy="337096"/>
          </a:xfrm>
          <a:prstGeom prst="roundRect">
            <a:avLst>
              <a:gd name="adj" fmla="val 226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6250" y="4234904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Under-promise and over-deliver beats over-promise and under-deliver every time!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AI Limitations to Communicate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upfront about what AI cannot do well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550938"/>
            <a:ext cx="4114800" cy="634157"/>
          </a:xfrm>
          <a:prstGeom prst="roundRect">
            <a:avLst>
              <a:gd name="adj" fmla="val 1201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550938"/>
            <a:ext cx="0" cy="63415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646188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 Non-Deterministic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14350" y="1830884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 may give different outputs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514350" y="1969889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"Results may vary slightly each time"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81000" y="2261295"/>
            <a:ext cx="4114800" cy="634157"/>
          </a:xfrm>
          <a:prstGeom prst="roundRect">
            <a:avLst>
              <a:gd name="adj" fmla="val 1201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261295"/>
            <a:ext cx="0" cy="63415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2356545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🤷 Hallucinations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14350" y="2541240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confidently state incorrect info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514350" y="2680246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"Always verify critical information"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81000" y="2971651"/>
            <a:ext cx="4114800" cy="634157"/>
          </a:xfrm>
          <a:prstGeom prst="roundRect">
            <a:avLst>
              <a:gd name="adj" fmla="val 1201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2971651"/>
            <a:ext cx="0" cy="63415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350" y="3066901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Knowledge Cutoff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14350" y="3251597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know recent events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14350" y="3390602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"For current info, we use tools"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648200" y="1550938"/>
            <a:ext cx="4114800" cy="634157"/>
          </a:xfrm>
          <a:prstGeom prst="roundRect">
            <a:avLst>
              <a:gd name="adj" fmla="val 1201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7250" y="1550938"/>
            <a:ext cx="0" cy="63415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1550" y="1646188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Complex Reasoning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781550" y="1830884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Struggles with multi-step logic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781550" y="1969889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"Best for straightforward tasks"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48200" y="2261295"/>
            <a:ext cx="4114800" cy="634157"/>
          </a:xfrm>
          <a:prstGeom prst="roundRect">
            <a:avLst>
              <a:gd name="adj" fmla="val 1201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7250" y="2261295"/>
            <a:ext cx="0" cy="63415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1550" y="2356545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Context Understanding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781550" y="2541240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miss nuance or sarcasm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781550" y="2680246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"Clear instructions work best"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48200" y="2971651"/>
            <a:ext cx="4114800" cy="634157"/>
          </a:xfrm>
          <a:prstGeom prst="roundRect">
            <a:avLst>
              <a:gd name="adj" fmla="val 1201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67250" y="2971651"/>
            <a:ext cx="0" cy="63415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1550" y="3066901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No True Memory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781550" y="3251597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session starts fresh (usually)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781550" y="3390602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"We store context where needed"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381000" y="4139654"/>
            <a:ext cx="8382000" cy="337096"/>
          </a:xfrm>
          <a:prstGeom prst="roundRect">
            <a:avLst>
              <a:gd name="adj" fmla="val 22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94335" y="4234904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Key Message: AI is a powerful tool, not magic. Set expectations accordingly.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3039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Ethical Communication About AI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190923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Key Ethical Principles: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446163"/>
            <a:ext cx="4095750" cy="634157"/>
          </a:xfrm>
          <a:prstGeom prst="roundRect">
            <a:avLst>
              <a:gd name="adj" fmla="val 1201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446163"/>
            <a:ext cx="0" cy="634157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541413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Transparency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14350" y="1726109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users when they're interacting with AI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514350" y="1865114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decisions are made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81000" y="2175570"/>
            <a:ext cx="4095750" cy="634157"/>
          </a:xfrm>
          <a:prstGeom prst="roundRect">
            <a:avLst>
              <a:gd name="adj" fmla="val 1201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175570"/>
            <a:ext cx="0" cy="634157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2270820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Privacy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14350" y="2455515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clear about data collection and usage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514350" y="2594521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user consent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81000" y="2904976"/>
            <a:ext cx="4095750" cy="634157"/>
          </a:xfrm>
          <a:prstGeom prst="roundRect">
            <a:avLst>
              <a:gd name="adj" fmla="val 1201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2904976"/>
            <a:ext cx="0" cy="634157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350" y="3000226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Fairness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14350" y="3184922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potential biases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14350" y="3323927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to minimize unfair outcomes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667250" y="1332607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Best Practices: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7250" y="158784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43450" y="166404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claim AI is "objective" or "unbiased"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67250" y="196884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3450" y="204504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include human oversight for critical decisions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67250" y="234984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43450" y="242604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happens if things go wrong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67250" y="273084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43450" y="280704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users control and opt-out options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67250" y="311184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3450" y="318804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 about what you don't know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81000" y="4139654"/>
            <a:ext cx="8382000" cy="337096"/>
          </a:xfrm>
          <a:prstGeom prst="roundRect">
            <a:avLst>
              <a:gd name="adj" fmla="val 226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6250" y="4234904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Remember: Your reputation depends on honest communication. Trust is hard to rebuild.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Technical Storytelling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complex projects into compelling narratives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355675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The Story Framework: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1591866"/>
            <a:ext cx="4095750" cy="495151"/>
          </a:xfrm>
          <a:prstGeom prst="roundRect">
            <a:avLst>
              <a:gd name="adj" fmla="val 153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1687116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Problem (Why)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6250" y="1871811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"Our support team was overwhelmed with 500+ tickets daily..."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1000" y="2163217"/>
            <a:ext cx="4095750" cy="495151"/>
          </a:xfrm>
          <a:prstGeom prst="roundRect">
            <a:avLst>
              <a:gd name="adj" fmla="val 153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2258467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Solution (What)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6250" y="2443163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built an AI assistant that handles common questions..."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2734568"/>
            <a:ext cx="4095750" cy="495151"/>
          </a:xfrm>
          <a:prstGeom prst="roundRect">
            <a:avLst>
              <a:gd name="adj" fmla="val 153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" y="2829818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Impact (Results)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76250" y="3014514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the team handles 60% fewer tickets, focusing on complex cases..."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81000" y="3305919"/>
            <a:ext cx="4095750" cy="495151"/>
          </a:xfrm>
          <a:prstGeom prst="roundRect">
            <a:avLst>
              <a:gd name="adj" fmla="val 153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" y="3401169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Future (Vision)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76250" y="3585865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"Next, we'll add proactive support to prevent issues..."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67250" y="1496467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Pro Tips: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7250" y="1732657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1538" y="1732657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2025" y="180885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impact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72025" y="1961257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reduced response time by 70%"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667250" y="2233613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81538" y="2233613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2025" y="2309813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concrete numbers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72025" y="2462213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"faster" but "3x faster"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667250" y="2734568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81538" y="2734568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2025" y="2810768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human benefit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72025" y="2963168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"Team can now focus on what matters"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667250" y="3235523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81538" y="3235523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2025" y="3311723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challenges overcome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72025" y="3464123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faced X, solved it by Y"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381000" y="4139654"/>
            <a:ext cx="8382000" cy="337096"/>
          </a:xfrm>
          <a:prstGeom prst="roundRect">
            <a:avLst>
              <a:gd name="adj" fmla="val 22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94335" y="4234904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Great stories connect technology to human outcomes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Presenting AI Projects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your presentations for maximum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576536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Presentation Structure:</a:t>
            </a:r>
            <a:endParaRPr lang="en-US" sz="900" dirty="0"/>
          </a:p>
        </p:txBody>
      </p:sp>
      <p:pic>
        <p:nvPicPr>
          <p:cNvPr id="5" name="Image 0" descr="/tmp/rasterized-gradient-a2fce2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793677"/>
            <a:ext cx="4095750" cy="4247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6987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Hook (30 sec)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57200" y="2022277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compelling problem or result</a:t>
            </a:r>
            <a:endParaRPr lang="en-US" sz="675" dirty="0"/>
          </a:p>
        </p:txBody>
      </p:sp>
      <p:pic>
        <p:nvPicPr>
          <p:cNvPr id="8" name="Image 1" descr="/tmp/rasterized-gradient-a7ab96b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75582"/>
            <a:ext cx="4095750" cy="4247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351782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Context (1-2 min)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457200" y="2504182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Problem, users affected, business impact</a:t>
            </a:r>
            <a:endParaRPr lang="en-US" sz="675" dirty="0"/>
          </a:p>
        </p:txBody>
      </p:sp>
      <p:pic>
        <p:nvPicPr>
          <p:cNvPr id="11" name="Image 2" descr="/tmp/rasterized-gradient-dbcfff6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757488"/>
            <a:ext cx="4095750" cy="42475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2833688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Solution (3-5 min)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457200" y="2986088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built, how it works (simply!)</a:t>
            </a:r>
            <a:endParaRPr lang="en-US" sz="675" dirty="0"/>
          </a:p>
        </p:txBody>
      </p:sp>
      <p:pic>
        <p:nvPicPr>
          <p:cNvPr id="14" name="Image 3" descr="/tmp/rasterized-gradient-135f3a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239393"/>
            <a:ext cx="4095750" cy="42475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" y="3315593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Demo (2-3 min)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457200" y="3467993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it working! Live or video</a:t>
            </a:r>
            <a:endParaRPr lang="en-US" sz="675" dirty="0"/>
          </a:p>
        </p:txBody>
      </p:sp>
      <p:pic>
        <p:nvPicPr>
          <p:cNvPr id="17" name="Image 4" descr="/tmp/rasterized-gradient-752037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721298"/>
            <a:ext cx="4095750" cy="42475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" y="3797498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Results + Next Steps (1-2 min)</a:t>
            </a:r>
            <a:endParaRPr lang="en-US" sz="750" dirty="0"/>
          </a:p>
        </p:txBody>
      </p:sp>
      <p:sp>
        <p:nvSpPr>
          <p:cNvPr id="19" name="Text 12"/>
          <p:cNvSpPr/>
          <p:nvPr/>
        </p:nvSpPr>
        <p:spPr>
          <a:xfrm>
            <a:off x="457200" y="3949898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Metrics, learnings, future plans</a:t>
            </a:r>
            <a:endParaRPr lang="en-US" sz="675" dirty="0"/>
          </a:p>
        </p:txBody>
      </p:sp>
      <p:sp>
        <p:nvSpPr>
          <p:cNvPr id="20" name="Text 13"/>
          <p:cNvSpPr/>
          <p:nvPr/>
        </p:nvSpPr>
        <p:spPr>
          <a:xfrm>
            <a:off x="4667250" y="1695450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Demo Best Practices: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4667250" y="1931640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4743450" y="2007840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Have a backup video ready</a:t>
            </a:r>
            <a:endParaRPr lang="en-US" sz="750" dirty="0"/>
          </a:p>
        </p:txBody>
      </p:sp>
      <p:sp>
        <p:nvSpPr>
          <p:cNvPr id="23" name="Text 16"/>
          <p:cNvSpPr/>
          <p:nvPr/>
        </p:nvSpPr>
        <p:spPr>
          <a:xfrm>
            <a:off x="4667250" y="2293590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4743450" y="2369790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Show the happy path first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4667250" y="2655540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4743450" y="2731740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Then show edge cases (briefly)</a:t>
            </a:r>
            <a:endParaRPr lang="en-US" sz="750" dirty="0"/>
          </a:p>
        </p:txBody>
      </p:sp>
      <p:sp>
        <p:nvSpPr>
          <p:cNvPr id="27" name="Text 20"/>
          <p:cNvSpPr/>
          <p:nvPr/>
        </p:nvSpPr>
        <p:spPr>
          <a:xfrm>
            <a:off x="4667250" y="3017490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4743450" y="3093690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Narrate what's happening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4667250" y="3379440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4743450" y="3455640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Keep it under 3 minutes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4667250" y="3741390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4743450" y="3817590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Practice your demo 3x before presenting!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Handling Difficult Questions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264146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Common Tough Questions: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500336"/>
            <a:ext cx="4095750" cy="434280"/>
          </a:xfrm>
          <a:prstGeom prst="roundRect">
            <a:avLst>
              <a:gd name="adj" fmla="val 1316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576536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this replace jobs?"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738461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"It automates tasks, not roles. People focus on higher-value work."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81000" y="2010817"/>
            <a:ext cx="4095750" cy="434280"/>
          </a:xfrm>
          <a:prstGeom prst="roundRect">
            <a:avLst>
              <a:gd name="adj" fmla="val 1316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08701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it makes mistakes?"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2248942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"We have human review for critical decisions. Here's our error handling..."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2521297"/>
            <a:ext cx="4095750" cy="434280"/>
          </a:xfrm>
          <a:prstGeom prst="roundRect">
            <a:avLst>
              <a:gd name="adj" fmla="val 1316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259749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our data safe?"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2759422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"Data stays in our environment. Here are our security measures..."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81000" y="3031778"/>
            <a:ext cx="4095750" cy="434280"/>
          </a:xfrm>
          <a:prstGeom prst="roundRect">
            <a:avLst>
              <a:gd name="adj" fmla="val 1316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3107978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should we trust AI?"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7200" y="3269903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"You shouldn't blindly. Here's how we verify and monitor results..."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667250" y="1283196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Response Strategies: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7250" y="1519386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81538" y="1519386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2025" y="1595586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the concern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72025" y="1747986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"That's a great question..."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667250" y="2020342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81538" y="2020342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2025" y="2096542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 about unknowns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2025" y="2248942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have that data yet, but I'll find out..."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667250" y="2521297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81538" y="2521297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2025" y="259749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to what you know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2025" y="2749897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 can tell you is..."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67250" y="3022253"/>
            <a:ext cx="4095750" cy="424755"/>
          </a:xfrm>
          <a:prstGeom prst="roundRect">
            <a:avLst>
              <a:gd name="adj" fmla="val 1345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81538" y="3022253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2025" y="3098453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get defensive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72025" y="3250853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calm, curious, and collaborative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381000" y="4139654"/>
            <a:ext cx="8382000" cy="337096"/>
          </a:xfrm>
          <a:prstGeom prst="roundRect">
            <a:avLst>
              <a:gd name="adj" fmla="val 22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94335" y="4234904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"I don't know, but I'll find out" is always better than making something up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Cross-Functional Collaboration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effectively with different teams</a:t>
            </a:r>
            <a:endParaRPr lang="en-US" sz="900" dirty="0"/>
          </a:p>
        </p:txBody>
      </p:sp>
      <p:pic>
        <p:nvPicPr>
          <p:cNvPr id="4" name="Image 0" descr="/tmp/rasterized-gradient-aaeb8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642318"/>
            <a:ext cx="4114800" cy="7865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250" y="1737568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Working with Designers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6250" y="1935659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AI capabilities early</a:t>
            </a:r>
            <a:endParaRPr lang="en-US" sz="675" dirty="0"/>
          </a:p>
        </p:txBody>
      </p:sp>
      <p:sp>
        <p:nvSpPr>
          <p:cNvPr id="7" name="Text 4"/>
          <p:cNvSpPr/>
          <p:nvPr/>
        </p:nvSpPr>
        <p:spPr>
          <a:xfrm>
            <a:off x="476250" y="2074664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response time variations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476250" y="2213670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on error states</a:t>
            </a:r>
            <a:endParaRPr lang="en-US" sz="675" dirty="0"/>
          </a:p>
        </p:txBody>
      </p:sp>
      <p:pic>
        <p:nvPicPr>
          <p:cNvPr id="9" name="Image 1" descr="/tmp/rasterized-gradient-96db552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505075"/>
            <a:ext cx="4114800" cy="7865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6250" y="260032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Working with Business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6250" y="2798415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tech to business value</a:t>
            </a:r>
            <a:endParaRPr lang="en-US" sz="675" dirty="0"/>
          </a:p>
        </p:txBody>
      </p:sp>
      <p:sp>
        <p:nvSpPr>
          <p:cNvPr id="12" name="Text 8"/>
          <p:cNvSpPr/>
          <p:nvPr/>
        </p:nvSpPr>
        <p:spPr>
          <a:xfrm>
            <a:off x="476250" y="2937421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measurable success criteria</a:t>
            </a:r>
            <a:endParaRPr lang="en-US" sz="675" dirty="0"/>
          </a:p>
        </p:txBody>
      </p:sp>
      <p:sp>
        <p:nvSpPr>
          <p:cNvPr id="13" name="Text 9"/>
          <p:cNvSpPr/>
          <p:nvPr/>
        </p:nvSpPr>
        <p:spPr>
          <a:xfrm>
            <a:off x="476250" y="3076426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progress updates</a:t>
            </a:r>
            <a:endParaRPr lang="en-US" sz="675" dirty="0"/>
          </a:p>
        </p:txBody>
      </p:sp>
      <p:pic>
        <p:nvPicPr>
          <p:cNvPr id="14" name="Image 2" descr="/tmp/rasterized-gradient-665f26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642318"/>
            <a:ext cx="4114800" cy="78655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43450" y="1737568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Working with Legal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743450" y="1935659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data handling clearly</a:t>
            </a:r>
            <a:endParaRPr lang="en-US" sz="675" dirty="0"/>
          </a:p>
        </p:txBody>
      </p:sp>
      <p:sp>
        <p:nvSpPr>
          <p:cNvPr id="17" name="Text 12"/>
          <p:cNvSpPr/>
          <p:nvPr/>
        </p:nvSpPr>
        <p:spPr>
          <a:xfrm>
            <a:off x="4743450" y="2074664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model decision process</a:t>
            </a:r>
            <a:endParaRPr lang="en-US" sz="675" dirty="0"/>
          </a:p>
        </p:txBody>
      </p:sp>
      <p:sp>
        <p:nvSpPr>
          <p:cNvPr id="18" name="Text 13"/>
          <p:cNvSpPr/>
          <p:nvPr/>
        </p:nvSpPr>
        <p:spPr>
          <a:xfrm>
            <a:off x="4743450" y="2213670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compliance proactively</a:t>
            </a:r>
            <a:endParaRPr lang="en-US" sz="675" dirty="0"/>
          </a:p>
        </p:txBody>
      </p:sp>
      <p:pic>
        <p:nvPicPr>
          <p:cNvPr id="19" name="Image 3" descr="/tmp/rasterized-gradient-1a226c2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505075"/>
            <a:ext cx="4114800" cy="78655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43450" y="260032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Working with DevOps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743450" y="2798415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infrastructure needs early</a:t>
            </a:r>
            <a:endParaRPr lang="en-US" sz="675" dirty="0"/>
          </a:p>
        </p:txBody>
      </p:sp>
      <p:sp>
        <p:nvSpPr>
          <p:cNvPr id="22" name="Text 16"/>
          <p:cNvSpPr/>
          <p:nvPr/>
        </p:nvSpPr>
        <p:spPr>
          <a:xfrm>
            <a:off x="4743450" y="2937421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scaling and monitoring</a:t>
            </a:r>
            <a:endParaRPr lang="en-US" sz="675" dirty="0"/>
          </a:p>
        </p:txBody>
      </p:sp>
      <p:sp>
        <p:nvSpPr>
          <p:cNvPr id="23" name="Text 17"/>
          <p:cNvSpPr/>
          <p:nvPr/>
        </p:nvSpPr>
        <p:spPr>
          <a:xfrm>
            <a:off x="4743450" y="3076426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deployment pipeline</a:t>
            </a:r>
            <a:endParaRPr lang="en-US" sz="675" dirty="0"/>
          </a:p>
        </p:txBody>
      </p:sp>
      <p:sp>
        <p:nvSpPr>
          <p:cNvPr id="24" name="Text 18"/>
          <p:cNvSpPr/>
          <p:nvPr/>
        </p:nvSpPr>
        <p:spPr>
          <a:xfrm>
            <a:off x="381000" y="3916859"/>
            <a:ext cx="8382000" cy="559891"/>
          </a:xfrm>
          <a:prstGeom prst="roundRect">
            <a:avLst>
              <a:gd name="adj" fmla="val 1361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95300" y="4031159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Key Principle: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495300" y="4215854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Involve stakeholders early, update often, and speak their language!</a:t>
            </a:r>
            <a:endParaRPr lang="en-US" sz="825" dirty="0"/>
          </a:p>
        </p:txBody>
      </p:sp>
      <p:sp>
        <p:nvSpPr>
          <p:cNvPr id="27" name="Text 21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Team Exercise: Pitch Practice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310878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Activity Instructions: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566118"/>
            <a:ext cx="4095750" cy="533251"/>
          </a:xfrm>
          <a:prstGeom prst="roundRect">
            <a:avLst>
              <a:gd name="adj" fmla="val 142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68041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Form Groups (10 min)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95300" y="1865114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3-4 people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81000" y="2194620"/>
            <a:ext cx="4095750" cy="533251"/>
          </a:xfrm>
          <a:prstGeom prst="roundRect">
            <a:avLst>
              <a:gd name="adj" fmla="val 142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2308920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Pick a Scenario (5 min)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95300" y="2493615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one: Executive, End User, or Technical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2823121"/>
            <a:ext cx="4095750" cy="533251"/>
          </a:xfrm>
          <a:prstGeom prst="roundRect">
            <a:avLst>
              <a:gd name="adj" fmla="val 142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5300" y="2937421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Prepare Pitch (15 min)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95300" y="3122116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your Week 16 AI Agent project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81000" y="3451622"/>
            <a:ext cx="4095750" cy="533251"/>
          </a:xfrm>
          <a:prstGeom prst="roundRect">
            <a:avLst>
              <a:gd name="adj" fmla="val 142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5300" y="3565922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Present + Q&amp;A (20 min)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95300" y="3750618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 pitch + 2 min questions per group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667250" y="1431875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Scenarios: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7250" y="1668066"/>
            <a:ext cx="4095750" cy="476101"/>
          </a:xfrm>
          <a:prstGeom prst="roundRect">
            <a:avLst>
              <a:gd name="adj" fmla="val 12004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86300" y="1668066"/>
            <a:ext cx="0" cy="47610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763316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Executive Pitch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00600" y="1928961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Convince the CEO to fund your AI project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667250" y="2220367"/>
            <a:ext cx="4095750" cy="476101"/>
          </a:xfrm>
          <a:prstGeom prst="roundRect">
            <a:avLst>
              <a:gd name="adj" fmla="val 12004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86300" y="2220367"/>
            <a:ext cx="0" cy="47610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315617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End User Training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00600" y="2481263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non-technical users how to use your AI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667250" y="2772668"/>
            <a:ext cx="4095750" cy="476101"/>
          </a:xfrm>
          <a:prstGeom prst="roundRect">
            <a:avLst>
              <a:gd name="adj" fmla="val 120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86300" y="2772668"/>
            <a:ext cx="0" cy="47610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6791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Technical Review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800600" y="3033564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architecture to engineering team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67250" y="3382119"/>
            <a:ext cx="4095750" cy="481905"/>
          </a:xfrm>
          <a:prstGeom prst="roundRect">
            <a:avLst>
              <a:gd name="adj" fmla="val 118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62500" y="3477369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Evaluation Criteria: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62500" y="3648819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Clarity, audience-appropriateness, handling Q&amp;A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Summary: Key Takeaways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145977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We Learned: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38216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288" y="138216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5775" y="145836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Know your audience - adapt your message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174411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5288" y="174411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5775" y="182031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analogies to explain AI simply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210606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210606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775" y="218226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Set realistic expectations upfront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46801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246801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775" y="254421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Be transparent about AI limitations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282996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95288" y="282996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775" y="290616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Practice ethical communication always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67250" y="1076623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Week 16 Complete!</a:t>
            </a:r>
            <a:endParaRPr lang="en-US" sz="900" dirty="0"/>
          </a:p>
        </p:txBody>
      </p:sp>
      <p:pic>
        <p:nvPicPr>
          <p:cNvPr id="20" name="Image 0" descr="/tmp/rasterized-gradient-490103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0" y="1312813"/>
            <a:ext cx="4095750" cy="9827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781550" y="1427113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You Can: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81550" y="1644253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Build AI agents with LangGraph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781550" y="1783259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Create multi-agent systems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4781550" y="1922264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Use conditional workflows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781550" y="2061270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Communicate AI effectively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4667250" y="2428875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Project Time!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667250" y="2665065"/>
            <a:ext cx="4095750" cy="520005"/>
          </a:xfrm>
          <a:prstGeom prst="roundRect">
            <a:avLst>
              <a:gd name="adj" fmla="val 1099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81550" y="2779365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Personalized AI Learning Tutor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781550" y="2950815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 with custom tools!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381000" y="3671143"/>
            <a:ext cx="8382000" cy="805607"/>
          </a:xfrm>
          <a:prstGeom prst="roundRect">
            <a:avLst>
              <a:gd name="adj" fmla="val 94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13766" y="3785443"/>
            <a:ext cx="83164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13766" y="4036814"/>
            <a:ext cx="83164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Congratulations on completing Week 16!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413766" y="4229100"/>
            <a:ext cx="8316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ready to build and communicate AI solutions! 🚀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3 | AI Bootcamp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16 Day 3 - Communication Skills</dc:title>
  <dc:subject>Communication Skills for AI Practitioners</dc:subject>
  <dc:creator>AI Bootcamp</dc:creator>
  <cp:lastModifiedBy>AI Bootcamp</cp:lastModifiedBy>
  <cp:revision>1</cp:revision>
  <dcterms:created xsi:type="dcterms:W3CDTF">2025-12-01T10:23:34Z</dcterms:created>
  <dcterms:modified xsi:type="dcterms:W3CDTF">2025-12-01T10:23:34Z</dcterms:modified>
</cp:coreProperties>
</file>
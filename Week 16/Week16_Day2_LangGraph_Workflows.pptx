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6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9125" y="381000"/>
            <a:ext cx="174560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🔀👥🔧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99221" y="1325761"/>
            <a:ext cx="43454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9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Workflows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2676415" y="1992511"/>
            <a:ext cx="3791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Systems and Advanced Routing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07992" y="2487811"/>
            <a:ext cx="37278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edges, parallel execution, and agent orchestration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28461" y="4577804"/>
            <a:ext cx="1487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3787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Quick Recap: Day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394668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We Learned: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649909"/>
            <a:ext cx="4095750" cy="337096"/>
          </a:xfrm>
          <a:prstGeom prst="roundRect">
            <a:avLst>
              <a:gd name="adj" fmla="val 1695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1649909"/>
            <a:ext cx="0" cy="33709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4825" y="1745159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Agents = LLM + Tools + Decision Loop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082254"/>
            <a:ext cx="4095750" cy="337096"/>
          </a:xfrm>
          <a:prstGeom prst="roundRect">
            <a:avLst>
              <a:gd name="adj" fmla="val 1695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2082254"/>
            <a:ext cx="0" cy="33709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4825" y="2177504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LangGraph: State, Nodes, Edges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514600"/>
            <a:ext cx="4095750" cy="337096"/>
          </a:xfrm>
          <a:prstGeom prst="roundRect">
            <a:avLst>
              <a:gd name="adj" fmla="val 1695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514600"/>
            <a:ext cx="0" cy="33709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825" y="2609850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@tool decorator for creating tools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946946"/>
            <a:ext cx="4095750" cy="337096"/>
          </a:xfrm>
          <a:prstGeom prst="roundRect">
            <a:avLst>
              <a:gd name="adj" fmla="val 1695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946946"/>
            <a:ext cx="0" cy="337096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825" y="3042196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create_react_agent for quick agents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67250" y="1394668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Today We Will Learn: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649909"/>
            <a:ext cx="4095750" cy="337096"/>
          </a:xfrm>
          <a:prstGeom prst="roundRect">
            <a:avLst>
              <a:gd name="adj" fmla="val 16954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1538" y="1649909"/>
            <a:ext cx="0" cy="33709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075" y="1745159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Conditional edges (dynamic routing)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67250" y="2082254"/>
            <a:ext cx="4095750" cy="337096"/>
          </a:xfrm>
          <a:prstGeom prst="roundRect">
            <a:avLst>
              <a:gd name="adj" fmla="val 16954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81538" y="2082254"/>
            <a:ext cx="0" cy="33709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075" y="2177504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Multi-agent systems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67250" y="2514600"/>
            <a:ext cx="4095750" cy="337096"/>
          </a:xfrm>
          <a:prstGeom prst="roundRect">
            <a:avLst>
              <a:gd name="adj" fmla="val 16954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81538" y="2514600"/>
            <a:ext cx="0" cy="33709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075" y="2609850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Inter-agent communication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67250" y="2946946"/>
            <a:ext cx="4095750" cy="337096"/>
          </a:xfrm>
          <a:prstGeom prst="roundRect">
            <a:avLst>
              <a:gd name="adj" fmla="val 16954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81538" y="2946946"/>
            <a:ext cx="0" cy="337096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075" y="3042196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 orchestration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088160"/>
            <a:ext cx="8382000" cy="388590"/>
          </a:xfrm>
          <a:prstGeom prst="roundRect">
            <a:avLst>
              <a:gd name="adj" fmla="val 196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3766" y="4202460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Today we level up from single agents to complex multi-agent systems!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838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Conditional Edges: Dynamic Routing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382000" cy="350490"/>
          </a:xfrm>
          <a:prstGeom prst="roundRect">
            <a:avLst>
              <a:gd name="adj" fmla="val 2174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819150"/>
            <a:ext cx="0" cy="35049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914400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edges let agents make decisions about where to go next based on the current state!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06037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Regular vs Conditional: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315617"/>
            <a:ext cx="4095750" cy="1536948"/>
          </a:xfrm>
          <a:prstGeom prst="roundRect">
            <a:avLst>
              <a:gd name="adj" fmla="val 49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429917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Edge: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5300" y="2620417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────────────→ B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95300" y="2862263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9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(always goes to B)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95300" y="3096518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Edge: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5300" y="328701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──?──┬──→ B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5300" y="343361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└──→ C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95300" y="3618309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(decides based on condition)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67250" y="1955750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How to Use: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2191941"/>
            <a:ext cx="4095750" cy="1403449"/>
          </a:xfrm>
          <a:prstGeom prst="roundRect">
            <a:avLst>
              <a:gd name="adj" fmla="val 54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0" y="2287191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Define routing function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62500" y="2445246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route(state):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857750" y="2565202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state["type"] == "math":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953000" y="2685157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"math_node"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857750" y="2805113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"other_node"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762500" y="2982218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Add conditional edge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762500" y="3140273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graph.add_conditional_edges(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857750" y="326022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"source", route, mapping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762500" y="338018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667250" y="3671590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43450" y="3747790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routing function returns the NAME of the next node!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🛤️ The Router Pattern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different types of queries to specialized handlers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521619" y="1752600"/>
            <a:ext cx="2186732" cy="2217241"/>
          </a:xfrm>
          <a:prstGeom prst="roundRect">
            <a:avLst>
              <a:gd name="adj" fmla="val 4356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07282" y="1924050"/>
            <a:ext cx="615255" cy="247650"/>
          </a:xfrm>
          <a:prstGeom prst="roundRect">
            <a:avLst>
              <a:gd name="adj" fmla="val 2307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56578" y="1981200"/>
            <a:ext cx="316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74630" y="2286000"/>
            <a:ext cx="18807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46697" y="2484090"/>
            <a:ext cx="936427" cy="298996"/>
          </a:xfrm>
          <a:prstGeom prst="roundRect">
            <a:avLst>
              <a:gd name="adj" fmla="val 19114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2781" y="2560290"/>
            <a:ext cx="6442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Classifier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674630" y="2897386"/>
            <a:ext cx="1880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route based on type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93069" y="3068836"/>
            <a:ext cx="476995" cy="297209"/>
          </a:xfrm>
          <a:prstGeom prst="roundRect">
            <a:avLst>
              <a:gd name="adj" fmla="val 24396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85104" y="3125986"/>
            <a:ext cx="3278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Math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319337" y="3068836"/>
            <a:ext cx="476995" cy="308819"/>
          </a:xfrm>
          <a:prstGeom prst="roundRect">
            <a:avLst>
              <a:gd name="adj" fmla="val 2439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11723" y="3106936"/>
            <a:ext cx="292224" cy="31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Text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2910632" y="3068836"/>
            <a:ext cx="590699" cy="297209"/>
          </a:xfrm>
          <a:prstGeom prst="roundRect">
            <a:avLst>
              <a:gd name="adj" fmla="val 2439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01524" y="3125986"/>
            <a:ext cx="4444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General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674630" y="3379291"/>
            <a:ext cx="1880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all handlers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61902" y="3550741"/>
            <a:ext cx="506016" cy="247650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12290" y="3607891"/>
            <a:ext cx="205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39618" y="1779389"/>
            <a:ext cx="3797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Use Cases: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39618" y="2015579"/>
            <a:ext cx="3723382" cy="424755"/>
          </a:xfrm>
          <a:prstGeom prst="roundRect">
            <a:avLst>
              <a:gd name="adj" fmla="val 1345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15818" y="2091779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115818" y="2244179"/>
            <a:ext cx="36424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billing, technical, or general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039618" y="2516535"/>
            <a:ext cx="3723382" cy="424755"/>
          </a:xfrm>
          <a:prstGeom prst="roundRect">
            <a:avLst>
              <a:gd name="adj" fmla="val 1345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15818" y="2592735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Classification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15818" y="2745135"/>
            <a:ext cx="36424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Math, search, code, conversation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039618" y="3017490"/>
            <a:ext cx="3723382" cy="424755"/>
          </a:xfrm>
          <a:prstGeom prst="roundRect">
            <a:avLst>
              <a:gd name="adj" fmla="val 1345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15818" y="309369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Routing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15818" y="3246090"/>
            <a:ext cx="36424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language-specific handlers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039618" y="3518446"/>
            <a:ext cx="3723382" cy="424755"/>
          </a:xfrm>
          <a:prstGeom prst="roundRect">
            <a:avLst>
              <a:gd name="adj" fmla="val 13455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15818" y="3594646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Routing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15818" y="3747046"/>
            <a:ext cx="36424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tasks to specialized agents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The Agent-Tool Loop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pattern for agents that use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94532" y="1644104"/>
            <a:ext cx="1868537" cy="2434233"/>
          </a:xfrm>
          <a:prstGeom prst="roundRect">
            <a:avLst>
              <a:gd name="adj" fmla="val 50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21098" y="1796504"/>
            <a:ext cx="615255" cy="247650"/>
          </a:xfrm>
          <a:prstGeom prst="roundRect">
            <a:avLst>
              <a:gd name="adj" fmla="val 2307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70394" y="1853654"/>
            <a:ext cx="316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31295" y="2158454"/>
            <a:ext cx="15950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3746" y="2356545"/>
            <a:ext cx="1110109" cy="489496"/>
          </a:xfrm>
          <a:prstGeom prst="roundRect">
            <a:avLst>
              <a:gd name="adj" fmla="val 155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56955" y="2451795"/>
            <a:ext cx="7436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6955" y="2630835"/>
            <a:ext cx="74369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what to do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1904521" y="2922240"/>
            <a:ext cx="4132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tool_calls?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904521" y="3042196"/>
            <a:ext cx="4132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Yes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95938" y="2922240"/>
            <a:ext cx="3564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tools?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595938" y="3042196"/>
            <a:ext cx="3564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6932" y="3278386"/>
            <a:ext cx="867221" cy="489496"/>
          </a:xfrm>
          <a:prstGeom prst="roundRect">
            <a:avLst>
              <a:gd name="adj" fmla="val 155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93708" y="3373636"/>
            <a:ext cx="5736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93708" y="3552676"/>
            <a:ext cx="5736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action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638260" y="3805982"/>
            <a:ext cx="884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loop back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704654" y="3278386"/>
            <a:ext cx="506016" cy="247650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55041" y="3335536"/>
            <a:ext cx="205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67250" y="1526084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Routing Logic: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7250" y="1762274"/>
            <a:ext cx="4095750" cy="986433"/>
          </a:xfrm>
          <a:prstGeom prst="roundRect">
            <a:avLst>
              <a:gd name="adj" fmla="val 772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62500" y="185752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should_use_tools(state):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857750" y="197747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last_msg = state["messages"][-1]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857750" y="2135535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last_msg.tool_calls: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953000" y="2255490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"tools"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857750" y="2413546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else: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953000" y="2533501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717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"end"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67250" y="282490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43450" y="290110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Agent decides if tools are needed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7250" y="318685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3450" y="326305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Tools execute and return results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67250" y="354880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43450" y="362500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Agent reviews and decides again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67250" y="391075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3450" y="398695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This loop continues until no more tools needed!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Multi-Agent Systems</a:t>
            </a:r>
            <a:endParaRPr lang="en-US" sz="1950" dirty="0"/>
          </a:p>
        </p:txBody>
      </p:sp>
      <p:pic>
        <p:nvPicPr>
          <p:cNvPr id="3" name="Image 0" descr="/tmp/rasterized-gradient-d139a3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00100"/>
            <a:ext cx="8382000" cy="4018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5300" y="914400"/>
            <a:ext cx="8316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 working together to solve complex problems!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381000" y="1864221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Multi-Agent?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1000" y="2100411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95288" y="2100411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5775" y="2176611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85775" y="2342257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focuses on what it does best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81000" y="2614613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95288" y="2614613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5775" y="2690813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Modularity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85775" y="2856458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Add/remove agents without breaking system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381000" y="3128814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95288" y="3128814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775" y="3205014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5775" y="3370659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complex tasks by dividing work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381000" y="3643015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395288" y="3643015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" y="3719215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Prompts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5775" y="3884861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prompts = better results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667250" y="219744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Example Agents: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67250" y="2433638"/>
            <a:ext cx="828229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62500" y="2481263"/>
            <a:ext cx="650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Researcher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552629" y="2433638"/>
            <a:ext cx="595313" cy="228600"/>
          </a:xfrm>
          <a:prstGeom prst="roundRect">
            <a:avLst>
              <a:gd name="adj" fmla="val 6666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647879" y="2481263"/>
            <a:ext cx="412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Coder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205091" y="2433638"/>
            <a:ext cx="588169" cy="22860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300341" y="2481263"/>
            <a:ext cx="405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Writer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850410" y="2433638"/>
            <a:ext cx="717054" cy="228600"/>
          </a:xfrm>
          <a:prstGeom prst="roundRect">
            <a:avLst>
              <a:gd name="adj" fmla="val 66667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945660" y="2481263"/>
            <a:ext cx="537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Designer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624614" y="2433638"/>
            <a:ext cx="732830" cy="228600"/>
          </a:xfrm>
          <a:prstGeom prst="roundRect">
            <a:avLst>
              <a:gd name="adj" fmla="val 66667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719864" y="2481263"/>
            <a:ext cx="5531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Reviewer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667250" y="2719388"/>
            <a:ext cx="642938" cy="228600"/>
          </a:xfrm>
          <a:prstGeom prst="roundRect">
            <a:avLst>
              <a:gd name="adj" fmla="val 66667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62500" y="2767013"/>
            <a:ext cx="46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Analyst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667250" y="3081338"/>
            <a:ext cx="4095750" cy="6666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762500" y="3176588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762500" y="3348038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 Pipeline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4762500" y="3532733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→ Writer → Editor → Publisher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The Supervisor Pattern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coordinates the work of specialized 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08646" y="1880295"/>
            <a:ext cx="2612827" cy="1962001"/>
          </a:xfrm>
          <a:prstGeom prst="roundRect">
            <a:avLst>
              <a:gd name="adj" fmla="val 4855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38796" y="2051745"/>
            <a:ext cx="1152525" cy="489496"/>
          </a:xfrm>
          <a:prstGeom prst="roundRect">
            <a:avLst>
              <a:gd name="adj" fmla="val 155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21581" y="2146995"/>
            <a:ext cx="7869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Supervisor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21581" y="2326035"/>
            <a:ext cx="7869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who works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352645" y="2655540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90770" y="2655540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28895" y="2655540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80096" y="2865090"/>
            <a:ext cx="781645" cy="28575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88865" y="2941290"/>
            <a:ext cx="564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Research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376041" y="2865090"/>
            <a:ext cx="633413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86293" y="2941290"/>
            <a:ext cx="412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Coder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23754" y="2865090"/>
            <a:ext cx="626269" cy="28575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34077" y="2941290"/>
            <a:ext cx="405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Writer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57396" y="3227040"/>
            <a:ext cx="23153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report back ↑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306538" y="3423196"/>
            <a:ext cx="617041" cy="247650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55816" y="3480346"/>
            <a:ext cx="318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39618" y="1695450"/>
            <a:ext cx="3797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How It Works: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39618" y="193164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15818" y="200784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sends request to Supervisor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39618" y="229359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15818" y="236979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Supervisor analyzes and picks an agent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39618" y="265554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15818" y="273174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does its specialized work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39618" y="301749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15818" y="309369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reports back to Supervisor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39618" y="337944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15818" y="345564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Supervisor decides: more work or done?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39618" y="374139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15818" y="381759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Agents can be called multiple times in any order!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Building the Supervisor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089124"/>
            <a:ext cx="4197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State Definition: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445270"/>
            <a:ext cx="4114800" cy="632222"/>
          </a:xfrm>
          <a:prstGeom prst="roundRect">
            <a:avLst>
              <a:gd name="adj" fmla="val 90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21470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MultiAgentState(TypedDict):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552450" y="1641425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messages: list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552450" y="1761381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next_agent: str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52450" y="1881336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task_complete: bool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2306092"/>
            <a:ext cx="4197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Supervisor Node: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662238"/>
            <a:ext cx="4114800" cy="1030188"/>
          </a:xfrm>
          <a:prstGeom prst="roundRect">
            <a:avLst>
              <a:gd name="adj" fmla="val 55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2738438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supervisor(state):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52450" y="2858393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Analyze task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52450" y="2978348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decision = llm.invoke(...)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52450" y="313640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{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47700" y="3256359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"next_agent": decision,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47700" y="337631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"task_complete": is_done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52450" y="3496270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648200" y="940594"/>
            <a:ext cx="4197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Routing Function: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48200" y="1296739"/>
            <a:ext cx="4114800" cy="790277"/>
          </a:xfrm>
          <a:prstGeom prst="roundRect">
            <a:avLst>
              <a:gd name="adj" fmla="val 72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24400" y="1372939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route_supervisor(state):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819650" y="1492895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next = state["next_agent"]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819650" y="1650950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next == "FINISH":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914900" y="1770906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717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"end"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819650" y="1890861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next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48200" y="2315617"/>
            <a:ext cx="41970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Graph Construction: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48200" y="2671763"/>
            <a:ext cx="4114800" cy="1169194"/>
          </a:xfrm>
          <a:prstGeom prst="roundRect">
            <a:avLst>
              <a:gd name="adj" fmla="val 488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24400" y="2747963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graph.add_node("supervisor", ...)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724400" y="2867918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graph.add_node("researcher", ...)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724400" y="3006923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graph.add_conditional_edges(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819650" y="3126879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"supervisor", route_fn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724400" y="3246834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724400" y="3404890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Agents report back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724400" y="3524845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graph.add_edge("researcher",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819650" y="3644801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"supervisor")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81000" y="4191000"/>
            <a:ext cx="838200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" y="426720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Key: All worker agents connect back to supervisor, creating a coordination loop!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Inter-Agent Communication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agents share information and collaborate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909911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Communication Methods: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2165152"/>
            <a:ext cx="4095750" cy="485626"/>
          </a:xfrm>
          <a:prstGeom prst="roundRect">
            <a:avLst>
              <a:gd name="adj" fmla="val 15691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2165152"/>
            <a:ext cx="0" cy="485626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2260402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Shared State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14350" y="2435572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agents read/write to common state object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2746028"/>
            <a:ext cx="4095750" cy="485626"/>
          </a:xfrm>
          <a:prstGeom prst="roundRect">
            <a:avLst>
              <a:gd name="adj" fmla="val 15691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746028"/>
            <a:ext cx="0" cy="485626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284127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Message Passing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14350" y="3016448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add messages that others can read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1000" y="3326904"/>
            <a:ext cx="4095750" cy="485626"/>
          </a:xfrm>
          <a:prstGeom prst="roundRect">
            <a:avLst>
              <a:gd name="adj" fmla="val 1569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326904"/>
            <a:ext cx="0" cy="48562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350" y="342215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Direct Handoff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14350" y="3597325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explicitly passes work to another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67250" y="1606153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Best Practice - Message Labels: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7250" y="1842343"/>
            <a:ext cx="4095750" cy="1188244"/>
          </a:xfrm>
          <a:prstGeom prst="roundRect">
            <a:avLst>
              <a:gd name="adj" fmla="val 64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2500" y="1937593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Label messages with agent names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762500" y="2095649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researcher(state):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857750" y="2215604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 = do_research()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857750" y="2335560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{"messages": [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953000" y="2455515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AIMessage(content=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048250" y="2575471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f"[Researcher]: {result}"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953000" y="2695426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857750" y="2815382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]}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667250" y="310678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43450" y="318298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Other agents know who said what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67250" y="346873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43450" y="354493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Supervisor can track progress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7250" y="383068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3450" y="3906887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Easy to debug and trace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Tool Orchestration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coordinating multiple tools to complete complex tasks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925092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Example: Task Manager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2161282"/>
            <a:ext cx="891778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218432"/>
            <a:ext cx="715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create_task()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329928" y="2161282"/>
            <a:ext cx="791021" cy="247650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25178" y="2218432"/>
            <a:ext cx="6125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list_tasks()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178100" y="2161282"/>
            <a:ext cx="997744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73350" y="2218432"/>
            <a:ext cx="823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update_status()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32993" y="2161282"/>
            <a:ext cx="865138" cy="247650"/>
          </a:xfrm>
          <a:prstGeom prst="roundRect">
            <a:avLst>
              <a:gd name="adj" fmla="val 23077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28243" y="2218432"/>
            <a:ext cx="688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set_priority()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542282"/>
            <a:ext cx="4095750" cy="508546"/>
          </a:xfrm>
          <a:prstGeom prst="roundRect">
            <a:avLst>
              <a:gd name="adj" fmla="val 149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" y="2637532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6250" y="280898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task for the report, set it to high priority, and mark it in progress"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1000" y="3127028"/>
            <a:ext cx="4095750" cy="670322"/>
          </a:xfrm>
          <a:prstGeom prst="roundRect">
            <a:avLst>
              <a:gd name="adj" fmla="val 85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3203228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calls in sequence: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57200" y="3361283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 create_task("Report", ...)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57200" y="3481239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2. set_priority("TASK-1", "high")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57200" y="3601194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3. update_status("TASK-1", "in_progress")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67250" y="1571923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Key Patterns: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7250" y="1808113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81538" y="1808113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2025" y="1884313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Calls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72025" y="2049959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 → Tool B → Tool C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667250" y="2322314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81538" y="2322314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2398514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Calls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72025" y="2564160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result of Tool A in Tool B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67250" y="2836515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81538" y="2836515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2025" y="2912715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Calls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772025" y="3078361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Tool A succeeds, call Tool B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667250" y="3350716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81538" y="3350716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2025" y="3426916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Logic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772025" y="3592562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fails, try with different params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667250" y="3864918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43450" y="3941118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agent decides the order and handles errors!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Today's Hands-On Lab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925092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What We Will Build: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2161282"/>
            <a:ext cx="4095750" cy="1209377"/>
          </a:xfrm>
          <a:prstGeom prst="roundRect">
            <a:avLst>
              <a:gd name="adj" fmla="val 63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2256532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2275582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943124" y="2262188"/>
            <a:ext cx="17228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Router with conditional edges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76250" y="2471738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2490788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943124" y="2477393"/>
            <a:ext cx="12892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with tool routing loop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" y="2686943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2450" y="2705993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943124" y="2692598"/>
            <a:ext cx="14195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supervisor system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76250" y="2902148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921198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943124" y="2907804"/>
            <a:ext cx="1942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management with tool orchestration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6250" y="3117354"/>
            <a:ext cx="562124" cy="158055"/>
          </a:xfrm>
          <a:prstGeom prst="roundRect">
            <a:avLst>
              <a:gd name="adj" fmla="val 2410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2450" y="3136404"/>
            <a:ext cx="4179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114574" y="3123009"/>
            <a:ext cx="14374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multi-agent!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67250" y="173265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Agents We Will Create: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7250" y="1968847"/>
            <a:ext cx="727472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0" y="2025997"/>
            <a:ext cx="5477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Classifier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451872" y="1968847"/>
            <a:ext cx="907703" cy="247650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47122" y="2025997"/>
            <a:ext cx="7315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Math Handler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16725" y="1968847"/>
            <a:ext cx="868859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11975" y="2025997"/>
            <a:ext cx="691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Text Handler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342733" y="1968847"/>
            <a:ext cx="791170" cy="247650"/>
          </a:xfrm>
          <a:prstGeom prst="roundRect">
            <a:avLst>
              <a:gd name="adj" fmla="val 23077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437983" y="2025997"/>
            <a:ext cx="6126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Supervisor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67250" y="2273647"/>
            <a:ext cx="828229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62500" y="2330797"/>
            <a:ext cx="650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Researcher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52629" y="2273647"/>
            <a:ext cx="595313" cy="247650"/>
          </a:xfrm>
          <a:prstGeom prst="roundRect">
            <a:avLst>
              <a:gd name="adj" fmla="val 23077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47879" y="2330797"/>
            <a:ext cx="412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Coder</a:t>
            </a:r>
            <a:endParaRPr lang="en-US" sz="750" dirty="0"/>
          </a:p>
        </p:txBody>
      </p:sp>
      <p:pic>
        <p:nvPicPr>
          <p:cNvPr id="33" name="Image 0" descr="/tmp/rasterized-gradient-953b8a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2654647"/>
            <a:ext cx="4095750" cy="54664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781550" y="2768947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Mini Challenge: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781550" y="2953643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Customer Support System with Triage, Billing, and Technical agents!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667250" y="3277493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743450" y="3353693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Combine everything you learn today!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Summary: Key Takeaways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14597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We Learned: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3821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13821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5775" y="14583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Conditional edges enable dynamic routing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174411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174411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775" y="182031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Agent-Tool loop: agent ⟷ tools until done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1060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1060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775" y="21822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Supervisor pattern coordinates agents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46801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46801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775" y="254421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Agents communicate via shared state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28299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28299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" y="29061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Tool orchestration for complex tasks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7250" y="1130945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Coming Up Tomorrow:</a:t>
            </a:r>
            <a:endParaRPr lang="en-US" sz="900" dirty="0"/>
          </a:p>
        </p:txBody>
      </p:sp>
      <p:pic>
        <p:nvPicPr>
          <p:cNvPr id="20" name="Image 0" descr="/tmp/rasterized-gradient-acced5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367135"/>
            <a:ext cx="4095750" cy="84370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81550" y="1481435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3: Communication Skills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81550" y="1698575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agentic systems simply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781550" y="1837581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AI project expectations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4781550" y="1976586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communication about AI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67250" y="2344192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Tips: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67250" y="2580382"/>
            <a:ext cx="4095750" cy="550366"/>
          </a:xfrm>
          <a:prstGeom prst="roundRect">
            <a:avLst>
              <a:gd name="adj" fmla="val 103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43450" y="2656582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Keep agents focused - one specialty each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4743450" y="2795588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max loops to prevent infinite cycles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43450" y="2934593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Label messages for easy debugging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381000" y="3671143"/>
            <a:ext cx="8382000" cy="805607"/>
          </a:xfrm>
          <a:prstGeom prst="roundRect">
            <a:avLst>
              <a:gd name="adj" fmla="val 94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13766" y="3785443"/>
            <a:ext cx="83164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13766" y="4036814"/>
            <a:ext cx="8316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build multi-agent systems!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413766" y="4229100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Week 16 Project: AI Learning Tutor! 🎓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2 | AI Bootcamp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Office PowerPoint</Application>
  <PresentationFormat>On-screen Show (16:9)</PresentationFormat>
  <Paragraphs>261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16 Day 2 - LangGraph Workflows</dc:title>
  <dc:subject>Multi-Agent Systems and Advanced Routing</dc:subject>
  <dc:creator>AI Bootcamp</dc:creator>
  <cp:lastModifiedBy>faizan zubair</cp:lastModifiedBy>
  <cp:revision>2</cp:revision>
  <dcterms:created xsi:type="dcterms:W3CDTF">2025-12-01T10:12:55Z</dcterms:created>
  <dcterms:modified xsi:type="dcterms:W3CDTF">2025-12-01T10:16:19Z</dcterms:modified>
</cp:coreProperties>
</file>
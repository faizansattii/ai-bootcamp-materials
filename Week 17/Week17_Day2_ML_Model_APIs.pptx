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🤖🔮📊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Serving ML Models via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Turning Your Notebooks into Production Services</a:t>
            </a:r>
          </a:p>
          <a:p>
            <a:r>
              <a:t>From Jupyter to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Why Deploy ML Models as APIs?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Yesterday: Built Calculator APIs ✅</a:t>
            </a:r>
          </a:p>
          <a:p>
            <a:pPr>
              <a:spcAft>
                <a:spcPts val="600"/>
              </a:spcAft>
              <a:defRPr sz="1600"/>
            </a:pPr>
            <a:r>
              <a:t>Today: Connect REAL machine learning models to APIs! 🤖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The Journey:</a:t>
            </a:r>
          </a:p>
          <a:p>
            <a:pPr>
              <a:spcAft>
                <a:spcPts val="600"/>
              </a:spcAft>
              <a:defRPr sz="1600"/>
            </a:pPr>
            <a:r>
              <a:t>Jupyter Notebook → Saved Model → API Endpoint → Production App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🌍 Real-World Use Cases:</a:t>
            </a:r>
          </a:p>
          <a:p>
            <a:pPr>
              <a:spcAft>
                <a:spcPts val="600"/>
              </a:spcAft>
              <a:defRPr sz="1600"/>
            </a:pPr>
            <a:r>
              <a:t>• Mobile app sends photo → API returns: "This is a cat!" 🐱</a:t>
            </a:r>
          </a:p>
          <a:p>
            <a:pPr>
              <a:spcAft>
                <a:spcPts val="600"/>
              </a:spcAft>
              <a:defRPr sz="1600"/>
            </a:pPr>
            <a:r>
              <a:t>• Website form text → API returns: "Sentiment: Positive 😊"</a:t>
            </a:r>
          </a:p>
          <a:p>
            <a:pPr>
              <a:spcAft>
                <a:spcPts val="600"/>
              </a:spcAft>
              <a:defRPr sz="1600"/>
            </a:pPr>
            <a:r>
              <a:t>• Upload CSV → API returns: "Predicted sales: $50,000"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Goal: Make your ML models accessible to:</a:t>
            </a:r>
          </a:p>
          <a:p>
            <a:pPr>
              <a:spcAft>
                <a:spcPts val="600"/>
              </a:spcAft>
              <a:defRPr sz="1600"/>
            </a:pPr>
            <a:r>
              <a:t>✅ Web developers (React, Vue, Angular)</a:t>
            </a:r>
          </a:p>
          <a:p>
            <a:pPr>
              <a:spcAft>
                <a:spcPts val="600"/>
              </a:spcAft>
              <a:defRPr sz="1600"/>
            </a:pPr>
            <a:r>
              <a:t>✅ Mobile developers (iOS, Android)</a:t>
            </a:r>
          </a:p>
          <a:p>
            <a:pPr>
              <a:spcAft>
                <a:spcPts val="600"/>
              </a:spcAft>
              <a:defRPr sz="1600"/>
            </a:pPr>
            <a:r>
              <a:t>✅ Other data scientists (via API calls)</a:t>
            </a:r>
          </a:p>
          <a:p>
            <a:pPr>
              <a:spcAft>
                <a:spcPts val="600"/>
              </a:spcAft>
              <a:defRPr sz="1600"/>
            </a:pPr>
            <a:r>
              <a:t>✅ Non-technical users (through web interfaces)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🤔 The Problem: Models Live in Notebooks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❌ Your trained model is stuck in a .ipynb file</a:t>
            </a:r>
          </a:p>
          <a:p>
            <a:pPr>
              <a:spcAft>
                <a:spcPts val="600"/>
              </a:spcAft>
              <a:defRPr sz="1600"/>
            </a:pPr>
            <a:r>
              <a:t>❌ Others can't use it without running Jupyter</a:t>
            </a:r>
          </a:p>
          <a:p>
            <a:pPr>
              <a:spcAft>
                <a:spcPts val="600"/>
              </a:spcAft>
              <a:defRPr sz="1600"/>
            </a:pPr>
            <a:r>
              <a:t>❌ Can't integrate with web/mobile apps</a:t>
            </a:r>
          </a:p>
          <a:p>
            <a:pPr>
              <a:spcAft>
                <a:spcPts val="600"/>
              </a:spcAft>
              <a:defRPr sz="1600"/>
            </a:pPr>
            <a:r>
              <a:t>❌ Not scalable for production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The Solution: Deploy as API!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Before (Jupyter):</a:t>
            </a:r>
          </a:p>
          <a:p>
            <a:pPr>
              <a:spcAft>
                <a:spcPts val="600"/>
              </a:spcAft>
              <a:defRPr sz="1600"/>
            </a:pPr>
            <a:r>
              <a:t>model.predict(data) → result</a:t>
            </a:r>
          </a:p>
          <a:p>
            <a:pPr>
              <a:spcAft>
                <a:spcPts val="600"/>
              </a:spcAft>
              <a:defRPr sz="1600"/>
            </a:pPr>
            <a:r>
              <a:t>↓ (Only you can use it)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After (API):</a:t>
            </a:r>
          </a:p>
          <a:p>
            <a:pPr>
              <a:spcAft>
                <a:spcPts val="600"/>
              </a:spcAft>
              <a:defRPr sz="1600"/>
            </a:pPr>
            <a:r>
              <a:t>POST /predict with data → API returns result</a:t>
            </a:r>
          </a:p>
          <a:p>
            <a:pPr>
              <a:spcAft>
                <a:spcPts val="600"/>
              </a:spcAft>
              <a:defRPr sz="1600"/>
            </a:pPr>
            <a:r>
              <a:t>↓ (Anyone can use it!)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Today you'll learn to bridge this gap!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💾 Loading ML Models: The Smart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🚫 BAD Approach (Don't do this!):</a:t>
            </a:r>
          </a:p>
          <a:p>
            <a:pPr>
              <a:spcAft>
                <a:spcPts val="600"/>
              </a:spcAft>
              <a:defRPr sz="1600"/>
            </a:pPr>
            <a:r>
              <a:t>Load model on EVERY request → Slow, wastes memory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GOOD Approach: Singleton Pattern</a:t>
            </a:r>
          </a:p>
          <a:p>
            <a:pPr>
              <a:spcAft>
                <a:spcPts val="600"/>
              </a:spcAft>
              <a:defRPr sz="1600"/>
            </a:pPr>
            <a:r>
              <a:t>Load model ONCE when server starts → Fast, efficient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📦 Code Pattern: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# Global variable (loaded once)</a:t>
            </a:r>
          </a:p>
          <a:p>
            <a:pPr>
              <a:spcAft>
                <a:spcPts val="600"/>
              </a:spcAft>
              <a:defRPr sz="1600"/>
            </a:pPr>
            <a:r>
              <a:t>model = None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@app.on_event('startup')</a:t>
            </a:r>
          </a:p>
          <a:p>
            <a:pPr>
              <a:spcAft>
                <a:spcPts val="600"/>
              </a:spcAft>
              <a:defRPr sz="1600"/>
            </a:pPr>
            <a:r>
              <a:t>async def load_model():</a:t>
            </a:r>
          </a:p>
          <a:p>
            <a:pPr>
              <a:spcAft>
                <a:spcPts val="600"/>
              </a:spcAft>
              <a:defRPr sz="1600"/>
            </a:pPr>
            <a:r>
              <a:t>    global model</a:t>
            </a:r>
          </a:p>
          <a:p>
            <a:pPr>
              <a:spcAft>
                <a:spcPts val="600"/>
              </a:spcAft>
              <a:defRPr sz="1600"/>
            </a:pPr>
            <a:r>
              <a:t>    model = joblib.load('model.pkl')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Model loads once, used many times!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📂 Where to Save Your Models?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Common Model File Formats: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🔹 Scikit-learn → .pkl or .joblib</a:t>
            </a:r>
          </a:p>
          <a:p>
            <a:pPr>
              <a:spcAft>
                <a:spcPts val="600"/>
              </a:spcAft>
              <a:defRPr sz="1600"/>
            </a:pPr>
            <a:r>
              <a:t>joblib.dump(model, 'model.joblib')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🔹 PyTorch → .pt or .pth</a:t>
            </a:r>
          </a:p>
          <a:p>
            <a:pPr>
              <a:spcAft>
                <a:spcPts val="600"/>
              </a:spcAft>
              <a:defRPr sz="1600"/>
            </a:pPr>
            <a:r>
              <a:t>torch.save(model.state_dict(), 'model.pt')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🔹 TensorFlow/Keras → .h5 or SavedModel folder</a:t>
            </a:r>
          </a:p>
          <a:p>
            <a:pPr>
              <a:spcAft>
                <a:spcPts val="600"/>
              </a:spcAft>
              <a:defRPr sz="1600"/>
            </a:pPr>
            <a:r>
              <a:t>model.save('model.h5')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📁 Project Structure:</a:t>
            </a:r>
          </a:p>
          <a:p>
            <a:pPr>
              <a:spcAft>
                <a:spcPts val="600"/>
              </a:spcAft>
              <a:defRPr sz="1600"/>
            </a:pPr>
            <a:r>
              <a:t>my_api/</a:t>
            </a:r>
          </a:p>
          <a:p>
            <a:pPr>
              <a:spcAft>
                <a:spcPts val="600"/>
              </a:spcAft>
              <a:defRPr sz="1600"/>
            </a:pPr>
            <a:r>
              <a:t>├── main.py          # Your FastAPI code</a:t>
            </a:r>
          </a:p>
          <a:p>
            <a:pPr>
              <a:spcAft>
                <a:spcPts val="600"/>
              </a:spcAft>
              <a:defRPr sz="1600"/>
            </a:pPr>
            <a:r>
              <a:t>├── models/          # Store models here</a:t>
            </a:r>
          </a:p>
          <a:p>
            <a:pPr>
              <a:spcAft>
                <a:spcPts val="600"/>
              </a:spcAft>
              <a:defRPr sz="1600"/>
            </a:pPr>
            <a:r>
              <a:t>│   └── sentiment_model.pkl</a:t>
            </a:r>
          </a:p>
          <a:p>
            <a:pPr>
              <a:spcAft>
                <a:spcPts val="600"/>
              </a:spcAft>
              <a:defRPr sz="1600"/>
            </a:pPr>
            <a:r>
              <a:t>└── requirements.txt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🔮 Creating Prediction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📋 Standard Pattern for ML APIs: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1️⃣ Define Input Model (Pydantic)</a:t>
            </a:r>
          </a:p>
          <a:p>
            <a:pPr>
              <a:spcAft>
                <a:spcPts val="600"/>
              </a:spcAft>
              <a:defRPr sz="1600"/>
            </a:pPr>
            <a:r>
              <a:t>class PredictionInput(BaseModel):</a:t>
            </a:r>
          </a:p>
          <a:p>
            <a:pPr>
              <a:spcAft>
                <a:spcPts val="600"/>
              </a:spcAft>
              <a:defRPr sz="1600"/>
            </a:pPr>
            <a:r>
              <a:t>    text: str  # or image, or features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2️⃣ Create Endpoint</a:t>
            </a:r>
          </a:p>
          <a:p>
            <a:pPr>
              <a:spcAft>
                <a:spcPts val="600"/>
              </a:spcAft>
              <a:defRPr sz="1600"/>
            </a:pPr>
            <a:r>
              <a:t>@app.post('/predict')</a:t>
            </a:r>
          </a:p>
          <a:p>
            <a:pPr>
              <a:spcAft>
                <a:spcPts val="600"/>
              </a:spcAft>
              <a:defRPr sz="1600"/>
            </a:pPr>
            <a:r>
              <a:t>def predict(input: PredictionInput):</a:t>
            </a:r>
          </a:p>
          <a:p>
            <a:pPr>
              <a:spcAft>
                <a:spcPts val="600"/>
              </a:spcAft>
              <a:defRPr sz="1600"/>
            </a:pPr>
            <a:r>
              <a:t>    features = preprocess(input.text)</a:t>
            </a:r>
          </a:p>
          <a:p>
            <a:pPr>
              <a:spcAft>
                <a:spcPts val="600"/>
              </a:spcAft>
              <a:defRPr sz="1600"/>
            </a:pPr>
            <a:r>
              <a:t>    prediction = model.predict(features)</a:t>
            </a:r>
          </a:p>
          <a:p>
            <a:pPr>
              <a:spcAft>
                <a:spcPts val="600"/>
              </a:spcAft>
              <a:defRPr sz="1600"/>
            </a:pPr>
            <a:r>
              <a:t>    return {'prediction': prediction}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3️⃣ Test in Swagger UI</a:t>
            </a:r>
          </a:p>
          <a:p>
            <a:pPr>
              <a:spcAft>
                <a:spcPts val="600"/>
              </a:spcAft>
              <a:defRPr sz="1600"/>
            </a:pPr>
            <a:r>
              <a:t>Send request → Get prediction → Success!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📤 Handling File Uploads (Images, CSVs)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Many ML models need files as input:</a:t>
            </a:r>
          </a:p>
          <a:p>
            <a:pPr>
              <a:spcAft>
                <a:spcPts val="600"/>
              </a:spcAft>
              <a:defRPr sz="1600"/>
            </a:pPr>
            <a:r>
              <a:t>• Image classification → Upload photo</a:t>
            </a:r>
          </a:p>
          <a:p>
            <a:pPr>
              <a:spcAft>
                <a:spcPts val="600"/>
              </a:spcAft>
              <a:defRPr sz="1600"/>
            </a:pPr>
            <a:r>
              <a:t>• Document analysis → Upload PDF</a:t>
            </a:r>
          </a:p>
          <a:p>
            <a:pPr>
              <a:spcAft>
                <a:spcPts val="600"/>
              </a:spcAft>
              <a:defRPr sz="1600"/>
            </a:pPr>
            <a:r>
              <a:t>• Batch prediction → Upload CSV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🔧 FastAPI File Upload: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from fastapi import File, UploadFile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@app.post('/upload-image')</a:t>
            </a:r>
          </a:p>
          <a:p>
            <a:pPr>
              <a:spcAft>
                <a:spcPts val="600"/>
              </a:spcAft>
              <a:defRPr sz="1600"/>
            </a:pPr>
            <a:r>
              <a:t>async def classify_image(file: UploadFile = File(...)):</a:t>
            </a:r>
          </a:p>
          <a:p>
            <a:pPr>
              <a:spcAft>
                <a:spcPts val="600"/>
              </a:spcAft>
              <a:defRPr sz="1600"/>
            </a:pPr>
            <a:r>
              <a:t>    contents = await file.read()</a:t>
            </a:r>
          </a:p>
          <a:p>
            <a:pPr>
              <a:spcAft>
                <a:spcPts val="600"/>
              </a:spcAft>
              <a:defRPr sz="1600"/>
            </a:pPr>
            <a:r>
              <a:t>    # Process image</a:t>
            </a:r>
          </a:p>
          <a:p>
            <a:pPr>
              <a:spcAft>
                <a:spcPts val="600"/>
              </a:spcAft>
              <a:defRPr sz="1600"/>
            </a:pPr>
            <a:r>
              <a:t>    prediction = model.predict(image)</a:t>
            </a:r>
          </a:p>
          <a:p>
            <a:pPr>
              <a:spcAft>
                <a:spcPts val="600"/>
              </a:spcAft>
              <a:defRPr sz="1600"/>
            </a:pPr>
            <a:r>
              <a:t>    return {'class': prediction}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Note the 'async' and 'await' keywords!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🖼️ Working with Uploaded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📊 Complete Image Classification Flow: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1. User uploads image via API</a:t>
            </a:r>
          </a:p>
          <a:p>
            <a:pPr>
              <a:spcAft>
                <a:spcPts val="600"/>
              </a:spcAft>
              <a:defRPr sz="1600"/>
            </a:pPr>
            <a:r>
              <a:t>2. Read file contents: await file.read()</a:t>
            </a:r>
          </a:p>
          <a:p>
            <a:pPr>
              <a:spcAft>
                <a:spcPts val="600"/>
              </a:spcAft>
              <a:defRPr sz="1600"/>
            </a:pPr>
            <a:r>
              <a:t>3. Convert to format model expects:</a:t>
            </a:r>
          </a:p>
          <a:p>
            <a:pPr>
              <a:spcAft>
                <a:spcPts val="600"/>
              </a:spcAft>
              <a:defRPr sz="1600"/>
            </a:pPr>
            <a:r>
              <a:t>   • PIL Image for most models</a:t>
            </a:r>
          </a:p>
          <a:p>
            <a:pPr>
              <a:spcAft>
                <a:spcPts val="600"/>
              </a:spcAft>
              <a:defRPr sz="1600"/>
            </a:pPr>
            <a:r>
              <a:t>   • NumPy array for CNNs</a:t>
            </a:r>
          </a:p>
          <a:p>
            <a:pPr>
              <a:spcAft>
                <a:spcPts val="600"/>
              </a:spcAft>
              <a:defRPr sz="1600"/>
            </a:pPr>
            <a:r>
              <a:t>4. Preprocess (resize, normalize)</a:t>
            </a:r>
          </a:p>
          <a:p>
            <a:pPr>
              <a:spcAft>
                <a:spcPts val="600"/>
              </a:spcAft>
              <a:defRPr sz="1600"/>
            </a:pPr>
            <a:r>
              <a:t>5. Run prediction</a:t>
            </a:r>
          </a:p>
          <a:p>
            <a:pPr>
              <a:spcAft>
                <a:spcPts val="600"/>
              </a:spcAft>
              <a:defRPr sz="1600"/>
            </a:pPr>
            <a:r>
              <a:t>6. Return result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Common Image Formats:</a:t>
            </a:r>
          </a:p>
          <a:p>
            <a:pPr>
              <a:spcAft>
                <a:spcPts val="600"/>
              </a:spcAft>
              <a:defRPr sz="1600"/>
            </a:pPr>
            <a:r>
              <a:t>✅ .jpg, .jpeg, .png, .webp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⚠️ Remember to validate:</a:t>
            </a:r>
          </a:p>
          <a:p>
            <a:pPr>
              <a:spcAft>
                <a:spcPts val="600"/>
              </a:spcAft>
              <a:defRPr sz="1600"/>
            </a:pPr>
            <a:r>
              <a:t>• File size (limit to 5-10 MB)</a:t>
            </a:r>
          </a:p>
          <a:p>
            <a:pPr>
              <a:spcAft>
                <a:spcPts val="600"/>
              </a:spcAft>
              <a:defRPr sz="1600"/>
            </a:pPr>
            <a:r>
              <a:t>• File type (check extension)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🌐 CORS: Connecting Web Apps to Your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🤔 What is CORS?</a:t>
            </a:r>
          </a:p>
          <a:p>
            <a:pPr>
              <a:spcAft>
                <a:spcPts val="600"/>
              </a:spcAft>
              <a:defRPr sz="1600"/>
            </a:pPr>
            <a:r>
              <a:t>Cross-Origin Resource Sharing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The Problem:</a:t>
            </a:r>
          </a:p>
          <a:p>
            <a:pPr>
              <a:spcAft>
                <a:spcPts val="600"/>
              </a:spcAft>
              <a:defRPr sz="1600"/>
            </a:pPr>
            <a:r>
              <a:t>Your web app (localhost:3000) tries to call API (localhost:8000)</a:t>
            </a:r>
          </a:p>
          <a:p>
            <a:pPr>
              <a:spcAft>
                <a:spcPts val="600"/>
              </a:spcAft>
              <a:defRPr sz="1600"/>
            </a:pPr>
            <a:r>
              <a:t>Browser blocks it! 🚫 "For security reasons..."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The Solution: Enable CORS in FastAPI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from fastapi.middleware.cors import CORSMiddleware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app.add_middleware(</a:t>
            </a:r>
          </a:p>
          <a:p>
            <a:pPr>
              <a:spcAft>
                <a:spcPts val="600"/>
              </a:spcAft>
              <a:defRPr sz="1600"/>
            </a:pPr>
            <a:r>
              <a:t>    CORSMiddleware,</a:t>
            </a:r>
          </a:p>
          <a:p>
            <a:pPr>
              <a:spcAft>
                <a:spcPts val="600"/>
              </a:spcAft>
              <a:defRPr sz="1600"/>
            </a:pPr>
            <a:r>
              <a:t>    allow_origins=['*'],  # Allow all (dev only!)</a:t>
            </a:r>
          </a:p>
          <a:p>
            <a:pPr>
              <a:spcAft>
                <a:spcPts val="600"/>
              </a:spcAft>
              <a:defRPr sz="1600"/>
            </a:pPr>
            <a:r>
              <a:t>    allow_methods=['*'],</a:t>
            </a:r>
          </a:p>
          <a:p>
            <a:pPr>
              <a:spcAft>
                <a:spcPts val="600"/>
              </a:spcAft>
              <a:defRPr sz="1600"/>
            </a:pPr>
            <a:r>
              <a:t>    allow_headers=['*']</a:t>
            </a:r>
          </a:p>
          <a:p>
            <a:pPr>
              <a:spcAft>
                <a:spcPts val="600"/>
              </a:spcAft>
              <a:defRPr sz="1600"/>
            </a:pPr>
            <a:r>
              <a:t>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Production: Replace '*' with specific domains!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How CORS Works (Simplified)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❌ Without CORS: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Web App (localhost:3000) → API (localhost:8000)</a:t>
            </a:r>
          </a:p>
          <a:p>
            <a:pPr>
              <a:spcAft>
                <a:spcPts val="600"/>
              </a:spcAft>
              <a:defRPr sz="1600"/>
            </a:pPr>
            <a:r>
              <a:t>↓</a:t>
            </a:r>
          </a:p>
          <a:p>
            <a:pPr>
              <a:spcAft>
                <a:spcPts val="600"/>
              </a:spcAft>
              <a:defRPr sz="1600"/>
            </a:pPr>
            <a:r>
              <a:t>❌ Browser: "Blocked! Different origin!"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With CORS Enabled: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Web App (localhost:3000) → API (localhost:8000)</a:t>
            </a:r>
          </a:p>
          <a:p>
            <a:pPr>
              <a:spcAft>
                <a:spcPts val="600"/>
              </a:spcAft>
              <a:defRPr sz="1600"/>
            </a:pPr>
            <a:r>
              <a:t>↓</a:t>
            </a:r>
          </a:p>
          <a:p>
            <a:pPr>
              <a:spcAft>
                <a:spcPts val="600"/>
              </a:spcAft>
              <a:defRPr sz="1600"/>
            </a:pPr>
            <a:r>
              <a:t>API: "I allow requests from localhost:3000"</a:t>
            </a:r>
          </a:p>
          <a:p>
            <a:pPr>
              <a:spcAft>
                <a:spcPts val="600"/>
              </a:spcAft>
              <a:defRPr sz="1600"/>
            </a:pPr>
            <a:r>
              <a:t>↓</a:t>
            </a:r>
          </a:p>
          <a:p>
            <a:pPr>
              <a:spcAft>
                <a:spcPts val="600"/>
              </a:spcAft>
              <a:defRPr sz="1600"/>
            </a:pPr>
            <a:r>
              <a:t>✅ Browser: "OK, allowed!"</a:t>
            </a:r>
          </a:p>
          <a:p>
            <a:pPr>
              <a:spcAft>
                <a:spcPts val="600"/>
              </a:spcAft>
              <a:defRPr sz="1600"/>
            </a:pPr>
            <a:r>
              <a:t>↓</a:t>
            </a:r>
          </a:p>
          <a:p>
            <a:pPr>
              <a:spcAft>
                <a:spcPts val="600"/>
              </a:spcAft>
              <a:defRPr sz="1600"/>
            </a:pPr>
            <a:r>
              <a:t>Response returns successfully 🎉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CORS is a browser security feature, not an API limitation!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⚠️ Error Handling for ML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ML models can fail in unique ways: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❌ Common ML Errors:</a:t>
            </a:r>
          </a:p>
          <a:p>
            <a:pPr>
              <a:spcAft>
                <a:spcPts val="600"/>
              </a:spcAft>
              <a:defRPr sz="1600"/>
            </a:pPr>
            <a:r>
              <a:t>• Wrong input shape: [1, 100] expected, got [100]</a:t>
            </a:r>
          </a:p>
          <a:p>
            <a:pPr>
              <a:spcAft>
                <a:spcPts val="600"/>
              </a:spcAft>
              <a:defRPr sz="1600"/>
            </a:pPr>
            <a:r>
              <a:t>• Invalid feature values: Text where number expected</a:t>
            </a:r>
          </a:p>
          <a:p>
            <a:pPr>
              <a:spcAft>
                <a:spcPts val="600"/>
              </a:spcAft>
              <a:defRPr sz="1600"/>
            </a:pPr>
            <a:r>
              <a:t>• Model not loaded: Forgot to initialize</a:t>
            </a:r>
          </a:p>
          <a:p>
            <a:pPr>
              <a:spcAft>
                <a:spcPts val="600"/>
              </a:spcAft>
              <a:defRPr sz="1600"/>
            </a:pPr>
            <a:r>
              <a:t>• Out of memory: Image too large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How to Handle: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try:</a:t>
            </a:r>
          </a:p>
          <a:p>
            <a:pPr>
              <a:spcAft>
                <a:spcPts val="600"/>
              </a:spcAft>
              <a:defRPr sz="1600"/>
            </a:pPr>
            <a:r>
              <a:t>    prediction = model.predict(features)</a:t>
            </a:r>
          </a:p>
          <a:p>
            <a:pPr>
              <a:spcAft>
                <a:spcPts val="600"/>
              </a:spcAft>
              <a:defRPr sz="1600"/>
            </a:pPr>
            <a:r>
              <a:t>except ValueError as e:</a:t>
            </a:r>
          </a:p>
          <a:p>
            <a:pPr>
              <a:spcAft>
                <a:spcPts val="600"/>
              </a:spcAft>
              <a:defRPr sz="1600"/>
            </a:pPr>
            <a:r>
              <a:t>    raise HTTPException(</a:t>
            </a:r>
          </a:p>
          <a:p>
            <a:pPr>
              <a:spcAft>
                <a:spcPts val="600"/>
              </a:spcAft>
              <a:defRPr sz="1600"/>
            </a:pPr>
            <a:r>
              <a:t>        status_code=400,</a:t>
            </a:r>
          </a:p>
          <a:p>
            <a:pPr>
              <a:spcAft>
                <a:spcPts val="600"/>
              </a:spcAft>
              <a:defRPr sz="1600"/>
            </a:pPr>
            <a:r>
              <a:t>        detail=f'Invalid input: {str(e)}'</a:t>
            </a:r>
          </a:p>
          <a:p>
            <a:pPr>
              <a:spcAft>
                <a:spcPts val="600"/>
              </a:spcAft>
              <a:defRPr sz="1600"/>
            </a:pPr>
            <a:r>
              <a:t>    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Always return helpful error messages!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⚡ Async/Await: A Gentle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🤔 What is async/await?</a:t>
            </a:r>
          </a:p>
          <a:p>
            <a:pPr>
              <a:spcAft>
                <a:spcPts val="600"/>
              </a:spcAft>
              <a:defRPr sz="1600"/>
            </a:pPr>
            <a:r>
              <a:t>A way to handle multiple requests efficiently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Think of it like a restaurant:</a:t>
            </a:r>
          </a:p>
          <a:p>
            <a:pPr>
              <a:spcAft>
                <a:spcPts val="600"/>
              </a:spcAft>
              <a:defRPr sz="1600"/>
            </a:pPr>
            <a:r>
              <a:t>• Sync: Waiter serves one table, waits, then next table</a:t>
            </a:r>
          </a:p>
          <a:p>
            <a:pPr>
              <a:spcAft>
                <a:spcPts val="600"/>
              </a:spcAft>
              <a:defRPr sz="1600"/>
            </a:pPr>
            <a:r>
              <a:t>• Async: Waiter takes multiple orders, kitchen works on all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📝 When to use async in FastAPI: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Regular function (most cases):</a:t>
            </a:r>
          </a:p>
          <a:p>
            <a:pPr>
              <a:spcAft>
                <a:spcPts val="600"/>
              </a:spcAft>
              <a:defRPr sz="1600"/>
            </a:pPr>
            <a:r>
              <a:t>@app.post('/predict')</a:t>
            </a:r>
          </a:p>
          <a:p>
            <a:pPr>
              <a:spcAft>
                <a:spcPts val="600"/>
              </a:spcAft>
              <a:defRPr sz="1600"/>
            </a:pPr>
            <a:r>
              <a:t>def predict(data): ...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Async function (file uploads, external APIs):</a:t>
            </a:r>
          </a:p>
          <a:p>
            <a:pPr>
              <a:spcAft>
                <a:spcPts val="600"/>
              </a:spcAft>
              <a:defRPr sz="1600"/>
            </a:pPr>
            <a:r>
              <a:t>@app.post('/upload')</a:t>
            </a:r>
          </a:p>
          <a:p>
            <a:pPr>
              <a:spcAft>
                <a:spcPts val="600"/>
              </a:spcAft>
              <a:defRPr sz="1600"/>
            </a:pPr>
            <a:r>
              <a:t>async def upload(file: UploadFile): ...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For beginners: Use async only for file operations!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📊 Structuring API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Good API Response Structure: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Clear and Consistent:</a:t>
            </a:r>
          </a:p>
          <a:p>
            <a:pPr>
              <a:spcAft>
                <a:spcPts val="600"/>
              </a:spcAft>
              <a:defRPr sz="1600"/>
            </a:pPr>
            <a:r>
              <a:t>{</a:t>
            </a:r>
          </a:p>
          <a:p>
            <a:pPr>
              <a:spcAft>
                <a:spcPts val="600"/>
              </a:spcAft>
              <a:defRPr sz="1600"/>
            </a:pPr>
            <a:r>
              <a:t>    'success': true,</a:t>
            </a:r>
          </a:p>
          <a:p>
            <a:pPr>
              <a:spcAft>
                <a:spcPts val="600"/>
              </a:spcAft>
              <a:defRPr sz="1600"/>
            </a:pPr>
            <a:r>
              <a:t>    'prediction': 'positive',</a:t>
            </a:r>
          </a:p>
          <a:p>
            <a:pPr>
              <a:spcAft>
                <a:spcPts val="600"/>
              </a:spcAft>
              <a:defRPr sz="1600"/>
            </a:pPr>
            <a:r>
              <a:t>    'confidence': 0.87,</a:t>
            </a:r>
          </a:p>
          <a:p>
            <a:pPr>
              <a:spcAft>
                <a:spcPts val="600"/>
              </a:spcAft>
              <a:defRPr sz="1600"/>
            </a:pPr>
            <a:r>
              <a:t>    'processing_time': '0.05s'</a:t>
            </a:r>
          </a:p>
          <a:p>
            <a:pPr>
              <a:spcAft>
                <a:spcPts val="600"/>
              </a:spcAft>
              <a:defRPr sz="1600"/>
            </a:pPr>
            <a:r>
              <a:t>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❌ Bad Response:</a:t>
            </a:r>
          </a:p>
          <a:p>
            <a:pPr>
              <a:spcAft>
                <a:spcPts val="600"/>
              </a:spcAft>
              <a:defRPr sz="1600"/>
            </a:pPr>
            <a:r>
              <a:t>Just returning: 'positive'  # No context!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🎨 Include in ML Responses:</a:t>
            </a:r>
          </a:p>
          <a:p>
            <a:pPr>
              <a:spcAft>
                <a:spcPts val="600"/>
              </a:spcAft>
              <a:defRPr sz="1600"/>
            </a:pPr>
            <a:r>
              <a:t>• Prediction result (class, value)</a:t>
            </a:r>
          </a:p>
          <a:p>
            <a:pPr>
              <a:spcAft>
                <a:spcPts val="600"/>
              </a:spcAft>
              <a:defRPr sz="1600"/>
            </a:pPr>
            <a:r>
              <a:t>• Confidence score (if available)</a:t>
            </a:r>
          </a:p>
          <a:p>
            <a:pPr>
              <a:spcAft>
                <a:spcPts val="600"/>
              </a:spcAft>
              <a:defRPr sz="1600"/>
            </a:pPr>
            <a:r>
              <a:t>• Processing time (optional)</a:t>
            </a:r>
          </a:p>
          <a:p>
            <a:pPr>
              <a:spcAft>
                <a:spcPts val="600"/>
              </a:spcAft>
              <a:defRPr sz="1600"/>
            </a:pPr>
            <a:r>
              <a:t>• Model version (for tracking)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Consistent structure makes client integration easier!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🛠️ Today's Project: Sentiment Analysis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What We're Building:</a:t>
            </a:r>
          </a:p>
          <a:p>
            <a:pPr>
              <a:spcAft>
                <a:spcPts val="600"/>
              </a:spcAft>
              <a:defRPr sz="1600"/>
            </a:pPr>
            <a:r>
              <a:t>A sentiment analysis API that predicts if text is positive or negative!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📋 Features:</a:t>
            </a:r>
          </a:p>
          <a:p>
            <a:pPr>
              <a:spcAft>
                <a:spcPts val="600"/>
              </a:spcAft>
              <a:defRPr sz="1600"/>
            </a:pPr>
            <a:r>
              <a:t>1. POST /predict - Analyze sentiment from text</a:t>
            </a:r>
          </a:p>
          <a:p>
            <a:pPr>
              <a:spcAft>
                <a:spcPts val="600"/>
              </a:spcAft>
              <a:defRPr sz="1600"/>
            </a:pPr>
            <a:r>
              <a:t>2. POST /predict-batch - Analyze multiple texts</a:t>
            </a:r>
          </a:p>
          <a:p>
            <a:pPr>
              <a:spcAft>
                <a:spcPts val="600"/>
              </a:spcAft>
              <a:defRPr sz="1600"/>
            </a:pPr>
            <a:r>
              <a:t>3. POST /upload-csv - Batch analysis from CSV file</a:t>
            </a:r>
          </a:p>
          <a:p>
            <a:pPr>
              <a:spcAft>
                <a:spcPts val="600"/>
              </a:spcAft>
              <a:defRPr sz="1600"/>
            </a:pPr>
            <a:r>
              <a:t>4. GET /model-info - Get model details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🤖 Model:</a:t>
            </a:r>
          </a:p>
          <a:p>
            <a:pPr>
              <a:spcAft>
                <a:spcPts val="600"/>
              </a:spcAft>
              <a:defRPr sz="1600"/>
            </a:pPr>
            <a:r>
              <a:t>Pre-trained sentiment classifier (from Week 6)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✨ Bonus:</a:t>
            </a:r>
          </a:p>
          <a:p>
            <a:pPr>
              <a:spcAft>
                <a:spcPts val="600"/>
              </a:spcAft>
              <a:defRPr sz="1600"/>
            </a:pPr>
            <a:r>
              <a:t>CORS enabled for web app integration!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⏱️ Time: ~2 hours hands-on</a:t>
            </a:r>
          </a:p>
          <a:p>
            <a:pPr>
              <a:spcAft>
                <a:spcPts val="600"/>
              </a:spcAft>
              <a:defRPr sz="1600"/>
            </a:pPr>
            <a:r>
              <a:t>🎓 Level: Intermediate (building on Day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Summary: ML Model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Key Takeaways: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Load models once with singleton pattern</a:t>
            </a:r>
          </a:p>
          <a:p>
            <a:pPr>
              <a:spcAft>
                <a:spcPts val="600"/>
              </a:spcAft>
              <a:defRPr sz="1600"/>
            </a:pPr>
            <a:r>
              <a:t>✅ Use Pydantic for input validation</a:t>
            </a:r>
          </a:p>
          <a:p>
            <a:pPr>
              <a:spcAft>
                <a:spcPts val="600"/>
              </a:spcAft>
              <a:defRPr sz="1600"/>
            </a:pPr>
            <a:r>
              <a:t>✅ Handle file uploads with UploadFile</a:t>
            </a:r>
          </a:p>
          <a:p>
            <a:pPr>
              <a:spcAft>
                <a:spcPts val="600"/>
              </a:spcAft>
              <a:defRPr sz="1600"/>
            </a:pPr>
            <a:r>
              <a:t>✅ Enable CORS for web app integration</a:t>
            </a:r>
          </a:p>
          <a:p>
            <a:pPr>
              <a:spcAft>
                <a:spcPts val="600"/>
              </a:spcAft>
              <a:defRPr sz="1600"/>
            </a:pPr>
            <a:r>
              <a:t>✅ Structure responses consistently</a:t>
            </a:r>
          </a:p>
          <a:p>
            <a:pPr>
              <a:spcAft>
                <a:spcPts val="600"/>
              </a:spcAft>
              <a:defRPr sz="1600"/>
            </a:pPr>
            <a:r>
              <a:t>✅ Handle ML-specific errors gracefully</a:t>
            </a:r>
          </a:p>
          <a:p>
            <a:pPr>
              <a:spcAft>
                <a:spcPts val="600"/>
              </a:spcAft>
              <a:defRPr sz="1600"/>
            </a:pPr>
            <a:r>
              <a:t>✅ Use async for file operations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What's Next:</a:t>
            </a:r>
          </a:p>
          <a:p>
            <a:pPr>
              <a:spcAft>
                <a:spcPts val="600"/>
              </a:spcAft>
              <a:defRPr sz="1600"/>
            </a:pPr>
            <a:r>
              <a:t>Day 3: Streaming, Security &amp; Production Best Practices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Remember:</a:t>
            </a:r>
          </a:p>
          <a:p>
            <a:pPr>
              <a:spcAft>
                <a:spcPts val="600"/>
              </a:spcAft>
              <a:defRPr sz="1600"/>
            </a:pPr>
            <a:r>
              <a:t>Your ML models are only useful if others can use them!</a:t>
            </a:r>
          </a:p>
          <a:p>
            <a:pPr>
              <a:spcAft>
                <a:spcPts val="600"/>
              </a:spcAft>
              <a:defRPr sz="1600"/>
            </a:pPr>
            <a:r>
              <a:t>APIs bridge the gap between notebooks and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2 | AI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
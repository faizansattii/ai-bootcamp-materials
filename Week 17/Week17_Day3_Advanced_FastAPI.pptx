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🔒📡🚀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Advanced 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Streaming, Security &amp; Production Best Practices</a:t>
            </a:r>
          </a:p>
          <a:p>
            <a:r>
              <a:t>Making Your APIs Production-Ready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🎯 Your API Journey - Week 17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✅ Day 1: FastAPI Fundamentals</a:t>
            </a:r>
          </a:p>
          <a:p>
            <a:pPr>
              <a:spcAft>
                <a:spcPts val="600"/>
              </a:spcAft>
              <a:defRPr sz="1600"/>
            </a:pPr>
            <a:r>
              <a:t>• Built Calculator API</a:t>
            </a:r>
          </a:p>
          <a:p>
            <a:pPr>
              <a:spcAft>
                <a:spcPts val="600"/>
              </a:spcAft>
              <a:defRPr sz="1600"/>
            </a:pPr>
            <a:r>
              <a:t>• GET, POST, DELETE methods</a:t>
            </a:r>
          </a:p>
          <a:p>
            <a:pPr>
              <a:spcAft>
                <a:spcPts val="600"/>
              </a:spcAft>
              <a:defRPr sz="1600"/>
            </a:pPr>
            <a:r>
              <a:t>• Query &amp; path parameters</a:t>
            </a:r>
          </a:p>
          <a:p>
            <a:pPr>
              <a:spcAft>
                <a:spcPts val="600"/>
              </a:spcAft>
              <a:defRPr sz="1600"/>
            </a:pPr>
            <a:r>
              <a:t>• Pydantic validation</a:t>
            </a:r>
          </a:p>
          <a:p>
            <a:pPr>
              <a:spcAft>
                <a:spcPts val="600"/>
              </a:spcAft>
              <a:defRPr sz="1600"/>
            </a:pPr>
            <a:r>
              <a:t>• Swagger UI testing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Day 2: ML Model APIs</a:t>
            </a:r>
          </a:p>
          <a:p>
            <a:pPr>
              <a:spcAft>
                <a:spcPts val="600"/>
              </a:spcAft>
              <a:defRPr sz="1600"/>
            </a:pPr>
            <a:r>
              <a:t>• Loaded ML models (singleton pattern)</a:t>
            </a:r>
          </a:p>
          <a:p>
            <a:pPr>
              <a:spcAft>
                <a:spcPts val="600"/>
              </a:spcAft>
              <a:defRPr sz="1600"/>
            </a:pPr>
            <a:r>
              <a:t>• Created prediction endpoints</a:t>
            </a:r>
          </a:p>
          <a:p>
            <a:pPr>
              <a:spcAft>
                <a:spcPts val="600"/>
              </a:spcAft>
              <a:defRPr sz="1600"/>
            </a:pPr>
            <a:r>
              <a:t>• Handled file uploads (CSV)</a:t>
            </a:r>
          </a:p>
          <a:p>
            <a:pPr>
              <a:spcAft>
                <a:spcPts val="600"/>
              </a:spcAft>
              <a:defRPr sz="1600"/>
            </a:pPr>
            <a:r>
              <a:t>• Enabled CORS</a:t>
            </a:r>
          </a:p>
          <a:p>
            <a:pPr>
              <a:spcAft>
                <a:spcPts val="600"/>
              </a:spcAft>
              <a:defRPr sz="1600"/>
            </a:pPr>
            <a:r>
              <a:t>• Error handling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🚀 Today - Day 3: Production Ready!</a:t>
            </a:r>
          </a:p>
          <a:p>
            <a:pPr>
              <a:spcAft>
                <a:spcPts val="600"/>
              </a:spcAft>
              <a:defRPr sz="1600"/>
            </a:pPr>
            <a:r>
              <a:t>• Server-Sent Events (streaming)</a:t>
            </a:r>
          </a:p>
          <a:p>
            <a:pPr>
              <a:spcAft>
                <a:spcPts val="600"/>
              </a:spcAft>
              <a:defRPr sz="1600"/>
            </a:pPr>
            <a:r>
              <a:t>• Advanced security</a:t>
            </a:r>
          </a:p>
          <a:p>
            <a:pPr>
              <a:spcAft>
                <a:spcPts val="600"/>
              </a:spcAft>
              <a:defRPr sz="1600"/>
            </a:pPr>
            <a:r>
              <a:t>• Environment variables</a:t>
            </a:r>
          </a:p>
          <a:p>
            <a:pPr>
              <a:spcAft>
                <a:spcPts val="600"/>
              </a:spcAft>
              <a:defRPr sz="1600"/>
            </a:pPr>
            <a:r>
              <a:t>• API documentation customization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📡 What is Streaming? (SSE Explained)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🤔 Traditional API (Request-Response):</a:t>
            </a:r>
          </a:p>
          <a:p>
            <a:pPr>
              <a:spcAft>
                <a:spcPts val="600"/>
              </a:spcAft>
              <a:defRPr sz="1600"/>
            </a:pPr>
            <a:r>
              <a:t>Client asks → Server thinks → Complete answer returned</a:t>
            </a:r>
          </a:p>
          <a:p>
            <a:pPr>
              <a:spcAft>
                <a:spcPts val="600"/>
              </a:spcAft>
              <a:defRPr sz="1600"/>
            </a:pPr>
            <a:r>
              <a:t>⏳ User waits... waiting... still waiting...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✨ Streaming API (Server-Sent Events):</a:t>
            </a:r>
          </a:p>
          <a:p>
            <a:pPr>
              <a:spcAft>
                <a:spcPts val="600"/>
              </a:spcAft>
              <a:defRPr sz="1600"/>
            </a:pPr>
            <a:r>
              <a:t>Client asks → Server sends parts as they're ready → → →</a:t>
            </a:r>
          </a:p>
          <a:p>
            <a:pPr>
              <a:spcAft>
                <a:spcPts val="600"/>
              </a:spcAft>
              <a:defRPr sz="1600"/>
            </a:pPr>
            <a:r>
              <a:t>📝 User sees: "Hello" ... "world" ... "!" (real-time!)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Think of it like:</a:t>
            </a:r>
          </a:p>
          <a:p>
            <a:pPr>
              <a:spcAft>
                <a:spcPts val="600"/>
              </a:spcAft>
              <a:defRPr sz="1600"/>
            </a:pPr>
            <a:r>
              <a:t>• Traditional: Downloading entire movie before watching</a:t>
            </a:r>
          </a:p>
          <a:p>
            <a:pPr>
              <a:spcAft>
                <a:spcPts val="600"/>
              </a:spcAft>
              <a:defRPr sz="1600"/>
            </a:pPr>
            <a:r>
              <a:t>• Streaming: Netflix - watch while downloading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Perfect for:</a:t>
            </a:r>
          </a:p>
          <a:p>
            <a:pPr>
              <a:spcAft>
                <a:spcPts val="600"/>
              </a:spcAft>
              <a:defRPr sz="1600"/>
            </a:pPr>
            <a:r>
              <a:t>• AI text generation (ChatGPT-style)</a:t>
            </a:r>
          </a:p>
          <a:p>
            <a:pPr>
              <a:spcAft>
                <a:spcPts val="600"/>
              </a:spcAft>
              <a:defRPr sz="1600"/>
            </a:pPr>
            <a:r>
              <a:t>• Long-running tasks</a:t>
            </a:r>
          </a:p>
          <a:p>
            <a:pPr>
              <a:spcAft>
                <a:spcPts val="600"/>
              </a:spcAft>
              <a:defRPr sz="1600"/>
            </a:pPr>
            <a:r>
              <a:t>• Real-time updates</a:t>
            </a:r>
          </a:p>
          <a:p>
            <a:pPr>
              <a:spcAft>
                <a:spcPts val="600"/>
              </a:spcAft>
              <a:defRPr sz="1600"/>
            </a:pPr>
            <a:r>
              <a:t>• Better user experience!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🔄 SSE vs WebSockets: Which to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📡 Server-Sent Events (SSE):</a:t>
            </a:r>
          </a:p>
          <a:p>
            <a:pPr>
              <a:spcAft>
                <a:spcPts val="600"/>
              </a:spcAft>
              <a:defRPr sz="1600"/>
            </a:pPr>
            <a:r>
              <a:t>• One-way: Server → Client only</a:t>
            </a:r>
          </a:p>
          <a:p>
            <a:pPr>
              <a:spcAft>
                <a:spcPts val="600"/>
              </a:spcAft>
              <a:defRPr sz="1600"/>
            </a:pPr>
            <a:r>
              <a:t>• Simple to implement</a:t>
            </a:r>
          </a:p>
          <a:p>
            <a:pPr>
              <a:spcAft>
                <a:spcPts val="600"/>
              </a:spcAft>
              <a:defRPr sz="1600"/>
            </a:pPr>
            <a:r>
              <a:t>• Works over HTTP (no special protocol)</a:t>
            </a:r>
          </a:p>
          <a:p>
            <a:pPr>
              <a:spcAft>
                <a:spcPts val="600"/>
              </a:spcAft>
              <a:defRPr sz="1600"/>
            </a:pPr>
            <a:r>
              <a:t>• Perfect for: Notifications, AI streaming, live updates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🔌 WebSockets:</a:t>
            </a:r>
          </a:p>
          <a:p>
            <a:pPr>
              <a:spcAft>
                <a:spcPts val="600"/>
              </a:spcAft>
              <a:defRPr sz="1600"/>
            </a:pPr>
            <a:r>
              <a:t>• Two-way: Server ↔ Client</a:t>
            </a:r>
          </a:p>
          <a:p>
            <a:pPr>
              <a:spcAft>
                <a:spcPts val="600"/>
              </a:spcAft>
              <a:defRPr sz="1600"/>
            </a:pPr>
            <a:r>
              <a:t>• More complex setup</a:t>
            </a:r>
          </a:p>
          <a:p>
            <a:pPr>
              <a:spcAft>
                <a:spcPts val="600"/>
              </a:spcAft>
              <a:defRPr sz="1600"/>
            </a:pPr>
            <a:r>
              <a:t>• Requires special protocol</a:t>
            </a:r>
          </a:p>
          <a:p>
            <a:pPr>
              <a:spcAft>
                <a:spcPts val="600"/>
              </a:spcAft>
              <a:defRPr sz="1600"/>
            </a:pPr>
            <a:r>
              <a:t>• Perfect for: Chat apps, gaming, real-time collaboration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For AI APIs: SSE is usually better!</a:t>
            </a:r>
          </a:p>
          <a:p>
            <a:pPr>
              <a:spcAft>
                <a:spcPts val="600"/>
              </a:spcAft>
              <a:defRPr sz="1600"/>
            </a:pPr>
            <a:r>
              <a:t>• Simpler code</a:t>
            </a:r>
          </a:p>
          <a:p>
            <a:pPr>
              <a:spcAft>
                <a:spcPts val="600"/>
              </a:spcAft>
              <a:defRPr sz="1600"/>
            </a:pPr>
            <a:r>
              <a:t>• Less overhead</a:t>
            </a:r>
          </a:p>
          <a:p>
            <a:pPr>
              <a:spcAft>
                <a:spcPts val="600"/>
              </a:spcAft>
              <a:defRPr sz="1600"/>
            </a:pPr>
            <a:r>
              <a:t>• Easier debugging</a:t>
            </a:r>
          </a:p>
          <a:p>
            <a:pPr>
              <a:spcAft>
                <a:spcPts val="600"/>
              </a:spcAft>
              <a:defRPr sz="1600"/>
            </a:pPr>
            <a:r>
              <a:t>• Works with standard HTTP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💻 Streaming in FastAPI (Code Pattern)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from fastapi.responses import StreamingResponse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async def generate_stream():</a:t>
            </a:r>
          </a:p>
          <a:p>
            <a:pPr>
              <a:spcAft>
                <a:spcPts val="600"/>
              </a:spcAft>
              <a:defRPr sz="1600"/>
            </a:pPr>
            <a:r>
              <a:t>    for i in range(10):</a:t>
            </a:r>
          </a:p>
          <a:p>
            <a:pPr>
              <a:spcAft>
                <a:spcPts val="600"/>
              </a:spcAft>
              <a:defRPr sz="1600"/>
            </a:pPr>
            <a:r>
              <a:t>        yield f"data: Message {i}\n\n"</a:t>
            </a:r>
          </a:p>
          <a:p>
            <a:pPr>
              <a:spcAft>
                <a:spcPts val="600"/>
              </a:spcAft>
              <a:defRPr sz="1600"/>
            </a:pPr>
            <a:r>
              <a:t>        await asyncio.sleep(0.5)  # Simulate work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@app.get("/stream")</a:t>
            </a:r>
          </a:p>
          <a:p>
            <a:pPr>
              <a:spcAft>
                <a:spcPts val="600"/>
              </a:spcAft>
              <a:defRPr sz="1600"/>
            </a:pPr>
            <a:r>
              <a:t>async def stream_endpoint():</a:t>
            </a:r>
          </a:p>
          <a:p>
            <a:pPr>
              <a:spcAft>
                <a:spcPts val="600"/>
              </a:spcAft>
              <a:defRPr sz="1600"/>
            </a:pPr>
            <a:r>
              <a:t>    return StreamingResponse(</a:t>
            </a:r>
          </a:p>
          <a:p>
            <a:pPr>
              <a:spcAft>
                <a:spcPts val="600"/>
              </a:spcAft>
              <a:defRPr sz="1600"/>
            </a:pPr>
            <a:r>
              <a:t>        generate_stream(),</a:t>
            </a:r>
          </a:p>
          <a:p>
            <a:pPr>
              <a:spcAft>
                <a:spcPts val="600"/>
              </a:spcAft>
              <a:defRPr sz="1600"/>
            </a:pPr>
            <a:r>
              <a:t>        media_type="text/event-stream"</a:t>
            </a:r>
          </a:p>
          <a:p>
            <a:pPr>
              <a:spcAft>
                <a:spcPts val="600"/>
              </a:spcAft>
              <a:defRPr sz="1600"/>
            </a:pPr>
            <a:r>
              <a:t>    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Key Points:</a:t>
            </a:r>
          </a:p>
          <a:p>
            <a:pPr>
              <a:spcAft>
                <a:spcPts val="600"/>
              </a:spcAft>
              <a:defRPr sz="1600"/>
            </a:pPr>
            <a:r>
              <a:t>• Use 'async def' for streaming</a:t>
            </a:r>
          </a:p>
          <a:p>
            <a:pPr>
              <a:spcAft>
                <a:spcPts val="600"/>
              </a:spcAft>
              <a:defRPr sz="1600"/>
            </a:pPr>
            <a:r>
              <a:t>• 'yield' sends data incrementally</a:t>
            </a:r>
          </a:p>
          <a:p>
            <a:pPr>
              <a:spcAft>
                <a:spcPts val="600"/>
              </a:spcAft>
              <a:defRPr sz="1600"/>
            </a:pPr>
            <a:r>
              <a:t>• Format: 'data: &lt;content&gt;\n\n'</a:t>
            </a:r>
          </a:p>
          <a:p>
            <a:pPr>
              <a:spcAft>
                <a:spcPts val="600"/>
              </a:spcAft>
              <a:defRPr sz="1600"/>
            </a:pPr>
            <a:r>
              <a:t>• media_type must be 'text/event-stream'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🔒 Environment Variables: Security 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❌ BAD - Hardcoded Secrets:</a:t>
            </a:r>
          </a:p>
          <a:p>
            <a:pPr>
              <a:spcAft>
                <a:spcPts val="600"/>
              </a:spcAft>
              <a:defRPr sz="1600"/>
            </a:pPr>
            <a:r>
              <a:t>API_KEY = 'sk-12345abcdef'  # NEVER DO THIS!</a:t>
            </a:r>
          </a:p>
          <a:p>
            <a:pPr>
              <a:spcAft>
                <a:spcPts val="600"/>
              </a:spcAft>
              <a:defRPr sz="1600"/>
            </a:pPr>
            <a:r>
              <a:t>• Anyone with code access sees your key</a:t>
            </a:r>
          </a:p>
          <a:p>
            <a:pPr>
              <a:spcAft>
                <a:spcPts val="600"/>
              </a:spcAft>
              <a:defRPr sz="1600"/>
            </a:pPr>
            <a:r>
              <a:t>• Gets committed to Git (public!)</a:t>
            </a:r>
          </a:p>
          <a:p>
            <a:pPr>
              <a:spcAft>
                <a:spcPts val="600"/>
              </a:spcAft>
              <a:defRPr sz="1600"/>
            </a:pPr>
            <a:r>
              <a:t>• Can't change without code update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GOOD - Environment Variables:</a:t>
            </a:r>
          </a:p>
          <a:p>
            <a:pPr>
              <a:spcAft>
                <a:spcPts val="600"/>
              </a:spcAft>
              <a:defRPr sz="1600"/>
            </a:pPr>
            <a:r>
              <a:t>import os</a:t>
            </a:r>
          </a:p>
          <a:p>
            <a:pPr>
              <a:spcAft>
                <a:spcPts val="600"/>
              </a:spcAft>
              <a:defRPr sz="1600"/>
            </a:pPr>
            <a:r>
              <a:t>API_KEY = os.getenv('API_KEY')  # Secure!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# In terminal or .env file:</a:t>
            </a:r>
          </a:p>
          <a:p>
            <a:pPr>
              <a:spcAft>
                <a:spcPts val="600"/>
              </a:spcAft>
              <a:defRPr sz="1600"/>
            </a:pPr>
            <a:r>
              <a:t>export API_KEY='sk-12345abcdef'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Benefits:</a:t>
            </a:r>
          </a:p>
          <a:p>
            <a:pPr>
              <a:spcAft>
                <a:spcPts val="600"/>
              </a:spcAft>
              <a:defRPr sz="1600"/>
            </a:pPr>
            <a:r>
              <a:t>• Secrets stay out of code</a:t>
            </a:r>
          </a:p>
          <a:p>
            <a:pPr>
              <a:spcAft>
                <a:spcPts val="600"/>
              </a:spcAft>
              <a:defRPr sz="1600"/>
            </a:pPr>
            <a:r>
              <a:t>• Different keys for dev/production</a:t>
            </a:r>
          </a:p>
          <a:p>
            <a:pPr>
              <a:spcAft>
                <a:spcPts val="600"/>
              </a:spcAft>
              <a:defRPr sz="1600"/>
            </a:pPr>
            <a:r>
              <a:t>• Easy to rotate keys</a:t>
            </a:r>
          </a:p>
          <a:p>
            <a:pPr>
              <a:spcAft>
                <a:spcPts val="600"/>
              </a:spcAft>
              <a:defRPr sz="1600"/>
            </a:pPr>
            <a:r>
              <a:t>• Works with deployment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📄 Managing Secrets with .env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🔧 Setup:</a:t>
            </a:r>
          </a:p>
          <a:p>
            <a:pPr>
              <a:spcAft>
                <a:spcPts val="600"/>
              </a:spcAft>
              <a:defRPr sz="1600"/>
            </a:pPr>
            <a:r>
              <a:t>pip install python-dotenv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📝 Create .env file:</a:t>
            </a:r>
          </a:p>
          <a:p>
            <a:pPr>
              <a:spcAft>
                <a:spcPts val="600"/>
              </a:spcAft>
              <a:defRPr sz="1600"/>
            </a:pPr>
            <a:r>
              <a:t>API_KEY=your-secret-key</a:t>
            </a:r>
          </a:p>
          <a:p>
            <a:pPr>
              <a:spcAft>
                <a:spcPts val="600"/>
              </a:spcAft>
              <a:defRPr sz="1600"/>
            </a:pPr>
            <a:r>
              <a:t>DATABASE_URL=postgresql://...</a:t>
            </a:r>
          </a:p>
          <a:p>
            <a:pPr>
              <a:spcAft>
                <a:spcPts val="600"/>
              </a:spcAft>
              <a:defRPr sz="1600"/>
            </a:pPr>
            <a:r>
              <a:t>DEBUG=True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💻 In your code:</a:t>
            </a:r>
          </a:p>
          <a:p>
            <a:pPr>
              <a:spcAft>
                <a:spcPts val="600"/>
              </a:spcAft>
              <a:defRPr sz="1600"/>
            </a:pPr>
            <a:r>
              <a:t>from dotenv import load_dotenv</a:t>
            </a:r>
          </a:p>
          <a:p>
            <a:pPr>
              <a:spcAft>
                <a:spcPts val="600"/>
              </a:spcAft>
              <a:defRPr sz="1600"/>
            </a:pPr>
            <a:r>
              <a:t>import os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load_dotenv()  # Loads .env file</a:t>
            </a:r>
          </a:p>
          <a:p>
            <a:pPr>
              <a:spcAft>
                <a:spcPts val="600"/>
              </a:spcAft>
              <a:defRPr sz="1600"/>
            </a:pPr>
            <a:r>
              <a:t>API_KEY = os.getenv('API_KEY')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⚠️ CRITICAL: Add .env to .gitignore!</a:t>
            </a:r>
          </a:p>
          <a:p>
            <a:pPr>
              <a:spcAft>
                <a:spcPts val="600"/>
              </a:spcAft>
              <a:defRPr sz="1600"/>
            </a:pPr>
            <a:r>
              <a:t># .gitignore</a:t>
            </a:r>
          </a:p>
          <a:p>
            <a:pPr>
              <a:spcAft>
                <a:spcPts val="600"/>
              </a:spcAft>
              <a:defRPr sz="1600"/>
            </a:pPr>
            <a:r>
              <a:t>.env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Never commit .env to Git - only .env.example!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📚 Customizing API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FastAPI auto-generates docs, but you can customize!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🎨 Custom API Info:</a:t>
            </a:r>
          </a:p>
          <a:p>
            <a:pPr>
              <a:spcAft>
                <a:spcPts val="600"/>
              </a:spcAft>
              <a:defRPr sz="1600"/>
            </a:pPr>
            <a:r>
              <a:t>app = FastAPI(</a:t>
            </a:r>
          </a:p>
          <a:p>
            <a:pPr>
              <a:spcAft>
                <a:spcPts val="600"/>
              </a:spcAft>
              <a:defRPr sz="1600"/>
            </a:pPr>
            <a:r>
              <a:t>    title='My Awesome API',</a:t>
            </a:r>
          </a:p>
          <a:p>
            <a:pPr>
              <a:spcAft>
                <a:spcPts val="600"/>
              </a:spcAft>
              <a:defRPr sz="1600"/>
            </a:pPr>
            <a:r>
              <a:t>    description='Does amazing things!',</a:t>
            </a:r>
          </a:p>
          <a:p>
            <a:pPr>
              <a:spcAft>
                <a:spcPts val="600"/>
              </a:spcAft>
              <a:defRPr sz="1600"/>
            </a:pPr>
            <a:r>
              <a:t>    version='2.0.0',</a:t>
            </a:r>
          </a:p>
          <a:p>
            <a:pPr>
              <a:spcAft>
                <a:spcPts val="600"/>
              </a:spcAft>
              <a:defRPr sz="1600"/>
            </a:pPr>
            <a:r>
              <a:t>    contact={</a:t>
            </a:r>
          </a:p>
          <a:p>
            <a:pPr>
              <a:spcAft>
                <a:spcPts val="600"/>
              </a:spcAft>
              <a:defRPr sz="1600"/>
            </a:pPr>
            <a:r>
              <a:t>        'name': 'Support Team',</a:t>
            </a:r>
          </a:p>
          <a:p>
            <a:pPr>
              <a:spcAft>
                <a:spcPts val="600"/>
              </a:spcAft>
              <a:defRPr sz="1600"/>
            </a:pPr>
            <a:r>
              <a:t>        'email': 'support@api.com'</a:t>
            </a:r>
          </a:p>
          <a:p>
            <a:pPr>
              <a:spcAft>
                <a:spcPts val="600"/>
              </a:spcAft>
              <a:defRPr sz="1600"/>
            </a:pPr>
            <a:r>
              <a:t>    }</a:t>
            </a:r>
          </a:p>
          <a:p>
            <a:pPr>
              <a:spcAft>
                <a:spcPts val="600"/>
              </a:spcAft>
              <a:defRPr sz="1600"/>
            </a:pPr>
            <a:r>
              <a:t>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📝 Endpoint Documentation:</a:t>
            </a:r>
          </a:p>
          <a:p>
            <a:pPr>
              <a:spcAft>
                <a:spcPts val="600"/>
              </a:spcAft>
              <a:defRPr sz="1600"/>
            </a:pPr>
            <a:r>
              <a:t>@app.post('/predict',</a:t>
            </a:r>
          </a:p>
          <a:p>
            <a:pPr>
              <a:spcAft>
                <a:spcPts val="600"/>
              </a:spcAft>
              <a:defRPr sz="1600"/>
            </a:pPr>
            <a:r>
              <a:t>    summary='Get ML prediction',</a:t>
            </a:r>
          </a:p>
          <a:p>
            <a:pPr>
              <a:spcAft>
                <a:spcPts val="600"/>
              </a:spcAft>
              <a:defRPr sz="1600"/>
            </a:pPr>
            <a:r>
              <a:t>    description='Detailed explanation...',</a:t>
            </a:r>
          </a:p>
          <a:p>
            <a:pPr>
              <a:spcAft>
                <a:spcPts val="600"/>
              </a:spcAft>
              <a:defRPr sz="1600"/>
            </a:pPr>
            <a:r>
              <a:t>    response_description='Prediction result'</a:t>
            </a:r>
          </a:p>
          <a:p>
            <a:pPr>
              <a:spcAft>
                <a:spcPts val="600"/>
              </a:spcAft>
              <a:defRPr sz="1600"/>
            </a:pPr>
            <a: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📋 Documenting Responses with Pydantic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Use response_model for automatic documentation: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class PredictionResponse(BaseModel):</a:t>
            </a:r>
          </a:p>
          <a:p>
            <a:pPr>
              <a:spcAft>
                <a:spcPts val="600"/>
              </a:spcAft>
              <a:defRPr sz="1600"/>
            </a:pPr>
            <a:r>
              <a:t>    prediction: str</a:t>
            </a:r>
          </a:p>
          <a:p>
            <a:pPr>
              <a:spcAft>
                <a:spcPts val="600"/>
              </a:spcAft>
              <a:defRPr sz="1600"/>
            </a:pPr>
            <a:r>
              <a:t>    confidence: float</a:t>
            </a:r>
          </a:p>
          <a:p>
            <a:pPr>
              <a:spcAft>
                <a:spcPts val="600"/>
              </a:spcAft>
              <a:defRPr sz="1600"/>
            </a:pPr>
            <a:r>
              <a:t>    timestamp: str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    class Config:</a:t>
            </a:r>
          </a:p>
          <a:p>
            <a:pPr>
              <a:spcAft>
                <a:spcPts val="600"/>
              </a:spcAft>
              <a:defRPr sz="1600"/>
            </a:pPr>
            <a:r>
              <a:t>        schema_extra = {</a:t>
            </a:r>
          </a:p>
          <a:p>
            <a:pPr>
              <a:spcAft>
                <a:spcPts val="600"/>
              </a:spcAft>
              <a:defRPr sz="1600"/>
            </a:pPr>
            <a:r>
              <a:t>            'example': {</a:t>
            </a:r>
          </a:p>
          <a:p>
            <a:pPr>
              <a:spcAft>
                <a:spcPts val="600"/>
              </a:spcAft>
              <a:defRPr sz="1600"/>
            </a:pPr>
            <a:r>
              <a:t>                'prediction': 'positive',</a:t>
            </a:r>
          </a:p>
          <a:p>
            <a:pPr>
              <a:spcAft>
                <a:spcPts val="600"/>
              </a:spcAft>
              <a:defRPr sz="1600"/>
            </a:pPr>
            <a:r>
              <a:t>                'confidence': 0.95,</a:t>
            </a:r>
          </a:p>
          <a:p>
            <a:pPr>
              <a:spcAft>
                <a:spcPts val="600"/>
              </a:spcAft>
              <a:defRPr sz="1600"/>
            </a:pPr>
            <a:r>
              <a:t>                'timestamp': '2024-12-02T10:30:00'</a:t>
            </a:r>
          </a:p>
          <a:p>
            <a:pPr>
              <a:spcAft>
                <a:spcPts val="600"/>
              </a:spcAft>
              <a:defRPr sz="1600"/>
            </a:pPr>
            <a:r>
              <a:t>            }</a:t>
            </a:r>
          </a:p>
          <a:p>
            <a:pPr>
              <a:spcAft>
                <a:spcPts val="600"/>
              </a:spcAft>
              <a:defRPr sz="1600"/>
            </a:pPr>
            <a:r>
              <a:t>        }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@app.post('/predict', response_model=PredictionResponse)</a:t>
            </a:r>
          </a:p>
          <a:p>
            <a:pPr>
              <a:spcAft>
                <a:spcPts val="600"/>
              </a:spcAft>
              <a:defRPr sz="1600"/>
            </a:pPr>
            <a:r>
              <a:t>def predict(data: InputData):</a:t>
            </a:r>
          </a:p>
          <a:p>
            <a:pPr>
              <a:spcAft>
                <a:spcPts val="600"/>
              </a:spcAft>
              <a:defRPr sz="1600"/>
            </a:pPr>
            <a:r>
              <a:t>    ...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Swagger UI shows exact response format automatically!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🔐 API Security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1️⃣ API Keys &amp; Authentication</a:t>
            </a:r>
          </a:p>
          <a:p>
            <a:pPr>
              <a:spcAft>
                <a:spcPts val="600"/>
              </a:spcAft>
              <a:defRPr sz="1600"/>
            </a:pPr>
            <a:r>
              <a:t>from fastapi import Security, HTTPBearer</a:t>
            </a:r>
          </a:p>
          <a:p>
            <a:pPr>
              <a:spcAft>
                <a:spcPts val="600"/>
              </a:spcAft>
              <a:defRPr sz="1600"/>
            </a:pPr>
            <a:r>
              <a:t>security = HTTPBearer()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2️⃣ Rate Limiting</a:t>
            </a:r>
          </a:p>
          <a:p>
            <a:pPr>
              <a:spcAft>
                <a:spcPts val="600"/>
              </a:spcAft>
              <a:defRPr sz="1600"/>
            </a:pPr>
            <a:r>
              <a:t>Prevent abuse - limit requests per user/IP</a:t>
            </a:r>
          </a:p>
          <a:p>
            <a:pPr>
              <a:spcAft>
                <a:spcPts val="600"/>
              </a:spcAft>
              <a:defRPr sz="1600"/>
            </a:pPr>
            <a:r>
              <a:t>Use: slowapi library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3️⃣ Input Validation</a:t>
            </a:r>
          </a:p>
          <a:p>
            <a:pPr>
              <a:spcAft>
                <a:spcPts val="600"/>
              </a:spcAft>
              <a:defRPr sz="1600"/>
            </a:pPr>
            <a:r>
              <a:t>Always validate with Pydantic - never trust input!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4️⃣ HTTPS Only (Production)</a:t>
            </a:r>
          </a:p>
          <a:p>
            <a:pPr>
              <a:spcAft>
                <a:spcPts val="600"/>
              </a:spcAft>
              <a:defRPr sz="1600"/>
            </a:pPr>
            <a:r>
              <a:t>Encrypt all traffic - use TLS certificates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5️⃣ CORS Configuration</a:t>
            </a:r>
          </a:p>
          <a:p>
            <a:pPr>
              <a:spcAft>
                <a:spcPts val="600"/>
              </a:spcAft>
              <a:defRPr sz="1600"/>
            </a:pPr>
            <a:r>
              <a:t>Specific domains only: allow_origins=['https://myapp.com']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6️⃣ Error Messages</a:t>
            </a:r>
          </a:p>
          <a:p>
            <a:pPr>
              <a:spcAft>
                <a:spcPts val="600"/>
              </a:spcAft>
              <a:defRPr sz="1600"/>
            </a:pPr>
            <a:r>
              <a:t>Don't expose internal details - log instead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✅ Production Deployment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Before deploying to production: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🔒 Security:</a:t>
            </a:r>
          </a:p>
          <a:p>
            <a:pPr>
              <a:spcAft>
                <a:spcPts val="600"/>
              </a:spcAft>
              <a:defRPr sz="1600"/>
            </a:pPr>
            <a:r>
              <a:t>☑ Environment variables for secrets</a:t>
            </a:r>
          </a:p>
          <a:p>
            <a:pPr>
              <a:spcAft>
                <a:spcPts val="600"/>
              </a:spcAft>
              <a:defRPr sz="1600"/>
            </a:pPr>
            <a:r>
              <a:t>☑ HTTPS enabled</a:t>
            </a:r>
          </a:p>
          <a:p>
            <a:pPr>
              <a:spcAft>
                <a:spcPts val="600"/>
              </a:spcAft>
              <a:defRPr sz="1600"/>
            </a:pPr>
            <a:r>
              <a:t>☑ Specific CORS origins</a:t>
            </a:r>
          </a:p>
          <a:p>
            <a:pPr>
              <a:spcAft>
                <a:spcPts val="600"/>
              </a:spcAft>
              <a:defRPr sz="1600"/>
            </a:pPr>
            <a:r>
              <a:t>☑ API key authentication</a:t>
            </a:r>
          </a:p>
          <a:p>
            <a:pPr>
              <a:spcAft>
                <a:spcPts val="600"/>
              </a:spcAft>
              <a:defRPr sz="1600"/>
            </a:pPr>
            <a:r>
              <a:t>☑ Rate limiting configured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📊 Monitoring:</a:t>
            </a:r>
          </a:p>
          <a:p>
            <a:pPr>
              <a:spcAft>
                <a:spcPts val="600"/>
              </a:spcAft>
              <a:defRPr sz="1600"/>
            </a:pPr>
            <a:r>
              <a:t>☑ Logging setup (requests, errors)</a:t>
            </a:r>
          </a:p>
          <a:p>
            <a:pPr>
              <a:spcAft>
                <a:spcPts val="600"/>
              </a:spcAft>
              <a:defRPr sz="1600"/>
            </a:pPr>
            <a:r>
              <a:t>☑ Performance monitoring</a:t>
            </a:r>
          </a:p>
          <a:p>
            <a:pPr>
              <a:spcAft>
                <a:spcPts val="600"/>
              </a:spcAft>
              <a:defRPr sz="1600"/>
            </a:pPr>
            <a:r>
              <a:t>☑ Error alerts configured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🚀 Performance:</a:t>
            </a:r>
          </a:p>
          <a:p>
            <a:pPr>
              <a:spcAft>
                <a:spcPts val="600"/>
              </a:spcAft>
              <a:defRPr sz="1600"/>
            </a:pPr>
            <a:r>
              <a:t>☑ Models loaded at startup</a:t>
            </a:r>
          </a:p>
          <a:p>
            <a:pPr>
              <a:spcAft>
                <a:spcPts val="600"/>
              </a:spcAft>
              <a:defRPr sz="1600"/>
            </a:pPr>
            <a:r>
              <a:t>☑ Database connections pooled</a:t>
            </a:r>
          </a:p>
          <a:p>
            <a:pPr>
              <a:spcAft>
                <a:spcPts val="600"/>
              </a:spcAft>
              <a:defRPr sz="1600"/>
            </a:pPr>
            <a:r>
              <a:t>☑ Caching implemented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📚 Documentation:</a:t>
            </a:r>
          </a:p>
          <a:p>
            <a:pPr>
              <a:spcAft>
                <a:spcPts val="600"/>
              </a:spcAft>
              <a:defRPr sz="1600"/>
            </a:pPr>
            <a:r>
              <a:t>☑ README with setup instructions</a:t>
            </a:r>
          </a:p>
          <a:p>
            <a:pPr>
              <a:spcAft>
                <a:spcPts val="600"/>
              </a:spcAft>
              <a:defRPr sz="1600"/>
            </a:pPr>
            <a:r>
              <a:t>☑ API docs customized</a:t>
            </a:r>
          </a:p>
          <a:p>
            <a:pPr>
              <a:spcAft>
                <a:spcPts val="600"/>
              </a:spcAft>
              <a:defRPr sz="1600"/>
            </a:pPr>
            <a:r>
              <a:t>☑ Example requests provided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📝 Logging for Production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Good logging = Easy debugging!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import logging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logging.basicConfig(</a:t>
            </a:r>
          </a:p>
          <a:p>
            <a:pPr>
              <a:spcAft>
                <a:spcPts val="600"/>
              </a:spcAft>
              <a:defRPr sz="1600"/>
            </a:pPr>
            <a:r>
              <a:t>    level=logging.INFO,</a:t>
            </a:r>
          </a:p>
          <a:p>
            <a:pPr>
              <a:spcAft>
                <a:spcPts val="600"/>
              </a:spcAft>
              <a:defRPr sz="1600"/>
            </a:pPr>
            <a:r>
              <a:t>    format='%(asctime)s - %(levelname)s - %(message)s'</a:t>
            </a:r>
          </a:p>
          <a:p>
            <a:pPr>
              <a:spcAft>
                <a:spcPts val="600"/>
              </a:spcAft>
              <a:defRPr sz="1600"/>
            </a:pPr>
            <a:r>
              <a:t>)</a:t>
            </a:r>
          </a:p>
          <a:p>
            <a:pPr>
              <a:spcAft>
                <a:spcPts val="600"/>
              </a:spcAft>
              <a:defRPr sz="1600"/>
            </a:pPr>
            <a:r>
              <a:t>logger = logging.getLogger(__name__)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@app.post('/predict')</a:t>
            </a:r>
          </a:p>
          <a:p>
            <a:pPr>
              <a:spcAft>
                <a:spcPts val="600"/>
              </a:spcAft>
              <a:defRPr sz="1600"/>
            </a:pPr>
            <a:r>
              <a:t>def predict(data: InputData):</a:t>
            </a:r>
          </a:p>
          <a:p>
            <a:pPr>
              <a:spcAft>
                <a:spcPts val="600"/>
              </a:spcAft>
              <a:defRPr sz="1600"/>
            </a:pPr>
            <a:r>
              <a:t>    logger.info(f'Prediction request received')</a:t>
            </a:r>
          </a:p>
          <a:p>
            <a:pPr>
              <a:spcAft>
                <a:spcPts val="600"/>
              </a:spcAft>
              <a:defRPr sz="1600"/>
            </a:pPr>
            <a:r>
              <a:t>    try:</a:t>
            </a:r>
          </a:p>
          <a:p>
            <a:pPr>
              <a:spcAft>
                <a:spcPts val="600"/>
              </a:spcAft>
              <a:defRPr sz="1600"/>
            </a:pPr>
            <a:r>
              <a:t>        result = model.predict(data)</a:t>
            </a:r>
          </a:p>
          <a:p>
            <a:pPr>
              <a:spcAft>
                <a:spcPts val="600"/>
              </a:spcAft>
              <a:defRPr sz="1600"/>
            </a:pPr>
            <a:r>
              <a:t>        logger.info(f'Prediction successful')</a:t>
            </a:r>
          </a:p>
          <a:p>
            <a:pPr>
              <a:spcAft>
                <a:spcPts val="600"/>
              </a:spcAft>
              <a:defRPr sz="1600"/>
            </a:pPr>
            <a:r>
              <a:t>        return result</a:t>
            </a:r>
          </a:p>
          <a:p>
            <a:pPr>
              <a:spcAft>
                <a:spcPts val="600"/>
              </a:spcAft>
              <a:defRPr sz="1600"/>
            </a:pPr>
            <a:r>
              <a:t>    except Exception as e:</a:t>
            </a:r>
          </a:p>
          <a:p>
            <a:pPr>
              <a:spcAft>
                <a:spcPts val="600"/>
              </a:spcAft>
              <a:defRPr sz="1600"/>
            </a:pPr>
            <a:r>
              <a:t>        logger.error(f'Prediction failed: {e}')</a:t>
            </a:r>
          </a:p>
          <a:p>
            <a:pPr>
              <a:spcAft>
                <a:spcPts val="600"/>
              </a:spcAft>
              <a:defRPr sz="1600"/>
            </a:pPr>
            <a:r>
              <a:t>        raise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Log: Requests, errors, performance metrics, model 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🧪 Testing Your APIs Properly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Don't just test manually - write tests!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from fastapi.testclient import TestClient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client = TestClient(app)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def test_predict_endpoint():</a:t>
            </a:r>
          </a:p>
          <a:p>
            <a:pPr>
              <a:spcAft>
                <a:spcPts val="600"/>
              </a:spcAft>
              <a:defRPr sz="1600"/>
            </a:pPr>
            <a:r>
              <a:t>    response = client.post(</a:t>
            </a:r>
          </a:p>
          <a:p>
            <a:pPr>
              <a:spcAft>
                <a:spcPts val="600"/>
              </a:spcAft>
              <a:defRPr sz="1600"/>
            </a:pPr>
            <a:r>
              <a:t>        '/predict',</a:t>
            </a:r>
          </a:p>
          <a:p>
            <a:pPr>
              <a:spcAft>
                <a:spcPts val="600"/>
              </a:spcAft>
              <a:defRPr sz="1600"/>
            </a:pPr>
            <a:r>
              <a:t>        json={'text': 'Great product!'}</a:t>
            </a:r>
          </a:p>
          <a:p>
            <a:pPr>
              <a:spcAft>
                <a:spcPts val="600"/>
              </a:spcAft>
              <a:defRPr sz="1600"/>
            </a:pPr>
            <a:r>
              <a:t>    )</a:t>
            </a:r>
          </a:p>
          <a:p>
            <a:pPr>
              <a:spcAft>
                <a:spcPts val="600"/>
              </a:spcAft>
              <a:defRPr sz="1600"/>
            </a:pPr>
            <a:r>
              <a:t>    assert response.status_code == 200</a:t>
            </a:r>
          </a:p>
          <a:p>
            <a:pPr>
              <a:spcAft>
                <a:spcPts val="600"/>
              </a:spcAft>
              <a:defRPr sz="1600"/>
            </a:pPr>
            <a:r>
              <a:t>    assert 'prediction' in response.json()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def test_invalid_input():</a:t>
            </a:r>
          </a:p>
          <a:p>
            <a:pPr>
              <a:spcAft>
                <a:spcPts val="600"/>
              </a:spcAft>
              <a:defRPr sz="1600"/>
            </a:pPr>
            <a:r>
              <a:t>    response = client.post('/predict', json={})</a:t>
            </a:r>
          </a:p>
          <a:p>
            <a:pPr>
              <a:spcAft>
                <a:spcPts val="600"/>
              </a:spcAft>
              <a:defRPr sz="1600"/>
            </a:pPr>
            <a:r>
              <a:t>    assert response.status_code == 422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Test: Success cases, error cases, edge cases,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🎉 Week 17 Achievement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Day 1: FastAPI Fundamentals ✅</a:t>
            </a:r>
          </a:p>
          <a:p>
            <a:pPr>
              <a:spcAft>
                <a:spcPts val="600"/>
              </a:spcAft>
              <a:defRPr sz="1600"/>
            </a:pPr>
            <a:r>
              <a:t>Built Calculator API with 5+ endpoints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Day 2: ML Model APIs ✅</a:t>
            </a:r>
          </a:p>
          <a:p>
            <a:pPr>
              <a:spcAft>
                <a:spcPts val="600"/>
              </a:spcAft>
              <a:defRPr sz="1600"/>
            </a:pPr>
            <a:r>
              <a:t>Deployed sentiment analysis model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Day 3: Production Ready ✅</a:t>
            </a:r>
          </a:p>
          <a:p>
            <a:pPr>
              <a:spcAft>
                <a:spcPts val="600"/>
              </a:spcAft>
              <a:defRPr sz="1600"/>
            </a:pPr>
            <a:r>
              <a:t>Added streaming, security, best practices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🏆 You Now Know:</a:t>
            </a:r>
          </a:p>
          <a:p>
            <a:pPr>
              <a:spcAft>
                <a:spcPts val="600"/>
              </a:spcAft>
              <a:defRPr sz="1600"/>
            </a:pPr>
            <a:r>
              <a:t>• Build REST APIs with FastAPI</a:t>
            </a:r>
          </a:p>
          <a:p>
            <a:pPr>
              <a:spcAft>
                <a:spcPts val="600"/>
              </a:spcAft>
              <a:defRPr sz="1600"/>
            </a:pPr>
            <a:r>
              <a:t>• Deploy ML models as endpoints</a:t>
            </a:r>
          </a:p>
          <a:p>
            <a:pPr>
              <a:spcAft>
                <a:spcPts val="600"/>
              </a:spcAft>
              <a:defRPr sz="1600"/>
            </a:pPr>
            <a:r>
              <a:t>• Handle file uploads</a:t>
            </a:r>
          </a:p>
          <a:p>
            <a:pPr>
              <a:spcAft>
                <a:spcPts val="600"/>
              </a:spcAft>
              <a:defRPr sz="1600"/>
            </a:pPr>
            <a:r>
              <a:t>• Stream responses (SSE)</a:t>
            </a:r>
          </a:p>
          <a:p>
            <a:pPr>
              <a:spcAft>
                <a:spcPts val="600"/>
              </a:spcAft>
              <a:defRPr sz="1600"/>
            </a:pPr>
            <a:r>
              <a:t>• Secure APIs properly</a:t>
            </a:r>
          </a:p>
          <a:p>
            <a:pPr>
              <a:spcAft>
                <a:spcPts val="600"/>
              </a:spcAft>
              <a:defRPr sz="1600"/>
            </a:pPr>
            <a:r>
              <a:t>• Document automatically</a:t>
            </a:r>
          </a:p>
          <a:p>
            <a:pPr>
              <a:spcAft>
                <a:spcPts val="600"/>
              </a:spcAft>
              <a:defRPr sz="1600"/>
            </a:pPr>
            <a:r>
              <a:t>• Test and deploy to production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💪 You're ready to build production ML APIs!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📚 Summary: Advanced 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🎯 Day 3 Key Concepts: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Server-Sent Events (SSE) - Stream responses</a:t>
            </a:r>
          </a:p>
          <a:p>
            <a:pPr>
              <a:spcAft>
                <a:spcPts val="600"/>
              </a:spcAft>
              <a:defRPr sz="1600"/>
            </a:pPr>
            <a:r>
              <a:t>✅ Environment Variables - Secure secret management</a:t>
            </a:r>
          </a:p>
          <a:p>
            <a:pPr>
              <a:spcAft>
                <a:spcPts val="600"/>
              </a:spcAft>
              <a:defRPr sz="1600"/>
            </a:pPr>
            <a:r>
              <a:t>✅ API Documentation - Customize Swagger UI</a:t>
            </a:r>
          </a:p>
          <a:p>
            <a:pPr>
              <a:spcAft>
                <a:spcPts val="600"/>
              </a:spcAft>
              <a:defRPr sz="1600"/>
            </a:pPr>
            <a:r>
              <a:t>✅ Security Best Practices - Authentication, rate limiting</a:t>
            </a:r>
          </a:p>
          <a:p>
            <a:pPr>
              <a:spcAft>
                <a:spcPts val="600"/>
              </a:spcAft>
              <a:defRPr sz="1600"/>
            </a:pPr>
            <a:r>
              <a:t>✅ Production Checklist - Deploy with confidence</a:t>
            </a:r>
          </a:p>
          <a:p>
            <a:pPr>
              <a:spcAft>
                <a:spcPts val="600"/>
              </a:spcAft>
              <a:defRPr sz="1600"/>
            </a:pPr>
            <a:r>
              <a:t>✅ Logging &amp; Monitoring - Debug effectively</a:t>
            </a:r>
          </a:p>
          <a:p>
            <a:pPr>
              <a:spcAft>
                <a:spcPts val="600"/>
              </a:spcAft>
              <a:defRPr sz="1600"/>
            </a:pPr>
            <a:r>
              <a:t>✅ Testing - Ensure quality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🚀 Next Steps:</a:t>
            </a:r>
          </a:p>
          <a:p>
            <a:pPr>
              <a:spcAft>
                <a:spcPts val="600"/>
              </a:spcAft>
              <a:defRPr sz="1600"/>
            </a:pPr>
            <a:r>
              <a:t>Week 18: Docker &amp; CI/CD</a:t>
            </a:r>
          </a:p>
          <a:p>
            <a:pPr>
              <a:spcAft>
                <a:spcPts val="600"/>
              </a:spcAft>
              <a:defRPr sz="1600"/>
            </a:pPr>
            <a:r>
              <a:t>Week 19: MLOps &amp; Automation</a:t>
            </a:r>
          </a:p>
          <a:p>
            <a:pPr>
              <a:spcAft>
                <a:spcPts val="600"/>
              </a:spcAft>
              <a:defRPr sz="1600"/>
            </a:pPr>
            <a:r>
              <a:t>Week 20: AWS Deployment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🎊 Congratulations on completing Week 17!</a:t>
            </a:r>
          </a:p>
          <a:p>
            <a:pPr>
              <a:spcAft>
                <a:spcPts val="600"/>
              </a:spcAft>
              <a:defRPr sz="1600"/>
            </a:pPr>
            <a:r>
              <a:t>You're now a FastAPI pro!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3 | AI Bootcamp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
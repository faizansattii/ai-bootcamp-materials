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🖼️ Computer Vision &amp; CNN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Understanding How Computers See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10 - Day 1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Welcome to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🤖 What is Computer Vision?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/>
            </a:pPr>
            <a:r>
              <a:t>👁️ Teaching computers to "see" and understand images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Real-World Applications:</a:t>
            </a:r>
          </a:p>
          <a:p>
            <a:pPr>
              <a:spcAft>
                <a:spcPts val="800"/>
              </a:spcAft>
              <a:defRPr sz="1800"/>
            </a:pPr>
            <a:r>
              <a:t>• Face recognition (unlock your phone)</a:t>
            </a:r>
          </a:p>
          <a:p>
            <a:pPr>
              <a:spcAft>
                <a:spcPts val="800"/>
              </a:spcAft>
              <a:defRPr sz="1800"/>
            </a:pPr>
            <a:r>
              <a:t>• Self-driving cars (detect pedestrians, signs)</a:t>
            </a:r>
          </a:p>
          <a:p>
            <a:pPr>
              <a:spcAft>
                <a:spcPts val="800"/>
              </a:spcAft>
              <a:defRPr sz="1800"/>
            </a:pPr>
            <a:r>
              <a:t>• Medical diagnosis (X-ray, MRI analysis)</a:t>
            </a:r>
          </a:p>
          <a:p>
            <a:pPr>
              <a:spcAft>
                <a:spcPts val="800"/>
              </a:spcAft>
              <a:defRPr sz="1800"/>
            </a:pPr>
            <a:r>
              <a:t>• Object detection (security cameras)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💡 Key Idea: Computers see images as numbers!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🖼️ Image Data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📊 Images = Grids of Numbers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/>
            </a:pPr>
            <a:r>
              <a:t>🔢 Each pixel has a value (0-255 for grayscale)</a:t>
            </a:r>
          </a:p>
          <a:p>
            <a:pPr lvl="1">
              <a:spcAft>
                <a:spcPts val="800"/>
              </a:spcAft>
              <a:defRPr sz="1800"/>
            </a:pPr>
            <a:r>
              <a:t>• 0 = Black</a:t>
            </a:r>
          </a:p>
          <a:p>
            <a:pPr lvl="1">
              <a:spcAft>
                <a:spcPts val="800"/>
              </a:spcAft>
              <a:defRPr sz="1800"/>
            </a:pPr>
            <a:r>
              <a:t>• 255 = White</a:t>
            </a:r>
          </a:p>
          <a:p>
            <a:pPr lvl="1">
              <a:spcAft>
                <a:spcPts val="800"/>
              </a:spcAft>
              <a:defRPr sz="1800"/>
            </a:pPr>
            <a:r>
              <a:t>• Numbers in between = shades of gray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🎨 For color images (RGB):</a:t>
            </a:r>
          </a:p>
          <a:p>
            <a:pPr lvl="1">
              <a:spcAft>
                <a:spcPts val="800"/>
              </a:spcAft>
              <a:defRPr sz="1800"/>
            </a:pPr>
            <a:r>
              <a:t>• Red channel: 0-255</a:t>
            </a:r>
          </a:p>
          <a:p>
            <a:pPr lvl="1">
              <a:spcAft>
                <a:spcPts val="800"/>
              </a:spcAft>
              <a:defRPr sz="1800"/>
            </a:pPr>
            <a:r>
              <a:t>• Green channel: 0-255</a:t>
            </a:r>
          </a:p>
          <a:p>
            <a:pPr lvl="1">
              <a:spcAft>
                <a:spcPts val="800"/>
              </a:spcAft>
              <a:defRPr sz="1800"/>
            </a:pPr>
            <a:r>
              <a:t>• Blue channel: 0-255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📊 Understanding Image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📐 Image Shape Explained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📷 Grayscale Image: (Height, Width)</a:t>
            </a:r>
          </a:p>
          <a:p>
            <a:pPr>
              <a:spcAft>
                <a:spcPts val="800"/>
              </a:spcAft>
              <a:defRPr sz="1800"/>
            </a:pPr>
            <a:r>
              <a:t>• Example: (28, 28) = 28×28 pixels = 784 numbers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🌈 Color Image (RGB): (Height, Width, Channels)</a:t>
            </a:r>
          </a:p>
          <a:p>
            <a:pPr>
              <a:spcAft>
                <a:spcPts val="800"/>
              </a:spcAft>
              <a:defRPr sz="1800"/>
            </a:pPr>
            <a:r>
              <a:t>• Example: (224, 224, 3) = 224×224 pixels × 3 colors</a:t>
            </a:r>
          </a:p>
          <a:p>
            <a:pPr>
              <a:spcAft>
                <a:spcPts val="800"/>
              </a:spcAft>
              <a:defRPr sz="1800"/>
            </a:pPr>
            <a:r>
              <a:t>• Total: 150,528 numbers for one image!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F56565"/>
                </a:solidFill>
              </a:defRPr>
            </a:pPr>
            <a:r>
              <a:t>💭 Challenge: How do we process so many numbers?</a:t>
            </a: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✅ Answer: Convolutional Neural Networks!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🔄 Introduction to Convolution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🎯 What is Convolution?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🔍 A Sliding Window Operation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/>
            </a:pPr>
            <a:r>
              <a:t>📝 Simple Analogy:</a:t>
            </a:r>
          </a:p>
          <a:p>
            <a:pPr>
              <a:spcAft>
                <a:spcPts val="800"/>
              </a:spcAft>
              <a:defRPr sz="1800"/>
            </a:pPr>
            <a:r>
              <a:t>Imagine reading a book with a magnifying glass:</a:t>
            </a:r>
          </a:p>
          <a:p>
            <a:pPr lvl="1">
              <a:spcAft>
                <a:spcPts val="800"/>
              </a:spcAft>
              <a:defRPr sz="1800"/>
            </a:pPr>
            <a:r>
              <a:t>• You focus on small area (3×3 words)</a:t>
            </a:r>
          </a:p>
          <a:p>
            <a:pPr lvl="1">
              <a:spcAft>
                <a:spcPts val="800"/>
              </a:spcAft>
              <a:defRPr sz="1800"/>
            </a:pPr>
            <a:r>
              <a:t>• You slide it across the page</a:t>
            </a:r>
          </a:p>
          <a:p>
            <a:pPr lvl="1">
              <a:spcAft>
                <a:spcPts val="800"/>
              </a:spcAft>
              <a:defRPr sz="1800"/>
            </a:pPr>
            <a:r>
              <a:t>• You look for patterns (keywords, phrases)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💡 In CNNs: We slide a small filter across the image!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📋 Convolution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⚙️ How Convolution Works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Step 1: Place kernel/filter on image (top-left)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Step 2: Element-wise multiplication</a:t>
            </a:r>
          </a:p>
          <a:p>
            <a:pPr>
              <a:spcAft>
                <a:spcPts val="800"/>
              </a:spcAft>
              <a:defRPr sz="1800"/>
            </a:pPr>
            <a:r>
              <a:t>• Multiply each kernel value × pixel value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Step 3: Sum all products → single output value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Step 4: Slide kernel right (repeat steps 2-3)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Step 5: Move down, repeat across entire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Understanding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🎨 Kernels (Filters): Pattern Detectors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🔍 What are Kernels?</a:t>
            </a:r>
          </a:p>
          <a:p>
            <a:pPr>
              <a:spcAft>
                <a:spcPts val="800"/>
              </a:spcAft>
              <a:defRPr sz="1800"/>
            </a:pPr>
            <a:r>
              <a:t>• Small matrices (usually 3×3 or 5×5)</a:t>
            </a:r>
          </a:p>
          <a:p>
            <a:pPr>
              <a:spcAft>
                <a:spcPts val="800"/>
              </a:spcAft>
              <a:defRPr sz="1800"/>
            </a:pPr>
            <a:r>
              <a:t>• Contains learned weights/patterns</a:t>
            </a:r>
          </a:p>
          <a:p>
            <a:pPr>
              <a:spcAft>
                <a:spcPts val="800"/>
              </a:spcAft>
              <a:defRPr sz="1800"/>
            </a:pPr>
            <a:r>
              <a:t>• Detects specific features in images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✨ Different Kernels Detect Different Features:</a:t>
            </a:r>
          </a:p>
          <a:p>
            <a:pPr>
              <a:spcAft>
                <a:spcPts val="800"/>
              </a:spcAft>
              <a:defRPr sz="1800"/>
            </a:pPr>
            <a:r>
              <a:t>• Edge detection (vertical, horizontal, diagonal)</a:t>
            </a:r>
          </a:p>
          <a:p>
            <a:pPr>
              <a:spcAft>
                <a:spcPts val="800"/>
              </a:spcAft>
              <a:defRPr sz="1800"/>
            </a:pPr>
            <a:r>
              <a:t>• Blur effects</a:t>
            </a:r>
          </a:p>
          <a:p>
            <a:pPr>
              <a:spcAft>
                <a:spcPts val="800"/>
              </a:spcAft>
              <a:defRPr sz="1800"/>
            </a:pPr>
            <a:r>
              <a:t>• Sharpening</a:t>
            </a:r>
          </a:p>
          <a:p>
            <a:pPr>
              <a:spcAft>
                <a:spcPts val="800"/>
              </a:spcAft>
              <a:defRPr sz="1800"/>
            </a:pPr>
            <a:r>
              <a:t>• Custom patterns (learned during training)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🚀 Why CNNs Win at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💪 Why Convolution is Powerful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Advantage 1: Parameter Sharing</a:t>
            </a:r>
          </a:p>
          <a:p>
            <a:pPr>
              <a:spcAft>
                <a:spcPts val="800"/>
              </a:spcAft>
              <a:defRPr sz="1800"/>
            </a:pPr>
            <a:r>
              <a:t>• Same kernel used across entire image</a:t>
            </a:r>
          </a:p>
          <a:p>
            <a:pPr>
              <a:spcAft>
                <a:spcPts val="800"/>
              </a:spcAft>
              <a:defRPr sz="1800"/>
            </a:pPr>
            <a:r>
              <a:t>• Fewer parameters than fully connected layers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Advantage 2: Translation Invariance</a:t>
            </a:r>
          </a:p>
          <a:p>
            <a:pPr>
              <a:spcAft>
                <a:spcPts val="800"/>
              </a:spcAft>
              <a:defRPr sz="1800"/>
            </a:pPr>
            <a:r>
              <a:t>• Detects patterns anywhere in the image</a:t>
            </a:r>
          </a:p>
          <a:p>
            <a:pPr>
              <a:spcAft>
                <a:spcPts val="800"/>
              </a:spcAft>
              <a:defRPr sz="1800"/>
            </a:pPr>
            <a:r>
              <a:t>• Cat in top-left = same as cat in bottom-right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Advantage 3: Local Connectivity</a:t>
            </a:r>
          </a:p>
          <a:p>
            <a:pPr>
              <a:spcAft>
                <a:spcPts val="800"/>
              </a:spcAft>
              <a:defRPr sz="1800"/>
            </a:pPr>
            <a:r>
              <a:t>• Focuses on nearby pixels (local patterns)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🔢 Understanding Padding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🛡️ Padding: Protecting Image Borders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F56565"/>
                </a:solidFill>
              </a:defRPr>
            </a:pPr>
            <a:r>
              <a:t>❓ The Problem:</a:t>
            </a:r>
          </a:p>
          <a:p>
            <a:pPr>
              <a:spcAft>
                <a:spcPts val="800"/>
              </a:spcAft>
              <a:defRPr sz="1800"/>
            </a:pPr>
            <a:r>
              <a:t>• Without padding: output gets smaller</a:t>
            </a:r>
          </a:p>
          <a:p>
            <a:pPr>
              <a:spcAft>
                <a:spcPts val="800"/>
              </a:spcAft>
              <a:defRPr sz="1800"/>
            </a:pPr>
            <a:r>
              <a:t>• Border pixels used less often</a:t>
            </a:r>
          </a:p>
          <a:p>
            <a:pPr>
              <a:spcAft>
                <a:spcPts val="800"/>
              </a:spcAft>
              <a:defRPr sz="1800"/>
            </a:pPr>
            <a:r>
              <a:t>• Information loss at edges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The Solution: Add Padding!</a:t>
            </a:r>
          </a:p>
          <a:p>
            <a:pPr>
              <a:spcAft>
                <a:spcPts val="800"/>
              </a:spcAft>
              <a:defRPr sz="1800"/>
            </a:pPr>
            <a:r>
              <a:t>• Add extra pixels (usually zeros) around image</a:t>
            </a:r>
          </a:p>
          <a:p>
            <a:pPr>
              <a:spcAft>
                <a:spcPts val="800"/>
              </a:spcAft>
              <a:defRPr sz="1800"/>
            </a:pPr>
            <a:r>
              <a:t>• Preserves spatial dimensions</a:t>
            </a:r>
          </a:p>
          <a:p>
            <a:pPr>
              <a:spcAft>
                <a:spcPts val="800"/>
              </a:spcAft>
              <a:defRPr sz="1800"/>
            </a:pPr>
            <a:r>
              <a:t>• Uses border pixels equally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📏 Padding Types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🎯 Types of Padding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F56565"/>
                </a:solidFill>
              </a:defRPr>
            </a:pPr>
            <a:r>
              <a:t>1️⃣ Valid Padding (No Padding)</a:t>
            </a:r>
          </a:p>
          <a:p>
            <a:pPr>
              <a:spcAft>
                <a:spcPts val="800"/>
              </a:spcAft>
              <a:defRPr sz="1800"/>
            </a:pPr>
            <a:r>
              <a:t>• No extra pixels added</a:t>
            </a:r>
          </a:p>
          <a:p>
            <a:pPr>
              <a:spcAft>
                <a:spcPts val="800"/>
              </a:spcAft>
              <a:defRPr sz="1800"/>
            </a:pPr>
            <a:r>
              <a:t>• Output size &lt; Input size</a:t>
            </a:r>
          </a:p>
          <a:p>
            <a:pPr>
              <a:spcAft>
                <a:spcPts val="800"/>
              </a:spcAft>
              <a:defRPr sz="1800"/>
            </a:pPr>
            <a:r>
              <a:t>• Example: 5×5 input → 3×3 output (with 3×3 kernel)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2️⃣ Same Padding (Zero Padding)</a:t>
            </a:r>
          </a:p>
          <a:p>
            <a:pPr>
              <a:spcAft>
                <a:spcPts val="800"/>
              </a:spcAft>
              <a:defRPr sz="1800"/>
            </a:pPr>
            <a:r>
              <a:t>• Add zeros around border</a:t>
            </a:r>
          </a:p>
          <a:p>
            <a:pPr>
              <a:spcAft>
                <a:spcPts val="800"/>
              </a:spcAft>
              <a:defRPr sz="1800"/>
            </a:pPr>
            <a:r>
              <a:t>• Output size = Input size</a:t>
            </a:r>
          </a:p>
          <a:p>
            <a:pPr>
              <a:spcAft>
                <a:spcPts val="800"/>
              </a:spcAft>
              <a:defRPr sz="1800"/>
            </a:pPr>
            <a:r>
              <a:t>• Example: 5×5 input → 5×5 output (with padding)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⚡ Understanding Stride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🏃 Stride: How Far to Move the Kernel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📏 What is Stride?</a:t>
            </a:r>
          </a:p>
          <a:p>
            <a:pPr>
              <a:spcAft>
                <a:spcPts val="800"/>
              </a:spcAft>
              <a:defRPr sz="1800"/>
            </a:pPr>
            <a:r>
              <a:t>• Number of pixels to move the kernel each step</a:t>
            </a:r>
          </a:p>
          <a:p>
            <a:pPr>
              <a:spcAft>
                <a:spcPts val="800"/>
              </a:spcAft>
              <a:defRPr sz="1800"/>
            </a:pPr>
            <a:r>
              <a:t>• Controls output size and computation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🎯 Stride = 1 (Small Steps)</a:t>
            </a:r>
          </a:p>
          <a:p>
            <a:pPr>
              <a:spcAft>
                <a:spcPts val="800"/>
              </a:spcAft>
              <a:defRPr sz="1800"/>
            </a:pPr>
            <a:r>
              <a:t>• Move 1 pixel at a time</a:t>
            </a:r>
          </a:p>
          <a:p>
            <a:pPr>
              <a:spcAft>
                <a:spcPts val="800"/>
              </a:spcAft>
              <a:defRPr sz="1800"/>
            </a:pPr>
            <a:r>
              <a:t>• More overlap, larger output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2000" b="1">
                <a:solidFill>
                  <a:srgbClr val="F56565"/>
                </a:solidFill>
              </a:defRPr>
            </a:pPr>
            <a:r>
              <a:t>🎯 Stride = 2 (Big Steps)</a:t>
            </a:r>
          </a:p>
          <a:p>
            <a:pPr>
              <a:spcAft>
                <a:spcPts val="800"/>
              </a:spcAft>
              <a:defRPr sz="1800"/>
            </a:pPr>
            <a:r>
              <a:t>• Move 2 pixels at a time</a:t>
            </a:r>
          </a:p>
          <a:p>
            <a:pPr>
              <a:spcAft>
                <a:spcPts val="800"/>
              </a:spcAft>
              <a:defRPr sz="1800"/>
            </a:pPr>
            <a:r>
              <a:t>• Less overlap, smaller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📊 Output Dimensions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🧮 Calculating Output Size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📐 Formula: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600" b="1">
                <a:solidFill>
                  <a:srgbClr val="F39C12"/>
                </a:solidFill>
              </a:defRPr>
            </a:pPr>
            <a:r>
              <a:t>Output = (Input - Kernel + 2×Padding) / Stride + 1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 b="1"/>
            </a:pPr>
            <a:r>
              <a:t>💡 Example 1: No Padding</a:t>
            </a:r>
          </a:p>
          <a:p>
            <a:pPr>
              <a:spcAft>
                <a:spcPts val="800"/>
              </a:spcAft>
              <a:defRPr sz="1600"/>
            </a:pPr>
            <a:r>
              <a:t>• Input: 28×28, Kernel: 3×3, Stride: 1, Pad: 0</a:t>
            </a:r>
          </a:p>
          <a:p>
            <a:pPr>
              <a:spcAft>
                <a:spcPts val="800"/>
              </a:spcAft>
              <a:defRPr sz="1600"/>
            </a:pPr>
            <a:r>
              <a:t>• Output = (28 - 3 + 0) / 1 + 1 = 26×26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/>
            </a:pPr>
            <a:r>
              <a:t>💡 Example 2: With Padding</a:t>
            </a:r>
          </a:p>
          <a:p>
            <a:pPr>
              <a:spcAft>
                <a:spcPts val="800"/>
              </a:spcAft>
              <a:defRPr sz="1600"/>
            </a:pPr>
            <a:r>
              <a:t>• Input: 28×28, Kernel: 3×3, Stride: 1, Pad: 1</a:t>
            </a:r>
          </a:p>
          <a:p>
            <a:pPr>
              <a:spcAft>
                <a:spcPts val="800"/>
              </a:spcAft>
              <a:defRPr sz="1600"/>
            </a:pPr>
            <a:r>
              <a:t>• Output = (28 - 3 + 2) / 1 + 1 = 28×28 (same!)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Receptive Field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👁️ Receptive Field: What Neurons "See"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🔍 Definition:</a:t>
            </a:r>
          </a:p>
          <a:p>
            <a:pPr>
              <a:spcAft>
                <a:spcPts val="800"/>
              </a:spcAft>
              <a:defRPr sz="1800"/>
            </a:pPr>
            <a:r>
              <a:t>• Region of input affecting one output pixel</a:t>
            </a:r>
          </a:p>
          <a:p>
            <a:pPr>
              <a:spcAft>
                <a:spcPts val="800"/>
              </a:spcAft>
              <a:defRPr sz="1800"/>
            </a:pPr>
            <a:r>
              <a:t>• Grows deeper in the network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📈 Layer-by-Layer Growth:</a:t>
            </a:r>
          </a:p>
          <a:p>
            <a:pPr>
              <a:spcAft>
                <a:spcPts val="800"/>
              </a:spcAft>
              <a:defRPr sz="1800"/>
            </a:pPr>
            <a:r>
              <a:t>• Layer 1: 3×3 pixels → Edges, corners</a:t>
            </a:r>
          </a:p>
          <a:p>
            <a:pPr>
              <a:spcAft>
                <a:spcPts val="800"/>
              </a:spcAft>
              <a:defRPr sz="1800"/>
            </a:pPr>
            <a:r>
              <a:t>• Layer 3: 7×7 pixels → Textures, shapes</a:t>
            </a:r>
          </a:p>
          <a:p>
            <a:pPr>
              <a:spcAft>
                <a:spcPts val="800"/>
              </a:spcAft>
              <a:defRPr sz="1800"/>
            </a:pPr>
            <a:r>
              <a:t>• Layer 5: 15×15 pixels → Objects (faces, cars)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🎨 Feature Learning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🏗️ CNNs Learn Hierarchically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Early Layers (Low-Level):</a:t>
            </a:r>
          </a:p>
          <a:p>
            <a:pPr>
              <a:spcAft>
                <a:spcPts val="800"/>
              </a:spcAft>
              <a:defRPr sz="1800"/>
            </a:pPr>
            <a:r>
              <a:t>• Edges, colors, gradients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Middle Layers (Mid-Level):</a:t>
            </a:r>
          </a:p>
          <a:p>
            <a:pPr>
              <a:spcAft>
                <a:spcPts val="800"/>
              </a:spcAft>
              <a:defRPr sz="1800"/>
            </a:pPr>
            <a:r>
              <a:t>• Textures, patterns, simple shapes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Deep Layers (High-Level):</a:t>
            </a:r>
          </a:p>
          <a:p>
            <a:pPr>
              <a:spcAft>
                <a:spcPts val="800"/>
              </a:spcAft>
              <a:defRPr sz="1800"/>
            </a:pPr>
            <a:r>
              <a:t>• Object parts (eyes, wheels)</a:t>
            </a:r>
          </a:p>
          <a:p>
            <a:pPr>
              <a:spcAft>
                <a:spcPts val="800"/>
              </a:spcAft>
              <a:defRPr sz="1800"/>
            </a:pPr>
            <a:r>
              <a:t>• Complete objects (faces, cars)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🔍 Understanding Feature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🗺️ Feature Maps: CNN Output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📊 What are Feature Maps?</a:t>
            </a:r>
          </a:p>
          <a:p>
            <a:pPr>
              <a:spcAft>
                <a:spcPts val="800"/>
              </a:spcAft>
              <a:defRPr sz="1800"/>
            </a:pPr>
            <a:r>
              <a:t>• Output of applying one filter</a:t>
            </a:r>
          </a:p>
          <a:p>
            <a:pPr>
              <a:spcAft>
                <a:spcPts val="800"/>
              </a:spcAft>
              <a:defRPr sz="1800"/>
            </a:pPr>
            <a:r>
              <a:t>• Shows where patterns detected</a:t>
            </a:r>
          </a:p>
          <a:p>
            <a:pPr>
              <a:spcAft>
                <a:spcPts val="800"/>
              </a:spcAft>
              <a:defRPr sz="1800"/>
            </a:pPr>
            <a:r>
              <a:t>• Bright spots = strong features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🎯 Multiple Filters:</a:t>
            </a:r>
          </a:p>
          <a:p>
            <a:pPr>
              <a:spcAft>
                <a:spcPts val="800"/>
              </a:spcAft>
              <a:defRPr sz="1800"/>
            </a:pPr>
            <a:r>
              <a:t>• 32 filters → 32 feature maps</a:t>
            </a:r>
          </a:p>
          <a:p>
            <a:pPr>
              <a:spcAft>
                <a:spcPts val="800"/>
              </a:spcAft>
              <a:defRPr sz="1800"/>
            </a:pPr>
            <a:r>
              <a:t>• Each detects different patterns</a:t>
            </a:r>
          </a:p>
          <a:p>
            <a:pPr>
              <a:spcAft>
                <a:spcPts val="800"/>
              </a:spcAft>
              <a:defRPr sz="1800"/>
            </a:pPr>
            <a:r>
              <a:t>• Stacked into 3D tensor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🔄 Complete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🧩 Complete Convolution Layer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/>
            </a:pPr>
            <a:r>
              <a:t>1. Input: (H, W, 3) RGB image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2. Apply 32 different filters</a:t>
            </a:r>
          </a:p>
          <a:p>
            <a:pPr lvl="1">
              <a:spcAft>
                <a:spcPts val="800"/>
              </a:spcAft>
              <a:defRPr sz="1600"/>
            </a:pPr>
            <a:r>
              <a:t>• Each filter → 1 feature map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3. Stack feature maps: (H, W, 32)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4. Apply activation (ReLU)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5. Ready for next layer!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📋 Parameter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🎯 CNN Hyperparameters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/>
            </a:pPr>
            <a:r>
              <a:t>• Kernel Size: Usually 3×3 or 5×5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• Number of Filters: 32, 64, 128, 256...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• Stride: Usually 1 or 2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• Padding: "same" or "valid"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600" b="1">
                <a:solidFill>
                  <a:srgbClr val="F39C12"/>
                </a:solidFill>
              </a:defRPr>
            </a:pPr>
            <a:r>
              <a:t>💡 Most common: 3×3 kernel, stride=1, same padding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🎓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📚 Key Takeaways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/>
            </a:pPr>
            <a:r>
              <a:t>✅ Images = grids of numbers</a:t>
            </a:r>
          </a:p>
          <a:p>
            <a:pPr>
              <a:spcAft>
                <a:spcPts val="800"/>
              </a:spcAft>
              <a:defRPr sz="1800"/>
            </a:pPr>
            <a:r>
              <a:t>✅ Convolution = sliding window with filters</a:t>
            </a:r>
          </a:p>
          <a:p>
            <a:pPr>
              <a:spcAft>
                <a:spcPts val="800"/>
              </a:spcAft>
              <a:defRPr sz="1800"/>
            </a:pPr>
            <a:r>
              <a:t>✅ Kernels detect patterns</a:t>
            </a:r>
          </a:p>
          <a:p>
            <a:pPr>
              <a:spcAft>
                <a:spcPts val="800"/>
              </a:spcAft>
              <a:defRPr sz="1800"/>
            </a:pPr>
            <a:r>
              <a:t>✅ Padding preserves dimensions</a:t>
            </a:r>
          </a:p>
          <a:p>
            <a:pPr>
              <a:spcAft>
                <a:spcPts val="800"/>
              </a:spcAft>
              <a:defRPr sz="1800"/>
            </a:pPr>
            <a:r>
              <a:t>✅ Stride controls output size</a:t>
            </a:r>
          </a:p>
          <a:p>
            <a:pPr>
              <a:spcAft>
                <a:spcPts val="800"/>
              </a:spcAft>
              <a:defRPr sz="1800"/>
            </a:pPr>
            <a:r>
              <a:t>✅ Receptive fields grow with depth</a:t>
            </a:r>
          </a:p>
          <a:p>
            <a:pPr>
              <a:spcAft>
                <a:spcPts val="800"/>
              </a:spcAft>
              <a:defRPr sz="1800"/>
            </a:pPr>
            <a:r>
              <a:t>✅ CNNs learn hierarchically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🚀 Next: Hands-on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
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🏗️ CNN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From Pooling to Famous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10 - Day 2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📚 Yesterday's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🔄 Quick Recap from Day 1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1800"/>
            </a:pPr>
            <a:r>
              <a:t>✅ Convolution: Sliding window with filters</a:t>
            </a:r>
          </a:p>
          <a:p>
            <a:pPr>
              <a:spcAft>
                <a:spcPts val="800"/>
              </a:spcAft>
              <a:defRPr sz="1800"/>
            </a:pPr>
            <a:r>
              <a:t>✅ Kernels: Detect patterns (edges, textures)</a:t>
            </a:r>
          </a:p>
          <a:p>
            <a:pPr>
              <a:spcAft>
                <a:spcPts val="800"/>
              </a:spcAft>
              <a:defRPr sz="1800"/>
            </a:pPr>
            <a:r>
              <a:t>✅ Padding: Preserves spatial dimensions</a:t>
            </a:r>
          </a:p>
          <a:p>
            <a:pPr>
              <a:spcAft>
                <a:spcPts val="800"/>
              </a:spcAft>
              <a:defRPr sz="1800"/>
            </a:pPr>
            <a:r>
              <a:t>✅ Stride: Controls output size</a:t>
            </a:r>
          </a:p>
          <a:p>
            <a:pPr>
              <a:spcAft>
                <a:spcPts val="800"/>
              </a:spcAft>
              <a:defRPr sz="1800"/>
            </a:pPr>
            <a:r>
              <a:t>✅ Feature Maps: Output from filters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🎯 Today: Building Complete CNNs!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🌊 Introduction to Pooling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🌊 What is Pooling?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📏 Definition:</a:t>
            </a:r>
          </a:p>
          <a:p>
            <a:pPr>
              <a:spcAft>
                <a:spcPts val="800"/>
              </a:spcAft>
              <a:defRPr sz="1800"/>
            </a:pPr>
            <a:r>
              <a:t>• Downsampling operation that reduces spatial size</a:t>
            </a:r>
          </a:p>
          <a:p>
            <a:pPr>
              <a:spcAft>
                <a:spcPts val="800"/>
              </a:spcAft>
              <a:defRPr sz="1800"/>
            </a:pPr>
            <a:r>
              <a:t>• No learnable parameters (just a mathematical operation)</a:t>
            </a:r>
          </a:p>
          <a:p>
            <a:pPr>
              <a:spcAft>
                <a:spcPts val="800"/>
              </a:spcAft>
              <a:defRPr sz="1800"/>
            </a:pPr>
            <a:r>
              <a:t>• Applied after convolutional layers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🎯 Purpose:</a:t>
            </a:r>
          </a:p>
          <a:p>
            <a:pPr>
              <a:spcAft>
                <a:spcPts val="800"/>
              </a:spcAft>
              <a:defRPr sz="1800"/>
            </a:pPr>
            <a:r>
              <a:t>• Reduces computation (fewer pixels to process)</a:t>
            </a:r>
          </a:p>
          <a:p>
            <a:pPr>
              <a:spcAft>
                <a:spcPts val="800"/>
              </a:spcAft>
              <a:defRPr sz="1800"/>
            </a:pPr>
            <a:r>
              <a:t>• Makes features more robust to small shifts</a:t>
            </a:r>
          </a:p>
          <a:p>
            <a:pPr>
              <a:spcAft>
                <a:spcPts val="800"/>
              </a:spcAft>
              <a:defRPr sz="1800"/>
            </a:pPr>
            <a:r>
              <a:t>• Increases receptive field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🔝 Max Pooling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🔝 Max Pooling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💡 How it Works:</a:t>
            </a:r>
          </a:p>
          <a:p>
            <a:pPr>
              <a:spcAft>
                <a:spcPts val="800"/>
              </a:spcAft>
              <a:defRPr sz="1800"/>
            </a:pPr>
            <a:r>
              <a:t>• Divide input into regions (e.g., 2×2 windows)</a:t>
            </a:r>
          </a:p>
          <a:p>
            <a:pPr>
              <a:spcAft>
                <a:spcPts val="800"/>
              </a:spcAft>
              <a:defRPr sz="1800"/>
            </a:pPr>
            <a:r>
              <a:t>• Take the MAXIMUM value from each region</a:t>
            </a:r>
          </a:p>
          <a:p>
            <a:pPr>
              <a:spcAft>
                <a:spcPts val="800"/>
              </a:spcAft>
              <a:defRPr sz="1800"/>
            </a:pPr>
            <a:r>
              <a:t>• Slide window across entire feature map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✨ Example: 2×2 Max Pooling</a:t>
            </a:r>
          </a:p>
          <a:p>
            <a:pPr>
              <a:spcAft>
                <a:spcPts val="800"/>
              </a:spcAft>
              <a:defRPr sz="1600"/>
            </a:pPr>
            <a:r>
              <a:t>Input (4×4): [[1,2,3,4], [5,6,7,8], ...]</a:t>
            </a:r>
          </a:p>
          <a:p>
            <a:pPr>
              <a:spcAft>
                <a:spcPts val="800"/>
              </a:spcAft>
              <a:defRPr sz="1600"/>
            </a:pPr>
            <a:r>
              <a:t>Output (2×2): [[6,8], [14,16]]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 b="1">
                <a:solidFill>
                  <a:srgbClr val="48BB78"/>
                </a:solidFill>
              </a:defRPr>
            </a:pPr>
            <a:r>
              <a:t>💪 Keeps strongest features!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📊 Average Pooling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📊 Average Pooling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💡 How it Works:</a:t>
            </a:r>
          </a:p>
          <a:p>
            <a:pPr>
              <a:spcAft>
                <a:spcPts val="800"/>
              </a:spcAft>
              <a:defRPr sz="1800"/>
            </a:pPr>
            <a:r>
              <a:t>• Divide input into regions (e.g., 2×2 windows)</a:t>
            </a:r>
          </a:p>
          <a:p>
            <a:pPr>
              <a:spcAft>
                <a:spcPts val="800"/>
              </a:spcAft>
              <a:defRPr sz="1800"/>
            </a:pPr>
            <a:r>
              <a:t>• Take the AVERAGE value from each region</a:t>
            </a:r>
          </a:p>
          <a:p>
            <a:pPr>
              <a:spcAft>
                <a:spcPts val="800"/>
              </a:spcAft>
              <a:defRPr sz="1800"/>
            </a:pPr>
            <a:r>
              <a:t>• Smoother downsampling compared to max pooling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🆚 Max vs Average Pooling:</a:t>
            </a:r>
          </a:p>
          <a:p>
            <a:pPr>
              <a:spcAft>
                <a:spcPts val="800"/>
              </a:spcAft>
              <a:defRPr sz="1800"/>
            </a:pPr>
            <a:r>
              <a:t>• Max: Better for detecting features (more common)</a:t>
            </a:r>
          </a:p>
          <a:p>
            <a:pPr>
              <a:spcAft>
                <a:spcPts val="800"/>
              </a:spcAft>
              <a:defRPr sz="1800"/>
            </a:pPr>
            <a:r>
              <a:t>• Average: Smoother, used in final layers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 b="1">
                <a:solidFill>
                  <a:srgbClr val="667EEA"/>
                </a:solidFill>
              </a:defRPr>
            </a:pPr>
            <a:r>
              <a:t>💡 Modern CNNs mostly use Max Pooling!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💪 Pooling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🚀 Why Pooling is Important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✅ Benefit 1: Reduces Computation</a:t>
            </a:r>
          </a:p>
          <a:p>
            <a:pPr>
              <a:spcAft>
                <a:spcPts val="800"/>
              </a:spcAft>
              <a:defRPr sz="1800"/>
            </a:pPr>
            <a:r>
              <a:t>• 224×224 image → 112×112 after pooling</a:t>
            </a:r>
          </a:p>
          <a:p>
            <a:pPr>
              <a:spcAft>
                <a:spcPts val="800"/>
              </a:spcAft>
              <a:defRPr sz="1800"/>
            </a:pPr>
            <a:r>
              <a:t>• 75% fewer pixels to process!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✅ Benefit 2: Translation Invariance</a:t>
            </a:r>
          </a:p>
          <a:p>
            <a:pPr>
              <a:spcAft>
                <a:spcPts val="800"/>
              </a:spcAft>
              <a:defRPr sz="1800"/>
            </a:pPr>
            <a:r>
              <a:t>• Small shifts in features still detected</a:t>
            </a:r>
          </a:p>
          <a:p>
            <a:pPr>
              <a:spcAft>
                <a:spcPts val="800"/>
              </a:spcAft>
              <a:defRPr sz="1800"/>
            </a:pPr>
            <a:r>
              <a:t>• Makes model more robust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✅ Benefit 3: Larger Receptive Field</a:t>
            </a:r>
          </a:p>
          <a:p>
            <a:pPr>
              <a:spcAft>
                <a:spcPts val="800"/>
              </a:spcAft>
              <a:defRPr sz="1800"/>
            </a:pPr>
            <a:r>
              <a:t>• Each neuron sees bigger image region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🏗️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🧩 Standard CNN Block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📋 Typical Pattern: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/>
            </a:pPr>
            <a:r>
              <a:t>1. Convolution Layer → Extract features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2. Activation (ReLU) → Add non-linearity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3. Pooling Layer → Downsample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🔄 This pattern repeats multiple times!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600"/>
            </a:pPr>
            <a:r>
              <a:t>💡 Example: Conv → ReLU → Pool → Conv → ReLU → Pool...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🔗 FC Layers in CNNs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🔗 Fully Connected (FC) Layers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📊 What are FC Layers?</a:t>
            </a:r>
          </a:p>
          <a:p>
            <a:pPr>
              <a:spcAft>
                <a:spcPts val="800"/>
              </a:spcAft>
              <a:defRPr sz="1800"/>
            </a:pPr>
            <a:r>
              <a:t>• Traditional neural network layers</a:t>
            </a:r>
          </a:p>
          <a:p>
            <a:pPr>
              <a:spcAft>
                <a:spcPts val="800"/>
              </a:spcAft>
              <a:defRPr sz="1800"/>
            </a:pPr>
            <a:r>
              <a:t>• Every neuron connects to every input</a:t>
            </a:r>
          </a:p>
          <a:p>
            <a:pPr>
              <a:spcAft>
                <a:spcPts val="800"/>
              </a:spcAft>
              <a:defRPr sz="1800"/>
            </a:pPr>
            <a:r>
              <a:t>• Come AFTER convolutional layers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🎯 Role in CNNs:</a:t>
            </a:r>
          </a:p>
          <a:p>
            <a:pPr>
              <a:spcAft>
                <a:spcPts val="800"/>
              </a:spcAft>
              <a:defRPr sz="1800"/>
            </a:pPr>
            <a:r>
              <a:t>• Conv layers: Extract features</a:t>
            </a:r>
          </a:p>
          <a:p>
            <a:pPr>
              <a:spcAft>
                <a:spcPts val="800"/>
              </a:spcAft>
              <a:defRPr sz="1800"/>
            </a:pPr>
            <a:r>
              <a:t>• FC layers: Combine features for classification</a:t>
            </a:r>
          </a:p>
          <a:p>
            <a:pPr>
              <a:spcAft>
                <a:spcPts val="800"/>
              </a:spcAft>
              <a:defRPr sz="1800"/>
            </a:pPr>
            <a:r>
              <a:t>• Final FC layer: Output predictions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🎲 Softmax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🎲 Softmax for Classification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💡 What is Softmax?</a:t>
            </a:r>
          </a:p>
          <a:p>
            <a:pPr>
              <a:spcAft>
                <a:spcPts val="800"/>
              </a:spcAft>
              <a:defRPr sz="1800"/>
            </a:pPr>
            <a:r>
              <a:t>• Converts scores into probabilities</a:t>
            </a:r>
          </a:p>
          <a:p>
            <a:pPr>
              <a:spcAft>
                <a:spcPts val="800"/>
              </a:spcAft>
              <a:defRPr sz="1800"/>
            </a:pPr>
            <a:r>
              <a:t>• All outputs sum to 1.0 (100%)</a:t>
            </a:r>
          </a:p>
          <a:p>
            <a:pPr>
              <a:spcAft>
                <a:spcPts val="800"/>
              </a:spcAft>
              <a:defRPr sz="1800"/>
            </a:pPr>
            <a:r>
              <a:t>• Used in multi-class classification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✨ Example:</a:t>
            </a:r>
          </a:p>
          <a:p>
            <a:pPr>
              <a:spcAft>
                <a:spcPts val="800"/>
              </a:spcAft>
              <a:defRPr sz="1800"/>
            </a:pPr>
            <a:r>
              <a:t>Raw scores: [2.5, 1.0, 0.3]</a:t>
            </a:r>
          </a:p>
          <a:p>
            <a:pPr>
              <a:spcAft>
                <a:spcPts val="800"/>
              </a:spcAft>
              <a:defRPr sz="1800"/>
            </a:pPr>
            <a:r>
              <a:t>After softmax: [0.77, 0.21, 0.02]</a:t>
            </a:r>
          </a:p>
          <a:p>
            <a:pPr>
              <a:spcAft>
                <a:spcPts val="800"/>
              </a:spcAft>
              <a:defRPr sz="1800"/>
            </a:pPr>
            <a:r>
              <a:t>→ 77% confidence for class 1!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🥇 AlexNet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🏆 AlexNet (2012) - The Revolution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🎯 Key Innovations:</a:t>
            </a:r>
          </a:p>
          <a:p>
            <a:pPr>
              <a:spcAft>
                <a:spcPts val="800"/>
              </a:spcAft>
              <a:defRPr sz="1800"/>
            </a:pPr>
            <a:r>
              <a:t>• First deep CNN to win ImageNet (2012)</a:t>
            </a:r>
          </a:p>
          <a:p>
            <a:pPr>
              <a:spcAft>
                <a:spcPts val="800"/>
              </a:spcAft>
              <a:defRPr sz="1800"/>
            </a:pPr>
            <a:r>
              <a:t>• Used ReLU activation (instead of sigmoid)</a:t>
            </a:r>
          </a:p>
          <a:p>
            <a:pPr>
              <a:spcAft>
                <a:spcPts val="800"/>
              </a:spcAft>
              <a:defRPr sz="1800"/>
            </a:pPr>
            <a:r>
              <a:t>• Trained on GPUs (breakthrough!)</a:t>
            </a:r>
          </a:p>
          <a:p>
            <a:pPr>
              <a:spcAft>
                <a:spcPts val="800"/>
              </a:spcAft>
              <a:defRPr sz="1800"/>
            </a:pPr>
            <a:r>
              <a:t>• Dropout for regularization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📊 Architecture: 8 layers</a:t>
            </a:r>
          </a:p>
          <a:p>
            <a:pPr>
              <a:spcAft>
                <a:spcPts val="800"/>
              </a:spcAft>
              <a:defRPr sz="1800"/>
            </a:pPr>
            <a:r>
              <a:t>• 5 convolutional layers</a:t>
            </a:r>
          </a:p>
          <a:p>
            <a:pPr>
              <a:spcAft>
                <a:spcPts val="800"/>
              </a:spcAft>
              <a:defRPr sz="1800"/>
            </a:pPr>
            <a:r>
              <a:t>• 3 fully connected layers</a:t>
            </a:r>
          </a:p>
          <a:p>
            <a:pPr>
              <a:spcAft>
                <a:spcPts val="800"/>
              </a:spcAft>
              <a:defRPr sz="1800"/>
            </a:pPr>
            <a:r>
              <a:t>• 60 million parameters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📐 VGG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📐 VGG (2014) - Simplicity Wins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🎯 Key Philosophy:</a:t>
            </a:r>
          </a:p>
          <a:p>
            <a:pPr>
              <a:spcAft>
                <a:spcPts val="800"/>
              </a:spcAft>
              <a:defRPr sz="1800"/>
            </a:pPr>
            <a:r>
              <a:t>• Use ONLY 3×3 filters (very uniform)</a:t>
            </a:r>
          </a:p>
          <a:p>
            <a:pPr>
              <a:spcAft>
                <a:spcPts val="800"/>
              </a:spcAft>
              <a:defRPr sz="1800"/>
            </a:pPr>
            <a:r>
              <a:t>• Deeper is better (16-19 layers)</a:t>
            </a:r>
          </a:p>
          <a:p>
            <a:pPr>
              <a:spcAft>
                <a:spcPts val="800"/>
              </a:spcAft>
              <a:defRPr sz="1800"/>
            </a:pPr>
            <a:r>
              <a:t>• Simple and clean architecture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📊 VGG-16 Structure:</a:t>
            </a:r>
          </a:p>
          <a:p>
            <a:pPr>
              <a:spcAft>
                <a:spcPts val="800"/>
              </a:spcAft>
              <a:defRPr sz="1800"/>
            </a:pPr>
            <a:r>
              <a:t>• 13 convolutional layers (all 3×3)</a:t>
            </a:r>
          </a:p>
          <a:p>
            <a:pPr>
              <a:spcAft>
                <a:spcPts val="800"/>
              </a:spcAft>
              <a:defRPr sz="1800"/>
            </a:pPr>
            <a:r>
              <a:t>• 5 max pooling layers (2×2)</a:t>
            </a:r>
          </a:p>
          <a:p>
            <a:pPr>
              <a:spcAft>
                <a:spcPts val="800"/>
              </a:spcAft>
              <a:defRPr sz="1800"/>
            </a:pPr>
            <a:r>
              <a:t>• 3 fully connected layers</a:t>
            </a:r>
          </a:p>
          <a:p>
            <a:pPr>
              <a:spcAft>
                <a:spcPts val="800"/>
              </a:spcAft>
              <a:defRPr sz="1800"/>
            </a:pPr>
            <a:r>
              <a:t>• 138 million parameters (very large!)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🔄 VGG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🔄 VGG Block Pattern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📋 Repeating Structure: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/>
            </a:pPr>
            <a:r>
              <a:t>Block 1: 64 filters (2 conv layers) → pool</a:t>
            </a:r>
          </a:p>
          <a:p>
            <a:pPr>
              <a:spcAft>
                <a:spcPts val="800"/>
              </a:spcAft>
              <a:defRPr sz="1800"/>
            </a:pPr>
            <a:r>
              <a:t>Block 2: 128 filters (2 conv layers) → pool</a:t>
            </a:r>
          </a:p>
          <a:p>
            <a:pPr>
              <a:spcAft>
                <a:spcPts val="800"/>
              </a:spcAft>
              <a:defRPr sz="1800"/>
            </a:pPr>
            <a:r>
              <a:t>Block 3: 256 filters (3 conv layers) → pool</a:t>
            </a:r>
          </a:p>
          <a:p>
            <a:pPr>
              <a:spcAft>
                <a:spcPts val="800"/>
              </a:spcAft>
              <a:defRPr sz="1800"/>
            </a:pPr>
            <a:r>
              <a:t>Block 4: 512 filters (3 conv layers) → pool</a:t>
            </a:r>
          </a:p>
          <a:p>
            <a:pPr>
              <a:spcAft>
                <a:spcPts val="800"/>
              </a:spcAft>
              <a:defRPr sz="1800"/>
            </a:pPr>
            <a:r>
              <a:t>Block 5: 512 filters (3 conv layers) → pool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💡 Pattern: Double channels, halve dimensions!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🚀 ResNet Revolution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🚀 ResNet (2015) - Skip Connections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F56565"/>
                </a:solidFill>
              </a:defRPr>
            </a:pPr>
            <a:r>
              <a:t>❓ The Problem:</a:t>
            </a:r>
          </a:p>
          <a:p>
            <a:pPr>
              <a:spcAft>
                <a:spcPts val="800"/>
              </a:spcAft>
              <a:defRPr sz="1800"/>
            </a:pPr>
            <a:r>
              <a:t>• Very deep networks (&gt;20 layers) hard to train</a:t>
            </a:r>
          </a:p>
          <a:p>
            <a:pPr>
              <a:spcAft>
                <a:spcPts val="800"/>
              </a:spcAft>
              <a:defRPr sz="1800"/>
            </a:pPr>
            <a:r>
              <a:t>• Vanishing gradient problem</a:t>
            </a:r>
          </a:p>
          <a:p>
            <a:pPr>
              <a:spcAft>
                <a:spcPts val="800"/>
              </a:spcAft>
              <a:defRPr sz="1800"/>
            </a:pPr>
            <a:r>
              <a:t>• Performance degrades with more layers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✅ The Solution: Residual Connections!</a:t>
            </a:r>
          </a:p>
          <a:p>
            <a:pPr>
              <a:spcAft>
                <a:spcPts val="800"/>
              </a:spcAft>
              <a:defRPr sz="1800"/>
            </a:pPr>
            <a:r>
              <a:t>• Add skip connections (shortcuts)</a:t>
            </a:r>
          </a:p>
          <a:p>
            <a:pPr>
              <a:spcAft>
                <a:spcPts val="800"/>
              </a:spcAft>
              <a:defRPr sz="1800"/>
            </a:pPr>
            <a:r>
              <a:t>• Learn residual (difference) instead of full mapping</a:t>
            </a:r>
          </a:p>
          <a:p>
            <a:pPr>
              <a:spcAft>
                <a:spcPts val="800"/>
              </a:spcAft>
              <a:defRPr sz="1800"/>
            </a:pPr>
            <a:r>
              <a:t>• Enables training 100+ layer networks!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🔗 Understanding Skip 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🔗 Skip Connections Explained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💡 How Skip Connections Work: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/>
            </a:pPr>
            <a:r>
              <a:t>Normal Flow: Input → Conv → ReLU → Conv → Output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/>
            </a:pPr>
            <a:r>
              <a:t>ResNet Flow: Input → [Conv → ReLU → Conv] + Input → Output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🎯 Key Idea:</a:t>
            </a:r>
          </a:p>
          <a:p>
            <a:pPr>
              <a:spcAft>
                <a:spcPts val="800"/>
              </a:spcAft>
              <a:defRPr sz="1800"/>
            </a:pPr>
            <a:r>
              <a:t>• Add original input to processed output</a:t>
            </a:r>
          </a:p>
          <a:p>
            <a:pPr>
              <a:spcAft>
                <a:spcPts val="800"/>
              </a:spcAft>
              <a:defRPr sz="1800"/>
            </a:pPr>
            <a:r>
              <a:t>• Gradient flows easily backward</a:t>
            </a:r>
          </a:p>
          <a:p>
            <a:pPr>
              <a:spcAft>
                <a:spcPts val="800"/>
              </a:spcAft>
              <a:defRPr sz="1800"/>
            </a:pPr>
            <a:r>
              <a:t>• Network learns what to ADD, not replace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🏗️ ResNet Variations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🏗️ ResNet Family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📊 Different Depths: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/>
            </a:pPr>
            <a:r>
              <a:t>• ResNet-18: 18 layers (11M parameters)</a:t>
            </a:r>
          </a:p>
          <a:p>
            <a:pPr>
              <a:spcAft>
                <a:spcPts val="800"/>
              </a:spcAft>
              <a:defRPr sz="1800"/>
            </a:pPr>
            <a:r>
              <a:t>• ResNet-34: 34 layers (21M parameters)</a:t>
            </a:r>
          </a:p>
          <a:p>
            <a:pPr>
              <a:spcAft>
                <a:spcPts val="800"/>
              </a:spcAft>
              <a:defRPr sz="1800"/>
            </a:pPr>
            <a:r>
              <a:t>• ResNet-50: 50 layers (25M parameters)</a:t>
            </a:r>
          </a:p>
          <a:p>
            <a:pPr>
              <a:spcAft>
                <a:spcPts val="800"/>
              </a:spcAft>
              <a:defRPr sz="1800"/>
            </a:pPr>
            <a:r>
              <a:t>• ResNet-101: 101 layers (44M parameters)</a:t>
            </a:r>
          </a:p>
          <a:p>
            <a:pPr>
              <a:spcAft>
                <a:spcPts val="800"/>
              </a:spcAft>
              <a:defRPr sz="1800"/>
            </a:pPr>
            <a:r>
              <a:t>• ResNet-152: 152 layers (60M parameters)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💡 ResNet-50 most popular for transfer learning!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📊 Architecture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🆚 Architecture Comparison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1800" b="1">
                <a:solidFill>
                  <a:srgbClr val="48BB78"/>
                </a:solidFill>
              </a:defRPr>
            </a:pPr>
            <a:r>
              <a:t>AlexNet (2012):</a:t>
            </a:r>
          </a:p>
          <a:p>
            <a:pPr>
              <a:spcAft>
                <a:spcPts val="800"/>
              </a:spcAft>
              <a:defRPr sz="1600"/>
            </a:pPr>
            <a:r>
              <a:t>• 8 layers, 60M params, pioneering work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 b="1">
                <a:solidFill>
                  <a:srgbClr val="48BB78"/>
                </a:solidFill>
              </a:defRPr>
            </a:pPr>
            <a:r>
              <a:t>VGG-16 (2014):</a:t>
            </a:r>
          </a:p>
          <a:p>
            <a:pPr>
              <a:spcAft>
                <a:spcPts val="800"/>
              </a:spcAft>
              <a:defRPr sz="1600"/>
            </a:pPr>
            <a:r>
              <a:t>• 16 layers, 138M params, simple &amp; uniform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 b="1">
                <a:solidFill>
                  <a:srgbClr val="48BB78"/>
                </a:solidFill>
              </a:defRPr>
            </a:pPr>
            <a:r>
              <a:t>ResNet-50 (2015):</a:t>
            </a:r>
          </a:p>
          <a:p>
            <a:pPr>
              <a:spcAft>
                <a:spcPts val="800"/>
              </a:spcAft>
              <a:defRPr sz="1600"/>
            </a:pPr>
            <a:r>
              <a:t>• 50 layers, 25M params, skip connections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🏆 Winner: ResNet (deeper + fewer params!)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🐍 PyTorch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🐍 Building CNNs in PyTorch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📦 Essential Layers: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1600"/>
            </a:pPr>
            <a:r>
              <a:t>• nn.Conv2d(in, out, kernel, stride, padding)</a:t>
            </a:r>
          </a:p>
          <a:p>
            <a:pPr>
              <a:spcAft>
                <a:spcPts val="800"/>
              </a:spcAft>
              <a:defRPr sz="1600"/>
            </a:pPr>
            <a:r>
              <a:t>• nn.MaxPool2d(kernel_size)</a:t>
            </a:r>
          </a:p>
          <a:p>
            <a:pPr>
              <a:spcAft>
                <a:spcPts val="800"/>
              </a:spcAft>
              <a:defRPr sz="1600"/>
            </a:pPr>
            <a:r>
              <a:t>• nn.ReLU()</a:t>
            </a:r>
          </a:p>
          <a:p>
            <a:pPr>
              <a:spcAft>
                <a:spcPts val="800"/>
              </a:spcAft>
              <a:defRPr sz="1600"/>
            </a:pPr>
            <a:r>
              <a:t>• nn.Linear(in_features, out_features)</a:t>
            </a:r>
          </a:p>
          <a:p>
            <a:pPr>
              <a:spcAft>
                <a:spcPts val="800"/>
              </a:spcAft>
              <a:defRPr sz="800"/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🔧 Typical CNN Structure:</a:t>
            </a:r>
          </a:p>
          <a:p>
            <a:pPr>
              <a:spcAft>
                <a:spcPts val="800"/>
              </a:spcAft>
              <a:defRPr sz="1800"/>
            </a:pPr>
            <a:r>
              <a:t>• __init__: Define all layers</a:t>
            </a:r>
          </a:p>
          <a:p>
            <a:pPr>
              <a:spcAft>
                <a:spcPts val="800"/>
              </a:spcAft>
              <a:defRPr sz="1800"/>
            </a:pPr>
            <a:r>
              <a:t>• forward: Define data flow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🚂 Training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🚂 CNN Training Pipeline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1800" b="1">
                <a:solidFill>
                  <a:srgbClr val="48BB78"/>
                </a:solidFill>
              </a:defRPr>
            </a:pPr>
            <a:r>
              <a:t>1. Load Data → DataLoader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 b="1">
                <a:solidFill>
                  <a:srgbClr val="48BB78"/>
                </a:solidFill>
              </a:defRPr>
            </a:pPr>
            <a:r>
              <a:t>2. Define Model → nn.Module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 b="1">
                <a:solidFill>
                  <a:srgbClr val="48BB78"/>
                </a:solidFill>
              </a:defRPr>
            </a:pPr>
            <a:r>
              <a:t>3. Set Loss Function → CrossEntropyLoss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 b="1">
                <a:solidFill>
                  <a:srgbClr val="48BB78"/>
                </a:solidFill>
              </a:defRPr>
            </a:pPr>
            <a:r>
              <a:t>4. Choose Optimizer → Adam, SGD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 b="1">
                <a:solidFill>
                  <a:srgbClr val="48BB78"/>
                </a:solidFill>
              </a:defRPr>
            </a:pPr>
            <a:r>
              <a:t>5. Training Loop → Forward, Loss, Backward, Update</a:t>
            </a:r>
          </a:p>
          <a:p>
            <a:pPr>
              <a:spcAft>
                <a:spcPts val="800"/>
              </a:spcAft>
              <a:defRPr sz="600"/>
            </a:pPr>
          </a:p>
          <a:p>
            <a:pPr>
              <a:spcAft>
                <a:spcPts val="800"/>
              </a:spcAft>
              <a:defRPr sz="1800" b="1">
                <a:solidFill>
                  <a:srgbClr val="48BB78"/>
                </a:solidFill>
              </a:defRPr>
            </a:pPr>
            <a:r>
              <a:t>6. Evaluate → Test accuracy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🎓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📚 Key Takeaways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1800"/>
            </a:pPr>
            <a:r>
              <a:t>✅ Pooling reduces spatial dimensions</a:t>
            </a:r>
          </a:p>
          <a:p>
            <a:pPr>
              <a:spcAft>
                <a:spcPts val="800"/>
              </a:spcAft>
              <a:defRPr sz="1800"/>
            </a:pPr>
            <a:r>
              <a:t>✅ Max pooling most common (keeps strongest features)</a:t>
            </a:r>
          </a:p>
          <a:p>
            <a:pPr>
              <a:spcAft>
                <a:spcPts val="800"/>
              </a:spcAft>
              <a:defRPr sz="1800"/>
            </a:pPr>
            <a:r>
              <a:t>✅ Standard block: Conv → ReLU → Pool</a:t>
            </a:r>
          </a:p>
          <a:p>
            <a:pPr>
              <a:spcAft>
                <a:spcPts val="800"/>
              </a:spcAft>
              <a:defRPr sz="1800"/>
            </a:pPr>
            <a:r>
              <a:t>✅ FC layers combine features for classification</a:t>
            </a:r>
          </a:p>
          <a:p>
            <a:pPr>
              <a:spcAft>
                <a:spcPts val="800"/>
              </a:spcAft>
              <a:defRPr sz="1800"/>
            </a:pPr>
            <a:r>
              <a:t>✅ AlexNet pioneered deep CNNs (2012)</a:t>
            </a:r>
          </a:p>
          <a:p>
            <a:pPr>
              <a:spcAft>
                <a:spcPts val="800"/>
              </a:spcAft>
              <a:defRPr sz="1800"/>
            </a:pPr>
            <a:r>
              <a:t>✅ VGG showed simpler is better (3×3 everywhere)</a:t>
            </a:r>
          </a:p>
          <a:p>
            <a:pPr>
              <a:spcAft>
                <a:spcPts val="800"/>
              </a:spcAft>
              <a:defRPr sz="1800"/>
            </a:pPr>
            <a:r>
              <a:t>✅ ResNet enabled very deep networks (skip connections)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🚀 Next: Hands-on notebook!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
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🛡️ Regularization &amp; Training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Preventing Overfitting in CNNs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Week 10 - Day 3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⚠️ Understanding Overfitting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⚠️ The Overfitting Problem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F56565"/>
                </a:solidFill>
              </a:defRPr>
            </a:pPr>
            <a:r>
              <a:t>❌ What is Overfitting?</a:t>
            </a:r>
          </a:p>
          <a:p>
            <a:pPr>
              <a:spcAft>
                <a:spcPts val="800"/>
              </a:spcAft>
              <a:defRPr sz="1800"/>
            </a:pPr>
            <a:r>
              <a:t>• Model memorizes training data (instead of learning patterns)</a:t>
            </a:r>
          </a:p>
          <a:p>
            <a:pPr>
              <a:spcAft>
                <a:spcPts val="800"/>
              </a:spcAft>
              <a:defRPr sz="1800"/>
            </a:pPr>
            <a:r>
              <a:t>• High training accuracy, LOW test accuracy</a:t>
            </a:r>
          </a:p>
          <a:p>
            <a:pPr>
              <a:spcAft>
                <a:spcPts val="800"/>
              </a:spcAft>
              <a:defRPr sz="1800"/>
            </a:pPr>
            <a:r>
              <a:t>• Model fails to generalize to new data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F39C12"/>
                </a:solidFill>
              </a:defRPr>
            </a:pPr>
            <a:r>
              <a:t>🎯 Signs of Overfitting:</a:t>
            </a:r>
          </a:p>
          <a:p>
            <a:pPr>
              <a:spcAft>
                <a:spcPts val="800"/>
              </a:spcAft>
              <a:defRPr sz="1800"/>
            </a:pPr>
            <a:r>
              <a:t>• Train loss ↓↓↓, Test loss ↑↑↑</a:t>
            </a:r>
          </a:p>
          <a:p>
            <a:pPr>
              <a:spcAft>
                <a:spcPts val="800"/>
              </a:spcAft>
              <a:defRPr sz="1800"/>
            </a:pPr>
            <a:r>
              <a:t>• Large gap between train and test accuracy</a:t>
            </a:r>
          </a:p>
          <a:p>
            <a:pPr>
              <a:spcAft>
                <a:spcPts val="800"/>
              </a:spcAft>
              <a:defRPr sz="1800"/>
            </a:pPr>
            <a:r>
              <a:t>• Model too complex for the dataset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🔍 Overfitting Causes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🔍 Why CNNs Overfit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📊 Common Causes: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1800"/>
            </a:pPr>
            <a:r>
              <a:t>1. Too many parameters (millions!)</a:t>
            </a:r>
          </a:p>
          <a:p>
            <a:pPr lvl="1"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   → Network has capacity to memorize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/>
            </a:pPr>
            <a:r>
              <a:t>2. Too few training samples</a:t>
            </a:r>
          </a:p>
          <a:p>
            <a:pPr lvl="1"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   → Not enough diverse examples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/>
            </a:pPr>
            <a:r>
              <a:t>3. Training too long</a:t>
            </a:r>
          </a:p>
          <a:p>
            <a:pPr lvl="1"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   → Model learns noise in data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/>
            </a:pPr>
            <a:r>
              <a:t>4. No regularization</a:t>
            </a:r>
          </a:p>
          <a:p>
            <a:pPr lvl="1"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   → Nothing prevents memorization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🛡️ Regularization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🛡️ Regularization Arsenal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✅ Techniques to Prevent Overfitting: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1800"/>
            </a:pPr>
            <a:r>
              <a:t>1. Dropout: Randomly disable neurons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/>
            </a:pPr>
            <a:r>
              <a:t>2. Batch Normalization: Stabilize training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/>
            </a:pPr>
            <a:r>
              <a:t>3. Data Augmentation: Create more training data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/>
            </a:pPr>
            <a:r>
              <a:t>4. Early Stopping: Stop before overfitting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/>
            </a:pPr>
            <a:r>
              <a:t>5. Weight Decay (L2): Penalize large weights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1800" b="1">
                <a:solidFill>
                  <a:srgbClr val="F39C12"/>
                </a:solidFill>
              </a:defRPr>
            </a:pPr>
            <a:r>
              <a:t>💡 Often use multiple techniques together!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💧 Dropout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💧 Dropout: Random Neuron Deactivation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🎯 How Dropout Works:</a:t>
            </a:r>
          </a:p>
          <a:p>
            <a:pPr>
              <a:spcAft>
                <a:spcPts val="800"/>
              </a:spcAft>
              <a:defRPr sz="1800"/>
            </a:pPr>
            <a:r>
              <a:t>• During training: Randomly set neurons to 0</a:t>
            </a:r>
          </a:p>
          <a:p>
            <a:pPr>
              <a:spcAft>
                <a:spcPts val="800"/>
              </a:spcAft>
              <a:defRPr sz="1800"/>
            </a:pPr>
            <a:r>
              <a:t>• Dropout rate (p): Probability of dropping (e.g., 0.5 = 50%)</a:t>
            </a:r>
          </a:p>
          <a:p>
            <a:pPr>
              <a:spcAft>
                <a:spcPts val="800"/>
              </a:spcAft>
              <a:defRPr sz="1800"/>
            </a:pPr>
            <a:r>
              <a:t>• Different neurons dropped each batch</a:t>
            </a:r>
          </a:p>
          <a:p>
            <a:pPr>
              <a:spcAft>
                <a:spcPts val="800"/>
              </a:spcAft>
              <a:defRPr sz="1800"/>
            </a:pPr>
            <a:r>
              <a:t>• During testing: Use ALL neurons (no dropout)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F39C12"/>
                </a:solidFill>
              </a:defRPr>
            </a:pPr>
            <a:r>
              <a:t>💡 Why It Works:</a:t>
            </a:r>
          </a:p>
          <a:p>
            <a:pPr>
              <a:spcAft>
                <a:spcPts val="800"/>
              </a:spcAft>
              <a:defRPr sz="1800"/>
            </a:pPr>
            <a:r>
              <a:t>• Forces network to learn redundant representations</a:t>
            </a:r>
          </a:p>
          <a:p>
            <a:pPr>
              <a:spcAft>
                <a:spcPts val="800"/>
              </a:spcAft>
              <a:defRPr sz="1800"/>
            </a:pPr>
            <a:r>
              <a:t>• Prevents co-adaptation of neurons</a:t>
            </a:r>
          </a:p>
          <a:p>
            <a:pPr>
              <a:spcAft>
                <a:spcPts val="800"/>
              </a:spcAft>
              <a:defRPr sz="1800"/>
            </a:pPr>
            <a:r>
              <a:t>• Like training ensemble of networks!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🔧 Dropout Guidelines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🔧 Using Dropout Effectively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📋 Best Practices: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1800"/>
            </a:pPr>
            <a:r>
              <a:t>• Typical dropout rates: 0.2 to 0.5</a:t>
            </a:r>
          </a:p>
          <a:p>
            <a:pPr>
              <a:spcAft>
                <a:spcPts val="800"/>
              </a:spcAft>
              <a:defRPr sz="1800"/>
            </a:pPr>
            <a:r>
              <a:t>• Use in fully connected layers (not conv layers)</a:t>
            </a:r>
          </a:p>
          <a:p>
            <a:pPr>
              <a:spcAft>
                <a:spcPts val="800"/>
              </a:spcAft>
              <a:defRPr sz="1800"/>
            </a:pPr>
            <a:r>
              <a:t>• Higher dropout = more regularization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F39C12"/>
                </a:solidFill>
              </a:defRPr>
            </a:pPr>
            <a:r>
              <a:t>⚙️ PyTorch Implementation:</a:t>
            </a:r>
          </a:p>
          <a:p>
            <a:pPr>
              <a:spcAft>
                <a:spcPts val="800"/>
              </a:spcAft>
              <a:defRPr sz="1600"/>
            </a:pPr>
            <a:r>
              <a:t>self.dropout = nn.Dropout(p=0.5)</a:t>
            </a:r>
          </a:p>
          <a:p>
            <a:pPr>
              <a:spcAft>
                <a:spcPts val="800"/>
              </a:spcAft>
              <a:defRPr sz="1600"/>
            </a:pPr>
            <a:r>
              <a:t>x = self.dropout(x)  # Apply dropout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1800" b="1">
                <a:solidFill>
                  <a:srgbClr val="48BB78"/>
                </a:solidFill>
              </a:defRPr>
            </a:pPr>
            <a:r>
              <a:t>💡 Automatically disabled during model.eval()!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📊 Batch Normalization 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📊 Batch Normalization (BatchNorm)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F56565"/>
                </a:solidFill>
              </a:defRPr>
            </a:pPr>
            <a:r>
              <a:t>❓ The Problem:</a:t>
            </a:r>
          </a:p>
          <a:p>
            <a:pPr>
              <a:spcAft>
                <a:spcPts val="800"/>
              </a:spcAft>
              <a:defRPr sz="1800"/>
            </a:pPr>
            <a:r>
              <a:t>• Internal Covariate Shift</a:t>
            </a:r>
          </a:p>
          <a:p>
            <a:pPr>
              <a:spcAft>
                <a:spcPts val="800"/>
              </a:spcAft>
              <a:defRPr sz="1800"/>
            </a:pPr>
            <a:r>
              <a:t>• Layer inputs change distribution during training</a:t>
            </a:r>
          </a:p>
          <a:p>
            <a:pPr>
              <a:spcAft>
                <a:spcPts val="800"/>
              </a:spcAft>
              <a:defRPr sz="1800"/>
            </a:pPr>
            <a:r>
              <a:t>• Slows down training, requires small learning rates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✅ The Solution: Normalize Activations!</a:t>
            </a:r>
          </a:p>
          <a:p>
            <a:pPr>
              <a:spcAft>
                <a:spcPts val="800"/>
              </a:spcAft>
              <a:defRPr sz="1800"/>
            </a:pPr>
            <a:r>
              <a:t>• Normalize each mini-batch</a:t>
            </a:r>
          </a:p>
          <a:p>
            <a:pPr>
              <a:spcAft>
                <a:spcPts val="800"/>
              </a:spcAft>
              <a:defRPr sz="1800"/>
            </a:pPr>
            <a:r>
              <a:t>• Mean = 0, Variance = 1</a:t>
            </a:r>
          </a:p>
          <a:p>
            <a:pPr>
              <a:spcAft>
                <a:spcPts val="800"/>
              </a:spcAft>
              <a:defRPr sz="1800"/>
            </a:pPr>
            <a:r>
              <a:t>• Learn scale and shift parameters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🚀 BatchNorm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🚀 Why BatchNorm is Amazing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✅ Benefit 1: Faster Training</a:t>
            </a:r>
          </a:p>
          <a:p>
            <a:pPr>
              <a:spcAft>
                <a:spcPts val="800"/>
              </a:spcAft>
              <a:defRPr sz="1800"/>
            </a:pPr>
            <a:r>
              <a:t>• Can use higher learning rates (10x faster!)</a:t>
            </a:r>
          </a:p>
          <a:p>
            <a:pPr>
              <a:spcAft>
                <a:spcPts val="800"/>
              </a:spcAft>
              <a:defRPr sz="1800"/>
            </a:pPr>
            <a:r>
              <a:t>• Reduces training time significantly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✅ Benefit 2: Acts as Regularization</a:t>
            </a:r>
          </a:p>
          <a:p>
            <a:pPr>
              <a:spcAft>
                <a:spcPts val="800"/>
              </a:spcAft>
              <a:defRPr sz="1800"/>
            </a:pPr>
            <a:r>
              <a:t>• Reduces need for dropout</a:t>
            </a:r>
          </a:p>
          <a:p>
            <a:pPr>
              <a:spcAft>
                <a:spcPts val="800"/>
              </a:spcAft>
              <a:defRPr sz="1800"/>
            </a:pPr>
            <a:r>
              <a:t>• Mini-batch noise adds regularization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✅ Benefit 3: Easier Training</a:t>
            </a:r>
          </a:p>
          <a:p>
            <a:pPr>
              <a:spcAft>
                <a:spcPts val="800"/>
              </a:spcAft>
              <a:defRPr sz="1800"/>
            </a:pPr>
            <a:r>
              <a:t>• Less sensitive to initialization</a:t>
            </a:r>
          </a:p>
          <a:p>
            <a:pPr>
              <a:spcAft>
                <a:spcPts val="800"/>
              </a:spcAft>
              <a:defRPr sz="1800"/>
            </a:pPr>
            <a:r>
              <a:t>• More stable gradient 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🔧 BatchNorm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🔧 Using Batch Normalization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📋 Where to Place BatchNorm: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1800"/>
            </a:pPr>
            <a:r>
              <a:t>Option 1: Conv → BatchNorm → ReLU</a:t>
            </a:r>
          </a:p>
          <a:p>
            <a:pPr>
              <a:spcAft>
                <a:spcPts val="800"/>
              </a:spcAft>
              <a:defRPr sz="1800"/>
            </a:pPr>
            <a:r>
              <a:t>Option 2: Conv → ReLU → BatchNorm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 b="1">
                <a:solidFill>
                  <a:srgbClr val="F39C12"/>
                </a:solidFill>
              </a:defRPr>
            </a:pPr>
            <a:r>
              <a:t>💡 Most common: Conv → BatchNorm → ReLU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⚙️ PyTorch Implementation:</a:t>
            </a:r>
          </a:p>
          <a:p>
            <a:pPr>
              <a:spcAft>
                <a:spcPts val="800"/>
              </a:spcAft>
              <a:defRPr sz="1600"/>
            </a:pPr>
            <a:r>
              <a:t>self.bn1 = nn.BatchNorm2d(64)  # 64 channels</a:t>
            </a:r>
          </a:p>
          <a:p>
            <a:pPr>
              <a:spcAft>
                <a:spcPts val="800"/>
              </a:spcAft>
              <a:defRPr sz="1600"/>
            </a:pPr>
            <a:r>
              <a:t>x = self.bn1(x)  # Apply batch norm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🎨 Data Augmentation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🎨 Data Augmentation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💡 Core Idea: Create More Training Data!</a:t>
            </a:r>
          </a:p>
          <a:p>
            <a:pPr>
              <a:spcAft>
                <a:spcPts val="800"/>
              </a:spcAft>
              <a:defRPr sz="1800"/>
            </a:pPr>
            <a:r>
              <a:t>• Apply transformations to existing images</a:t>
            </a:r>
          </a:p>
          <a:p>
            <a:pPr>
              <a:spcAft>
                <a:spcPts val="800"/>
              </a:spcAft>
              <a:defRPr sz="1800"/>
            </a:pPr>
            <a:r>
              <a:t>• Generate variations without collecting new data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F39C12"/>
                </a:solidFill>
              </a:defRPr>
            </a:pPr>
            <a:r>
              <a:t>🎯 Common Techniques:</a:t>
            </a:r>
          </a:p>
          <a:p>
            <a:pPr>
              <a:spcAft>
                <a:spcPts val="800"/>
              </a:spcAft>
              <a:defRPr sz="1800"/>
            </a:pPr>
            <a:r>
              <a:t>• Horizontal flip (mirror image)</a:t>
            </a:r>
          </a:p>
          <a:p>
            <a:pPr>
              <a:spcAft>
                <a:spcPts val="800"/>
              </a:spcAft>
              <a:defRPr sz="1800"/>
            </a:pPr>
            <a:r>
              <a:t>• Random rotation (±15 degrees)</a:t>
            </a:r>
          </a:p>
          <a:p>
            <a:pPr>
              <a:spcAft>
                <a:spcPts val="800"/>
              </a:spcAft>
              <a:defRPr sz="1800"/>
            </a:pPr>
            <a:r>
              <a:t>• Random crop and resize</a:t>
            </a:r>
          </a:p>
          <a:p>
            <a:pPr>
              <a:spcAft>
                <a:spcPts val="800"/>
              </a:spcAft>
              <a:defRPr sz="1800"/>
            </a:pPr>
            <a:r>
              <a:t>• Color jittering (brightness, contrast)</a:t>
            </a:r>
          </a:p>
          <a:p>
            <a:pPr>
              <a:spcAft>
                <a:spcPts val="800"/>
              </a:spcAft>
              <a:defRPr sz="1800"/>
            </a:pPr>
            <a:r>
              <a:t>• Random zoom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⏱️ Early Stopping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⏱️ Early Stopping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🎯 Strategy:</a:t>
            </a:r>
          </a:p>
          <a:p>
            <a:pPr>
              <a:spcAft>
                <a:spcPts val="800"/>
              </a:spcAft>
              <a:defRPr sz="1800"/>
            </a:pPr>
            <a:r>
              <a:t>• Monitor validation loss during training</a:t>
            </a:r>
          </a:p>
          <a:p>
            <a:pPr>
              <a:spcAft>
                <a:spcPts val="800"/>
              </a:spcAft>
              <a:defRPr sz="1800"/>
            </a:pPr>
            <a:r>
              <a:t>• Stop when validation loss stops improving</a:t>
            </a:r>
          </a:p>
          <a:p>
            <a:pPr>
              <a:spcAft>
                <a:spcPts val="800"/>
              </a:spcAft>
              <a:defRPr sz="1800"/>
            </a:pPr>
            <a:r>
              <a:t>• Save best model checkpoint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F39C12"/>
                </a:solidFill>
              </a:defRPr>
            </a:pPr>
            <a:r>
              <a:t>📊 How It Works:</a:t>
            </a:r>
          </a:p>
          <a:p>
            <a:pPr>
              <a:spcAft>
                <a:spcPts val="800"/>
              </a:spcAft>
              <a:defRPr sz="1800"/>
            </a:pPr>
            <a:r>
              <a:t>• Set patience (e.g., 5 epochs)</a:t>
            </a:r>
          </a:p>
          <a:p>
            <a:pPr>
              <a:spcAft>
                <a:spcPts val="800"/>
              </a:spcAft>
              <a:defRPr sz="1800"/>
            </a:pPr>
            <a:r>
              <a:t>• If no improvement for 5 epochs → Stop!</a:t>
            </a:r>
          </a:p>
          <a:p>
            <a:pPr>
              <a:spcAft>
                <a:spcPts val="800"/>
              </a:spcAft>
              <a:defRPr sz="1800"/>
            </a:pPr>
            <a:r>
              <a:t>• Restore best weights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 b="1">
                <a:solidFill>
                  <a:srgbClr val="48BB78"/>
                </a:solidFill>
              </a:defRPr>
            </a:pPr>
            <a:r>
              <a:t>💡 Prevents training too long!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⚖️ Weight Decay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⚖️ Weight Decay (L2 Regularization)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💡 Core Idea:</a:t>
            </a:r>
          </a:p>
          <a:p>
            <a:pPr>
              <a:spcAft>
                <a:spcPts val="800"/>
              </a:spcAft>
              <a:defRPr sz="1800"/>
            </a:pPr>
            <a:r>
              <a:t>• Penalize large weight values</a:t>
            </a:r>
          </a:p>
          <a:p>
            <a:pPr>
              <a:spcAft>
                <a:spcPts val="800"/>
              </a:spcAft>
              <a:defRPr sz="1800"/>
            </a:pPr>
            <a:r>
              <a:t>• Add weight magnitude to loss function</a:t>
            </a:r>
          </a:p>
          <a:p>
            <a:pPr>
              <a:spcAft>
                <a:spcPts val="800"/>
              </a:spcAft>
              <a:defRPr sz="1800"/>
            </a:pPr>
            <a:r>
              <a:t>• Forces smaller, simpler weights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F39C12"/>
                </a:solidFill>
              </a:defRPr>
            </a:pPr>
            <a:r>
              <a:t>⚙️ Implementation:</a:t>
            </a:r>
          </a:p>
          <a:p>
            <a:pPr>
              <a:spcAft>
                <a:spcPts val="800"/>
              </a:spcAft>
              <a:defRPr sz="1600"/>
            </a:pPr>
            <a:r>
              <a:t>optimizer = optim.Adam(params, weight_decay=1e-4)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📊 Typical Values:</a:t>
            </a:r>
          </a:p>
          <a:p>
            <a:pPr>
              <a:spcAft>
                <a:spcPts val="800"/>
              </a:spcAft>
              <a:defRPr sz="1800"/>
            </a:pPr>
            <a:r>
              <a:t>• 1e-4 or 1e-5 for most CNNs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📈 TensorBoard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📈 TensorBoard: Training Visualization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🎯 What is TensorBoard?</a:t>
            </a:r>
          </a:p>
          <a:p>
            <a:pPr>
              <a:spcAft>
                <a:spcPts val="800"/>
              </a:spcAft>
              <a:defRPr sz="1800"/>
            </a:pPr>
            <a:r>
              <a:t>• Visualization tool for ML experiments</a:t>
            </a:r>
          </a:p>
          <a:p>
            <a:pPr>
              <a:spcAft>
                <a:spcPts val="800"/>
              </a:spcAft>
              <a:defRPr sz="1800"/>
            </a:pPr>
            <a:r>
              <a:t>• Track metrics in real-time</a:t>
            </a:r>
          </a:p>
          <a:p>
            <a:pPr>
              <a:spcAft>
                <a:spcPts val="800"/>
              </a:spcAft>
              <a:defRPr sz="1800"/>
            </a:pPr>
            <a:r>
              <a:t>• Compare different runs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F39C12"/>
                </a:solidFill>
              </a:defRPr>
            </a:pPr>
            <a:r>
              <a:t>📊 What You Can Visualize:</a:t>
            </a:r>
          </a:p>
          <a:p>
            <a:pPr>
              <a:spcAft>
                <a:spcPts val="800"/>
              </a:spcAft>
              <a:defRPr sz="1800"/>
            </a:pPr>
            <a:r>
              <a:t>• Loss and accuracy curves</a:t>
            </a:r>
          </a:p>
          <a:p>
            <a:pPr>
              <a:spcAft>
                <a:spcPts val="800"/>
              </a:spcAft>
              <a:defRPr sz="1800"/>
            </a:pPr>
            <a:r>
              <a:t>• Learning rate changes</a:t>
            </a:r>
          </a:p>
          <a:p>
            <a:pPr>
              <a:spcAft>
                <a:spcPts val="800"/>
              </a:spcAft>
              <a:defRPr sz="1800"/>
            </a:pPr>
            <a:r>
              <a:t>• Weight distributions (histograms)</a:t>
            </a:r>
          </a:p>
          <a:p>
            <a:pPr>
              <a:spcAft>
                <a:spcPts val="800"/>
              </a:spcAft>
              <a:defRPr sz="1800"/>
            </a:pPr>
            <a:r>
              <a:t>• Images and feature maps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🚀 TensorBoard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🚀 Why Use TensorBoard?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✅ Real-Time Monitoring:</a:t>
            </a:r>
          </a:p>
          <a:p>
            <a:pPr>
              <a:spcAft>
                <a:spcPts val="800"/>
              </a:spcAft>
              <a:defRPr sz="1800"/>
            </a:pPr>
            <a:r>
              <a:t>• Watch training progress live</a:t>
            </a:r>
          </a:p>
          <a:p>
            <a:pPr>
              <a:spcAft>
                <a:spcPts val="800"/>
              </a:spcAft>
              <a:defRPr sz="1800"/>
            </a:pPr>
            <a:r>
              <a:t>• Detect problems early (overfitting, divergence)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✅ Experiment Comparison:</a:t>
            </a:r>
          </a:p>
          <a:p>
            <a:pPr>
              <a:spcAft>
                <a:spcPts val="800"/>
              </a:spcAft>
              <a:defRPr sz="1800"/>
            </a:pPr>
            <a:r>
              <a:t>• Compare multiple models side-by-side</a:t>
            </a:r>
          </a:p>
          <a:p>
            <a:pPr>
              <a:spcAft>
                <a:spcPts val="800"/>
              </a:spcAft>
              <a:defRPr sz="1800"/>
            </a:pPr>
            <a:r>
              <a:t>• Find best hyperparameters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✅ Professional Workflow:</a:t>
            </a:r>
          </a:p>
          <a:p>
            <a:pPr>
              <a:spcAft>
                <a:spcPts val="800"/>
              </a:spcAft>
              <a:defRPr sz="1800"/>
            </a:pPr>
            <a:r>
              <a:t>• Industry-standard tool</a:t>
            </a:r>
          </a:p>
          <a:p>
            <a:pPr>
              <a:spcAft>
                <a:spcPts val="800"/>
              </a:spcAft>
              <a:defRPr sz="1800"/>
            </a:pPr>
            <a:r>
              <a:t>• Beautiful, interactive dashboards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🎯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🎯 Choosing Regularization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📋 Recommended Combination: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1800" b="1">
                <a:solidFill>
                  <a:srgbClr val="48BB78"/>
                </a:solidFill>
              </a:defRPr>
            </a:pPr>
            <a:r>
              <a:t>1. Batch Normalization (ALWAYS use)</a:t>
            </a:r>
          </a:p>
          <a:p>
            <a:pPr lvl="1">
              <a:spcAft>
                <a:spcPts val="800"/>
              </a:spcAft>
              <a:defRPr sz="1600"/>
            </a:pPr>
            <a:r>
              <a:t>   → After every conv layer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/>
            </a:pPr>
            <a:r>
              <a:t>2. Dropout in FC layers (0.3-0.5)</a:t>
            </a:r>
          </a:p>
          <a:p>
            <a:pPr lvl="1">
              <a:spcAft>
                <a:spcPts val="800"/>
              </a:spcAft>
              <a:defRPr sz="1600"/>
            </a:pPr>
            <a:r>
              <a:t>   → Before output layer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/>
            </a:pPr>
            <a:r>
              <a:t>3. Data Augmentation (if possible)</a:t>
            </a:r>
          </a:p>
          <a:p>
            <a:pPr lvl="1">
              <a:spcAft>
                <a:spcPts val="800"/>
              </a:spcAft>
              <a:defRPr sz="1600"/>
            </a:pPr>
            <a:r>
              <a:t>   → During training only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/>
            </a:pPr>
            <a:r>
              <a:t>4. Weight Decay (1e-4)</a:t>
            </a:r>
          </a:p>
          <a:p>
            <a:pPr lvl="1">
              <a:spcAft>
                <a:spcPts val="800"/>
              </a:spcAft>
              <a:defRPr sz="1600"/>
            </a:pPr>
            <a:r>
              <a:t>   → In optimizer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💡 Training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💡 Professional Training Tips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🎯 During Training:</a:t>
            </a:r>
          </a:p>
          <a:p>
            <a:pPr>
              <a:spcAft>
                <a:spcPts val="800"/>
              </a:spcAft>
              <a:defRPr sz="1800"/>
            </a:pPr>
            <a:r>
              <a:t>• Start with simple baseline model</a:t>
            </a:r>
          </a:p>
          <a:p>
            <a:pPr>
              <a:spcAft>
                <a:spcPts val="800"/>
              </a:spcAft>
              <a:defRPr sz="1800"/>
            </a:pPr>
            <a:r>
              <a:t>• Add complexity gradually</a:t>
            </a:r>
          </a:p>
          <a:p>
            <a:pPr>
              <a:spcAft>
                <a:spcPts val="800"/>
              </a:spcAft>
              <a:defRPr sz="1800"/>
            </a:pPr>
            <a:r>
              <a:t>• Monitor both train and validation loss</a:t>
            </a:r>
          </a:p>
          <a:p>
            <a:pPr>
              <a:spcAft>
                <a:spcPts val="800"/>
              </a:spcAft>
              <a:defRPr sz="1800"/>
            </a:pPr>
            <a:r>
              <a:t>• Save checkpoints regularly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F39C12"/>
                </a:solidFill>
              </a:defRPr>
            </a:pPr>
            <a:r>
              <a:t>🔍 Debugging:</a:t>
            </a:r>
          </a:p>
          <a:p>
            <a:pPr>
              <a:spcAft>
                <a:spcPts val="800"/>
              </a:spcAft>
              <a:defRPr sz="1800"/>
            </a:pPr>
            <a:r>
              <a:t>• Large gap (train/val) → More regularization</a:t>
            </a:r>
          </a:p>
          <a:p>
            <a:pPr>
              <a:spcAft>
                <a:spcPts val="800"/>
              </a:spcAft>
              <a:defRPr sz="1800"/>
            </a:pPr>
            <a:r>
              <a:t>• Both losses high → Model too simple</a:t>
            </a:r>
          </a:p>
          <a:p>
            <a:pPr>
              <a:spcAft>
                <a:spcPts val="800"/>
              </a:spcAft>
              <a:defRPr sz="1800"/>
            </a:pPr>
            <a:r>
              <a:t>• Loss not decreasing → Check learning rate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🎓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📚 Key Takeaways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1800"/>
            </a:pPr>
            <a:r>
              <a:t>✅ Overfitting: Model memorizes training data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/>
            </a:pPr>
            <a:r>
              <a:t>✅ Dropout: Randomly disable neurons during training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/>
            </a:pPr>
            <a:r>
              <a:t>✅ BatchNorm: Normalize activations (faster training)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/>
            </a:pPr>
            <a:r>
              <a:t>✅ Data Augmentation: Create more training samples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/>
            </a:pPr>
            <a:r>
              <a:t>✅ Early Stopping: Stop before overfitting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/>
            </a:pPr>
            <a:r>
              <a:t>✅ TensorBoard: Visualize training progress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🚀 Next: Hands-on notebook!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
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4114800"/>
            <a:ext cx="4572000" cy="457200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63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0" kern="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 Algebra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9EB3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Language of Machine Learning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31520" y="4389120"/>
            <a:ext cx="1828800" cy="0"/>
          </a:xfrm>
          <a:prstGeom prst="line">
            <a:avLst/>
          </a:prstGeom>
          <a:noFill/>
          <a:ln w="38100">
            <a:solidFill>
              <a:srgbClr val="9EB3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572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Theory:  </a:t>
            </a:r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hour   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Practical:  </a:t>
            </a:r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hours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5120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Topics: Scalars, Vectors, Matrices · Operations · Inverse · ML uses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Learn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914400" cy="9144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828800" y="1691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– 1:00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28800" y="1965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Theory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28800" y="2423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Scalars, vectors, matrices, and operations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154680"/>
            <a:ext cx="914400" cy="9144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154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828800" y="3108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1:10 – 2:10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28800" y="3383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Practical 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828800" y="3840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by hand with small matrices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572000"/>
            <a:ext cx="914400" cy="914400"/>
          </a:xfrm>
          <a:prstGeom prst="ellipse">
            <a:avLst/>
          </a:prstGeom>
          <a:solidFill>
            <a:srgbClr val="9EB3C2"/>
          </a:solidFill>
          <a:ln w="12700">
            <a:solidFill>
              <a:srgbClr val="9EB3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572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1828800" y="4526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2:20 – 3:00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828800" y="4800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Practical 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828800" y="5257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practice + ML-style problems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772400" y="1737360"/>
            <a:ext cx="3931920" cy="914400"/>
          </a:xfrm>
          <a:prstGeom prst="rect">
            <a:avLst/>
          </a:prstGeom>
          <a:solidFill>
            <a:srgbClr val="FFB703">
              <a:alpha val="20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0" y="17830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Every ML model is built on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and matrices — let's see why!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120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Theory  •  1 hour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4297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single numbers to whole data tables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OPENING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Linear Algebra for ML?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0698480" cy="1097280"/>
          </a:xfrm>
          <a:prstGeom prst="roundRect">
            <a:avLst>
              <a:gd name="adj" fmla="val 8333"/>
            </a:avLst>
          </a:prstGeom>
          <a:solidFill>
            <a:srgbClr val="F0F6F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 algebra is how we put DATA and TRANSFORMATIONS into a computer.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you'll see it: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84048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9776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🖼️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31520" y="4709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51206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image is a matrix of pixel values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66160" y="384048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39776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566160" y="4709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03320" y="51206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= samples, columns = features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384048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39776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🧠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400800" y="4709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Neural nets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37960" y="51206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are matrix multiplications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235440" y="384048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0" y="39776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🔍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9235440" y="4709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372600" y="51206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= dot product of vectors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THE THREE OBJECTS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Scalars, Vectors, Matrices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levels of mathematical objects — each more structured than the last: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611880" cy="411480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94560"/>
            <a:ext cx="361188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9456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SCALAR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number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3657600"/>
            <a:ext cx="3063240" cy="1005840"/>
          </a:xfrm>
          <a:prstGeom prst="roundRect">
            <a:avLst>
              <a:gd name="adj" fmla="val 7273"/>
            </a:avLst>
          </a:prstGeom>
          <a:solidFill>
            <a:srgbClr val="F0F6F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49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40233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= 5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8006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65960" y="48006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dimensions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51663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65960" y="51663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 italic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43400" y="2194560"/>
            <a:ext cx="3611880" cy="411480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43400" y="2194560"/>
            <a:ext cx="3611880" cy="777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43400" y="219456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VECTOR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26280" y="310896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numbers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617720" y="3657600"/>
            <a:ext cx="3063240" cy="1005840"/>
          </a:xfrm>
          <a:prstGeom prst="roundRect">
            <a:avLst>
              <a:gd name="adj" fmla="val 7273"/>
            </a:avLst>
          </a:prstGeom>
          <a:solidFill>
            <a:srgbClr val="F0F6F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3749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17720" y="40233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= [ 3, 1, 4 ]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17720" y="48006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760720" y="48006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dimension (a line)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17720" y="51663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60720" y="51663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lowercase  v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138160" y="2194560"/>
            <a:ext cx="3611880" cy="411480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25400">
            <a:solidFill>
              <a:srgbClr val="9EB3C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38160" y="2194560"/>
            <a:ext cx="3611880" cy="777240"/>
          </a:xfrm>
          <a:prstGeom prst="rect">
            <a:avLst/>
          </a:prstGeom>
          <a:solidFill>
            <a:srgbClr val="9EB3C2"/>
          </a:solidFill>
          <a:ln w="12700">
            <a:solidFill>
              <a:srgbClr val="9EB3C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38160" y="219456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MATRIX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321040" y="310896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grid of numbers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412480" y="3657600"/>
            <a:ext cx="3063240" cy="1005840"/>
          </a:xfrm>
          <a:prstGeom prst="roundRect">
            <a:avLst>
              <a:gd name="adj" fmla="val 7273"/>
            </a:avLst>
          </a:prstGeom>
          <a:solidFill>
            <a:srgbClr val="F0F6FA"/>
          </a:solidFill>
          <a:ln w="12700">
            <a:solidFill>
              <a:srgbClr val="9EB3C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03920" y="3749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412480" y="40233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EB3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= [ [1, 2], [3, 4] ]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412480" y="48006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555480" y="48006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dimensions (rows × cols)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412480" y="51663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Notation: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555480" y="51663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UPPERCASE  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VECTORS VISUALISED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Vector Is an Arrow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vector as an ARROW with: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5577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length (magnitude)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starting point (usually the origin)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566160"/>
            <a:ext cx="5669280" cy="914400"/>
          </a:xfrm>
          <a:prstGeom prst="roundRect">
            <a:avLst>
              <a:gd name="adj" fmla="val 8000"/>
            </a:avLst>
          </a:prstGeom>
          <a:solidFill>
            <a:srgbClr val="F0F6F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6118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vector  v = [ 4, 3 ]  is an arrow going: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9776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steps RIGHT, then 3 steps UP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663440"/>
            <a:ext cx="5669280" cy="1280160"/>
          </a:xfrm>
          <a:prstGeom prst="roundRect">
            <a:avLst>
              <a:gd name="adj" fmla="val 5714"/>
            </a:avLst>
          </a:prstGeom>
          <a:solidFill>
            <a:srgbClr val="FFB703">
              <a:alpha val="25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66344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In ML, a vector often represents a data point — each entry is a feature.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525780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a house:  [bedrooms, bathrooms, square_feet, price] → [3, 2, 1400, 250000]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1645920"/>
            <a:ext cx="5394960" cy="4663440"/>
          </a:xfrm>
          <a:prstGeom prst="rect">
            <a:avLst/>
          </a:prstGeom>
          <a:solidFill>
            <a:srgbClr val="F0F6FA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49440" y="5852160"/>
            <a:ext cx="4572000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1828800"/>
            <a:ext cx="0" cy="402336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0" y="1828800"/>
            <a:ext cx="0" cy="4023360"/>
          </a:xfrm>
          <a:prstGeom prst="line">
            <a:avLst/>
          </a:prstGeom>
          <a:noFill/>
          <a:ln w="6350">
            <a:solidFill>
              <a:srgbClr val="9EB3C2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5120640"/>
            <a:ext cx="4572000" cy="0"/>
          </a:xfrm>
          <a:prstGeom prst="line">
            <a:avLst/>
          </a:prstGeom>
          <a:noFill/>
          <a:ln w="6350">
            <a:solidFill>
              <a:srgbClr val="9EB3C2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1828800"/>
            <a:ext cx="0" cy="4023360"/>
          </a:xfrm>
          <a:prstGeom prst="line">
            <a:avLst/>
          </a:prstGeom>
          <a:noFill/>
          <a:ln w="6350">
            <a:solidFill>
              <a:srgbClr val="9EB3C2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49440" y="4389120"/>
            <a:ext cx="4572000" cy="0"/>
          </a:xfrm>
          <a:prstGeom prst="line">
            <a:avLst/>
          </a:prstGeom>
          <a:noFill/>
          <a:ln w="6350">
            <a:solidFill>
              <a:srgbClr val="9EB3C2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0" y="1828800"/>
            <a:ext cx="0" cy="4023360"/>
          </a:xfrm>
          <a:prstGeom prst="line">
            <a:avLst/>
          </a:prstGeom>
          <a:noFill/>
          <a:ln w="6350">
            <a:solidFill>
              <a:srgbClr val="9EB3C2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3657600"/>
            <a:ext cx="4572000" cy="0"/>
          </a:xfrm>
          <a:prstGeom prst="line">
            <a:avLst/>
          </a:prstGeom>
          <a:noFill/>
          <a:ln w="6350">
            <a:solidFill>
              <a:srgbClr val="9EB3C2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75520" y="1828800"/>
            <a:ext cx="0" cy="4023360"/>
          </a:xfrm>
          <a:prstGeom prst="line">
            <a:avLst/>
          </a:prstGeom>
          <a:noFill/>
          <a:ln w="6350">
            <a:solidFill>
              <a:srgbClr val="9EB3C2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49440" y="2926080"/>
            <a:ext cx="4572000" cy="0"/>
          </a:xfrm>
          <a:prstGeom prst="line">
            <a:avLst/>
          </a:prstGeom>
          <a:noFill/>
          <a:ln w="6350">
            <a:solidFill>
              <a:srgbClr val="9EB3C2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607040" y="1828800"/>
            <a:ext cx="0" cy="4023360"/>
          </a:xfrm>
          <a:prstGeom prst="line">
            <a:avLst/>
          </a:prstGeom>
          <a:noFill/>
          <a:ln w="6350">
            <a:solidFill>
              <a:srgbClr val="9EB3C2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49440" y="2194560"/>
            <a:ext cx="4572000" cy="0"/>
          </a:xfrm>
          <a:prstGeom prst="line">
            <a:avLst/>
          </a:prstGeom>
          <a:noFill/>
          <a:ln w="6350">
            <a:solidFill>
              <a:srgbClr val="9EB3C2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49440" y="5852160"/>
            <a:ext cx="2926080" cy="-2194560"/>
          </a:xfrm>
          <a:prstGeom prst="line">
            <a:avLst/>
          </a:prstGeom>
          <a:noFill/>
          <a:ln w="50800">
            <a:solidFill>
              <a:srgbClr val="065A8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875520" y="3657600"/>
            <a:ext cx="-228600" cy="45720"/>
          </a:xfrm>
          <a:prstGeom prst="line">
            <a:avLst/>
          </a:prstGeom>
          <a:noFill/>
          <a:ln w="50800">
            <a:solidFill>
              <a:srgbClr val="065A8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875520" y="3657600"/>
            <a:ext cx="-91440" cy="228600"/>
          </a:xfrm>
          <a:prstGeom prst="line">
            <a:avLst/>
          </a:prstGeom>
          <a:noFill/>
          <a:ln w="5080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1832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1521440" y="5806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675120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949440" y="5852160"/>
            <a:ext cx="292608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9875520" y="5852160"/>
            <a:ext cx="0" cy="-2194560"/>
          </a:xfrm>
          <a:prstGeom prst="line">
            <a:avLst/>
          </a:prstGeom>
          <a:noFill/>
          <a:ln w="25400">
            <a:solidFill>
              <a:srgbClr val="F96167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8229600" y="5897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→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966960" y="44805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↑3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VECTOR OPERATIONS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Addition &amp; Scalar Multiplication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669280" cy="4480560"/>
          </a:xfrm>
          <a:prstGeom prst="roundRect">
            <a:avLst>
              <a:gd name="adj" fmla="val 2041"/>
            </a:avLst>
          </a:prstGeom>
          <a:solidFill>
            <a:srgbClr val="F0F6FA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ADDITION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512064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28600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 + v  =  [ u₁+v₁,  u₂+v₂,  … ]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element-by-element.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 = [1, 2],   v = [3, 4]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2976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9D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 + v = [1+3, 2+4] = [4, 6]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93776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FFB703">
              <a:alpha val="25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93776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Both vectors MUST have the same size.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add [1,2] and [1,2,3].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169164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0F6FA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 MULTIPLICATION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92240" y="2286000"/>
            <a:ext cx="5120640" cy="640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28600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· v  =  [ c·v₁,  c·v₂,  … ]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92240" y="3108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every entry by c (stretches / shrinks / flips the arrow).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35661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3886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= [2, 3],   c = 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92240" y="42976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9D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v = [4·2, 4·3] = [8, 12]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92240" y="493776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FFB703">
              <a:alpha val="25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493776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c &gt; 1 stretches,  0 &lt; c &lt; 1 shrinks,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&lt; 0 flips the direction.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DOT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Turning Two Vectors into One Number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4592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 · v  =  u₁·v₁  +  u₂·v₂  +  …  +  uₙ·vₙ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Recipe: multiply matching entries, then ADD them all up. Result is a SCALAR.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11064240" cy="2423160"/>
          </a:xfrm>
          <a:prstGeom prst="roundRect">
            <a:avLst>
              <a:gd name="adj" fmla="val 3774"/>
            </a:avLst>
          </a:prstGeom>
          <a:solidFill>
            <a:srgbClr val="F0F6FA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3832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703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 = [1, 2, 3],    v = [4, 5, 6].    Find  u · v.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4160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— multiply matching entries:  1·4 = 4,   2·5 = 10,   3·6 = 18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572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— add the products:  4 + 10 + 18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983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— result:  u · v = 32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80644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9EB3C2">
              <a:alpha val="35000"/>
            </a:srgbClr>
          </a:solidFill>
          <a:ln w="12700">
            <a:solidFill>
              <a:srgbClr val="9EB3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In ML, dot products measure SIMILARITY — used in search, recommendations, and neural nets.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CROSS PRODUCT (INTUITION)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Different Kind of Product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worry — we won't compute it by hand today. Just get the idea.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611880" cy="2743200"/>
          </a:xfrm>
          <a:prstGeom prst="roundRect">
            <a:avLst>
              <a:gd name="adj" fmla="val 3333"/>
            </a:avLst>
          </a:prstGeom>
          <a:solidFill>
            <a:srgbClr val="F0F6FA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42316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📐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31546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 only in 3D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566160"/>
            <a:ext cx="31546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product works for any size. Cross product ONLY for 3D vectors.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2240280"/>
            <a:ext cx="3611880" cy="2743200"/>
          </a:xfrm>
          <a:prstGeom prst="roundRect">
            <a:avLst>
              <a:gd name="adj" fmla="val 3333"/>
            </a:avLst>
          </a:prstGeom>
          <a:solidFill>
            <a:srgbClr val="F0F6FA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242316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➡️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26280" y="31546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 is a VECTOR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3566160"/>
            <a:ext cx="31546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dot product (scalar), cross product gives back another vector.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2240280"/>
            <a:ext cx="3611880" cy="2743200"/>
          </a:xfrm>
          <a:prstGeom prst="roundRect">
            <a:avLst>
              <a:gd name="adj" fmla="val 3333"/>
            </a:avLst>
          </a:prstGeom>
          <a:solidFill>
            <a:srgbClr val="F0F6FA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242316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⊥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321040" y="31546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Points PERPENDICULAR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66760" y="3566160"/>
            <a:ext cx="31546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perpendicular to BOTH input vectors (at a right angle to both).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16636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FB703">
              <a:alpha val="25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21208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example:   If your fingers curl from  u  to  v, your thumb points along  u × v.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  physics (torque, magnetic force), 3D graphics (surface normals), game engines.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MATRICES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Grid of Numbers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4663440"/>
          </a:xfrm>
          <a:prstGeom prst="roundRect">
            <a:avLst>
              <a:gd name="adj" fmla="val 1961"/>
            </a:avLst>
          </a:prstGeom>
          <a:solidFill>
            <a:srgbClr val="F0F6FA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matrix is a rectangular grid of numbers.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is  m × n  (rows × columns).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834640"/>
            <a:ext cx="5120640" cy="0"/>
          </a:xfrm>
          <a:prstGeom prst="line">
            <a:avLst/>
          </a:prstGeom>
          <a:noFill/>
          <a:ln w="12700">
            <a:solidFill>
              <a:srgbClr val="065A82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33756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UPPERCASE letter:  A, B, X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at row i, col j:  aᵢⱼ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starts from 1 (or 0 in code)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50292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example →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534924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is 2 × 3  (2 rows, 3 columns)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a₁₁ = 1,   a₁₃ = 3,   a₂₂ = 5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1645920"/>
            <a:ext cx="548640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31089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 =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7772400" y="2651760"/>
            <a:ext cx="0" cy="2194560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0" y="2651760"/>
            <a:ext cx="182880" cy="0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0" y="4846320"/>
            <a:ext cx="182880" cy="0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28803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144000" y="28803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0058400" y="28803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229600" y="37947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144000" y="37947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0058400" y="37947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11109960" y="2651760"/>
            <a:ext cx="0" cy="2194560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27080" y="2651760"/>
            <a:ext cx="182880" cy="0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927080" y="4846320"/>
            <a:ext cx="182880" cy="0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5486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×  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09360" y="5897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× columns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MATRIX OPERATIONS (PART 1)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Addition &amp; Transpose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669280" cy="4480560"/>
          </a:xfrm>
          <a:prstGeom prst="roundRect">
            <a:avLst>
              <a:gd name="adj" fmla="val 2041"/>
            </a:avLst>
          </a:prstGeom>
          <a:solidFill>
            <a:srgbClr val="F0F6FA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ADDITION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512064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28600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 + B)ᵢⱼ  =  Aᵢⱼ  +  Bᵢⱼ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matching entries — just like vectors.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= [[1,2],[3,4]],   B = [[5,6],[7,8]]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343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9D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+ B = [[6, 8], [10, 12]]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4983480"/>
            <a:ext cx="5120640" cy="1005840"/>
          </a:xfrm>
          <a:prstGeom prst="roundRect">
            <a:avLst>
              <a:gd name="adj" fmla="val 7273"/>
            </a:avLst>
          </a:prstGeom>
          <a:solidFill>
            <a:srgbClr val="FFB703">
              <a:alpha val="25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9834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Matrices MUST be the same shape.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2×2 can't be added to a 3×3.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169164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0F6FA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TRANSPOSE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92240" y="2286000"/>
            <a:ext cx="5120640" cy="640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28600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Aᵀ  =  swap rows  ⇄  columns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92240" y="3108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the matrix across its diagonal.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35661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3886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= [[1, 2, 3], [4, 5, 6]]   (2×3)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4343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9D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Aᵀ = [[1, 4], [2, 5], [3, 6]]   (3×2)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92240" y="4983480"/>
            <a:ext cx="5120640" cy="1005840"/>
          </a:xfrm>
          <a:prstGeom prst="roundRect">
            <a:avLst>
              <a:gd name="adj" fmla="val 7273"/>
            </a:avLst>
          </a:prstGeom>
          <a:solidFill>
            <a:srgbClr val="FFB703">
              <a:alpha val="25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49834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Row 1 of A becomes Column 1 of Aᵀ.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m×n matrix becomes n×m.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MATRIX MULTIPLICATION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Most Important Operation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 · B)ᵢⱼ  =  row i of A  ·  column j of B      (a dot product!)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F96167">
              <a:alpha val="25000"/>
            </a:srgbClr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60604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SIZE RULE:   A (m × k)   times   B (k × n)   →   result (m × n).   The INNER numbers must match!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11064240" cy="2926080"/>
          </a:xfrm>
          <a:prstGeom prst="roundRect">
            <a:avLst>
              <a:gd name="adj" fmla="val 3125"/>
            </a:avLst>
          </a:prstGeom>
          <a:solidFill>
            <a:srgbClr val="F0F6FA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474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  A = [[1, 2], [3, 4]]   and   B = [[5, 6], [7, 8]].   Find  A · B.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931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Entry (1,1) — row 1 of A · col 1 of B:  [1,2]·[5,7] = 1·5 + 2·7 = 5 + 14 = 19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3159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Entry (1,2) — row 1 of A · col 2 of B:  [1,2]·[6,8] = 1·6 + 2·8 = 6 + 16 = 22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700016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Entry (2,1) — row 2 of A · col 1 of B:  [3,4]·[5,7] = 3·5 + 4·7 = 15 + 28 = 43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5084064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Entry (2,2) — row 2 of A · col 2 of B:  [3,4]·[6,8] = 3·6 + 4·8 = 18 + 32 = 50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58521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9D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Result:   A · B  =  [ [19, 22], [43, 50] ]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MATMUL IN PICTURES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Entry (i, j) Gets Computed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entry (1, 1):  take ROW 1 of A (highlighted yellow) and COL 1 of B (highlighted red), dot-product them.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 =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783080" y="2606040"/>
            <a:ext cx="1188720" cy="594360"/>
          </a:xfrm>
          <a:prstGeom prst="rect">
            <a:avLst/>
          </a:prstGeom>
          <a:solidFill>
            <a:srgbClr val="FFB703">
              <a:alpha val="35000"/>
            </a:srgbClr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83080" y="26060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377440" y="26060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783080" y="3200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377440" y="3200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645920" y="2560320"/>
            <a:ext cx="0" cy="1325880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0" y="2560320"/>
            <a:ext cx="137160" cy="0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45920" y="3886200"/>
            <a:ext cx="137160" cy="0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17520" y="2560320"/>
            <a:ext cx="0" cy="1325880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80360" y="2560320"/>
            <a:ext cx="137160" cy="0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80360" y="3886200"/>
            <a:ext cx="137160" cy="0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265176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3657600" y="265176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 =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4800600" y="2606040"/>
            <a:ext cx="594360" cy="1188720"/>
          </a:xfrm>
          <a:prstGeom prst="rect">
            <a:avLst/>
          </a:prstGeom>
          <a:solidFill>
            <a:srgbClr val="F96167">
              <a:alpha val="35000"/>
            </a:srgbClr>
          </a:solidFill>
          <a:ln w="12700">
            <a:solidFill>
              <a:srgbClr val="F9616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6060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394960" y="26060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800600" y="3200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394960" y="3200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663440" y="2560320"/>
            <a:ext cx="0" cy="1325880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2560320"/>
            <a:ext cx="137160" cy="0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3886200"/>
            <a:ext cx="137160" cy="0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35040" y="2560320"/>
            <a:ext cx="0" cy="1325880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97880" y="2560320"/>
            <a:ext cx="137160" cy="0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97880" y="3886200"/>
            <a:ext cx="137160" cy="0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2651760"/>
            <a:ext cx="457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</a:t>
            </a:r>
            <a:endParaRPr lang="en-US" sz="3200" dirty="0"/>
          </a:p>
        </p:txBody>
      </p:sp>
      <p:sp>
        <p:nvSpPr>
          <p:cNvPr id="31" name="Shape 29"/>
          <p:cNvSpPr/>
          <p:nvPr/>
        </p:nvSpPr>
        <p:spPr>
          <a:xfrm>
            <a:off x="6995160" y="2606040"/>
            <a:ext cx="594360" cy="594360"/>
          </a:xfrm>
          <a:prstGeom prst="rect">
            <a:avLst/>
          </a:prstGeom>
          <a:solidFill>
            <a:srgbClr val="2D9D78">
              <a:alpha val="35000"/>
            </a:srgbClr>
          </a:solidFill>
          <a:ln w="12700">
            <a:solidFill>
              <a:srgbClr val="2D9D78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95160" y="26060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589520" y="26060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995160" y="3200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589520" y="3200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6858000" y="2560320"/>
            <a:ext cx="0" cy="1325880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58000" y="2560320"/>
            <a:ext cx="137160" cy="0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58000" y="3886200"/>
            <a:ext cx="137160" cy="0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29600" y="2560320"/>
            <a:ext cx="0" cy="1325880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92440" y="2560320"/>
            <a:ext cx="137160" cy="0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92440" y="3886200"/>
            <a:ext cx="137160" cy="0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" y="457200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F0F6FA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1520" y="4709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Entry (1, 1)  =  (yellow row)  ·  (red column)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731520" y="5120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[1, 2] · [5, 7]  =  1·5 + 2·7  =  5 + 14  =  19   ← goes in the GREEN box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731520" y="5577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for each entry of the result (row i of A, col j of B).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WARNING:  Matrix multiplication is NOT commutative.   A · B  ≠  B · A   (in general).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IDENTITY MATRIX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"1" of Matrices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like  1 · x = x  for numbers,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IDENTITY MATRIX  I  does nothing.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5669280" cy="82296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69748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· A  =  A  =  A · I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374904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114800"/>
            <a:ext cx="5577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square (n × n).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1's on the diagonal, 0's everywhere else.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as  Iₙ  or just  I.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5715000"/>
            <a:ext cx="5669280" cy="594360"/>
          </a:xfrm>
          <a:prstGeom prst="roundRect">
            <a:avLst>
              <a:gd name="adj" fmla="val 12308"/>
            </a:avLst>
          </a:prstGeom>
          <a:solidFill>
            <a:srgbClr val="FFB703">
              <a:alpha val="25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71500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Multiplying by I leaves the matrix UNCHANGED.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1645920"/>
            <a:ext cx="5394960" cy="4663440"/>
          </a:xfrm>
          <a:prstGeom prst="rect">
            <a:avLst/>
          </a:prstGeom>
          <a:solidFill>
            <a:srgbClr val="F0F6FA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1031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I₂  =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498080" y="1920240"/>
            <a:ext cx="0" cy="91440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0" y="1920240"/>
            <a:ext cx="109728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0" y="2834640"/>
            <a:ext cx="109728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0" y="1920240"/>
            <a:ext cx="0" cy="91440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85632" y="1920240"/>
            <a:ext cx="109728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85632" y="2834640"/>
            <a:ext cx="109728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04672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58952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04672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309360" y="37947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I₃  =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315200" y="3383280"/>
            <a:ext cx="0" cy="137160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0" y="3383280"/>
            <a:ext cx="109728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0" y="4754880"/>
            <a:ext cx="109728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69680" y="3383280"/>
            <a:ext cx="0" cy="137160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59952" y="3383280"/>
            <a:ext cx="109728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59952" y="4754880"/>
            <a:ext cx="109728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0664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86384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32104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40664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86384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32104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40664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86384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832104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400800" y="58521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(diagonal = 1, off-diagonal = 0)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INVERSE MATRIX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"÷" of Matrices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45920"/>
            <a:ext cx="11064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· A⁻¹  =  I  =  A⁻¹ · 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like  5 · (1/5) = 1,  the inverse  A⁻¹  "undoes"  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3611880" cy="2926080"/>
          </a:xfrm>
          <a:prstGeom prst="roundRect">
            <a:avLst>
              <a:gd name="adj" fmla="val 3125"/>
            </a:avLst>
          </a:prstGeom>
          <a:solidFill>
            <a:srgbClr val="F0F6FA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3520440"/>
            <a:ext cx="685800" cy="6858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35204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43434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Square only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4892040"/>
            <a:ext cx="3063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square matrices (n × n) can have an inverse.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3337560"/>
            <a:ext cx="3611880" cy="2926080"/>
          </a:xfrm>
          <a:prstGeom prst="roundRect">
            <a:avLst>
              <a:gd name="adj" fmla="val 3125"/>
            </a:avLst>
          </a:prstGeom>
          <a:solidFill>
            <a:srgbClr val="F0F6FA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06440" y="3520440"/>
            <a:ext cx="685800" cy="6858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06440" y="35204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26280" y="43434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always exists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17720" y="4892040"/>
            <a:ext cx="3063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matrices don't have an inverse (called SINGULAR).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38160" y="3337560"/>
            <a:ext cx="3611880" cy="2926080"/>
          </a:xfrm>
          <a:prstGeom prst="roundRect">
            <a:avLst>
              <a:gd name="adj" fmla="val 3125"/>
            </a:avLst>
          </a:prstGeom>
          <a:solidFill>
            <a:srgbClr val="F0F6FA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0" y="3520440"/>
            <a:ext cx="685800" cy="6858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0" y="35204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321040" y="43434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Solve equations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12480" y="4892040"/>
            <a:ext cx="3063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 A·x = b,  then  x = A⁻¹·b.  Exactly like dividing!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 Algebra in Machine Learning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F0F6F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REPRESENTING DATA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Datasets are matrices.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278892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926080"/>
          <a:ext cx="475488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280160"/>
                <a:gridCol w="1280160"/>
                <a:gridCol w="146304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Bed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Bath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Sq.ft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H₁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1400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H₂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2100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H₃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900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31520" y="50292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is a data point. Each COLUMN is a feature.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53949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whole table = one matrix  X.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09360" y="169164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021F3D"/>
          </a:solidFill>
          <a:ln w="12700">
            <a:solidFill>
              <a:srgbClr val="021F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92240" y="1828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TRANSFORMATIONS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92240" y="22860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Matrices transform data.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492240" y="2880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583680" y="329184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an image → multiply pixels by a rotation matrix.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layer → output = W · input + b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reduction (PCA) → project onto smaller space.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images / text → low-rank matrix factorisation.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92240" y="5760720"/>
            <a:ext cx="5029200" cy="457200"/>
          </a:xfrm>
          <a:prstGeom prst="roundRect">
            <a:avLst>
              <a:gd name="adj" fmla="val 12000"/>
            </a:avLst>
          </a:prstGeom>
          <a:solidFill>
            <a:srgbClr val="9EB3C2"/>
          </a:solidFill>
          <a:ln w="12700">
            <a:solidFill>
              <a:srgbClr val="9EB3C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92240" y="5760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ML = data (matrices) × transformations (more matrices)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Theory — What We Learned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0F6FA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11680"/>
            <a:ext cx="731520" cy="7315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91640" y="20116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objects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91640" y="26060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Scalars (numbers), vectors (lists), matrices (grids)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0F6FA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2011680"/>
            <a:ext cx="731520" cy="7315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315200" y="20116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Vector ops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0" y="26060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scalar mult., dot product (similarity)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0F6FA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069080"/>
            <a:ext cx="731520" cy="7315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069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40690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Matrix ops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91640" y="46634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multiply (row·col), transpose (flip)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220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0F6FA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4069080"/>
            <a:ext cx="731520" cy="7315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4069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315200" y="40690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 &amp; inverse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315200" y="46634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does nothing;  A⁻¹ undoes 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85216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FFB703">
              <a:alpha val="30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☕  Break time — see you in 10 minutes, then we PRACTICE!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120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Practical  •  2 hours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4297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 with small matrices by hand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· EXAMPLE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 (Together on the Board)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021F3D"/>
          </a:solidFill>
          <a:ln w="12700">
            <a:solidFill>
              <a:srgbClr val="021F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 u + v  where  u = [2, 3, 5]  and  v = [1, 4, 2].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11064240" cy="1792224"/>
          </a:xfrm>
          <a:prstGeom prst="roundRect">
            <a:avLst>
              <a:gd name="adj" fmla="val 5102"/>
            </a:avLst>
          </a:prstGeom>
          <a:solidFill>
            <a:srgbClr val="F0F6FA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26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65960" y="329184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both vectors have the SAME size.  u has 3 entries, v has 3 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67588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65960" y="3675888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matching entries:  (2+1),  (3+4),  (5+2)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05993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65960" y="4059936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each:  3,  7,  7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764024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2D9D78"/>
          </a:solidFill>
          <a:ln w="12700">
            <a:solidFill>
              <a:srgbClr val="2D9D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764024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Answer:   u + v = [3, 7, 7]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· EXAMPLE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 (Together on the Board)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021F3D"/>
          </a:solidFill>
          <a:ln w="12700">
            <a:solidFill>
              <a:srgbClr val="021F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 3 · v  where  v = [2, −1, 4].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11064240" cy="1792224"/>
          </a:xfrm>
          <a:prstGeom prst="roundRect">
            <a:avLst>
              <a:gd name="adj" fmla="val 5102"/>
            </a:avLst>
          </a:prstGeom>
          <a:solidFill>
            <a:srgbClr val="F0F6FA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26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65960" y="329184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Rule: multiply EACH entry by the scalar 3.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67588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65960" y="3675888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Multiply:  3·2,  3·(−1),  3·4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05993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65960" y="4059936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Simplify:  6,  −3,  12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764024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2D9D78"/>
          </a:solidFill>
          <a:ln w="12700">
            <a:solidFill>
              <a:srgbClr val="2D9D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764024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Answer:   3 · v = [6, −3, 12]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· EXAMPLE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 (Together on the Board)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021F3D"/>
          </a:solidFill>
          <a:ln w="12700">
            <a:solidFill>
              <a:srgbClr val="021F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 u · v  where  u = [2, 3, 4]  and  v = [1, 0, 2].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11064240" cy="2176272"/>
          </a:xfrm>
          <a:prstGeom prst="roundRect">
            <a:avLst>
              <a:gd name="adj" fmla="val 4202"/>
            </a:avLst>
          </a:prstGeom>
          <a:solidFill>
            <a:srgbClr val="F0F6FA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26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65960" y="329184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size? u has 3, v has 3 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67588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65960" y="3675888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 matching entries:  2·1 = 2,   3·0 = 0,   4·2 = 8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05993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65960" y="4059936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 them up:  2 + 0 + 8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44398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65960" y="4443984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= 10.  Note: result is a single NUMBER (scalar).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148072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2D9D78"/>
          </a:solidFill>
          <a:ln w="12700">
            <a:solidFill>
              <a:srgbClr val="2D9D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5148072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Answer:   u · v = 10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· EXAMPLE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 (Together on the Board)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021F3D"/>
          </a:solidFill>
          <a:ln w="12700">
            <a:solidFill>
              <a:srgbClr val="021F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 A + B  where  A = [[1, 2], [3, 4]]  and  B = [[5, 1], [0, 2]].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11064240" cy="2560320"/>
          </a:xfrm>
          <a:prstGeom prst="roundRect">
            <a:avLst>
              <a:gd name="adj" fmla="val 3571"/>
            </a:avLst>
          </a:prstGeom>
          <a:solidFill>
            <a:srgbClr val="F0F6FA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26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65960" y="329184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shape? Both are 2 × 2 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67588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65960" y="3675888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entry (1,1):  1 + 5 = 6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05993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65960" y="4059936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entry (1,2):  2 + 1 = 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44398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65960" y="4443984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entry (2,1):  3 + 0 = 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82803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65960" y="4828032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entry (2,2):  4 + 2 = 6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53212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2D9D78"/>
          </a:solidFill>
          <a:ln w="12700">
            <a:solidFill>
              <a:srgbClr val="2D9D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5321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Answer:   A + B = [[6, 3], [3, 6]]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· EXAMPLE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 (Together on the Board)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021F3D"/>
          </a:solidFill>
          <a:ln w="12700">
            <a:solidFill>
              <a:srgbClr val="021F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 Aᵀ  where  A = [[1, 2, 3], [4, 5, 6]].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11064240" cy="2176272"/>
          </a:xfrm>
          <a:prstGeom prst="roundRect">
            <a:avLst>
              <a:gd name="adj" fmla="val 4202"/>
            </a:avLst>
          </a:prstGeom>
          <a:solidFill>
            <a:srgbClr val="F0F6FA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26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65960" y="329184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is 2 × 3. Transpose flips the shape → Aᵀ will be 3 × 2.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67588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65960" y="3675888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 1 of A  = [1, 2, 3]  becomes  Column 1 of Aᵀ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05993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65960" y="4059936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 2 of A  = [4, 5, 6]  becomes  Column 2 of Aᵀ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44398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65960" y="4443984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them as columns: col1 = [1, 2, 3], col2 = [4, 5, 6]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148072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2D9D78"/>
          </a:solidFill>
          <a:ln w="12700">
            <a:solidFill>
              <a:srgbClr val="2D9D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5148072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Answer:   Aᵀ = [[1, 4], [2, 5], [3, 6]]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· EXAMPLE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 (Together on the Board)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021F3D"/>
          </a:solidFill>
          <a:ln w="12700">
            <a:solidFill>
              <a:srgbClr val="021F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 A · B  where  A = [[1, 2], [0, 1]]  and  B = [[3, 0], [1, 4]].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11064240" cy="2560320"/>
          </a:xfrm>
          <a:prstGeom prst="roundRect">
            <a:avLst>
              <a:gd name="adj" fmla="val 3571"/>
            </a:avLst>
          </a:prstGeom>
          <a:solidFill>
            <a:srgbClr val="F0F6FA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26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65960" y="329184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Size check: A is 2×2, B is 2×2. Inner 2 = 2 ✓. Result will be 2×2.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67588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65960" y="3675888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Entry (1,1) = row1(A) · col1(B) = [1,2]·[3,1] = 1·3 + 2·1 = 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05993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65960" y="4059936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Entry (1,2) = [1,2] · [0,4] = 1·0 + 2·4 = 8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44398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65960" y="4443984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Entry (2,1) = [0,1] · [3,1] = 0·3 + 1·1 = 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82803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65960" y="4828032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Entry (2,2) = [0,1] · [0,4] = 0·0 + 1·4 = 4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53212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2D9D78"/>
          </a:solidFill>
          <a:ln w="12700">
            <a:solidFill>
              <a:srgbClr val="2D9D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5321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Answer:   A · B = [[5, 8], [1, 4]]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2 · PAIR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Turn — Work in Pairs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71600" y="2103120"/>
            <a:ext cx="9144000" cy="3474720"/>
          </a:xfrm>
          <a:prstGeom prst="roundRect">
            <a:avLst>
              <a:gd name="adj" fmla="val 3947"/>
            </a:avLst>
          </a:prstGeom>
          <a:solidFill>
            <a:srgbClr val="F0F6FA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2286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👥  How this works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286000" y="2834640"/>
            <a:ext cx="7772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up with the person next to you.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the practice questions on the next slides.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your steps to your partner out loud.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Stuck? Raise your hand — we'll help!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~30 min, we'll review every answer together.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371600" y="5760720"/>
            <a:ext cx="9144000" cy="640080"/>
          </a:xfrm>
          <a:prstGeom prst="roundRect">
            <a:avLst>
              <a:gd name="adj" fmla="val 14286"/>
            </a:avLst>
          </a:prstGeom>
          <a:solidFill>
            <a:srgbClr val="FFB703">
              <a:alpha val="30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57607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Remember:  ALWAYS check matrix sizes FIRST before computing!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9EB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120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TIME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Practice Questions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4297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Solutions follow — try them FIRST, then check!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QUESTIONS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1 – 5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0F6F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56232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56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1764792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 u = [1, 4, 2]  and  v = [3, −1, 5],  find  u + v.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14884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Hint: Add entry by entry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0F6F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724912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724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2633472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 5 · v  where  v = [2, 0, −3].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301752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Hint: Scalar multiplication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0F6F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593592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593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71600" y="3502152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 u · v  for  u = [1, 2]  and  v = [4, 3].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88620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Hint: Dot product → single number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2976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0F6F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462272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462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71600" y="4370832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 A = [[2, 1], [0, 3]]  and  B = [[1, 4], [5, 2]].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475488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Hint: Entry-by-entry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1663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0F6F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5330952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330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371600" y="5239512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 Aᵀ  for  A = [[1, 5], [2, 6], [3, 7]].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71600" y="562356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Hint: Rows ⇄ columns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QUESTIONS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6 – 10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0F6F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56232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56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1764792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 A · B  where  A = [[1, 0], [2, 1]]  and  B = [[3, 4], [1, 2]].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14884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Hint: Row-col dot products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0F6F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724912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724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2633472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matrix multiplication commutative?  (Does A·B always equal B·A?)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301752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Hint: Try A=[[1,1],[0,1]], B=[[1,0],[1,1]]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0F6F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593592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593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71600" y="3502152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 I₃ · A  if  A = [[5, 6], [7, 8], [9, 0]]?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88620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Hint: I does nothing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2976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0F6F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462272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462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71600" y="4370832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you multiply a 3×2 matrix by a 2×4 matrix? If yes, what's the result's shape?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475488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Hint: Check inner numbers; result uses outer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1663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0F6F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5330952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330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371600" y="5239512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dataset has 100 houses, each with 4 features (bed, bath, sq.ft, price). What shape is the data matrix X?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71600" y="562356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Hint: Rows = samples, cols = features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2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120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 Key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4297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work — and understand every step!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Q1:  Vector Addition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021F3D"/>
          </a:solidFill>
          <a:ln w="12700">
            <a:solidFill>
              <a:srgbClr val="021F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Problem:  u = [1, 4, 2],   v = [3, −1, 5].   Find u + v.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1874520"/>
          </a:xfrm>
          <a:prstGeom prst="roundRect">
            <a:avLst>
              <a:gd name="adj" fmla="val 4878"/>
            </a:avLst>
          </a:prstGeom>
          <a:solidFill>
            <a:srgbClr val="F0F6FA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743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Check same size: u has 3, v has 3 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Add entries:  1 + 3 = 4,   4 + (−1) = 3,   2 + 5 = 7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9319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Stack them back into a vector.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66344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2D9D78"/>
          </a:solidFill>
          <a:ln w="12700">
            <a:solidFill>
              <a:srgbClr val="2D9D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6634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Answer:   u + v = [4, 3, 7]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Q2:  Scalar Multiplication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021F3D"/>
          </a:solidFill>
          <a:ln w="12700">
            <a:solidFill>
              <a:srgbClr val="021F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Problem:  5 · v  where  v = [2, 0, −3].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1874520"/>
          </a:xfrm>
          <a:prstGeom prst="roundRect">
            <a:avLst>
              <a:gd name="adj" fmla="val 4878"/>
            </a:avLst>
          </a:prstGeom>
          <a:solidFill>
            <a:srgbClr val="F0F6FA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743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Multiply EACH entry by 5: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5·2 = 10,   5·0 = 0,   5·(−3) = −15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9319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Put them back into a vector.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66344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2D9D78"/>
          </a:solidFill>
          <a:ln w="12700">
            <a:solidFill>
              <a:srgbClr val="2D9D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6634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Answer:   5 · v = [10, 0, −15]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Q3:  Dot Product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021F3D"/>
          </a:solidFill>
          <a:ln w="12700">
            <a:solidFill>
              <a:srgbClr val="021F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Problem:  u = [1, 2],   v = [4, 3].   Find u · v.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2286000"/>
          </a:xfrm>
          <a:prstGeom prst="roundRect">
            <a:avLst>
              <a:gd name="adj" fmla="val 4000"/>
            </a:avLst>
          </a:prstGeom>
          <a:solidFill>
            <a:srgbClr val="F0F6FA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743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Same size: both have 2 entries 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Multiply matching entries:  1·4 = 4,   2·3 = 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9319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Sum:  4 + 6 = 10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3434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Result is a SCALAR (single number).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2D9D78"/>
          </a:solidFill>
          <a:ln w="12700">
            <a:solidFill>
              <a:srgbClr val="2D9D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50749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Answer:   u · v = 10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Q4:  Matrix Addition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021F3D"/>
          </a:solidFill>
          <a:ln w="12700">
            <a:solidFill>
              <a:srgbClr val="021F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Problem:  A = [[2, 1], [0, 3]],   B = [[1, 4], [5, 2]].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1874520"/>
          </a:xfrm>
          <a:prstGeom prst="roundRect">
            <a:avLst>
              <a:gd name="adj" fmla="val 4878"/>
            </a:avLst>
          </a:prstGeom>
          <a:solidFill>
            <a:srgbClr val="F0F6FA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743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Both are 2 × 2 ✓  — shapes match.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Entry (1,1):  2 + 1 = 3        Entry (1,2):  1 + 4 = 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9319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Entry (2,1):  0 + 5 = 5        Entry (2,2):  3 + 2 = 5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66344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2D9D78"/>
          </a:solidFill>
          <a:ln w="12700">
            <a:solidFill>
              <a:srgbClr val="2D9D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6634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Answer:   A + B = [[3, 5], [5, 5]]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Q5:  Transpose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021F3D"/>
          </a:solidFill>
          <a:ln w="12700">
            <a:solidFill>
              <a:srgbClr val="021F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Problem:  A = [[1, 5], [2, 6], [3, 7]].   Find Aᵀ.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2697480"/>
          </a:xfrm>
          <a:prstGeom prst="roundRect">
            <a:avLst>
              <a:gd name="adj" fmla="val 3390"/>
            </a:avLst>
          </a:prstGeom>
          <a:solidFill>
            <a:srgbClr val="F0F6FA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743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A is 3 × 2. Transpose flips shape → Aᵀ is 2 × 3.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Row 1 of A = [1, 5]  becomes  Column 1 of Aᵀ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9319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Row 2 of A = [2, 6]  becomes  Column 2 of Aᵀ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3434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Row 3 of A = [3, 7]  becomes  Column 3 of Aᵀ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7548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Stacking columns:  first row = [1, 2, 3], second row = [5, 6, 7]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4864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2D9D78"/>
          </a:solidFill>
          <a:ln w="12700">
            <a:solidFill>
              <a:srgbClr val="2D9D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4864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Answer:   Aᵀ = [[1, 2, 3], [5, 6, 7]]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Q6:  Matrix Multiplication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021F3D"/>
          </a:solidFill>
          <a:ln w="12700">
            <a:solidFill>
              <a:srgbClr val="021F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Problem:  A = [[1, 0], [2, 1]],   B = [[3, 4], [1, 2]].   Find A · B.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2697480"/>
          </a:xfrm>
          <a:prstGeom prst="roundRect">
            <a:avLst>
              <a:gd name="adj" fmla="val 3390"/>
            </a:avLst>
          </a:prstGeom>
          <a:solidFill>
            <a:srgbClr val="F0F6FA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743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Size check:  2×2 · 2×2 ✓.  Result is 2×2.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(1,1): [1,0]·[3,1] = 1·3 + 0·1 = 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9319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(1,2): [1,0]·[4,2] = 1·4 + 0·2 = 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3434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(2,1): [2,1]·[3,1] = 2·3 + 1·1 = 7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7548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(2,2): [2,1]·[4,2] = 2·4 + 1·2 = 10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4864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2D9D78"/>
          </a:solidFill>
          <a:ln w="12700">
            <a:solidFill>
              <a:srgbClr val="2D9D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4864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Answer:   A · B = [[3, 4], [7, 10]]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Q7:  Is MatMul Commutative?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021F3D"/>
          </a:solidFill>
          <a:ln w="12700">
            <a:solidFill>
              <a:srgbClr val="021F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Problem:  Does A · B always equal B · A?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2697480"/>
          </a:xfrm>
          <a:prstGeom prst="roundRect">
            <a:avLst>
              <a:gd name="adj" fmla="val 3390"/>
            </a:avLst>
          </a:prstGeom>
          <a:solidFill>
            <a:srgbClr val="F0F6FA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743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NO — in general matrix multiplication is NOT commutative.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Test with  A = [[1, 1], [0, 1]],  B = [[1, 0], [1, 1]]: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9319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A · B = [[2, 1], [1, 1]]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3434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B · A = [[1, 1], [1, 2]]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7548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They're different — so A·B ≠ B·A in this case.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4864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2D9D78"/>
          </a:solidFill>
          <a:ln w="12700">
            <a:solidFill>
              <a:srgbClr val="2D9D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4864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Answer:   No — A · B ≠ B · A in general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Q8:  Identity Matrix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021F3D"/>
          </a:solidFill>
          <a:ln w="12700">
            <a:solidFill>
              <a:srgbClr val="021F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Problem:  I₃ · A  where  A = [[5, 6], [7, 8], [9, 0]].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1874520"/>
          </a:xfrm>
          <a:prstGeom prst="roundRect">
            <a:avLst>
              <a:gd name="adj" fmla="val 4878"/>
            </a:avLst>
          </a:prstGeom>
          <a:solidFill>
            <a:srgbClr val="F0F6FA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743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I is the "1" of matrices — multiplying by it changes nothing.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Rule:  I · A = A  (and  A · I = A).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9319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So no computation needed.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66344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2D9D78"/>
          </a:solidFill>
          <a:ln w="12700">
            <a:solidFill>
              <a:srgbClr val="2D9D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6634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Answer:   I₃ · A = A = [[5, 6], [7, 8], [9, 0]]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Q9:  Shape Check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021F3D"/>
          </a:solidFill>
          <a:ln w="12700">
            <a:solidFill>
              <a:srgbClr val="021F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Problem:  Can you multiply 3×2 by 2×4? What's the result's shape?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1874520"/>
          </a:xfrm>
          <a:prstGeom prst="roundRect">
            <a:avLst>
              <a:gd name="adj" fmla="val 4878"/>
            </a:avLst>
          </a:prstGeom>
          <a:solidFill>
            <a:srgbClr val="F0F6FA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743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Rule:  (m × k) · (k × n)  →  (m × n).   INNER numbers must match.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Here: 3×2 · 2×4. Inner numbers:  2 and 2 ✓ — they match.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9319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Outer numbers give result shape:  3 × 4.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66344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2D9D78"/>
          </a:solidFill>
          <a:ln w="12700">
            <a:solidFill>
              <a:srgbClr val="2D9D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6634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Answer:   Yes — result is 3 × 4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Q10:  Shape of Data Matrix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021F3D"/>
          </a:solidFill>
          <a:ln w="12700">
            <a:solidFill>
              <a:srgbClr val="021F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Problem:  100 houses, each with 4 features. What shape is the data matrix X?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2286000"/>
          </a:xfrm>
          <a:prstGeom prst="roundRect">
            <a:avLst>
              <a:gd name="adj" fmla="val 4000"/>
            </a:avLst>
          </a:prstGeom>
          <a:solidFill>
            <a:srgbClr val="F0F6FA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743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Convention: ROWS = samples (data points), COLUMNS = features.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100 samples → 100 rows.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9319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4 features → 4 columns.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3434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So X is a 100 × 4 matrix.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2D9D78"/>
          </a:solidFill>
          <a:ln w="12700">
            <a:solidFill>
              <a:srgbClr val="2D9D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50749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Answer:   X is 100 × 4   (100 rows, 4 columns)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2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4114800"/>
            <a:ext cx="4572000" cy="457200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🎉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Great work today!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5166360" y="3794760"/>
            <a:ext cx="1828800" cy="0"/>
          </a:xfrm>
          <a:prstGeom prst="line">
            <a:avLst/>
          </a:prstGeom>
          <a:noFill/>
          <a:ln w="38100">
            <a:solidFill>
              <a:srgbClr val="9EB3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97764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EB3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now understand vectors, matrices,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9EB3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their operations, and why they power ML.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51206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completed the 3-day math foundations for ML! 🎓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37560" y="5715000"/>
            <a:ext cx="5486400" cy="731520"/>
          </a:xfrm>
          <a:prstGeom prst="roundRect">
            <a:avLst>
              <a:gd name="adj" fmla="val 50000"/>
            </a:avLst>
          </a:prstGeom>
          <a:solidFill>
            <a:srgbClr val="9EB3C2"/>
          </a:solidFill>
          <a:ln w="12700">
            <a:solidFill>
              <a:srgbClr val="9EB3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57150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going — you've got this! 👋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3: Linear Algebra</dc:title>
  <dc:subject>PptxGenJS Presentation</dc:subject>
  <dc:creator>Math Lecture Series</dc:creator>
  <cp:lastModifiedBy>Math Lecture Series</cp:lastModifiedBy>
  <cp:revision>1</cp:revision>
  <dcterms:created xsi:type="dcterms:W3CDTF">2026-04-16T11:32:02Z</dcterms:created>
  <dcterms:modified xsi:type="dcterms:W3CDTF">2026-04-16T11:32:02Z</dcterms:modified>
</cp:coreProperties>
</file>
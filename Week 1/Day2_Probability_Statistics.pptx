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C9A96E">
              <a:alpha val="30000"/>
            </a:srgbClr>
          </a:solidFill>
          <a:ln w="12700">
            <a:solidFill>
              <a:srgbClr val="C9A9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Statistics Basics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1828800" cy="0"/>
          </a:xfrm>
          <a:prstGeom prst="line">
            <a:avLst/>
          </a:prstGeom>
          <a:noFill/>
          <a:ln w="381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 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Data types · Descriptive stats · Probability · Distributions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Learn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914400" cy="9144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stats, probability, distributions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914400" cy="9144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2:10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— compute by hand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914400" cy="9144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72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82880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 – 3:00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4800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+ real-world problems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3931920" cy="914400"/>
          </a:xfrm>
          <a:prstGeom prst="rect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Probability shows up EVERYWHERE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 science and ML — let's go!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 •  1 hour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making predictions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need statistics?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 helps us MAKE SENSE of data.   Probability helps us PREDICT what comes next.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🌦️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chance of rain tomorrow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💊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drug works in 85% of patients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📧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Spam filter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email spam or not?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7260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is the prediction?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TYPES OF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analyze, we classify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comes in two big families: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AF4E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5577840" cy="640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CATEGORICAL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groups / labels (not numbers)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Nominal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886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order.  E.g., colors (red / blue), gender, country names.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order, but gaps aren't equal.  E.g., small/medium/large, ratings 1–5.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AF4EF"/>
          </a:solidFill>
          <a:ln w="25400">
            <a:solidFill>
              <a:srgbClr val="A267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94560"/>
            <a:ext cx="5577840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945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is actual numbers (you can do math on it)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342900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3886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Whole-number counts.  E.g., #students in class, #goals in a match.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84632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in a range.  E.g., height (1.73 m), weight, temperature.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classify these?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type (A, B, AB, 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20116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65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in a race (1st, 2nd, 3rd)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2560320"/>
            <a:ext cx="20116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AF4E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83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siblings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2011680" cy="3657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AF4E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383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in centimetres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3977640"/>
            <a:ext cx="2011680" cy="3657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00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T-shirt size (S, M, L, XL)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7240" y="5394960"/>
            <a:ext cx="20116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800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Favourite movie genre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5394960"/>
            <a:ext cx="20116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DESCRIPTIVE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Summarising Data in a Few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1,000 numbers, you don't read them all — you SUMMARISE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FAF4E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middle?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73152" cy="8229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246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— add them all, divide by count.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73152" cy="8229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4526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when you line them up in order.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166360"/>
            <a:ext cx="73152" cy="8229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166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5486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value (appears most often).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24028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FAF4EF"/>
          </a:solidFill>
          <a:ln w="254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377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/ VARIABILITY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743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 out is the data?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3246120"/>
            <a:ext cx="73152" cy="8229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246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squared distance from the mean.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206240"/>
            <a:ext cx="73152" cy="8229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Deviation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4526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variance — same units as the data.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5166360"/>
            <a:ext cx="73152" cy="8229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5166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2280" y="5486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Simplest: max − min (we'll only mention it).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(AVERAGE)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them all, divide by how many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 =  ( x₁ + x₂ + … + xₙ ) / 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64240" cy="3383280"/>
          </a:xfrm>
          <a:prstGeom prst="roundRect">
            <a:avLst>
              <a:gd name="adj" fmla="val 2703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scores:   7,   8,   10,   6,   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 Add them up:  7 + 8 + 10 + 6 + 9 = 40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 Count how many numbers there are:  n =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 Divide the sum by the count:  40 / 5 = 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Mean = 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&amp; MODE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Two "Middles"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after sorting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(odd count):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  3,  7,  5,  9,  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Sort:    3,  4, 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3429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7,  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=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3794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303520" cy="0"/>
          </a:xfrm>
          <a:prstGeom prst="line">
            <a:avLst/>
          </a:prstGeom>
          <a:noFill/>
          <a:ln w="12700">
            <a:solidFill>
              <a:srgbClr val="6D2E4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0080" y="4434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count?  Average the two middle numbers: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  2,  3,  6,  8  →  (3 + 6)/2 = 4.5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57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Median is NOT affected by extreme values (outliers).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AF4E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that appears most often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Shoe sizes:   8,  9,  7,  9,  10,  9,  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each: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→ 1 time,   8 → 2 times,   9 → 3 times,   10 → 1 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343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=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4343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52578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257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Mode is the ONLY middle you can use for categorical data.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&amp; STD. DEVIATION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Spread Out is the Data?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 σ²  =  Σ (xᵢ − μ)² / n            Std. Dev.  σ  =  √Variance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words: how FAR each value is from the mean, on average (squared, then averaged).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3291840"/>
          </a:xfrm>
          <a:prstGeom prst="roundRect">
            <a:avLst>
              <a:gd name="adj" fmla="val 2778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  2,  4,  4,  6,   Mean μ = 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deviations (xᵢ − μ):   2−4 = −2,   4−4 = 0,   4−4 = 0,   6−4 =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square each:            (−2)² = 4,    0² = 0,    0² = 0,    2² = 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sum the squares:        4 + 0 + 0 + 4  =  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divide by n = 4:         σ² = 8 / 4  =  2     (Variance)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square root:              σ = √2  ≈  1.41     (Std. Deviation)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PROBABILITY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 of Chance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P(event)  =  (favourable outcomes)  /  (total outcomes)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Space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137160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5760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 outcomes.  Written as  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rolling a die:  S = {1, 2, 3, 4, 5, 6}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88036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80560" y="3520440"/>
            <a:ext cx="137160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365760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the sample space (what we want).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"rolling even":  E = {2, 4, 6}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88036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0" y="3520440"/>
            <a:ext cx="137160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65760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between 0 and 1.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impossible, 1 = certain,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= equal chance.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Coins and Dice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🪙  Flipping a FAIR coin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space:   S = { Heads, Tails 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"get Heads":   E = { Heads 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P(Heads)  =  1 / 2  =  0.5  =  50%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069080"/>
            <a:ext cx="5212080" cy="0"/>
          </a:xfrm>
          <a:prstGeom prst="line">
            <a:avLst/>
          </a:prstGeom>
          <a:noFill/>
          <a:ln w="12700">
            <a:solidFill>
              <a:srgbClr val="6D2E4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1520" y="42519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if you flip 1,000 coins, about 500 should be Heads.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AF4E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🎲  Rolling a FAIR 6-sided die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space:   S = {1, 2, 3, 4, 5, 6}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"roll even":   E = {2, 4, 6}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383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P(even)  =  3 / 6  =  0.5  =  50%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069080"/>
            <a:ext cx="512064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92240" y="42519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"roll a 7":  impossible (not in S) → P = 0.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ADDITION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we want A OR 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that CAN'T happen together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120640" cy="640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∪ B)  =  P(A)  +  P(B)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a die — P(1 or 6)?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die can't show both at once.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P(1) + P(6) = 1/6 + 1/6 = 2/6 = 1/3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2120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12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If events can't overlap → just add probabilities.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AF4E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MUTUALLY EXCLUSIVE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that CAN overlap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2651760"/>
            <a:ext cx="5120640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∪ B)  =  P(A) + P(B) − P(A ∩ B)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— P(Heart or Face card)?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can be BOTH a heart AND a face card.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13/52 + 12/52 − 3/52 = 22/52 ≈ 0.42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52120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212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Subtract the overlap, so you don't count it twice.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MULTIPLICATION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we want A AND 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doesn't affect the other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120640" cy="640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∩ B)  =  P(A)  ·  P(B)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2 coins — P(both Heads)?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1st coin doesn't affect the 2nd.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P(H) · P(H) = 1/2 · 1/2 = 1/4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2120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12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Independent = outcome of A doesn't change P(B).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AF4E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EVENTS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DOES affect the other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2651760"/>
            <a:ext cx="5120640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∩ B)  =  P(A) · P(B | A)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2 cards without replacement: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P(both Aces)?  Deck shrinks after 1st draw.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4/52 · 3/51 ≈ 0.0045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52120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212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Dependent = use CONDITIONAL probability P(B|A).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CONDITIONAL PROBABILITY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"Given that..." — updating our beliefs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 A | B )  =  P( A ∩ B )  /  P( B 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"|"  as  "given that".   P(A | B) = "probability of A, given B already happened."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a die. Given the result is EVEN, what's the probability it's a 4?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  Let A = "roll a 4",  B = "roll even".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  B = {2, 4, 6}, so P(B) = 3/6.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  A ∩ B = {4} (the overlap), so P(A ∩ B) = 1/6.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  P(A | B) = P(A ∩ B) / P(B) = (1/6) / (3/6) = 1/3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P(4 | even) = 1/3  ≈  33%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NORMAL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Famous "Bell Curve"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distribution in statistics.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everywhere — heights, test scores, measurement errors, noise in data…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— same on both sides of the mean.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median = mode (all at centre).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by two numbers:  μ (mean) and σ (std. dev.).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values are near the mean; extremes are rare.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44068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C9A96E">
              <a:alpha val="3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4068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68 – 95 – 99.7 rule:   ~68% within 1σ,  ~95% within 2σ,  ~99.7% within 3σ.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394960" cy="4663440"/>
          </a:xfrm>
          <a:prstGeom prst="rect">
            <a:avLst/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5669280"/>
            <a:ext cx="5029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5668436"/>
            <a:ext cx="77724" cy="-599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44284" y="5667837"/>
            <a:ext cx="77724" cy="-98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5666857"/>
            <a:ext cx="77724" cy="-1572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9732" y="5665286"/>
            <a:ext cx="77724" cy="-2473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77456" y="5662813"/>
            <a:ext cx="77724" cy="-3815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5180" y="5658998"/>
            <a:ext cx="77724" cy="-577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32904" y="5653228"/>
            <a:ext cx="77724" cy="-855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0628" y="5644671"/>
            <a:ext cx="77724" cy="-12438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8352" y="5632233"/>
            <a:ext cx="77724" cy="-17721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6076" y="5614512"/>
            <a:ext cx="77724" cy="-24738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5589774"/>
            <a:ext cx="77724" cy="-33832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1524" y="5555942"/>
            <a:ext cx="77724" cy="-45318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5510624"/>
            <a:ext cx="77724" cy="-5943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6972" y="5451188"/>
            <a:ext cx="77724" cy="-76301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4696" y="5374886"/>
            <a:ext cx="77724" cy="-95836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32420" y="5279050"/>
            <a:ext cx="77724" cy="-117715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10144" y="5161335"/>
            <a:ext cx="77724" cy="-141311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7868" y="5020024"/>
            <a:ext cx="77724" cy="-165672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65592" y="4854352"/>
            <a:ext cx="77724" cy="-18951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3316" y="4664835"/>
            <a:ext cx="77724" cy="-211284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4453550"/>
            <a:ext cx="77724" cy="-229216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98764" y="4224334"/>
            <a:ext cx="77724" cy="-24149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76488" y="3982845"/>
            <a:ext cx="77724" cy="-246386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4212" y="3736459"/>
            <a:ext cx="77724" cy="-24247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31936" y="3493989"/>
            <a:ext cx="77724" cy="-22877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09660" y="3265211"/>
            <a:ext cx="77724" cy="-20496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87384" y="3060244"/>
            <a:ext cx="77724" cy="-171426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5108" y="2888818"/>
            <a:ext cx="77724" cy="-129301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42832" y="2759517"/>
            <a:ext cx="77724" cy="-80449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20556" y="2679068"/>
            <a:ext cx="77724" cy="-27308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98280" y="2651760"/>
            <a:ext cx="77724" cy="27308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76004" y="2679068"/>
            <a:ext cx="77724" cy="80449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53728" y="2759517"/>
            <a:ext cx="77724" cy="129301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31452" y="2888818"/>
            <a:ext cx="77724" cy="171426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09176" y="3060244"/>
            <a:ext cx="77724" cy="20496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86900" y="3265211"/>
            <a:ext cx="77724" cy="22877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64624" y="3493989"/>
            <a:ext cx="77724" cy="24247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42348" y="3736459"/>
            <a:ext cx="77724" cy="246386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0072" y="3982845"/>
            <a:ext cx="77724" cy="24149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97796" y="4224334"/>
            <a:ext cx="77724" cy="229216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75520" y="4453550"/>
            <a:ext cx="77724" cy="211284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53244" y="4664835"/>
            <a:ext cx="77724" cy="18951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30968" y="4854352"/>
            <a:ext cx="77724" cy="165672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08692" y="5020024"/>
            <a:ext cx="77724" cy="141311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86416" y="5161335"/>
            <a:ext cx="77724" cy="117715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64140" y="5279050"/>
            <a:ext cx="77724" cy="95836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41864" y="5374886"/>
            <a:ext cx="77724" cy="76301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19588" y="5451188"/>
            <a:ext cx="77724" cy="5943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97312" y="5510624"/>
            <a:ext cx="77724" cy="45318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75036" y="5555942"/>
            <a:ext cx="77724" cy="33832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52760" y="5589774"/>
            <a:ext cx="77724" cy="24738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730484" y="5614512"/>
            <a:ext cx="77724" cy="17721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808208" y="5632233"/>
            <a:ext cx="77724" cy="12438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885932" y="5644671"/>
            <a:ext cx="77724" cy="8557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963656" y="5653228"/>
            <a:ext cx="77724" cy="577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41380" y="5658998"/>
            <a:ext cx="77724" cy="3815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119104" y="5662813"/>
            <a:ext cx="77724" cy="2473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196828" y="5665286"/>
            <a:ext cx="77724" cy="1572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274552" y="5666857"/>
            <a:ext cx="77724" cy="98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352276" y="5667837"/>
            <a:ext cx="77724" cy="599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18120" y="5413068"/>
            <a:ext cx="0" cy="25621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7452360" y="5715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μ−2σ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458200" y="4040406"/>
            <a:ext cx="0" cy="1628874"/>
          </a:xfrm>
          <a:prstGeom prst="line">
            <a:avLst/>
          </a:prstGeom>
          <a:noFill/>
          <a:ln w="19050">
            <a:solidFill>
              <a:srgbClr val="A26769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8092440" y="5715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μ−σ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098280" y="2651760"/>
            <a:ext cx="0" cy="3017520"/>
          </a:xfrm>
          <a:prstGeom prst="line">
            <a:avLst/>
          </a:prstGeom>
          <a:noFill/>
          <a:ln w="19050">
            <a:solidFill>
              <a:srgbClr val="F96167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8732520" y="5715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738360" y="4040406"/>
            <a:ext cx="0" cy="1628874"/>
          </a:xfrm>
          <a:prstGeom prst="line">
            <a:avLst/>
          </a:prstGeom>
          <a:noFill/>
          <a:ln w="19050">
            <a:solidFill>
              <a:srgbClr val="A26769"/>
            </a:solidFill>
            <a:prstDash val="dash"/>
          </a:ln>
        </p:spPr>
      </p:sp>
      <p:sp>
        <p:nvSpPr>
          <p:cNvPr id="79" name="Text 77"/>
          <p:cNvSpPr/>
          <p:nvPr/>
        </p:nvSpPr>
        <p:spPr>
          <a:xfrm>
            <a:off x="9372600" y="5715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μ+σ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0378440" y="5413068"/>
            <a:ext cx="0" cy="25621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81" name="Text 79"/>
          <p:cNvSpPr/>
          <p:nvPr/>
        </p:nvSpPr>
        <p:spPr>
          <a:xfrm>
            <a:off x="10012680" y="5715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μ+2σ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64108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OTHER DISTRIBUTIONS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 &amp; Uniform (high-level)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successes in yes/no trials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number of trials (n)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trial is independent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outcomes (success/failure)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probability p every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5303520" cy="0"/>
          </a:xfrm>
          <a:prstGeom prst="line">
            <a:avLst/>
          </a:prstGeom>
          <a:noFill/>
          <a:ln w="12700">
            <a:solidFill>
              <a:srgbClr val="6D2E4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" y="4800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 Flip a coin 10 times → count Heads.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166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 100 emails → count how many are spam.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715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bars — a histogram (discrete).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AF4E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is equally likely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306324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randomness (no preferred outcome)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a range have same chance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DEFAULT when you know nothing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663440"/>
            <a:ext cx="512064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92240" y="4800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 Fair die — every face has P = 1/6.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5166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 Random number between 0 and 1.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5715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a flat rectangle.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— What We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has 4 types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Nominal, ordinal, discrete, continuous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 with stats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 + variance &amp; std. dev.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= favourable / total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663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for OR, multiplication for 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69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Distributions describe shapes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4663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(bell), binomial (counts), uniform (flat)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B703">
              <a:alpha val="3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  Break time — see you in 10 minutes, then we PRACTICE!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 •  2 hours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compute with real numbers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mean, median, and mode of:   4,  8,  6,  4,  10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176272"/>
          </a:xfrm>
          <a:prstGeom prst="roundRect">
            <a:avLst>
              <a:gd name="adj" fmla="val 4202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first:  4, 4, 6, 8, 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 + 4 + 6 + 8 + 10) / 5  =  32 / 5  =  6.4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of 5 numbers = the 3rd = 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frequent value = 4   (appears twice)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14807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Mean = 6.4,   Median = 6,   Mode = 4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variance and standard deviation of:   3,  5,  7,  9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 μ = (3 + 5 + 7 + 9) / 4  =  24/4  =  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Deviations: 3−6=−3,  5−6=−1,  7−6=1,  9−6=3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them: 9, 1, 1, 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Sum: 9+1+1+9 = 20.   Divide by n=4:  σ² = 20/4 =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√5  ≈  2.24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Variance = 5,   Std. Deviation ≈ 2.24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bag has 3 red, 5 blue, and 2 green balls. Pick one at random. Find P(blue).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176272"/>
          </a:xfrm>
          <a:prstGeom prst="roundRect">
            <a:avLst>
              <a:gd name="adj" fmla="val 4202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balls = 3 + 5 + 2 = 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Favourable outcomes = 5 (the blue balls)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P(blue) = favourable / total = 5 / 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= 1/2  =  0.5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14807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P(blue) = 0.5  =  50%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a fair die. What's  P(rolling a 2 OR a 5)?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single roll be both 2 AND 5?  No → mutually exclusive.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simple addition rule:  P(A ∪ B) = P(A) + P(B)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P(2) = 1/6,    P(5) = 1/6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Add:  1/6 + 1/6 = 2/6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Simplify: 2/6 = 1/3  ≈  0.333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P(2 or 5) = 1/3  ≈  33.3%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a coin and roll a die. What's  P(Heads AND roll a 6)?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and die don't affect each other → INDEPENDENT.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Use:  P(A ∩ B) = P(A) · P(B)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P(Heads) = 1/2,    P(6) = 1/6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Multiply:  1/2 · 1/6 = 1/12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decimal:  ≈ 0.083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P(Heads and 6) = 1/12  ≈  8.3%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class of 30: 18 like math, 12 like coding, 8 like BOTH. Pick a student who likes coding. What's P(they also like math)?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need P(math | coding). Let A = math, B = coding.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P(coding) = 12/30 = 0.4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P(math AND coding) = 8/30 ≈ 0.267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 = P(A ∩ B) / P(B) = (8/30) / (12/30)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/30 cancels: = 8/12 = 2/3 ≈ 0.667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P(math | coding) = 2/3  ≈  66.7%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PAIR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 — Work in Pairs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9144000" cy="3474720"/>
          </a:xfrm>
          <a:prstGeom prst="roundRect">
            <a:avLst>
              <a:gd name="adj" fmla="val 3947"/>
            </a:avLst>
          </a:prstGeom>
          <a:solidFill>
            <a:srgbClr val="FAF4E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How this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28346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 with the person next to you.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practice questions on the next slides.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steps to your partner out loud.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Raise your hand — we'll help!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~30 min, we'll review every answer together.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5760720"/>
            <a:ext cx="9144000" cy="640080"/>
          </a:xfrm>
          <a:prstGeom prst="roundRect">
            <a:avLst>
              <a:gd name="adj" fmla="val 14286"/>
            </a:avLst>
          </a:prstGeom>
          <a:solidFill>
            <a:srgbClr val="FFB703">
              <a:alpha val="3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5760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Calculator allowed — but please show your working!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A9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Practice Questions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follow — try them FIRST, then check!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1 – 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this data:  "T-shirt sizes (S, M, L, XL)"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Categorical with order?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mean, median, and mode of:   5, 7, 3, 7, 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Sort first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9359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variance of:   2, 4, 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Mean first, then squared deviations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6227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37083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random card from a standard 52-card deck. P(Queen)?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Count the Queens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23951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spinner has 4 equal sections colored Red, Blue, Green, Yellow. P(Red OR Green)?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6235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Mutually exclusive → add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6 – 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a fair coin 3 times. P(all 3 are Heads)?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Independent → multiply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2 cards without replacement. P(both are Hearts)?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Dependent — deck shrinks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9359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a die. Given the result is greater than 3, what's P(it's a 6)?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Conditional: P(A|B) = P(A∩B)/P(B)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6227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37083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scores are Normal with μ = 70, σ = 10. Roughly what % score between 60 and 80?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68-95-99.7 rule; that's ±1σ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AF4E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23951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spam filter catches 90% of spam. If 200 spam emails arrive, about how many will it catch?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6235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Expected value = n · p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D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Key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work — and understand every step!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Q1:  Data Classification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Classify "T-shirt sizes (S, M, L, XL)".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697480"/>
          </a:xfrm>
          <a:prstGeom prst="roundRect">
            <a:avLst>
              <a:gd name="adj" fmla="val 339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It's not numbers, so it's CATEGORICAL.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Inside categorical, ask: is there a natural order?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 &lt; M &lt; L &lt; XL — yes, there IS order.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But gaps aren't equal (is L−M the same "jump" as XL−L? Not clearly).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So it's ORDINAL (categorical with order).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Ordinal (categorical, ordered)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 Mean, Median, Mode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Find all three for:  5, 7, 3, 7, 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Sort:  3, 5, 7, 7, 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MEAN  =  (3 + 5 + 7 + 7 + 8) / 5  =  30 / 5  = 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MEDIAN  =  middle of 5 numbers = 3rd number = 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MODE  =  most frequent value = 7   (appears twice)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Mean = 6,  Median = 7,  Mode = 7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Q3:  Variance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Find the variance of:  2, 4,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697480"/>
          </a:xfrm>
          <a:prstGeom prst="roundRect">
            <a:avLst>
              <a:gd name="adj" fmla="val 339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Mean μ = (2 + 4 + 6) / 3 = 12/3 =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Deviations from mean:  2−4 = −2,   4−4 = 0,   6−4 =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Square each:  4,  0,  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Sum of squares:  4 + 0 + 4 = 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Divide by n = 3:  σ² = 8 / 3  ≈  2.67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Variance σ² ≈ 2.67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Q4:  Simple Probability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P(Queen) from a standard 52-card deck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How many Queens are in a deck? 4 (one per suit).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Total cards = 52.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P(Queen) = favourable / total = 4 / 52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Simplify: 4/52 = 1/13  ≈  0.077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P(Queen) = 1/13  ≈  7.7%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Q5:  Addition Rule — Mutually Exclusive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Spinner: R, B, G, Y (equal). P(Red OR Green)?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Can a single spin land on both Red AND Green? No → mutually exclusive.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Use:  P(A ∪ B) = P(A) + P(B)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P(Red) = 1/4,   P(Green) = 1/4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Add:  1/4 + 1/4 = 2/4 = 1/2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P(Red or Green) = 1/2  =  50%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Q6:  Multiplication Rule — Independent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Flip a fair coin 3 times. P(all 3 Heads)?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697480"/>
          </a:xfrm>
          <a:prstGeom prst="roundRect">
            <a:avLst>
              <a:gd name="adj" fmla="val 339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Each flip is INDEPENDENT (previous flip doesn't affect next).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Use:  P(A ∩ B ∩ C) = P(A) · P(B) · P(C)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P(H) = 1/2 for each flip.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Multiply:  1/2 · 1/2 · 1/2 = 1/8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As decimal:  = 0.125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P(HHH) = 1/8  =  12.5%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Q7:  Dependent Events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Draw 2 cards without replacement. P(both Hearts)?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697480"/>
          </a:xfrm>
          <a:prstGeom prst="roundRect">
            <a:avLst>
              <a:gd name="adj" fmla="val 339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Draw is dependent — deck changes after first card.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P(1st card is Heart) = 13/52 = 1/4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After drawing 1 Heart: 12 Hearts left, 51 cards total.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P(2nd Heart | 1st was Heart) = 12/51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Multiply:  (13/52) · (12/51) = 156/2652 ≈ 0.0588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P(both Hearts) ≈ 0.0588  ≈  5.9%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Q8:  Conditional Probability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Roll a die. Given result &gt; 3, P(it's a 6)?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697480"/>
          </a:xfrm>
          <a:prstGeom prst="roundRect">
            <a:avLst>
              <a:gd name="adj" fmla="val 339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Let A = "roll a 6",  B = "result &gt; 3".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B = {4, 5, 6} → P(B) = 3/6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 ∩ B = {6} → P(A ∩ B) = 1/6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P(A | B) = P(A ∩ B) / P(B) = (1/6) / (3/6)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Simplify: = 1/3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P(6 | result &gt; 3) = 1/3  ≈  33%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Q9:  Normal Distribution — 68-95-99.7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Scores ~ Normal(μ=70, σ=10). P(60 ≤ X ≤ 80)?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60 and 80 are 10 units from the mean of 70.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That's exactly 1 standard deviation:  10 = 1·σ.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So we need P(μ − σ ≤ X ≤ μ + σ).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By the 68-95-99.7 rule: about 68% of values are within ±1σ.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About 68%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Q10:  Binomial — Expected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3D1A2B"/>
          </a:solidFill>
          <a:ln w="12700">
            <a:solidFill>
              <a:srgbClr val="3D1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Spam filter catches 90% of spam. Out of 200 spam emails, expected catches?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AF4E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Each email is a yes/no trial with p = 0.9 (catch).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This is a Binomial setup with n = 200, p = 0.9.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Expected value = n · 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= 200 · 0.9 = 180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About 180 emails caught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D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C9A96E">
              <a:alpha val="30000"/>
            </a:srgbClr>
          </a:solidFill>
          <a:ln w="12700">
            <a:solidFill>
              <a:srgbClr val="C9A9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🎉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 today!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166360" y="3794760"/>
            <a:ext cx="1828800" cy="0"/>
          </a:xfrm>
          <a:prstGeom prst="line">
            <a:avLst/>
          </a:prstGeom>
          <a:noFill/>
          <a:ln w="381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776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now understand data types, descriptive stats,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rules, conditional probability, and key distributions.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preview:  Linear algebra — vectors, matrices, and how ML uses them.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571500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5715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class! 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Probability &amp; Statistics Basics</dc:title>
  <dc:subject>PptxGenJS Presentation</dc:subject>
  <dc:creator>Math Lecture Series</dc:creator>
  <cp:lastModifiedBy>Math Lecture Series</cp:lastModifiedBy>
  <cp:revision>1</cp:revision>
  <dcterms:created xsi:type="dcterms:W3CDTF">2026-04-16T11:18:28Z</dcterms:created>
  <dcterms:modified xsi:type="dcterms:W3CDTF">2026-04-16T11:18:28Z</dcterms:modified>
</cp:coreProperties>
</file>
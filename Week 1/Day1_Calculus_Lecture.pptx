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66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Calculus: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 of Change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31520" y="4389120"/>
            <a:ext cx="18288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Theory:  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hour  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 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Topics: Concept of change · Derivatives · Rules · ML Optimization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Learn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8288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1:00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423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of change, slopes, derivatives &amp; rules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914400" cy="9144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154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82880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 – 2:10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worked examples on the board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914400" cy="9144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572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82880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2:20 – 3:00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0" y="4800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5257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practice + optimization problems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0" y="1737360"/>
            <a:ext cx="3931920" cy="914400"/>
          </a:xfrm>
          <a:prstGeom prst="rect">
            <a:avLst/>
          </a:prstGeom>
          <a:solidFill>
            <a:srgbClr val="FFB703">
              <a:alpha val="2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17830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Don't worry if you feel lost at first —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completely normal!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2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 •  1 hour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intuition step by step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OPENING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Calculus really about?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698480" cy="1097280"/>
          </a:xfrm>
          <a:prstGeom prst="roundRect">
            <a:avLst>
              <a:gd name="adj" fmla="val 8333"/>
            </a:avLst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Calculus is the mathematics of CHANGE.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examples of change: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977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🚗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152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5120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your position changes over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3840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3977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6616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5120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sales change as price changes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840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977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🌡️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0080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5120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changes through the day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35440" y="3840480"/>
            <a:ext cx="26517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39776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235440" y="4709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Learning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72600" y="51206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model's error changes as it learns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SLOPES (REVIEW)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already know slopes!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Slope of a straight line: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slope  =  rise / run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(change in y) / (change in x)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tells us: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steep the line 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y changes per unit of 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direction (up ↗ or down ↘)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1645920"/>
            <a:ext cx="5029200" cy="4389120"/>
          </a:xfrm>
          <a:prstGeom prst="rect">
            <a:avLst/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5669280"/>
            <a:ext cx="4297680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1920240"/>
            <a:ext cx="0" cy="374904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0" y="5486400"/>
            <a:ext cx="3840480" cy="-3200400"/>
          </a:xfrm>
          <a:prstGeom prst="line">
            <a:avLst/>
          </a:prstGeom>
          <a:noFill/>
          <a:ln w="508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493776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04120" y="3017520"/>
            <a:ext cx="164592" cy="16459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0416" y="5020056"/>
            <a:ext cx="22860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0186416" y="5020056"/>
            <a:ext cx="0" cy="-1911096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503920" y="5074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87000" y="3840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292840" y="5486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7512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what if it's a curve?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straight line, slope is the SAME everywhere.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curve, slope CHANGES at every point.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5303520" cy="3291840"/>
          </a:xfrm>
          <a:prstGeom prst="rect">
            <a:avLst/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5943600"/>
            <a:ext cx="493776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108960"/>
            <a:ext cx="0" cy="283464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5852160"/>
            <a:ext cx="365760" cy="-27432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5577840"/>
            <a:ext cx="457200" cy="-36576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5212080"/>
            <a:ext cx="457200" cy="-45720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0" y="4754880"/>
            <a:ext cx="457200" cy="-54864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4206240"/>
            <a:ext cx="457200" cy="-64008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3566160"/>
            <a:ext cx="457200" cy="-36576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3200400"/>
            <a:ext cx="457200" cy="9144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3291840"/>
            <a:ext cx="457200" cy="36576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657600"/>
            <a:ext cx="457200" cy="64008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4297680"/>
            <a:ext cx="457200" cy="91440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5212080"/>
            <a:ext cx="274320" cy="64008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37360" y="5120640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3154680"/>
            <a:ext cx="182880" cy="1828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0" y="512064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31089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every point on a curve,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slope is different.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0" y="420624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343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QUESTION: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83680" y="47548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we measure the slope</a:t>
            </a:r>
            <a:endParaRPr lang="en-US" sz="2200" dirty="0"/>
          </a:p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a SINGLE point on a curve?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THE BIG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Zoom in closer... and closer...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Trick: pick two points on the curve, then move them CLOSER TOGETHER.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3749040" cy="2926080"/>
          </a:xfrm>
          <a:prstGeom prst="rect">
            <a:avLst/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5029200"/>
            <a:ext cx="457200" cy="-45720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4572000"/>
            <a:ext cx="457200" cy="-36576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4206240"/>
            <a:ext cx="457200" cy="-18288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4023360"/>
            <a:ext cx="45720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4023360"/>
            <a:ext cx="457200" cy="18288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4206240"/>
            <a:ext cx="457200" cy="36576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4572000"/>
            <a:ext cx="457200" cy="45720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4650638"/>
            <a:ext cx="384048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969264" y="4568342"/>
            <a:ext cx="164592" cy="164592"/>
          </a:xfrm>
          <a:prstGeom prst="ellipse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9584" y="4568342"/>
            <a:ext cx="164592" cy="164592"/>
          </a:xfrm>
          <a:prstGeom prst="ellipse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points far apart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5349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slope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434840" y="2286000"/>
            <a:ext cx="3749040" cy="2926080"/>
          </a:xfrm>
          <a:prstGeom prst="rect">
            <a:avLst/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5029200"/>
            <a:ext cx="457200" cy="-45720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4572000"/>
            <a:ext cx="457200" cy="-36576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23560" y="4206240"/>
            <a:ext cx="457200" cy="-18288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4023360"/>
            <a:ext cx="45720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4023360"/>
            <a:ext cx="457200" cy="18288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5160" y="4206240"/>
            <a:ext cx="457200" cy="36576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4572000"/>
            <a:ext cx="457200" cy="45720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13248" y="4228186"/>
            <a:ext cx="219456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495544" y="4145890"/>
            <a:ext cx="164592" cy="164592"/>
          </a:xfrm>
          <a:prstGeom prst="ellipse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58584" y="4145890"/>
            <a:ext cx="164592" cy="164592"/>
          </a:xfrm>
          <a:prstGeom prst="ellipse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getting closer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34840" y="5349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slope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412480" y="2286000"/>
            <a:ext cx="3749040" cy="2926080"/>
          </a:xfrm>
          <a:prstGeom prst="rect">
            <a:avLst/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0" y="5029200"/>
            <a:ext cx="457200" cy="-45720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44000" y="4572000"/>
            <a:ext cx="457200" cy="-36576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0" y="4206240"/>
            <a:ext cx="457200" cy="-18288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0" y="4023360"/>
            <a:ext cx="457200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15600" y="4023360"/>
            <a:ext cx="457200" cy="18288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972800" y="4206240"/>
            <a:ext cx="457200" cy="36576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430000" y="4572000"/>
            <a:ext cx="457200" cy="45720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48088" y="4052164"/>
            <a:ext cx="82296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9930384" y="3969868"/>
            <a:ext cx="164592" cy="164592"/>
          </a:xfrm>
          <a:prstGeom prst="ellipse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479024" y="3969868"/>
            <a:ext cx="164592" cy="164592"/>
          </a:xfrm>
          <a:prstGeom prst="ellipse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almost together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412480" y="5349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slope at the point!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200" y="5852160"/>
            <a:ext cx="11247120" cy="548640"/>
          </a:xfrm>
          <a:prstGeom prst="roundRect">
            <a:avLst>
              <a:gd name="adj" fmla="val 16667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5852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limiting slope is called the DERIVATIVE.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DERIVATIVE — 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Derivative, Formally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0F9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derivative of f(x) at a point tells us the SLOPE of the curve at that point —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other words, how fast f is changing at that exact moment.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write it as: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61188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611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'(x)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80560" y="361188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3611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dy/dx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229600" y="361188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3611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d/dx [f(x)]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48640" y="466344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limit definition (don't panic — we'll mostly use rules instead):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'(x)  =  lim   [ f(x + h) − f(x) ] / h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 h → 0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MEANING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Read the Derivative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98480" y="205740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📐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73736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Slope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37360" y="251460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slope of the tangent line at point x on the graph of f.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56616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66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698480" y="35204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7373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of Change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39776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the output changes for a tiny change in input.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029200"/>
            <a:ext cx="685800" cy="6858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292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698480" y="498348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🏃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73736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Velocity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44068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f(x) is position at time x, then f '(x) is velocity.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DIFFERENTIATION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Rules That Do All the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Rule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d/dx [xⁿ] = n·xⁿ⁻¹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40680" cy="1691640"/>
          </a:xfrm>
          <a:prstGeom prst="roundRect">
            <a:avLst>
              <a:gd name="adj" fmla="val 540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995160" y="18745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 Rule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0" y="2514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 + g)' = f' + g'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Rule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52628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(f·g)' = f'·g + f·g'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97680" y="365760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3776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Quotient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80560" y="452628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(f/g)' = (f'g − fg') / g²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46720" y="3657600"/>
            <a:ext cx="3611880" cy="2423160"/>
          </a:xfrm>
          <a:prstGeom prst="roundRect">
            <a:avLst>
              <a:gd name="adj" fmla="val 3774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8680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Chain Rule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0" y="452628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[f(g(x))]' = f'(g(x))·g'(x)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· POWER RULE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Most-Used Rule of 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d/dx [ xⁿ ]  =  n · xⁿ⁻¹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Recipe: bring the exponent down as a multiplier, then subtract 1 from the exponent.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74720"/>
            <a:ext cx="3611880" cy="2560320"/>
          </a:xfrm>
          <a:prstGeom prst="roundRect">
            <a:avLst>
              <a:gd name="adj" fmla="val 3571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11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x³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434840"/>
            <a:ext cx="31089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31520" y="45262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3 down → 3x², subtract 1 from power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54406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'(x) = 3x²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297680" y="3474720"/>
            <a:ext cx="3611880" cy="2560320"/>
          </a:xfrm>
          <a:prstGeom prst="roundRect">
            <a:avLst>
              <a:gd name="adj" fmla="val 3571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3611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x⁵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0" y="4434840"/>
            <a:ext cx="31089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480560" y="45262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5 down → 5x⁴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54406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'(x) = 5x⁴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46720" y="3474720"/>
            <a:ext cx="3611880" cy="2560320"/>
          </a:xfrm>
          <a:prstGeom prst="roundRect">
            <a:avLst>
              <a:gd name="adj" fmla="val 3571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6118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x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321040" y="4434840"/>
            <a:ext cx="31089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8229600" y="45262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is 1 → 1·x⁰ = 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54406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'(x) = 1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48640" y="6217920"/>
            <a:ext cx="11064240" cy="320040"/>
          </a:xfrm>
          <a:prstGeom prst="roundRect">
            <a:avLst>
              <a:gd name="adj" fmla="val 14286"/>
            </a:avLst>
          </a:prstGeom>
          <a:solidFill>
            <a:srgbClr val="FFB703">
              <a:alpha val="25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Bonus: the derivative of a CONSTANT (like 7 or −3) is 0. Constants don't change!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· SUM RULE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Them Up, Differentiate Each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f + g )'  =  f '  +  g '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words: differentiate each term separately. The sum rule works for subtraction too (difference rule).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11064240" cy="2743200"/>
          </a:xfrm>
          <a:prstGeom prst="roundRect">
            <a:avLst>
              <a:gd name="adj" fmla="val 3333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f '(x)  if  f(x) = x³ + 5x² − 4x + 7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45720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Differentiate x³  →  3x²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8920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489204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Differentiate 5x²  →  5·2x  =  10x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212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521208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Differentiate −4x  →  −4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20240" y="553212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Differentiate 7  →  0   (constant)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'(x)  =  3x² + 10x − 4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3 &amp;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&amp; Quotient Rules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77840" cy="4389120"/>
          </a:xfrm>
          <a:prstGeom prst="roundRect">
            <a:avLst>
              <a:gd name="adj" fmla="val 2083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RULE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50292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40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 · g)'  =  f ' · g  +  f · g '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Memorize:  "first times derivative of second, plus second times derivative of first."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f(x) = x² · sin(x)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f = x², g = sin(x)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' = 2x,  g ' = cos(x)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rule: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(x²·sin x)' = 2x·sin x + x²·cos 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691640"/>
            <a:ext cx="5577840" cy="4389120"/>
          </a:xfrm>
          <a:prstGeom prst="roundRect">
            <a:avLst>
              <a:gd name="adj" fmla="val 2083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828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QUOTIENT RULE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240280"/>
            <a:ext cx="50292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2402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(f / g)'  =  ( f '·g − f·g' ) / g²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trick: "LO d-HI minus HI d-LO, over LO-squared."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931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f(x) = x² / (x + 1)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29768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f = x², g = x + 1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' = 2x,  g ' = 1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rule: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(2x·(x+1) − x²·1) / (x+1)²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5 · CHAIN RULE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Function-Inside-a-Function Rule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f(g(x)) ]'  =  f '(g(x))  ·  g '(x)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 derivative of the OUTSIDE (keeping inside the same), TIMES derivative of the INSIDE.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11064240" cy="2880360"/>
          </a:xfrm>
          <a:prstGeom prst="roundRect">
            <a:avLst>
              <a:gd name="adj" fmla="val 3175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20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derivative of  f(x) = (3x + 5)⁴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4348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443484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inside = 3x + 5.   Outside = (  )⁴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475488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Derivative of outside (power rule on u⁴) = 4·(3x + 5)³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0749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507492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Derivative of inside = 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3949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20240" y="539496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them together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'(x)  =  4(3x + 5)³ · 3  =  12(3x + 5)³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Derivatives Matter — Optimization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 =  finding the BEST possible value (maximum or minimum)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FB703">
              <a:alpha val="30000"/>
            </a:srgbClr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KEY IDEA:  At a maximum or minimum, the slope of the curve is ZERO.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(The tangent line is horizontal — flat.)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5486400" cy="2926080"/>
          </a:xfrm>
          <a:prstGeom prst="roundRect">
            <a:avLst>
              <a:gd name="adj" fmla="val 3125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20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Recipe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function you want to maximize/minimize.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its derivative.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derivative = 0.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for x. That's your candidate point.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it's a max or min.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3383280"/>
            <a:ext cx="5212080" cy="2926080"/>
          </a:xfrm>
          <a:prstGeom prst="rect">
            <a:avLst/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6126480"/>
            <a:ext cx="4846320" cy="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3566160"/>
            <a:ext cx="0" cy="2560320"/>
          </a:xfrm>
          <a:prstGeom prst="line">
            <a:avLst/>
          </a:prstGeom>
          <a:noFill/>
          <a:ln w="1905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0" y="5943600"/>
            <a:ext cx="457200" cy="-91440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5029200"/>
            <a:ext cx="457200" cy="-73152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4297680"/>
            <a:ext cx="457200" cy="-45720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0" y="3840480"/>
            <a:ext cx="457200" cy="-18288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3657600"/>
            <a:ext cx="50292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0" y="3657600"/>
            <a:ext cx="457200" cy="18288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64040" y="3840480"/>
            <a:ext cx="457200" cy="45720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21240" y="4297680"/>
            <a:ext cx="457200" cy="73152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78440" y="5029200"/>
            <a:ext cx="457200" cy="91440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835640" y="5943600"/>
            <a:ext cx="502920" cy="36576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3657600"/>
            <a:ext cx="1371600" cy="0"/>
          </a:xfrm>
          <a:prstGeom prst="line">
            <a:avLst/>
          </a:prstGeom>
          <a:noFill/>
          <a:ln w="38100">
            <a:solidFill>
              <a:srgbClr val="F96167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942832" y="3575304"/>
            <a:ext cx="182880" cy="1828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= 0   (max!)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AI Uses Derivatives: Gradient Descent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🌫️  Picture this: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lost in thick fog on a hillside.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want to reach the lowest valley,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you can't see 10 meters ahead.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do?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the slope beneath your feet.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 the direction it slopes DOWN.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Repeat, many times.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Eventually → you reach the valley.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394960" cy="4663440"/>
          </a:xfrm>
          <a:prstGeom prst="roundRect">
            <a:avLst>
              <a:gd name="adj" fmla="val 1961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83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In Machine Learning: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want to minimize a LOSS function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(how wrong the model's predictions are).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365760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"Slope" = derivative of the loss.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downhill by adjusting weights.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thousands of times.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5760720"/>
            <a:ext cx="5029200" cy="457200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5760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Derivatives are how AI learns!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GRADIENT DESCENT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Tiny Worked Example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Minimize loss L(w) = w².   Start at w = 4.   Learning rate α = 0.1.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rule:   w_new = w_old  −  α · L'(w_old)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L(w) = w², by the power rule  L'(w) = 2w.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920240"/>
                <a:gridCol w="1828800"/>
                <a:gridCol w="3840480"/>
                <a:gridCol w="25603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Step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 (current)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L'(w) = 2w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Update: w − 0.1·L'(w)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New w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8.00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4 − 0.1(8) = 4 − 0.8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3.2 − 0.64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2.56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2.56 − 0.512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2.05 − 0.41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1.64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...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...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...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...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i="1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...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∞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→ 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→ 0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≈ 0 ✓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5989320"/>
            <a:ext cx="11064240" cy="320040"/>
          </a:xfrm>
          <a:prstGeom prst="roundRect">
            <a:avLst>
              <a:gd name="adj" fmla="val 14286"/>
            </a:avLst>
          </a:prstGeom>
          <a:solidFill>
            <a:srgbClr val="02C39A">
              <a:alpha val="3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We're "walking downhill" toward w = 0 — the minimum of L(w) = w². That's how ML trains!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Theory — What We Learned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2057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Derivative = slope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6060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measures instantaneous rate of change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1168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0" y="2057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rules do it all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0" y="26060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Power, sum, product, quotient, chain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06908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4114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Slope = 0 at max/min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4663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secret to optimization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06908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315200" y="4114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learns via gradients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0" y="46634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walks downhill on the loss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8521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FB703">
              <a:alpha val="3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☕  Break time — see you in 10 minutes, then we PRACTICE!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2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 •  2 hours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get our hands dirty with real problems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 f '(x)   where   f(x) = x⁷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2560320"/>
          </a:xfrm>
          <a:prstGeom prst="roundRect">
            <a:avLst>
              <a:gd name="adj" fmla="val 3571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the rule: this is a pure power — use the POWER RULE.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says:  d/dx[xⁿ] = n·xⁿ⁻¹.   Here n = 7.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the 7 down in front:  7·x^(?)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43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443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 1 from the exponent:  7 − 1 = 6.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828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482803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Combine:  f '(x) = 7x⁶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f '(x) = 7x⁶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 f '(x)   where   f(x) = 4x³ + 2x² − 5x + 9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2944368"/>
          </a:xfrm>
          <a:prstGeom prst="roundRect">
            <a:avLst>
              <a:gd name="adj" fmla="val 3106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SUM RULE — differentiate each term separately.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d/dx[4x³] = 4 · 3x² = 12x²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d/dx[2x²] = 2 · 2x = 4x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43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443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d/dx[−5x] = −5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828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482803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d/dx[9] = 0   (constant disappears)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65960" y="521208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all pieces together.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916168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91616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f '(x) = 12x² + 4x − 5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 f '(x)   where   f(x) = x² · (x + 3)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2944368"/>
          </a:xfrm>
          <a:prstGeom prst="roundRect">
            <a:avLst>
              <a:gd name="adj" fmla="val 3106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a PRODUCT of two functions.  Let u = x², v = x + 3.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u ' = 2x  and  v ' = 1.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rule:  (uv)' = u'·v + u·v'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43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443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Substitute:  = 2x · (x + 3) + x² · 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828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482803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Expand: 2x² + 6x + x²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65960" y="521208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 like terms.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916168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91616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f '(x) = 3x² + 6x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 f '(x)   where   f(x) = x / (x + 1)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2560320"/>
          </a:xfrm>
          <a:prstGeom prst="roundRect">
            <a:avLst>
              <a:gd name="adj" fmla="val 3571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a QUOTIENT.  Let u = x,  v = x + 1.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u ' = 1,  v ' = 1.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Quotient rule:  (u/v)' = (u'·v − u·v') / v²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43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443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Substitute:  = (1·(x+1) − x·1) / (x+1)²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828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482803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 numerator:  (x + 1 − x) / (x+1)² = 1 / (x+1)²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f '(x) = 1 / (x + 1)²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 f '(x)   where   f(x) = (2x + 1)⁵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2560320"/>
          </a:xfrm>
          <a:prstGeom prst="roundRect">
            <a:avLst>
              <a:gd name="adj" fmla="val 3571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a FUNCTION INSIDE a function.  Inside = 2x + 1.  Outside = ( )⁵.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Derivative of outside (power rule on u⁵):  5·(2x + 1)⁴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Derivative of inside (2x + 1): 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43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443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rule: multiply them together.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828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482803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5(2x + 1)⁴ · 2  =  10(2x + 1)⁴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5321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f '(x) = 10(2x + 1)⁴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· EXAMPLE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(Together on the Board)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farmer has 20 m of fence. Find the max area of a rectangle he can enclose.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11064240" cy="2944368"/>
          </a:xfrm>
          <a:prstGeom prst="roundRect">
            <a:avLst>
              <a:gd name="adj" fmla="val 3106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32918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width = x. Then length = (20 − 2x)/2 = 10 − x.    (perimeter = 2x + 2(10−x) = 20 ✓)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3675888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 A(x) = x · (10 − x) = 10x − x²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4059936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A'(x) = 10 − 2x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443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4443984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A'(x) = 0  →  10 − 2x = 0  →  x = 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8280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65960" y="482803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width = 5, length = 10 − 5 = 5.  (It's a square!)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65960" y="521208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area = 5 × 5 = 25 m²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916168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91616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Answer:   Max area = 25 m²   (square, 5 m × 5 m)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2 · PAIR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Turn — Work in Pairs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2103120"/>
            <a:ext cx="9144000" cy="3474720"/>
          </a:xfrm>
          <a:prstGeom prst="roundRect">
            <a:avLst>
              <a:gd name="adj" fmla="val 3947"/>
            </a:avLst>
          </a:prstGeom>
          <a:solidFill>
            <a:srgbClr val="F0F9F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286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👥  How this works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0" y="283464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 with the person next to you.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practice questions on the next slides.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out loud — explain your steps to your partner.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Stuck? Raise your hand. It's OK — we'll help!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~30 min, we'll review every answer together.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5760720"/>
            <a:ext cx="9144000" cy="640080"/>
          </a:xfrm>
          <a:prstGeom prst="roundRect">
            <a:avLst>
              <a:gd name="adj" fmla="val 14286"/>
            </a:avLst>
          </a:prstGeom>
          <a:solidFill>
            <a:srgbClr val="FFB703">
              <a:alpha val="30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5760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Make sure you have paper, a pencil, and the cheat sheet handout ready.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2C3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2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TIME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Practice Questions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Solutions follow — try them FIRST, then check!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1 – 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5623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76479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 f '(x)  if  f(x) = x⁴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Power rule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63347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 f '(x)  if  f(x) = 3x² + 6x − 8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Sum rule + power rule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59359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50215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 f '(x)  if  f(x) = 5x³ − 2x + 1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8862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Sum rule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46227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437083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 f '(x)  if  f(x) = x · (x² + 2)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7548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Expand first, OR use product rule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33095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330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523951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 f '(x)  if  f(x) = (x + 1)(x − 3)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56235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Product rule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6 – 10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5623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56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76479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 f '(x)  if  f(x) = (3x − 1) / (x + 2)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Quotient rule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2491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63347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 f '(x)  if  f(x) = (x² + 1)³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Chain rule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59359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93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50215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 f '(x)  if  f(x) = (5x + 4)²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8862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Chain rule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46227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62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437083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x-value where  f(x) = x² − 6x + 5  has a minimum.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7548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Set f'(x) = 0, solve for 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0F9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33095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330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5239512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ML step: L(w) = w², w = 3, α = 0.2. Find new w after one gradient-descent step.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562356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Hint: Use  w_new = w − α · L'(w);  L'(w) = 2w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66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2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 Key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work — and understand every step!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Q1:  Power Rule Basic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f(x) = x⁴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3108960"/>
          </a:xfrm>
          <a:prstGeom prst="roundRect">
            <a:avLst>
              <a:gd name="adj" fmla="val 2941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Recognize a pure power → use POWER RULE: d/dx[xⁿ] = n·xⁿ⁻¹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4787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Here n = 4.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98678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Bring 4 down in front: 4x^(?)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42569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Subtract 1 from exponent: 4 − 1 = 3.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86460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Combine:  f '(x) = 4x³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f '(x) = 4x³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Q2:  Sum Rule with Power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f(x) = 3x² + 6x − 8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3108960"/>
          </a:xfrm>
          <a:prstGeom prst="roundRect">
            <a:avLst>
              <a:gd name="adj" fmla="val 2941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Use SUM RULE — differentiate each term.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4787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d/dx[3x²] = 3 · 2x = 6x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98678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d/dx[6x] = 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42569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d/dx[−8] = 0   (constant)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86460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Add them:  f '(x) = 6x + 6 + 0 = 6x + 6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f '(x) = 6x + 6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Q3:  Sum Rule — Cubic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f(x) = 5x³ − 2x + 1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3108960"/>
          </a:xfrm>
          <a:prstGeom prst="roundRect">
            <a:avLst>
              <a:gd name="adj" fmla="val 2941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Apply SUM RULE term by term.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4787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d/dx[5x³] = 5 · 3x² = 15x²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98678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d/dx[−2x] = −2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42569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d/dx[1] = 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86460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Combine:  f '(x) = 15x² − 2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f '(x) = 15x² − 2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Q4:  Product — Expand Method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f(x) = x · (x² + 2)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3108960"/>
          </a:xfrm>
          <a:prstGeom prst="roundRect">
            <a:avLst>
              <a:gd name="adj" fmla="val 2941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Easiest path: EXPAND first.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4787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f(x) = x³ + 2x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98678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Now differentiate with sum + power rule.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42569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d/dx[x³] = 3x²,   d/dx[2x] =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86460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Result:  f '(x) = 3x² + 2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f '(x) = 3x² + 2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Q5:  Product Rule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f(x) = (x + 1)(x − 3)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3108960"/>
          </a:xfrm>
          <a:prstGeom prst="roundRect">
            <a:avLst>
              <a:gd name="adj" fmla="val 2941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Let u = x + 1,  v = x − 3.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4787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Compute u ' = 1,  v ' = 1.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98678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Product rule:  (uv)' = u'·v + u·v'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42569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Substitute:  = 1·(x − 3) + (x + 1)·1 = (x − 3) + (x + 1)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86460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Simplify:  = 2x − 2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f '(x) = 2x − 2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Q6:  Quotient Rule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f(x) = (3x − 1) / (x + 2)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3108960"/>
          </a:xfrm>
          <a:prstGeom prst="roundRect">
            <a:avLst>
              <a:gd name="adj" fmla="val 2941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Let u = 3x − 1,  v = x + 2.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4787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Find u ' = 3,  v ' = 1.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98678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Quotient rule:  (u/v)' = (u'·v − u·v') / v²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42569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Numerator: 3·(x + 2) − (3x − 1)·1 = 3x + 6 − 3x + 1 = 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86460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Denominator: (x + 2)²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f '(x) = 7 / (x + 2)²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Q7:  Chain Rule — Power of Polynomial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f(x) = (x² + 1)³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3108960"/>
          </a:xfrm>
          <a:prstGeom prst="roundRect">
            <a:avLst>
              <a:gd name="adj" fmla="val 2941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Inside = x² + 1.   Outside = (  )³.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4787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Derivative of outside (power rule on u³):  3(x² + 1)²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98678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Derivative of inside (x² + 1):  2x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42569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Chain rule — multiply:  3(x² + 1)² · 2x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86460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Simplify:  6x (x² + 1)²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f '(x) = 6x(x² + 1)²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Q8:  Chain Rule — Linear Inside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f(x) = (5x + 4)²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3108960"/>
          </a:xfrm>
          <a:prstGeom prst="roundRect">
            <a:avLst>
              <a:gd name="adj" fmla="val 2941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Inside = 5x + 4.   Outside = ( )².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4787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Derivative of outside:  2(5x + 4)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98678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Derivative of inside:  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42569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Chain rule:  2(5x + 4) · 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86460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Simplify:  10(5x + 4) = 50x + 40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f '(x) = 10(5x + 4)   or   50x + 40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Q9:  Optimization — Find Minimum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Find the x-value where f(x) = x² − 6x + 5 has a minimum.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3108960"/>
          </a:xfrm>
          <a:prstGeom prst="roundRect">
            <a:avLst>
              <a:gd name="adj" fmla="val 2941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At a minimum, the slope = 0, so  f '(x) = 0.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4787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Find derivative:  f '(x) = 2x − 6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98678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Set equal to zero:  2x − 6 = 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42569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Solve:  2x = 6  →  x = 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86460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Check: parabola opens upward (coefficient of x² is +), so x = 3 is a MIN. 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Minimum at x = 3   (value: f(3) = 9 − 18 + 5 = −4)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Q10:  Gradient Descent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91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 L(w) = w²,  w = 3,  α = 0.2.   Find new w after ONE update.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3108960"/>
          </a:xfrm>
          <a:prstGeom prst="roundRect">
            <a:avLst>
              <a:gd name="adj" fmla="val 2941"/>
            </a:avLst>
          </a:prstGeom>
          <a:solidFill>
            <a:srgbClr val="F0F9FA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Derivative of loss:  L'(w) = 2w   (power rule).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54787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At w = 3:  L'(3) = 2 · 3 = 6.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986784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Update rule:  w_new = w − α · L'(w)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425696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Substitute:  w_new = 3 − 0.2 · 6 = 3 − 1.2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864608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▸  Simplify:  w_new = 1.8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8978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Answer:   New w = 1.8   (moved closer to minimum at 0 ✓)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566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4114800"/>
            <a:ext cx="4572000" cy="45720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🎉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 work today!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166360" y="3794760"/>
            <a:ext cx="182880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776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now understand what a derivative is,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 rules of differentiation, and how AI uses them.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preview:  Integrals — the "opposite" of derivatives.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37560" y="5715000"/>
            <a:ext cx="5486400" cy="73152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5715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next class! 👋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1: Calculus — Derivatives</dc:title>
  <dc:subject>PptxGenJS Presentation</dc:subject>
  <dc:creator>Math Lecture Series</dc:creator>
  <cp:lastModifiedBy>Math Lecture Series</cp:lastModifiedBy>
  <cp:revision>1</cp:revision>
  <dcterms:created xsi:type="dcterms:W3CDTF">2026-04-16T11:05:54Z</dcterms:created>
  <dcterms:modified xsi:type="dcterms:W3CDTF">2026-04-16T11:05:54Z</dcterms:modified>
</cp:coreProperties>
</file>
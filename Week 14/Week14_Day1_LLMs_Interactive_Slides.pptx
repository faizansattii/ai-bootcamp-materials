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667EE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🤖 What are Large Language Models?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560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FFFFFF"/>
                </a:solidFill>
              </a:defRPr>
            </a:pPr>
            <a:r>
              <a:t>Understanding the Revolution in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Week 14 - Day 1 | AI Bootcamp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667EEA"/>
                </a:solidFill>
              </a:defRPr>
            </a:pPr>
            <a:r>
              <a:t>🤔 What is a Large Language Model?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188720"/>
            <a:ext cx="3200400" cy="73152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667EEA"/>
                </a:solidFill>
              </a:defRPr>
            </a:pPr>
            <a:r>
              <a:t>📚 Massive Text Data</a:t>
            </a:r>
          </a:p>
          <a:p>
            <a:r>
              <a:t>(Books, Web, Code)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114800" y="1554480"/>
            <a:ext cx="640080" cy="0"/>
          </a:xfrm>
          <a:prstGeom prst="line">
            <a:avLst/>
          </a:prstGeom>
          <a:ln w="38100">
            <a:solidFill>
              <a:srgbClr val="667E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5029200" y="1188720"/>
            <a:ext cx="3200400" cy="731520"/>
          </a:xfrm>
          <a:prstGeom prst="roundRect">
            <a:avLst/>
          </a:prstGeom>
          <a:solidFill>
            <a:srgbClr val="FFE6E6"/>
          </a:solidFill>
          <a:ln>
            <a:solidFill>
              <a:srgbClr val="FF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DC3545"/>
                </a:solidFill>
              </a:defRPr>
            </a:pPr>
            <a:r>
              <a:t>🧠 Neural Network</a:t>
            </a:r>
          </a:p>
          <a:p>
            <a:r>
              <a:t>(Billions of Parameters)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583680" y="1920240"/>
            <a:ext cx="0" cy="640080"/>
          </a:xfrm>
          <a:prstGeom prst="line">
            <a:avLst/>
          </a:prstGeom>
          <a:ln w="38100">
            <a:solidFill>
              <a:srgbClr val="667E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5029200" y="2743200"/>
            <a:ext cx="3200400" cy="731520"/>
          </a:xfrm>
          <a:prstGeom prst="roundRect">
            <a:avLst/>
          </a:prstGeom>
          <a:solidFill>
            <a:srgbClr val="E6FFE6"/>
          </a:solidFill>
          <a:ln>
            <a:solidFill>
              <a:srgbClr val="E6F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8000"/>
                </a:solidFill>
              </a:defRPr>
            </a:pPr>
            <a:r>
              <a:t>🎯 AI Model</a:t>
            </a:r>
          </a:p>
          <a:p>
            <a:r>
              <a:t>(Understands &amp; Generates Text)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65760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8C00"/>
                </a:solidFill>
              </a:defRPr>
            </a:pPr>
            <a:r>
              <a:t>💡 Key Insight: LLMs learn patterns from data, then predict what comes next in text - just like autocomplete on steroids!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667EEA"/>
                </a:solidFill>
              </a:defRPr>
            </a:pPr>
            <a:r>
              <a:t>📏 Understanding 'Large' - Scale Comparison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4114800"/>
            <a:ext cx="1188720" cy="1371600"/>
          </a:xfrm>
          <a:prstGeom prst="rect">
            <a:avLst/>
          </a:prstGeom>
          <a:solidFill>
            <a:srgbClr val="C8C8C8"/>
          </a:solidFill>
          <a:ln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0" y="411480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/>
            </a:pPr>
            <a:r>
              <a:t>Traditional ML</a:t>
            </a:r>
          </a:p>
          <a:p>
            <a:r>
              <a:t>~1K-1M parameters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3200400"/>
            <a:ext cx="1828800" cy="2286000"/>
          </a:xfrm>
          <a:prstGeom prst="rect">
            <a:avLst/>
          </a:prstGeom>
          <a:solidFill>
            <a:srgbClr val="9696C8"/>
          </a:solidFill>
          <a:ln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926080" y="320040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/>
            </a:pPr>
            <a:r>
              <a:t>Small Neural Net</a:t>
            </a:r>
          </a:p>
          <a:p>
            <a:r>
              <a:t>~10M parameters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2286000"/>
            <a:ext cx="2560320" cy="3200400"/>
          </a:xfrm>
          <a:prstGeom prst="rect">
            <a:avLst/>
          </a:prstGeom>
          <a:solidFill>
            <a:srgbClr val="667EEA"/>
          </a:solidFill>
          <a:ln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0" y="228600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/>
            </a:pPr>
            <a:r>
              <a:t>BERT (2018)</a:t>
            </a:r>
          </a:p>
          <a:p>
            <a:r>
              <a:t>340M parameters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1371600"/>
            <a:ext cx="3200400" cy="4114800"/>
          </a:xfrm>
          <a:prstGeom prst="rect">
            <a:avLst/>
          </a:prstGeom>
          <a:solidFill>
            <a:srgbClr val="4664C8"/>
          </a:solidFill>
          <a:ln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0" y="137160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/>
            </a:pPr>
            <a:r>
              <a:t>GPT-2 (2019)</a:t>
            </a:r>
          </a:p>
          <a:p>
            <a:r>
              <a:t>1.5B parameters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457200"/>
            <a:ext cx="3931920" cy="5029200"/>
          </a:xfrm>
          <a:prstGeom prst="rect">
            <a:avLst/>
          </a:prstGeom>
          <a:solidFill>
            <a:srgbClr val="DC3545"/>
          </a:solidFill>
          <a:ln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0" y="45720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/>
            </a:pPr>
            <a:r>
              <a:t>GPT-3 (2020)</a:t>
            </a:r>
          </a:p>
          <a:p>
            <a:r>
              <a:t>175B parameters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667EEA"/>
                </a:solidFill>
              </a:defRPr>
            </a:pPr>
            <a:r>
              <a:t>📜 LLM Evolution Timeline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2560320"/>
            <a:ext cx="7315200" cy="91440"/>
          </a:xfrm>
          <a:prstGeom prst="rect">
            <a:avLst/>
          </a:prstGeom>
          <a:solidFill>
            <a:srgbClr val="667EEA"/>
          </a:solidFill>
          <a:ln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97280" y="2423160"/>
            <a:ext cx="274320" cy="274320"/>
          </a:xfrm>
          <a:prstGeom prst="ellipse">
            <a:avLst/>
          </a:prstGeom>
          <a:solidFill>
            <a:srgbClr val="64B4FF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59" y="1097280"/>
            <a:ext cx="822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/>
            </a:pPr>
            <a:r>
              <a:t>2017</a:t>
            </a:r>
          </a:p>
          <a:p>
            <a:r>
              <a:t>🔬 Transformer</a:t>
            </a:r>
          </a:p>
        </p:txBody>
      </p:sp>
      <p:sp>
        <p:nvSpPr>
          <p:cNvPr id="6" name="Oval 5"/>
          <p:cNvSpPr/>
          <p:nvPr/>
        </p:nvSpPr>
        <p:spPr>
          <a:xfrm>
            <a:off x="2286000" y="2423160"/>
            <a:ext cx="274320" cy="274320"/>
          </a:xfrm>
          <a:prstGeom prst="ellipse">
            <a:avLst/>
          </a:prstGeom>
          <a:solidFill>
            <a:srgbClr val="50A0FF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11680" y="3200400"/>
            <a:ext cx="822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/>
            </a:pPr>
            <a:r>
              <a:t>2018</a:t>
            </a:r>
          </a:p>
          <a:p>
            <a:r>
              <a:t>📖 BERT</a:t>
            </a:r>
          </a:p>
        </p:txBody>
      </p:sp>
      <p:sp>
        <p:nvSpPr>
          <p:cNvPr id="8" name="Oval 7"/>
          <p:cNvSpPr/>
          <p:nvPr/>
        </p:nvSpPr>
        <p:spPr>
          <a:xfrm>
            <a:off x="3474720" y="2423160"/>
            <a:ext cx="274320" cy="274320"/>
          </a:xfrm>
          <a:prstGeom prst="ellipse">
            <a:avLst/>
          </a:prstGeom>
          <a:solidFill>
            <a:srgbClr val="667EEA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0" y="1097280"/>
            <a:ext cx="822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/>
            </a:pPr>
            <a:r>
              <a:t>2019</a:t>
            </a:r>
          </a:p>
          <a:p>
            <a:r>
              <a:t>🚀 GPT-2</a:t>
            </a:r>
          </a:p>
        </p:txBody>
      </p:sp>
      <p:sp>
        <p:nvSpPr>
          <p:cNvPr id="10" name="Oval 9"/>
          <p:cNvSpPr/>
          <p:nvPr/>
        </p:nvSpPr>
        <p:spPr>
          <a:xfrm>
            <a:off x="4663440" y="2423160"/>
            <a:ext cx="274320" cy="274320"/>
          </a:xfrm>
          <a:prstGeom prst="ellipse">
            <a:avLst/>
          </a:prstGeom>
          <a:solidFill>
            <a:srgbClr val="4664C8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0" y="3200400"/>
            <a:ext cx="822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/>
            </a:pPr>
            <a:r>
              <a:t>2020</a:t>
            </a:r>
          </a:p>
          <a:p>
            <a:r>
              <a:t>💥 GPT-3</a:t>
            </a:r>
          </a:p>
        </p:txBody>
      </p:sp>
      <p:sp>
        <p:nvSpPr>
          <p:cNvPr id="12" name="Oval 11"/>
          <p:cNvSpPr/>
          <p:nvPr/>
        </p:nvSpPr>
        <p:spPr>
          <a:xfrm>
            <a:off x="5852160" y="2423160"/>
            <a:ext cx="274320" cy="274320"/>
          </a:xfrm>
          <a:prstGeom prst="ellipse">
            <a:avLst/>
          </a:prstGeom>
          <a:solidFill>
            <a:srgbClr val="DC3545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577840" y="1097280"/>
            <a:ext cx="822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/>
            </a:pPr>
            <a:r>
              <a:t>2022</a:t>
            </a:r>
          </a:p>
          <a:p>
            <a:r>
              <a:t>🎭 ChatGPT</a:t>
            </a:r>
          </a:p>
        </p:txBody>
      </p:sp>
      <p:sp>
        <p:nvSpPr>
          <p:cNvPr id="14" name="Oval 13"/>
          <p:cNvSpPr/>
          <p:nvPr/>
        </p:nvSpPr>
        <p:spPr>
          <a:xfrm>
            <a:off x="7040880" y="2423160"/>
            <a:ext cx="274320" cy="274320"/>
          </a:xfrm>
          <a:prstGeom prst="ellipse">
            <a:avLst/>
          </a:prstGeom>
          <a:solidFill>
            <a:srgbClr val="C81E32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66560" y="3200400"/>
            <a:ext cx="822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/>
            </a:pPr>
            <a:r>
              <a:t>2024</a:t>
            </a:r>
          </a:p>
          <a:p>
            <a:r>
              <a:t>🌟 GPT-4</a:t>
            </a:r>
          </a:p>
          <a:p>
            <a:r>
              <a:t>Gemini</a:t>
            </a:r>
          </a:p>
          <a:p>
            <a:r>
              <a:t>Claude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667EEA"/>
                </a:solidFill>
              </a:defRPr>
            </a:pPr>
            <a:r>
              <a:t>⚙️ How LLMs Work: The Processing Pipeline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371600"/>
            <a:ext cx="1828800" cy="64008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212529"/>
                </a:solidFill>
              </a:defRPr>
            </a:pPr>
            <a:r>
              <a:t>INPUT</a:t>
            </a:r>
          </a:p>
          <a:p>
            <a:r>
              <a:t>'Hello world'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286000"/>
            <a:ext cx="1828800" cy="640080"/>
          </a:xfrm>
          <a:prstGeom prst="roundRect">
            <a:avLst/>
          </a:prstGeom>
          <a:solidFill>
            <a:srgbClr val="FFF0E6"/>
          </a:solidFill>
          <a:ln>
            <a:solidFill>
              <a:srgbClr val="FFF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212529"/>
                </a:solidFill>
              </a:defRPr>
            </a:pPr>
            <a:r>
              <a:t>TOKENIZE</a:t>
            </a:r>
          </a:p>
          <a:p>
            <a:r>
              <a:t>['Hello', ' world']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3200400"/>
            <a:ext cx="1828800" cy="640080"/>
          </a:xfrm>
          <a:prstGeom prst="roundRect">
            <a:avLst/>
          </a:prstGeom>
          <a:solidFill>
            <a:srgbClr val="FFE6F0"/>
          </a:solidFill>
          <a:ln>
            <a:solidFill>
              <a:srgbClr val="FF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212529"/>
                </a:solidFill>
              </a:defRPr>
            </a:pPr>
            <a:r>
              <a:t>EMBED</a:t>
            </a:r>
          </a:p>
          <a:p>
            <a:r>
              <a:t>[0.2, -0.5...]</a:t>
            </a:r>
          </a:p>
          <a:p>
            <a:r>
              <a:t>[0.8, 0.1...]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0" y="2286000"/>
            <a:ext cx="1828800" cy="640080"/>
          </a:xfrm>
          <a:prstGeom prst="roundRect">
            <a:avLst/>
          </a:prstGeom>
          <a:solidFill>
            <a:srgbClr val="F0E6FF"/>
          </a:solidFill>
          <a:ln>
            <a:solidFill>
              <a:srgbClr val="F0E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212529"/>
                </a:solidFill>
              </a:defRPr>
            </a:pPr>
            <a:r>
              <a:t>TRANSFORM</a:t>
            </a:r>
          </a:p>
          <a:p>
            <a:r>
              <a:t>Self-Attention</a:t>
            </a:r>
          </a:p>
          <a:p>
            <a:r>
              <a:t>Feed Forward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2286000"/>
            <a:ext cx="1828800" cy="640080"/>
          </a:xfrm>
          <a:prstGeom prst="roundRect">
            <a:avLst/>
          </a:prstGeom>
          <a:solidFill>
            <a:srgbClr val="E6FFE6"/>
          </a:solidFill>
          <a:ln>
            <a:solidFill>
              <a:srgbClr val="E6F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212529"/>
                </a:solidFill>
              </a:defRPr>
            </a:pPr>
            <a:r>
              <a:t>PREDICT</a:t>
            </a:r>
          </a:p>
          <a:p>
            <a:r>
              <a:t>Next Token</a:t>
            </a:r>
          </a:p>
          <a:p>
            <a:r>
              <a:t>Probabilities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3657600"/>
            <a:ext cx="1828800" cy="640080"/>
          </a:xfrm>
          <a:prstGeom prst="roundRect">
            <a:avLst/>
          </a:prstGeom>
          <a:solidFill>
            <a:srgbClr val="E6FFF0"/>
          </a:solidFill>
          <a:ln>
            <a:solidFill>
              <a:srgbClr val="E6FF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212529"/>
                </a:solidFill>
              </a:defRPr>
            </a:pPr>
            <a:r>
              <a:t>OUTPUT</a:t>
            </a:r>
          </a:p>
          <a:p>
            <a:r>
              <a:t>'Hello world!'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743200" y="1691640"/>
            <a:ext cx="914400" cy="914400"/>
          </a:xfrm>
          <a:prstGeom prst="line">
            <a:avLst/>
          </a:prstGeom>
          <a:ln w="38100">
            <a:solidFill>
              <a:srgbClr val="667E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2743200" y="2606040"/>
            <a:ext cx="914400" cy="0"/>
          </a:xfrm>
          <a:prstGeom prst="line">
            <a:avLst/>
          </a:prstGeom>
          <a:ln w="38100">
            <a:solidFill>
              <a:srgbClr val="667E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2743200" y="2880360"/>
            <a:ext cx="914400" cy="640080"/>
          </a:xfrm>
          <a:prstGeom prst="line">
            <a:avLst/>
          </a:prstGeom>
          <a:ln w="38100">
            <a:solidFill>
              <a:srgbClr val="667E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486400" y="2606040"/>
            <a:ext cx="914400" cy="0"/>
          </a:xfrm>
          <a:prstGeom prst="line">
            <a:avLst/>
          </a:prstGeom>
          <a:ln w="38100">
            <a:solidFill>
              <a:srgbClr val="667E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315200" y="2926080"/>
            <a:ext cx="0" cy="731520"/>
          </a:xfrm>
          <a:prstGeom prst="line">
            <a:avLst/>
          </a:prstGeom>
          <a:ln w="38100">
            <a:solidFill>
              <a:srgbClr val="667E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667EEA"/>
                </a:solidFill>
              </a:defRPr>
            </a:pPr>
            <a:r>
              <a:t>🤔 What is a Large Language Model? (Part 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82296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200"/>
              </a:spcAft>
              <a:defRPr sz="1800">
                <a:solidFill>
                  <a:srgbClr val="FF8C00"/>
                </a:solidFill>
              </a:defRPr>
            </a:pPr>
            <a:r>
              <a:t>💡 Simple Analogy:</a:t>
            </a:r>
          </a:p>
          <a:p>
            <a:pPr>
              <a:lnSpc>
                <a:spcPct val="115000"/>
              </a:lnSpc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• Imagine reading millions of books, articles, and websites</a:t>
            </a:r>
          </a:p>
          <a:p>
            <a:pPr>
              <a:lnSpc>
                <a:spcPct val="115000"/>
              </a:lnSpc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• Learning patterns of how humans write and communicate</a:t>
            </a:r>
          </a:p>
          <a:p>
            <a:pPr>
              <a:lnSpc>
                <a:spcPct val="115000"/>
              </a:lnSpc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• Then being able to write like a human on any topic</a:t>
            </a:r>
          </a:p>
          <a:p>
            <a:pPr>
              <a:lnSpc>
                <a:spcPct val="115000"/>
              </a:lnSpc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</a:p>
          <a:p>
            <a:pPr>
              <a:lnSpc>
                <a:spcPct val="115000"/>
              </a:lnSpc>
              <a:spcAft>
                <a:spcPts val="1200"/>
              </a:spcAft>
              <a:defRPr sz="1800">
                <a:solidFill>
                  <a:srgbClr val="008000"/>
                </a:solidFill>
              </a:defRPr>
            </a:pPr>
            <a:r>
              <a:t>🎯 Key Capabilities:</a:t>
            </a:r>
          </a:p>
          <a:p>
            <a:pPr>
              <a:lnSpc>
                <a:spcPct val="115000"/>
              </a:lnSpc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• Text generation (stories, code, emails)</a:t>
            </a:r>
          </a:p>
          <a:p>
            <a:pPr>
              <a:lnSpc>
                <a:spcPct val="115000"/>
              </a:lnSpc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• Question answering</a:t>
            </a:r>
          </a:p>
          <a:p>
            <a:pPr>
              <a:lnSpc>
                <a:spcPct val="115000"/>
              </a:lnSpc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• Translation, summarization, analysis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667EEA"/>
                </a:solidFill>
              </a:defRPr>
            </a:pPr>
            <a:r>
              <a:t>📜 History: The Transformer Revolution (2017)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82296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🔬 'Attention is All You Need' Paper</a:t>
            </a:r>
          </a:p>
          <a:p>
            <a:pPr>
              <a:lnSpc>
                <a:spcPct val="115000"/>
              </a:lnSpc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• Google Brain team's breakthrough</a:t>
            </a:r>
          </a:p>
          <a:p>
            <a:pPr>
              <a:lnSpc>
                <a:spcPct val="115000"/>
              </a:lnSpc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• Introduced self-attention mechanism</a:t>
            </a:r>
          </a:p>
          <a:p>
            <a:pPr>
              <a:lnSpc>
                <a:spcPct val="115000"/>
              </a:lnSpc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• Solved long-distance dependency problem</a:t>
            </a:r>
          </a:p>
          <a:p>
            <a:pPr>
              <a:lnSpc>
                <a:spcPct val="115000"/>
              </a:lnSpc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</a:p>
          <a:p>
            <a:pPr>
              <a:lnSpc>
                <a:spcPct val="115000"/>
              </a:lnSpc>
              <a:spcAft>
                <a:spcPts val="1200"/>
              </a:spcAft>
              <a:defRPr sz="1800">
                <a:solidFill>
                  <a:srgbClr val="FF8C00"/>
                </a:solidFill>
              </a:defRPr>
            </a:pPr>
            <a:r>
              <a:t>💡 Key Innovation:</a:t>
            </a:r>
          </a:p>
          <a:p>
            <a:pPr>
              <a:lnSpc>
                <a:spcPct val="115000"/>
              </a:lnSpc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• Process entire sequences in parallel (vs sequential RNNs)</a:t>
            </a:r>
          </a:p>
          <a:p>
            <a:pPr>
              <a:lnSpc>
                <a:spcPct val="115000"/>
              </a:lnSpc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• Attention: Focus on relevant parts of input</a:t>
            </a:r>
          </a:p>
          <a:p>
            <a:pPr>
              <a:lnSpc>
                <a:spcPct val="115000"/>
              </a:lnSpc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• Scalable to massive datasets</a:t>
            </a:r>
          </a:p>
          <a:p>
            <a:pPr>
              <a:lnSpc>
                <a:spcPct val="115000"/>
              </a:lnSpc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</a:p>
          <a:p>
            <a:pPr>
              <a:lnSpc>
                <a:spcPct val="115000"/>
              </a:lnSpc>
              <a:spcAft>
                <a:spcPts val="1200"/>
              </a:spcAft>
              <a:defRPr sz="1800">
                <a:solidFill>
                  <a:srgbClr val="008000"/>
                </a:solidFill>
              </a:defRPr>
            </a:pPr>
            <a:r>
              <a:t>🎯 Impact: Foundation for ALL modern LLMs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667EEA"/>
                </a:solidFill>
              </a:defRPr>
            </a:pPr>
            <a:r>
              <a:t>📜 History: BERT Era (2018)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82296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📖 BERT: Bidirectional Encoder Representations</a:t>
            </a:r>
          </a:p>
          <a:p>
            <a:pPr>
              <a:lnSpc>
                <a:spcPct val="115000"/>
              </a:lnSpc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• Google's pre-training breakthrough</a:t>
            </a:r>
          </a:p>
          <a:p>
            <a:pPr>
              <a:lnSpc>
                <a:spcPct val="115000"/>
              </a:lnSpc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• 340M parameters - massive at the time!</a:t>
            </a:r>
          </a:p>
          <a:p>
            <a:pPr>
              <a:lnSpc>
                <a:spcPct val="115000"/>
              </a:lnSpc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• Trained to predict masked words</a:t>
            </a:r>
          </a:p>
          <a:p>
            <a:pPr>
              <a:lnSpc>
                <a:spcPct val="115000"/>
              </a:lnSpc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</a:p>
          <a:p>
            <a:pPr>
              <a:lnSpc>
                <a:spcPct val="115000"/>
              </a:lnSpc>
              <a:spcAft>
                <a:spcPts val="1200"/>
              </a:spcAft>
              <a:defRPr sz="1800">
                <a:solidFill>
                  <a:srgbClr val="008000"/>
                </a:solidFill>
              </a:defRPr>
            </a:pPr>
            <a:r>
              <a:t>✅ Achievements:</a:t>
            </a:r>
          </a:p>
          <a:p>
            <a:pPr>
              <a:lnSpc>
                <a:spcPct val="115000"/>
              </a:lnSpc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• State-of-the-art on 11 NLP tasks</a:t>
            </a:r>
          </a:p>
          <a:p>
            <a:pPr>
              <a:lnSpc>
                <a:spcPct val="115000"/>
              </a:lnSpc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• Improved Google Search significantly</a:t>
            </a:r>
          </a:p>
          <a:p>
            <a:pPr>
              <a:lnSpc>
                <a:spcPct val="115000"/>
              </a:lnSpc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• Showed pre-training + fine-tuning works</a:t>
            </a:r>
          </a:p>
          <a:p>
            <a:pPr>
              <a:lnSpc>
                <a:spcPct val="115000"/>
              </a:lnSpc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</a:p>
          <a:p>
            <a:pPr>
              <a:lnSpc>
                <a:spcPct val="115000"/>
              </a:lnSpc>
              <a:spcAft>
                <a:spcPts val="1200"/>
              </a:spcAft>
              <a:defRPr sz="1800">
                <a:solidFill>
                  <a:srgbClr val="FF8C00"/>
                </a:solidFill>
              </a:defRPr>
            </a:pPr>
            <a:r>
              <a:t>💡 Limitation: Encoder-only (not great at generation)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667EEA"/>
                </a:solidFill>
              </a:defRPr>
            </a:pPr>
            <a:r>
              <a:t>📜 History: GPT-2 Breakthrough (2019)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82296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200"/>
              </a:spcAft>
              <a:defRPr sz="1800">
                <a:solidFill>
                  <a:srgbClr val="FF8C00"/>
                </a:solidFill>
              </a:defRPr>
            </a:pPr>
            <a:r>
              <a:t>🚀 OpenAI's GPT-2: 1.5 Billion Parameters</a:t>
            </a:r>
          </a:p>
          <a:p>
            <a:pPr>
              <a:lnSpc>
                <a:spcPct val="115000"/>
              </a:lnSpc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• First truly impressive text generation</a:t>
            </a:r>
          </a:p>
          <a:p>
            <a:pPr>
              <a:lnSpc>
                <a:spcPct val="115000"/>
              </a:lnSpc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• Could write coherent paragraphs</a:t>
            </a:r>
          </a:p>
          <a:p>
            <a:pPr>
              <a:lnSpc>
                <a:spcPct val="115000"/>
              </a:lnSpc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• Initially deemed 'too dangerous' to release</a:t>
            </a:r>
          </a:p>
          <a:p>
            <a:pPr>
              <a:lnSpc>
                <a:spcPct val="115000"/>
              </a:lnSpc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</a:p>
          <a:p>
            <a:pPr>
              <a:lnSpc>
                <a:spcPct val="115000"/>
              </a:lnSpc>
              <a:spcAft>
                <a:spcPts val="1200"/>
              </a:spcAft>
              <a:defRPr sz="1800">
                <a:solidFill>
                  <a:srgbClr val="008000"/>
                </a:solidFill>
              </a:defRPr>
            </a:pPr>
            <a:r>
              <a:t>🎯 Key Features:</a:t>
            </a:r>
          </a:p>
          <a:p>
            <a:pPr>
              <a:lnSpc>
                <a:spcPct val="115000"/>
              </a:lnSpc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• Decoder-only transformer (generates text)</a:t>
            </a:r>
          </a:p>
          <a:p>
            <a:pPr>
              <a:lnSpc>
                <a:spcPct val="115000"/>
              </a:lnSpc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• Zero-shot learning (no fine-tuning needed)</a:t>
            </a:r>
          </a:p>
          <a:p>
            <a:pPr>
              <a:lnSpc>
                <a:spcPct val="115000"/>
              </a:lnSpc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• Trained on WebText (40GB of text)</a:t>
            </a:r>
          </a:p>
          <a:p>
            <a:pPr>
              <a:lnSpc>
                <a:spcPct val="115000"/>
              </a:lnSpc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</a:p>
          <a:p>
            <a:pPr>
              <a:lnSpc>
                <a:spcPct val="115000"/>
              </a:lnSpc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📰 Public Reaction: Excitement + Concern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667EEA"/>
                </a:solidFill>
              </a:defRPr>
            </a:pPr>
            <a:r>
              <a:t>📜 History: GPT-3 Changes Everything (2020)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82296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💥 The 175 Billion Parameter Beast</a:t>
            </a:r>
          </a:p>
          <a:p>
            <a:pPr>
              <a:lnSpc>
                <a:spcPct val="115000"/>
              </a:lnSpc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• 100x larger than GPT-2!</a:t>
            </a:r>
          </a:p>
          <a:p>
            <a:pPr>
              <a:lnSpc>
                <a:spcPct val="115000"/>
              </a:lnSpc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• Trained on 45TB of text data</a:t>
            </a:r>
          </a:p>
          <a:p>
            <a:pPr>
              <a:lnSpc>
                <a:spcPct val="115000"/>
              </a:lnSpc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• Cost ~$4.6M just in compute</a:t>
            </a:r>
          </a:p>
          <a:p>
            <a:pPr>
              <a:lnSpc>
                <a:spcPct val="115000"/>
              </a:lnSpc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</a:p>
          <a:p>
            <a:pPr>
              <a:lnSpc>
                <a:spcPct val="115000"/>
              </a:lnSpc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🌟 Capabilities:</a:t>
            </a:r>
          </a:p>
          <a:p>
            <a:pPr>
              <a:lnSpc>
                <a:spcPct val="115000"/>
              </a:lnSpc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• Few-shot learning: Give examples, it learns</a:t>
            </a:r>
          </a:p>
          <a:p>
            <a:pPr>
              <a:lnSpc>
                <a:spcPct val="115000"/>
              </a:lnSpc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• Write code, essays, poems, translations</a:t>
            </a:r>
          </a:p>
          <a:p>
            <a:pPr>
              <a:lnSpc>
                <a:spcPct val="115000"/>
              </a:lnSpc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• Solve math problems, answer questions</a:t>
            </a:r>
          </a:p>
          <a:p>
            <a:pPr>
              <a:lnSpc>
                <a:spcPct val="115000"/>
              </a:lnSpc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</a:p>
          <a:p>
            <a:pPr>
              <a:lnSpc>
                <a:spcPct val="115000"/>
              </a:lnSpc>
              <a:spcAft>
                <a:spcPts val="1200"/>
              </a:spcAft>
              <a:defRPr sz="1800">
                <a:solidFill>
                  <a:srgbClr val="008000"/>
                </a:solidFill>
              </a:defRPr>
            </a:pPr>
            <a:r>
              <a:t>🎯 Impact: Showed scale = emergent abilities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667EEA"/>
                </a:solidFill>
              </a:defRPr>
            </a:pPr>
            <a:r>
              <a:t>📜 History: ChatGPT Revolution (2022)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82296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🎭 ChatGPT: GPT-3.5 + Chat Interface</a:t>
            </a:r>
          </a:p>
          <a:p>
            <a:pPr>
              <a:lnSpc>
                <a:spcPct val="115000"/>
              </a:lnSpc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• Launched November 30, 2022</a:t>
            </a:r>
          </a:p>
          <a:p>
            <a:pPr>
              <a:lnSpc>
                <a:spcPct val="115000"/>
              </a:lnSpc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• 1 million users in 5 days</a:t>
            </a:r>
          </a:p>
          <a:p>
            <a:pPr>
              <a:lnSpc>
                <a:spcPct val="115000"/>
              </a:lnSpc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• 100 million users in 2 months (fastest app ever!)</a:t>
            </a:r>
          </a:p>
          <a:p>
            <a:pPr>
              <a:lnSpc>
                <a:spcPct val="115000"/>
              </a:lnSpc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</a:p>
          <a:p>
            <a:pPr>
              <a:lnSpc>
                <a:spcPct val="115000"/>
              </a:lnSpc>
              <a:spcAft>
                <a:spcPts val="1200"/>
              </a:spcAft>
              <a:defRPr sz="1800">
                <a:solidFill>
                  <a:srgbClr val="FF8C00"/>
                </a:solidFill>
              </a:defRPr>
            </a:pPr>
            <a:r>
              <a:t>💡 What Made It Special?</a:t>
            </a:r>
          </a:p>
          <a:p>
            <a:pPr>
              <a:lnSpc>
                <a:spcPct val="115000"/>
              </a:lnSpc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• Conversational &amp; helpful (thanks to RLHF)</a:t>
            </a:r>
          </a:p>
          <a:p>
            <a:pPr>
              <a:lnSpc>
                <a:spcPct val="115000"/>
              </a:lnSpc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• Free and accessible to everyone</a:t>
            </a:r>
          </a:p>
          <a:p>
            <a:pPr>
              <a:lnSpc>
                <a:spcPct val="115000"/>
              </a:lnSpc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• Easy-to-use chat interface</a:t>
            </a:r>
          </a:p>
          <a:p>
            <a:pPr>
              <a:lnSpc>
                <a:spcPct val="115000"/>
              </a:lnSpc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</a:p>
          <a:p>
            <a:pPr>
              <a:lnSpc>
                <a:spcPct val="115000"/>
              </a:lnSpc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🌍 Impact: Brought AI to mainstream consciousness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667EEA"/>
                </a:solidFill>
              </a:defRPr>
            </a:pPr>
            <a:r>
              <a:t>🏆 Major LLM Families (2024-2025)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38862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1600">
                <a:solidFill>
                  <a:srgbClr val="212529"/>
                </a:solidFill>
              </a:defRPr>
            </a:pPr>
            <a:r>
              <a:t>🔷 OpenAI GPT Series: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600">
                <a:solidFill>
                  <a:srgbClr val="212529"/>
                </a:solidFill>
              </a:defRPr>
            </a:pPr>
            <a:r>
              <a:t>• GPT-4, GPT-4 Turbo, GPT-4o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600">
                <a:solidFill>
                  <a:srgbClr val="212529"/>
                </a:solidFill>
              </a:defRPr>
            </a:pPr>
            <a:r>
              <a:t>• GPT-o1 (reasoning model)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600">
                <a:solidFill>
                  <a:srgbClr val="212529"/>
                </a:solidFill>
              </a:defRPr>
            </a:pPr>
            <a:r>
              <a:t>• Best for: Creative tasks, coding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600">
                <a:solidFill>
                  <a:srgbClr val="212529"/>
                </a:solidFill>
              </a:defRPr>
            </a:pPr>
          </a:p>
          <a:p>
            <a:pPr>
              <a:lnSpc>
                <a:spcPct val="115000"/>
              </a:lnSpc>
              <a:spcAft>
                <a:spcPts val="1000"/>
              </a:spcAft>
              <a:defRPr sz="1600">
                <a:solidFill>
                  <a:srgbClr val="212529"/>
                </a:solidFill>
              </a:defRPr>
            </a:pPr>
            <a:r>
              <a:t>🔶 Google Gemini: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600">
                <a:solidFill>
                  <a:srgbClr val="212529"/>
                </a:solidFill>
              </a:defRPr>
            </a:pPr>
            <a:r>
              <a:t>• Ultra, Pro, Flash, Nano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600">
                <a:solidFill>
                  <a:srgbClr val="212529"/>
                </a:solidFill>
              </a:defRPr>
            </a:pPr>
            <a:r>
              <a:t>• Native multimodal design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600">
                <a:solidFill>
                  <a:srgbClr val="212529"/>
                </a:solidFill>
              </a:defRPr>
            </a:pPr>
            <a:r>
              <a:t>• Best for: Search integration, Android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600">
                <a:solidFill>
                  <a:srgbClr val="212529"/>
                </a:solidFill>
              </a:defRPr>
            </a:pPr>
          </a:p>
          <a:p>
            <a:pPr>
              <a:lnSpc>
                <a:spcPct val="115000"/>
              </a:lnSpc>
              <a:spcAft>
                <a:spcPts val="1000"/>
              </a:spcAft>
              <a:defRPr sz="1600">
                <a:solidFill>
                  <a:srgbClr val="212529"/>
                </a:solidFill>
              </a:defRPr>
            </a:pPr>
            <a:r>
              <a:t>🟣 Anthropic Claude: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600">
                <a:solidFill>
                  <a:srgbClr val="212529"/>
                </a:solidFill>
              </a:defRPr>
            </a:pPr>
            <a:r>
              <a:t>• Claude 3.5 Sonnet (200K context)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600">
                <a:solidFill>
                  <a:srgbClr val="212529"/>
                </a:solidFill>
              </a:defRPr>
            </a:pPr>
            <a:r>
              <a:t>• Focus on safety &amp; helpfulness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600">
                <a:solidFill>
                  <a:srgbClr val="212529"/>
                </a:solidFill>
              </a:defRPr>
            </a:pPr>
            <a:r>
              <a:t>• Best for: Analysis, research, coding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00600" y="1005840"/>
            <a:ext cx="38862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1600">
                <a:solidFill>
                  <a:srgbClr val="212529"/>
                </a:solidFill>
              </a:defRPr>
            </a:pPr>
            <a:r>
              <a:t>🦙 Meta Llama: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600">
                <a:solidFill>
                  <a:srgbClr val="212529"/>
                </a:solidFill>
              </a:defRPr>
            </a:pPr>
            <a:r>
              <a:t>• Open-source champion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600">
                <a:solidFill>
                  <a:srgbClr val="212529"/>
                </a:solidFill>
              </a:defRPr>
            </a:pPr>
            <a:r>
              <a:t>• Llama 3.1 (405B parameters)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600">
                <a:solidFill>
                  <a:srgbClr val="212529"/>
                </a:solidFill>
              </a:defRPr>
            </a:pPr>
            <a:r>
              <a:t>• Best for: Self-hosting, customization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600">
                <a:solidFill>
                  <a:srgbClr val="212529"/>
                </a:solidFill>
              </a:defRPr>
            </a:pPr>
          </a:p>
          <a:p>
            <a:pPr>
              <a:lnSpc>
                <a:spcPct val="115000"/>
              </a:lnSpc>
              <a:spcAft>
                <a:spcPts val="1000"/>
              </a:spcAft>
              <a:defRPr sz="1600">
                <a:solidFill>
                  <a:srgbClr val="212529"/>
                </a:solidFill>
              </a:defRPr>
            </a:pPr>
            <a:r>
              <a:t>⚡ Others: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600">
                <a:solidFill>
                  <a:srgbClr val="212529"/>
                </a:solidFill>
              </a:defRPr>
            </a:pPr>
            <a:r>
              <a:t>• Mistral: European efficiency leader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600">
                <a:solidFill>
                  <a:srgbClr val="212529"/>
                </a:solidFill>
              </a:defRPr>
            </a:pPr>
            <a:r>
              <a:t>• Cohere: Enterprise focus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600">
                <a:solidFill>
                  <a:srgbClr val="212529"/>
                </a:solidFill>
              </a:defRPr>
            </a:pPr>
            <a:r>
              <a:t>• Grok (xAI): Real-time knowledge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600">
                <a:solidFill>
                  <a:srgbClr val="212529"/>
                </a:solidFill>
              </a:defRPr>
            </a:pPr>
          </a:p>
          <a:p>
            <a:pPr>
              <a:lnSpc>
                <a:spcPct val="115000"/>
              </a:lnSpc>
              <a:spcAft>
                <a:spcPts val="1000"/>
              </a:spcAft>
              <a:defRPr sz="1600">
                <a:solidFill>
                  <a:srgbClr val="212529"/>
                </a:solidFill>
              </a:defRPr>
            </a:pPr>
            <a:r>
              <a:t>🎯 Specialized: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600">
                <a:solidFill>
                  <a:srgbClr val="212529"/>
                </a:solidFill>
              </a:defRPr>
            </a:pPr>
            <a:r>
              <a:t>• Codex, CodeLlama: Coding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600">
                <a:solidFill>
                  <a:srgbClr val="212529"/>
                </a:solidFill>
              </a:defRPr>
            </a:pPr>
            <a:r>
              <a:t>• Med-PaLM: Medical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600">
                <a:solidFill>
                  <a:srgbClr val="212529"/>
                </a:solidFill>
              </a:defRPr>
            </a:pPr>
            <a:r>
              <a:t>• Galactica: Scientific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667EEA"/>
                </a:solidFill>
              </a:defRPr>
            </a:pPr>
            <a:r>
              <a:t>📚 Pretraining: Building the Foundation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82296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200"/>
              </a:spcAft>
              <a:defRPr sz="1800">
                <a:solidFill>
                  <a:srgbClr val="008000"/>
                </a:solidFill>
              </a:defRPr>
            </a:pPr>
            <a:r>
              <a:t>🎯 What is Pretraining?</a:t>
            </a:r>
          </a:p>
          <a:p>
            <a:pPr>
              <a:lnSpc>
                <a:spcPct val="115000"/>
              </a:lnSpc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• Training on massive amounts of raw text</a:t>
            </a:r>
          </a:p>
          <a:p>
            <a:pPr>
              <a:lnSpc>
                <a:spcPct val="115000"/>
              </a:lnSpc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• Goal: Learn general language understanding</a:t>
            </a:r>
          </a:p>
          <a:p>
            <a:pPr>
              <a:lnSpc>
                <a:spcPct val="115000"/>
              </a:lnSpc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• Predict next word billions of times</a:t>
            </a:r>
          </a:p>
          <a:p>
            <a:pPr>
              <a:lnSpc>
                <a:spcPct val="115000"/>
              </a:lnSpc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</a:p>
          <a:p>
            <a:pPr>
              <a:lnSpc>
                <a:spcPct val="115000"/>
              </a:lnSpc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📖 Training Data Sources:</a:t>
            </a:r>
          </a:p>
          <a:p>
            <a:pPr>
              <a:lnSpc>
                <a:spcPct val="115000"/>
              </a:lnSpc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• Common Crawl (web scrape): 100+ TB</a:t>
            </a:r>
          </a:p>
          <a:p>
            <a:pPr>
              <a:lnSpc>
                <a:spcPct val="115000"/>
              </a:lnSpc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• Books, Wikipedia, Reddit, GitHub</a:t>
            </a:r>
          </a:p>
          <a:p>
            <a:pPr>
              <a:lnSpc>
                <a:spcPct val="115000"/>
              </a:lnSpc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• News articles, academic papers</a:t>
            </a:r>
          </a:p>
          <a:p>
            <a:pPr>
              <a:lnSpc>
                <a:spcPct val="115000"/>
              </a:lnSpc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• Carefully filtered for quality &amp; safety</a:t>
            </a:r>
          </a:p>
          <a:p>
            <a:pPr>
              <a:lnSpc>
                <a:spcPct val="115000"/>
              </a:lnSpc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</a:p>
          <a:p>
            <a:pPr>
              <a:lnSpc>
                <a:spcPct val="115000"/>
              </a:lnSpc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⏱️ Scale: Weeks/months on thousands of GPUs, costs $millions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667EEA"/>
                </a:solidFill>
              </a:defRPr>
            </a:pPr>
            <a:r>
              <a:t>📚 What Does Pretraining Teach?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82296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200"/>
              </a:spcAft>
              <a:defRPr sz="1800">
                <a:solidFill>
                  <a:srgbClr val="008000"/>
                </a:solidFill>
              </a:defRPr>
            </a:pPr>
            <a:r>
              <a:t>✅ Language Knowledge:</a:t>
            </a:r>
          </a:p>
          <a:p>
            <a:pPr>
              <a:lnSpc>
                <a:spcPct val="115000"/>
              </a:lnSpc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• Grammar, syntax, semantics</a:t>
            </a:r>
          </a:p>
          <a:p>
            <a:pPr>
              <a:lnSpc>
                <a:spcPct val="115000"/>
              </a:lnSpc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• Different writing styles and tones</a:t>
            </a:r>
          </a:p>
          <a:p>
            <a:pPr>
              <a:lnSpc>
                <a:spcPct val="115000"/>
              </a:lnSpc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• Code syntax and patterns</a:t>
            </a:r>
          </a:p>
          <a:p>
            <a:pPr>
              <a:lnSpc>
                <a:spcPct val="115000"/>
              </a:lnSpc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</a:p>
          <a:p>
            <a:pPr>
              <a:lnSpc>
                <a:spcPct val="115000"/>
              </a:lnSpc>
              <a:spcAft>
                <a:spcPts val="1200"/>
              </a:spcAft>
              <a:defRPr sz="1800">
                <a:solidFill>
                  <a:srgbClr val="008000"/>
                </a:solidFill>
              </a:defRPr>
            </a:pPr>
            <a:r>
              <a:t>✅ World Knowledge:</a:t>
            </a:r>
          </a:p>
          <a:p>
            <a:pPr>
              <a:lnSpc>
                <a:spcPct val="115000"/>
              </a:lnSpc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• Facts, history, science (up to cutoff date)</a:t>
            </a:r>
          </a:p>
          <a:p>
            <a:pPr>
              <a:lnSpc>
                <a:spcPct val="115000"/>
              </a:lnSpc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• Common sense reasoning</a:t>
            </a:r>
          </a:p>
          <a:p>
            <a:pPr>
              <a:lnSpc>
                <a:spcPct val="115000"/>
              </a:lnSpc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• Cultural context</a:t>
            </a:r>
          </a:p>
          <a:p>
            <a:pPr>
              <a:lnSpc>
                <a:spcPct val="115000"/>
              </a:lnSpc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</a:p>
          <a:p>
            <a:pPr>
              <a:lnSpc>
                <a:spcPct val="115000"/>
              </a:lnSpc>
              <a:spcAft>
                <a:spcPts val="1200"/>
              </a:spcAft>
              <a:defRPr sz="1800">
                <a:solidFill>
                  <a:srgbClr val="DC3545"/>
                </a:solidFill>
              </a:defRPr>
            </a:pPr>
            <a:r>
              <a:t>⚠️ Also Learns Biases:</a:t>
            </a:r>
          </a:p>
          <a:p>
            <a:pPr>
              <a:lnSpc>
                <a:spcPct val="115000"/>
              </a:lnSpc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• Societal biases present in training data</a:t>
            </a:r>
          </a:p>
          <a:p>
            <a:pPr>
              <a:lnSpc>
                <a:spcPct val="115000"/>
              </a:lnSpc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• Requires careful mitigation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667EEA"/>
                </a:solidFill>
              </a:defRPr>
            </a:pPr>
            <a:r>
              <a:t>🎯 Fine-tuning: Specialization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82296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🔧 What is Fine-tuning?</a:t>
            </a:r>
          </a:p>
          <a:p>
            <a:pPr>
              <a:lnSpc>
                <a:spcPct val="115000"/>
              </a:lnSpc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• Taking pretrained model as starting point</a:t>
            </a:r>
          </a:p>
          <a:p>
            <a:pPr>
              <a:lnSpc>
                <a:spcPct val="115000"/>
              </a:lnSpc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• Training on specific, curated dataset</a:t>
            </a:r>
          </a:p>
          <a:p>
            <a:pPr>
              <a:lnSpc>
                <a:spcPct val="115000"/>
              </a:lnSpc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• Like specialized training after general education</a:t>
            </a:r>
          </a:p>
          <a:p>
            <a:pPr>
              <a:lnSpc>
                <a:spcPct val="115000"/>
              </a:lnSpc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</a:p>
          <a:p>
            <a:pPr>
              <a:lnSpc>
                <a:spcPct val="115000"/>
              </a:lnSpc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⚡ Benefits:</a:t>
            </a:r>
          </a:p>
          <a:p>
            <a:pPr>
              <a:lnSpc>
                <a:spcPct val="115000"/>
              </a:lnSpc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• Much faster: hours/days vs weeks/months</a:t>
            </a:r>
          </a:p>
          <a:p>
            <a:pPr>
              <a:lnSpc>
                <a:spcPct val="115000"/>
              </a:lnSpc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• Much cheaper: $100s-$1000s vs $millions</a:t>
            </a:r>
          </a:p>
          <a:p>
            <a:pPr>
              <a:lnSpc>
                <a:spcPct val="115000"/>
              </a:lnSpc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• Better performance on specific tasks</a:t>
            </a:r>
          </a:p>
          <a:p>
            <a:pPr>
              <a:lnSpc>
                <a:spcPct val="115000"/>
              </a:lnSpc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• Can use smaller, domain-specific datasets</a:t>
            </a:r>
          </a:p>
          <a:p>
            <a:pPr>
              <a:lnSpc>
                <a:spcPct val="115000"/>
              </a:lnSpc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</a:p>
          <a:p>
            <a:pPr>
              <a:lnSpc>
                <a:spcPct val="115000"/>
              </a:lnSpc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🎓 Analogy: Medical school after college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667EEA"/>
                </a:solidFill>
              </a:defRPr>
            </a:pPr>
            <a:r>
              <a:t>🎯 Types of Fine-tuning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38862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1600">
                <a:solidFill>
                  <a:srgbClr val="212529"/>
                </a:solidFill>
              </a:defRPr>
            </a:pPr>
            <a:r>
              <a:t>🔹 Instruction Fine-tuning: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600">
                <a:solidFill>
                  <a:srgbClr val="212529"/>
                </a:solidFill>
              </a:defRPr>
            </a:pPr>
            <a:r>
              <a:t>• Teach to follow instructions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600">
                <a:solidFill>
                  <a:srgbClr val="212529"/>
                </a:solidFill>
              </a:defRPr>
            </a:pPr>
            <a:r>
              <a:t>• Dataset: (instruction, response)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600">
                <a:solidFill>
                  <a:srgbClr val="212529"/>
                </a:solidFill>
              </a:defRPr>
            </a:pPr>
            <a:r>
              <a:t>• Example: GPT-3 → ChatGPT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600">
                <a:solidFill>
                  <a:srgbClr val="212529"/>
                </a:solidFill>
              </a:defRPr>
            </a:pPr>
          </a:p>
          <a:p>
            <a:pPr>
              <a:lnSpc>
                <a:spcPct val="115000"/>
              </a:lnSpc>
              <a:spcAft>
                <a:spcPts val="1000"/>
              </a:spcAft>
              <a:defRPr sz="1600">
                <a:solidFill>
                  <a:srgbClr val="212529"/>
                </a:solidFill>
              </a:defRPr>
            </a:pPr>
            <a:r>
              <a:t>🔹 Task-Specific: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600">
                <a:solidFill>
                  <a:srgbClr val="212529"/>
                </a:solidFill>
              </a:defRPr>
            </a:pPr>
            <a:r>
              <a:t>• Sentiment analysis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600">
                <a:solidFill>
                  <a:srgbClr val="212529"/>
                </a:solidFill>
              </a:defRPr>
            </a:pPr>
            <a:r>
              <a:t>• Named entity recognition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600">
                <a:solidFill>
                  <a:srgbClr val="212529"/>
                </a:solidFill>
              </a:defRPr>
            </a:pPr>
            <a:r>
              <a:t>• Summarization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600">
                <a:solidFill>
                  <a:srgbClr val="212529"/>
                </a:solidFill>
              </a:defRPr>
            </a:pPr>
            <a:r>
              <a:t>• Classification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600">
                <a:solidFill>
                  <a:srgbClr val="212529"/>
                </a:solidFill>
              </a:defRPr>
            </a:pPr>
          </a:p>
          <a:p>
            <a:pPr>
              <a:lnSpc>
                <a:spcPct val="115000"/>
              </a:lnSpc>
              <a:spcAft>
                <a:spcPts val="1000"/>
              </a:spcAft>
              <a:defRPr sz="1600">
                <a:solidFill>
                  <a:srgbClr val="212529"/>
                </a:solidFill>
              </a:defRPr>
            </a:pPr>
            <a:r>
              <a:t>🔹 Domain Adaptation: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600">
                <a:solidFill>
                  <a:srgbClr val="212529"/>
                </a:solidFill>
              </a:defRPr>
            </a:pPr>
            <a:r>
              <a:t>• Legal, Medical, Financial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600">
                <a:solidFill>
                  <a:srgbClr val="212529"/>
                </a:solidFill>
              </a:defRPr>
            </a:pPr>
            <a:r>
              <a:t>• Technical documentation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600">
                <a:solidFill>
                  <a:srgbClr val="212529"/>
                </a:solidFill>
              </a:defRPr>
            </a:pPr>
            <a:r>
              <a:t>• Customer support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00600" y="1005840"/>
            <a:ext cx="38862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1600">
                <a:solidFill>
                  <a:srgbClr val="212529"/>
                </a:solidFill>
              </a:defRPr>
            </a:pPr>
            <a:r>
              <a:t>💡 When to Fine-tune?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600">
                <a:solidFill>
                  <a:srgbClr val="212529"/>
                </a:solidFill>
              </a:defRPr>
            </a:pPr>
            <a:r>
              <a:t>✅ Need specific terminology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600">
                <a:solidFill>
                  <a:srgbClr val="212529"/>
                </a:solidFill>
              </a:defRPr>
            </a:pPr>
            <a:r>
              <a:t>✅ Consistent output format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600">
                <a:solidFill>
                  <a:srgbClr val="212529"/>
                </a:solidFill>
              </a:defRPr>
            </a:pPr>
            <a:r>
              <a:t>✅ Have quality training data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600">
                <a:solidFill>
                  <a:srgbClr val="212529"/>
                </a:solidFill>
              </a:defRPr>
            </a:pPr>
            <a:r>
              <a:t>✅ Need better task performance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600">
                <a:solidFill>
                  <a:srgbClr val="212529"/>
                </a:solidFill>
              </a:defRPr>
            </a:pPr>
          </a:p>
          <a:p>
            <a:pPr>
              <a:lnSpc>
                <a:spcPct val="115000"/>
              </a:lnSpc>
              <a:spcAft>
                <a:spcPts val="1000"/>
              </a:spcAft>
              <a:defRPr sz="1600">
                <a:solidFill>
                  <a:srgbClr val="212529"/>
                </a:solidFill>
              </a:defRPr>
            </a:pPr>
            <a:r>
              <a:t>❌ When NOT to: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600">
                <a:solidFill>
                  <a:srgbClr val="212529"/>
                </a:solidFill>
              </a:defRPr>
            </a:pPr>
            <a:r>
              <a:t>❌ Generic tasks (use base model)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600">
                <a:solidFill>
                  <a:srgbClr val="212529"/>
                </a:solidFill>
              </a:defRPr>
            </a:pPr>
            <a:r>
              <a:t>❌ No quality data available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600">
                <a:solidFill>
                  <a:srgbClr val="212529"/>
                </a:solidFill>
              </a:defRPr>
            </a:pPr>
            <a:r>
              <a:t>❌ Prompt engineering sufficient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600">
                <a:solidFill>
                  <a:srgbClr val="212529"/>
                </a:solidFill>
              </a:defRPr>
            </a:pPr>
          </a:p>
          <a:p>
            <a:pPr>
              <a:lnSpc>
                <a:spcPct val="115000"/>
              </a:lnSpc>
              <a:spcAft>
                <a:spcPts val="1000"/>
              </a:spcAft>
              <a:defRPr sz="1600">
                <a:solidFill>
                  <a:srgbClr val="212529"/>
                </a:solidFill>
              </a:defRPr>
            </a:pPr>
            <a:r>
              <a:t>🎯 Rule: Try prompting first,</a:t>
            </a:r>
            <a:br/>
            <a:r>
              <a:t>fine-tune if needed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667EEA"/>
                </a:solidFill>
              </a:defRPr>
            </a:pPr>
            <a:r>
              <a:t>🎭 RLHF: The Problem &amp; Solution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097280"/>
            <a:ext cx="3657600" cy="1371600"/>
          </a:xfrm>
          <a:prstGeom prst="roundRect">
            <a:avLst/>
          </a:prstGeom>
          <a:solidFill>
            <a:srgbClr val="FFE6E6"/>
          </a:solidFill>
          <a:ln w="38100">
            <a:solidFill>
              <a:srgbClr val="DC3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600" b="1"/>
            </a:pPr>
            <a:r>
              <a:t>❌ After Pretraining:</a:t>
            </a:r>
          </a:p>
          <a:p/>
          <a:p>
            <a:r>
              <a:t>• Smart but not helpful</a:t>
            </a:r>
          </a:p>
          <a:p>
            <a:r>
              <a:t>• No safety guardrails</a:t>
            </a:r>
          </a:p>
          <a:p>
            <a:r>
              <a:t>• Can be offensive/harmful</a:t>
            </a:r>
          </a:p>
          <a:p>
            <a:r>
              <a:t>• Doesn't understand user intent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389120" y="1828800"/>
            <a:ext cx="365760" cy="0"/>
          </a:xfrm>
          <a:prstGeom prst="line">
            <a:avLst/>
          </a:prstGeom>
          <a:ln w="38100">
            <a:solidFill>
              <a:srgbClr val="667E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5029200" y="1097280"/>
            <a:ext cx="3657600" cy="1371600"/>
          </a:xfrm>
          <a:prstGeom prst="roundRect">
            <a:avLst/>
          </a:prstGeom>
          <a:solidFill>
            <a:srgbClr val="E6FFE6"/>
          </a:solidFill>
          <a:ln w="38100">
            <a:solidFill>
              <a:srgbClr val="00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600" b="1"/>
            </a:pPr>
            <a:r>
              <a:t>✅ After RLHF:</a:t>
            </a:r>
          </a:p>
          <a:p/>
          <a:p>
            <a:r>
              <a:t>• Helpful &amp; harmless</a:t>
            </a:r>
          </a:p>
          <a:p>
            <a:r>
              <a:t>• Refuses bad requests</a:t>
            </a:r>
          </a:p>
          <a:p>
            <a:r>
              <a:t>• Follows instructions well</a:t>
            </a:r>
          </a:p>
          <a:p>
            <a:r>
              <a:t>• Aligned with human values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92608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12529"/>
                </a:solidFill>
              </a:defRPr>
            </a:pPr>
            <a:r>
              <a:t>🎯 RLHF: Reinforcement Learning from Human Feedback</a:t>
            </a:r>
          </a:p>
          <a:p/>
          <a:p>
            <a:r>
              <a:t>Teaches the model what humans prefer through:</a:t>
            </a:r>
          </a:p>
          <a:p>
            <a:r>
              <a:t>1. Human labelers rank model outputs (good vs bad)</a:t>
            </a:r>
          </a:p>
          <a:p>
            <a:r>
              <a:t>2. Train 'reward model' to predict human preferences</a:t>
            </a:r>
          </a:p>
          <a:p>
            <a:r>
              <a:t>3. Optimize LLM to maximize reward scores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667EEA"/>
                </a:solidFill>
              </a:defRPr>
            </a:pPr>
            <a:r>
              <a:t>🎭 RLHF: The Three-Step Process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371600" y="1188720"/>
            <a:ext cx="2103120" cy="1097280"/>
          </a:xfrm>
          <a:prstGeom prst="roundRect">
            <a:avLst/>
          </a:prstGeom>
          <a:solidFill>
            <a:srgbClr val="E6F0FF"/>
          </a:solidFill>
          <a:ln w="254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800" b="1"/>
            </a:pPr>
            <a:r>
              <a:t>STEP 1</a:t>
            </a:r>
          </a:p>
          <a:p>
            <a:r>
              <a:t>Collect Comparisons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560320"/>
            <a:ext cx="2103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/>
            </a:pPr>
            <a:r>
              <a:t>Humans rank</a:t>
            </a:r>
          </a:p>
          <a:p>
            <a:r>
              <a:t>model outputs</a:t>
            </a:r>
          </a:p>
          <a:p>
            <a:r>
              <a:t>(A better than B)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0" y="1188720"/>
            <a:ext cx="2103120" cy="1097280"/>
          </a:xfrm>
          <a:prstGeom prst="roundRect">
            <a:avLst/>
          </a:prstGeom>
          <a:solidFill>
            <a:srgbClr val="FFF0E6"/>
          </a:solidFill>
          <a:ln w="254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800" b="1"/>
            </a:pPr>
            <a:r>
              <a:t>STEP 2</a:t>
            </a:r>
          </a:p>
          <a:p>
            <a:r>
              <a:t>Train Reward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0" y="2560320"/>
            <a:ext cx="2103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/>
            </a:pPr>
            <a:r>
              <a:t>Neural net learns</a:t>
            </a:r>
          </a:p>
          <a:p>
            <a:r>
              <a:t>to predict</a:t>
            </a:r>
          </a:p>
          <a:p>
            <a:r>
              <a:t>human preferences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188720"/>
            <a:ext cx="2103120" cy="1097280"/>
          </a:xfrm>
          <a:prstGeom prst="roundRect">
            <a:avLst/>
          </a:prstGeom>
          <a:solidFill>
            <a:srgbClr val="E6FFE6"/>
          </a:solidFill>
          <a:ln w="254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800" b="1"/>
            </a:pPr>
            <a:r>
              <a:t>STEP 3</a:t>
            </a:r>
          </a:p>
          <a:p>
            <a:r>
              <a:t>Optimize LLM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2560320"/>
            <a:ext cx="2103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/>
            </a:pPr>
            <a:r>
              <a:t>Update model</a:t>
            </a:r>
          </a:p>
          <a:p>
            <a:r>
              <a:t>to maximize</a:t>
            </a:r>
          </a:p>
          <a:p>
            <a:r>
              <a:t>reward scores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474720" y="1737360"/>
            <a:ext cx="365760" cy="0"/>
          </a:xfrm>
          <a:prstGeom prst="line">
            <a:avLst/>
          </a:prstGeom>
          <a:ln w="38100">
            <a:solidFill>
              <a:srgbClr val="667E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5943600" y="1737360"/>
            <a:ext cx="365760" cy="0"/>
          </a:xfrm>
          <a:prstGeom prst="line">
            <a:avLst/>
          </a:prstGeom>
          <a:ln w="38100">
            <a:solidFill>
              <a:srgbClr val="667E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914400" y="3474720"/>
            <a:ext cx="7315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008000"/>
                </a:solidFill>
              </a:defRPr>
            </a:pPr>
            <a:r>
              <a:t>🎯 Result: Model learns to generate responses that humans prefer</a:t>
            </a:r>
          </a:p>
          <a:p/>
          <a:p>
            <a:r>
              <a:t>✅ More helpful  ✅ More truthful  ✅ More harmless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667EEA"/>
                </a:solidFill>
              </a:defRPr>
            </a:pPr>
            <a:r>
              <a:t>🎭 RLHF: Before &amp; After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38862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1600">
                <a:solidFill>
                  <a:srgbClr val="212529"/>
                </a:solidFill>
              </a:defRPr>
            </a:pPr>
            <a:r>
              <a:t>❌ Before RLHF: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600">
                <a:solidFill>
                  <a:srgbClr val="212529"/>
                </a:solidFill>
              </a:defRPr>
            </a:pPr>
          </a:p>
          <a:p>
            <a:pPr>
              <a:lnSpc>
                <a:spcPct val="115000"/>
              </a:lnSpc>
              <a:spcAft>
                <a:spcPts val="1000"/>
              </a:spcAft>
              <a:defRPr sz="1600">
                <a:solidFill>
                  <a:srgbClr val="212529"/>
                </a:solidFill>
              </a:defRPr>
            </a:pPr>
            <a:r>
              <a:t>User: 'Write harmful code'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600">
                <a:solidFill>
                  <a:srgbClr val="212529"/>
                </a:solidFill>
              </a:defRPr>
            </a:pPr>
            <a:r>
              <a:t>Model: [Provides code]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600">
                <a:solidFill>
                  <a:srgbClr val="212529"/>
                </a:solidFill>
              </a:defRPr>
            </a:pPr>
          </a:p>
          <a:p>
            <a:pPr>
              <a:lnSpc>
                <a:spcPct val="115000"/>
              </a:lnSpc>
              <a:spcAft>
                <a:spcPts val="1000"/>
              </a:spcAft>
              <a:defRPr sz="1600">
                <a:solidFill>
                  <a:srgbClr val="212529"/>
                </a:solidFill>
              </a:defRPr>
            </a:pPr>
            <a:r>
              <a:t>User: 'Help me cheat'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600">
                <a:solidFill>
                  <a:srgbClr val="212529"/>
                </a:solidFill>
              </a:defRPr>
            </a:pPr>
            <a:r>
              <a:t>Model: [Gives methods]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600">
                <a:solidFill>
                  <a:srgbClr val="212529"/>
                </a:solidFill>
              </a:defRPr>
            </a:pPr>
          </a:p>
          <a:p>
            <a:pPr>
              <a:lnSpc>
                <a:spcPct val="115000"/>
              </a:lnSpc>
              <a:spcAft>
                <a:spcPts val="1000"/>
              </a:spcAft>
              <a:defRPr sz="1600">
                <a:solidFill>
                  <a:srgbClr val="212529"/>
                </a:solidFill>
              </a:defRPr>
            </a:pPr>
            <a:r>
              <a:t>User: 'Explain quantum physics'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600">
                <a:solidFill>
                  <a:srgbClr val="212529"/>
                </a:solidFill>
              </a:defRPr>
            </a:pPr>
            <a:r>
              <a:t>Model: [Overly technical jargon]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600">
                <a:solidFill>
                  <a:srgbClr val="212529"/>
                </a:solidFill>
              </a:defRPr>
            </a:pPr>
          </a:p>
          <a:p>
            <a:pPr>
              <a:lnSpc>
                <a:spcPct val="115000"/>
              </a:lnSpc>
              <a:spcAft>
                <a:spcPts val="1000"/>
              </a:spcAft>
              <a:defRPr sz="1600">
                <a:solidFill>
                  <a:srgbClr val="212529"/>
                </a:solidFill>
              </a:defRPr>
            </a:pPr>
            <a:r>
              <a:t>🚨 Issues: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600">
                <a:solidFill>
                  <a:srgbClr val="212529"/>
                </a:solidFill>
              </a:defRPr>
            </a:pPr>
            <a:r>
              <a:t>• No safety boundaries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600">
                <a:solidFill>
                  <a:srgbClr val="212529"/>
                </a:solidFill>
              </a:defRPr>
            </a:pPr>
            <a:r>
              <a:t>• Doesn't consider ethics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600">
                <a:solidFill>
                  <a:srgbClr val="212529"/>
                </a:solidFill>
              </a:defRPr>
            </a:pPr>
            <a:r>
              <a:t>• Ignores user expertise level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00600" y="1005840"/>
            <a:ext cx="38862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1600">
                <a:solidFill>
                  <a:srgbClr val="212529"/>
                </a:solidFill>
              </a:defRPr>
            </a:pPr>
            <a:r>
              <a:t>✅ After RLHF: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600">
                <a:solidFill>
                  <a:srgbClr val="212529"/>
                </a:solidFill>
              </a:defRPr>
            </a:pPr>
          </a:p>
          <a:p>
            <a:pPr>
              <a:lnSpc>
                <a:spcPct val="115000"/>
              </a:lnSpc>
              <a:spcAft>
                <a:spcPts val="1000"/>
              </a:spcAft>
              <a:defRPr sz="1600">
                <a:solidFill>
                  <a:srgbClr val="212529"/>
                </a:solidFill>
              </a:defRPr>
            </a:pPr>
            <a:r>
              <a:t>User: 'Write harmful code'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600">
                <a:solidFill>
                  <a:srgbClr val="212529"/>
                </a:solidFill>
              </a:defRPr>
            </a:pPr>
            <a:r>
              <a:t>Model: 'I can't help with that...'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600">
                <a:solidFill>
                  <a:srgbClr val="212529"/>
                </a:solidFill>
              </a:defRPr>
            </a:pPr>
          </a:p>
          <a:p>
            <a:pPr>
              <a:lnSpc>
                <a:spcPct val="115000"/>
              </a:lnSpc>
              <a:spcAft>
                <a:spcPts val="1000"/>
              </a:spcAft>
              <a:defRPr sz="1600">
                <a:solidFill>
                  <a:srgbClr val="212529"/>
                </a:solidFill>
              </a:defRPr>
            </a:pPr>
            <a:r>
              <a:t>User: 'Help me cheat'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600">
                <a:solidFill>
                  <a:srgbClr val="212529"/>
                </a:solidFill>
              </a:defRPr>
            </a:pPr>
            <a:r>
              <a:t>Model: 'Let me help you learn instead...'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600">
                <a:solidFill>
                  <a:srgbClr val="212529"/>
                </a:solidFill>
              </a:defRPr>
            </a:pPr>
          </a:p>
          <a:p>
            <a:pPr>
              <a:lnSpc>
                <a:spcPct val="115000"/>
              </a:lnSpc>
              <a:spcAft>
                <a:spcPts val="1000"/>
              </a:spcAft>
              <a:defRPr sz="1600">
                <a:solidFill>
                  <a:srgbClr val="212529"/>
                </a:solidFill>
              </a:defRPr>
            </a:pPr>
            <a:r>
              <a:t>User: 'Explain quantum physics'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600">
                <a:solidFill>
                  <a:srgbClr val="212529"/>
                </a:solidFill>
              </a:defRPr>
            </a:pPr>
            <a:r>
              <a:t>Model: [Adjusts to user level]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600">
                <a:solidFill>
                  <a:srgbClr val="212529"/>
                </a:solidFill>
              </a:defRPr>
            </a:pPr>
          </a:p>
          <a:p>
            <a:pPr>
              <a:lnSpc>
                <a:spcPct val="115000"/>
              </a:lnSpc>
              <a:spcAft>
                <a:spcPts val="1000"/>
              </a:spcAft>
              <a:defRPr sz="1600">
                <a:solidFill>
                  <a:srgbClr val="212529"/>
                </a:solidFill>
              </a:defRPr>
            </a:pPr>
            <a:r>
              <a:t>✅ Improvements: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600">
                <a:solidFill>
                  <a:srgbClr val="212529"/>
                </a:solidFill>
              </a:defRPr>
            </a:pPr>
            <a:r>
              <a:t>• Safety-conscious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600">
                <a:solidFill>
                  <a:srgbClr val="212529"/>
                </a:solidFill>
              </a:defRPr>
            </a:pPr>
            <a:r>
              <a:t>• Ethically aligned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600">
                <a:solidFill>
                  <a:srgbClr val="212529"/>
                </a:solidFill>
              </a:defRPr>
            </a:pPr>
            <a:r>
              <a:t>• User-adapted responses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667EEA"/>
                </a:solidFill>
              </a:defRPr>
            </a:pPr>
            <a:r>
              <a:t>🛡️ AI Alignment: Making AI Safe &amp; Beneficial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82296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200"/>
              </a:spcAft>
              <a:defRPr sz="1800">
                <a:solidFill>
                  <a:srgbClr val="008000"/>
                </a:solidFill>
              </a:defRPr>
            </a:pPr>
            <a:r>
              <a:t>🎯 What is Alignment?</a:t>
            </a:r>
          </a:p>
          <a:p>
            <a:pPr>
              <a:lnSpc>
                <a:spcPct val="115000"/>
              </a:lnSpc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• Ensuring AI systems do what humans intend</a:t>
            </a:r>
          </a:p>
          <a:p>
            <a:pPr>
              <a:lnSpc>
                <a:spcPct val="115000"/>
              </a:lnSpc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• AI goals match human values</a:t>
            </a:r>
          </a:p>
          <a:p>
            <a:pPr>
              <a:lnSpc>
                <a:spcPct val="115000"/>
              </a:lnSpc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• Not just 'smart' but also 'good'</a:t>
            </a:r>
          </a:p>
          <a:p>
            <a:pPr>
              <a:lnSpc>
                <a:spcPct val="115000"/>
              </a:lnSpc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</a:p>
          <a:p>
            <a:pPr>
              <a:lnSpc>
                <a:spcPct val="115000"/>
              </a:lnSpc>
              <a:spcAft>
                <a:spcPts val="1200"/>
              </a:spcAft>
              <a:defRPr sz="1800">
                <a:solidFill>
                  <a:srgbClr val="DC3545"/>
                </a:solidFill>
              </a:defRPr>
            </a:pPr>
            <a:r>
              <a:t>⚠️ Why Critical?</a:t>
            </a:r>
          </a:p>
          <a:p>
            <a:pPr>
              <a:lnSpc>
                <a:spcPct val="115000"/>
              </a:lnSpc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• Powerful AI can cause harm if misaligned</a:t>
            </a:r>
          </a:p>
          <a:p>
            <a:pPr>
              <a:lnSpc>
                <a:spcPct val="115000"/>
              </a:lnSpc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• Hard to control at scale once deployed</a:t>
            </a:r>
          </a:p>
          <a:p>
            <a:pPr>
              <a:lnSpc>
                <a:spcPct val="115000"/>
              </a:lnSpc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• Small misalignment → large consequences</a:t>
            </a:r>
          </a:p>
          <a:p>
            <a:pPr>
              <a:lnSpc>
                <a:spcPct val="115000"/>
              </a:lnSpc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</a:p>
          <a:p>
            <a:pPr>
              <a:lnSpc>
                <a:spcPct val="115000"/>
              </a:lnSpc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🔍 Core Challenge:</a:t>
            </a:r>
          </a:p>
          <a:p>
            <a:pPr>
              <a:lnSpc>
                <a:spcPct val="115000"/>
              </a:lnSpc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• How to specify 'human values' precisely?</a:t>
            </a:r>
          </a:p>
          <a:p>
            <a:pPr>
              <a:lnSpc>
                <a:spcPct val="115000"/>
              </a:lnSpc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• Whose values should AI align with?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667EEA"/>
                </a:solidFill>
              </a:defRPr>
            </a:pPr>
            <a:r>
              <a:t>🛡️ Safety Measures in Modern LLMs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82296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🚫 Content Filtering:</a:t>
            </a:r>
          </a:p>
          <a:p>
            <a:pPr>
              <a:lnSpc>
                <a:spcPct val="115000"/>
              </a:lnSpc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• Refuse harmful requests (violence, illegal activities)</a:t>
            </a:r>
          </a:p>
          <a:p>
            <a:pPr>
              <a:lnSpc>
                <a:spcPct val="115000"/>
              </a:lnSpc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• Detect &amp; prevent misinformation generation</a:t>
            </a:r>
          </a:p>
          <a:p>
            <a:pPr>
              <a:lnSpc>
                <a:spcPct val="115000"/>
              </a:lnSpc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• Privacy protection (no personal data sharing)</a:t>
            </a:r>
          </a:p>
          <a:p>
            <a:pPr>
              <a:lnSpc>
                <a:spcPct val="115000"/>
              </a:lnSpc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</a:p>
          <a:p>
            <a:pPr>
              <a:lnSpc>
                <a:spcPct val="115000"/>
              </a:lnSpc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⚖️ Bias Mitigation:</a:t>
            </a:r>
          </a:p>
          <a:p>
            <a:pPr>
              <a:lnSpc>
                <a:spcPct val="115000"/>
              </a:lnSpc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• Reduce gender, racial, cultural biases</a:t>
            </a:r>
          </a:p>
          <a:p>
            <a:pPr>
              <a:lnSpc>
                <a:spcPct val="115000"/>
              </a:lnSpc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• Balance training data representation</a:t>
            </a:r>
          </a:p>
          <a:p>
            <a:pPr>
              <a:lnSpc>
                <a:spcPct val="115000"/>
              </a:lnSpc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• Ongoing evaluation &amp; improvement</a:t>
            </a:r>
          </a:p>
          <a:p>
            <a:pPr>
              <a:lnSpc>
                <a:spcPct val="115000"/>
              </a:lnSpc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</a:p>
          <a:p>
            <a:pPr>
              <a:lnSpc>
                <a:spcPct val="115000"/>
              </a:lnSpc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🔒 Adversarial Testing:</a:t>
            </a:r>
          </a:p>
          <a:p>
            <a:pPr>
              <a:lnSpc>
                <a:spcPct val="115000"/>
              </a:lnSpc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• 'Red teaming' - try to break model</a:t>
            </a:r>
          </a:p>
          <a:p>
            <a:pPr>
              <a:lnSpc>
                <a:spcPct val="115000"/>
              </a:lnSpc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• Find &amp; fix vulnerabilities before release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667EEA"/>
                </a:solidFill>
              </a:defRPr>
            </a:pPr>
            <a:r>
              <a:t>⚖️ Alignment Challenges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38862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1600">
                <a:solidFill>
                  <a:srgbClr val="212529"/>
                </a:solidFill>
              </a:defRPr>
            </a:pPr>
            <a:r>
              <a:t>🚧 Technical Challenges: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600">
                <a:solidFill>
                  <a:srgbClr val="212529"/>
                </a:solidFill>
              </a:defRPr>
            </a:pPr>
            <a:r>
              <a:t>• Specification: How to define 'good'?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600">
                <a:solidFill>
                  <a:srgbClr val="212529"/>
                </a:solidFill>
              </a:defRPr>
            </a:pPr>
            <a:r>
              <a:t>• Robustness: Works in edge cases?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600">
                <a:solidFill>
                  <a:srgbClr val="212529"/>
                </a:solidFill>
              </a:defRPr>
            </a:pPr>
            <a:r>
              <a:t>• Scalability: Alignment at GPT-5+?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600">
                <a:solidFill>
                  <a:srgbClr val="212529"/>
                </a:solidFill>
              </a:defRPr>
            </a:pPr>
            <a:r>
              <a:t>• Interpretability: Why did it do that?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600">
                <a:solidFill>
                  <a:srgbClr val="212529"/>
                </a:solidFill>
              </a:defRPr>
            </a:pPr>
          </a:p>
          <a:p>
            <a:pPr>
              <a:lnSpc>
                <a:spcPct val="115000"/>
              </a:lnSpc>
              <a:spcAft>
                <a:spcPts val="1000"/>
              </a:spcAft>
              <a:defRPr sz="1600">
                <a:solidFill>
                  <a:srgbClr val="212529"/>
                </a:solidFill>
              </a:defRPr>
            </a:pPr>
            <a:r>
              <a:t>🌍 Social Challenges: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600">
                <a:solidFill>
                  <a:srgbClr val="212529"/>
                </a:solidFill>
              </a:defRPr>
            </a:pPr>
            <a:r>
              <a:t>• Cultural value differences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600">
                <a:solidFill>
                  <a:srgbClr val="212529"/>
                </a:solidFill>
              </a:defRPr>
            </a:pPr>
            <a:r>
              <a:t>• Free speech vs safety balance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600">
                <a:solidFill>
                  <a:srgbClr val="212529"/>
                </a:solidFill>
              </a:defRPr>
            </a:pPr>
            <a:r>
              <a:t>• Transparency vs capabilities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600">
                <a:solidFill>
                  <a:srgbClr val="212529"/>
                </a:solidFill>
              </a:defRPr>
            </a:pPr>
            <a:r>
              <a:t>• Corporate vs public interest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00600" y="1005840"/>
            <a:ext cx="38862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1600">
                <a:solidFill>
                  <a:srgbClr val="212529"/>
                </a:solidFill>
              </a:defRPr>
            </a:pPr>
            <a:r>
              <a:t>🔮 Future Concerns: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600">
                <a:solidFill>
                  <a:srgbClr val="212529"/>
                </a:solidFill>
              </a:defRPr>
            </a:pPr>
            <a:r>
              <a:t>• Deceptive alignment: Model fakes alignment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600">
                <a:solidFill>
                  <a:srgbClr val="212529"/>
                </a:solidFill>
              </a:defRPr>
            </a:pPr>
            <a:r>
              <a:t>• Goal misgeneralization: Training ≠ Deployment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600">
                <a:solidFill>
                  <a:srgbClr val="212529"/>
                </a:solidFill>
              </a:defRPr>
            </a:pPr>
            <a:r>
              <a:t>• Power-seeking behavior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600">
                <a:solidFill>
                  <a:srgbClr val="212529"/>
                </a:solidFill>
              </a:defRPr>
            </a:pPr>
            <a:r>
              <a:t>• Superintelligence control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600">
                <a:solidFill>
                  <a:srgbClr val="212529"/>
                </a:solidFill>
              </a:defRPr>
            </a:pPr>
          </a:p>
          <a:p>
            <a:pPr>
              <a:lnSpc>
                <a:spcPct val="115000"/>
              </a:lnSpc>
              <a:spcAft>
                <a:spcPts val="1000"/>
              </a:spcAft>
              <a:defRPr sz="1600">
                <a:solidFill>
                  <a:srgbClr val="212529"/>
                </a:solidFill>
              </a:defRPr>
            </a:pPr>
            <a:r>
              <a:t>💡 Current Approaches: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600">
                <a:solidFill>
                  <a:srgbClr val="212529"/>
                </a:solidFill>
              </a:defRPr>
            </a:pPr>
            <a:r>
              <a:t>• Constitutional AI (Anthropic)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600">
                <a:solidFill>
                  <a:srgbClr val="212529"/>
                </a:solidFill>
              </a:defRPr>
            </a:pPr>
            <a:r>
              <a:t>• Iterative deployment &amp; feedback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600">
                <a:solidFill>
                  <a:srgbClr val="212529"/>
                </a:solidFill>
              </a:defRPr>
            </a:pPr>
            <a:r>
              <a:t>• Multi-stakeholder governance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600">
                <a:solidFill>
                  <a:srgbClr val="212529"/>
                </a:solidFill>
              </a:defRPr>
            </a:pPr>
            <a:r>
              <a:t>• Ongoing research &amp; collaboration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667EEA"/>
                </a:solidFill>
              </a:defRPr>
            </a:pPr>
            <a:r>
              <a:t>🌍 Real-World Impact of LLMs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82296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200"/>
              </a:spcAft>
              <a:defRPr sz="1800">
                <a:solidFill>
                  <a:srgbClr val="008000"/>
                </a:solidFill>
              </a:defRPr>
            </a:pPr>
            <a:r>
              <a:t>✅ Transformative Applications:</a:t>
            </a:r>
          </a:p>
          <a:p>
            <a:pPr>
              <a:lnSpc>
                <a:spcPct val="115000"/>
              </a:lnSpc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• Education: Personalized tutoring, accessibility tools</a:t>
            </a:r>
          </a:p>
          <a:p>
            <a:pPr>
              <a:lnSpc>
                <a:spcPct val="115000"/>
              </a:lnSpc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• Healthcare: Research assistance, medical documentation</a:t>
            </a:r>
          </a:p>
          <a:p>
            <a:pPr>
              <a:lnSpc>
                <a:spcPct val="115000"/>
              </a:lnSpc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• Productivity: Code generation, writing, automation</a:t>
            </a:r>
          </a:p>
          <a:p>
            <a:pPr>
              <a:lnSpc>
                <a:spcPct val="115000"/>
              </a:lnSpc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• Creativity: Art, music, storytelling, design</a:t>
            </a:r>
          </a:p>
          <a:p>
            <a:pPr>
              <a:lnSpc>
                <a:spcPct val="115000"/>
              </a:lnSpc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• Accessibility: Translation, screen readers, communication aids</a:t>
            </a:r>
          </a:p>
          <a:p>
            <a:pPr>
              <a:lnSpc>
                <a:spcPct val="115000"/>
              </a:lnSpc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</a:p>
          <a:p>
            <a:pPr>
              <a:lnSpc>
                <a:spcPct val="115000"/>
              </a:lnSpc>
              <a:spcAft>
                <a:spcPts val="1200"/>
              </a:spcAft>
              <a:defRPr sz="1800">
                <a:solidFill>
                  <a:srgbClr val="DC3545"/>
                </a:solidFill>
              </a:defRPr>
            </a:pPr>
            <a:r>
              <a:t>⚠️ Concerns &amp; Challenges:</a:t>
            </a:r>
          </a:p>
          <a:p>
            <a:pPr>
              <a:lnSpc>
                <a:spcPct val="115000"/>
              </a:lnSpc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• Job market shifts (automation of knowledge work)</a:t>
            </a:r>
          </a:p>
          <a:p>
            <a:pPr>
              <a:lnSpc>
                <a:spcPct val="115000"/>
              </a:lnSpc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• Misinformation &amp; deepfakes at scale</a:t>
            </a:r>
          </a:p>
          <a:p>
            <a:pPr>
              <a:lnSpc>
                <a:spcPct val="115000"/>
              </a:lnSpc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• Privacy concerns with training data</a:t>
            </a:r>
          </a:p>
          <a:p>
            <a:pPr>
              <a:lnSpc>
                <a:spcPct val="115000"/>
              </a:lnSpc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• Energy consumption &amp; environmental impact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667EEA"/>
                </a:solidFill>
              </a:defRPr>
            </a:pPr>
            <a:r>
              <a:t>📚 Summary: What We Learned Today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82296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200"/>
              </a:spcAft>
              <a:defRPr sz="1800">
                <a:solidFill>
                  <a:srgbClr val="008000"/>
                </a:solidFill>
              </a:defRPr>
            </a:pPr>
            <a:r>
              <a:t>🎯 Key Takeaways:</a:t>
            </a:r>
          </a:p>
          <a:p>
            <a:pPr>
              <a:lnSpc>
                <a:spcPct val="115000"/>
              </a:lnSpc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</a:p>
          <a:p>
            <a:pPr>
              <a:lnSpc>
                <a:spcPct val="115000"/>
              </a:lnSpc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1️⃣ LLMs are neural networks trained on massive text to understand &amp; generate language</a:t>
            </a:r>
          </a:p>
          <a:p>
            <a:pPr>
              <a:lnSpc>
                <a:spcPct val="115000"/>
              </a:lnSpc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</a:p>
          <a:p>
            <a:pPr>
              <a:lnSpc>
                <a:spcPct val="115000"/>
              </a:lnSpc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2️⃣ Evolution: Transformers (2017) → BERT → GPT → ChatGPT revolution (2022)</a:t>
            </a:r>
          </a:p>
          <a:p>
            <a:pPr>
              <a:lnSpc>
                <a:spcPct val="115000"/>
              </a:lnSpc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</a:p>
          <a:p>
            <a:pPr>
              <a:lnSpc>
                <a:spcPct val="115000"/>
              </a:lnSpc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3️⃣ Training: Pretraining (broad knowledge) + Fine-tuning (specialization)</a:t>
            </a:r>
          </a:p>
          <a:p>
            <a:pPr>
              <a:lnSpc>
                <a:spcPct val="115000"/>
              </a:lnSpc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</a:p>
          <a:p>
            <a:pPr>
              <a:lnSpc>
                <a:spcPct val="115000"/>
              </a:lnSpc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4️⃣ RLHF: Aligns models to be helpful, harmless, and honest</a:t>
            </a:r>
          </a:p>
          <a:p>
            <a:pPr>
              <a:lnSpc>
                <a:spcPct val="115000"/>
              </a:lnSpc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</a:p>
          <a:p>
            <a:pPr>
              <a:lnSpc>
                <a:spcPct val="115000"/>
              </a:lnSpc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5️⃣ Alignment: Critical ongoing challenge for safe &amp; beneficial AI</a:t>
            </a:r>
          </a:p>
          <a:p>
            <a:pPr>
              <a:lnSpc>
                <a:spcPct val="115000"/>
              </a:lnSpc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</a:p>
          <a:p>
            <a:pPr>
              <a:lnSpc>
                <a:spcPct val="115000"/>
              </a:lnSpc>
              <a:spcAft>
                <a:spcPts val="1200"/>
              </a:spcAft>
              <a:defRPr sz="1800">
                <a:solidFill>
                  <a:srgbClr val="FF8C00"/>
                </a:solidFill>
              </a:defRPr>
            </a:pPr>
            <a:r>
              <a:t>🚀 Tomorrow: We'll fine-tune our own LLM using LoRA!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
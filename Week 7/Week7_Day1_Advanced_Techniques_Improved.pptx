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599" y="1638300"/>
            <a:ext cx="769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Advanced Techniques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53180" y="2400300"/>
            <a:ext cx="54374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2400"/>
              </a:spcAft>
              <a:buNone/>
            </a:pPr>
            <a:r>
              <a:rPr lang="en-US" sz="18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Tuning, Cross-Validation &amp; More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03864" y="3200400"/>
            <a:ext cx="23361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7 - Day 1 | AI Bootcamp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3842593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39194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91136" y="2579340"/>
            <a:ext cx="45615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Hyperparameter Tuning?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364520" y="3417540"/>
            <a:ext cx="641481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your model perform better by finding </a:t>
            </a:r>
            <a:pPr algn="ctr" indent="0" marL="0">
              <a:lnSpc>
                <a:spcPts val="28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settings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5261074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53662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vs Hyperparameters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2114550"/>
            <a:ext cx="3962400" cy="217170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419350"/>
            <a:ext cx="34198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067050"/>
            <a:ext cx="34198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from data during training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2000" y="3714750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weights, coefficients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4400" y="2114550"/>
            <a:ext cx="3962400" cy="217170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0" y="2419350"/>
            <a:ext cx="34198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3067050"/>
            <a:ext cx="34198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by YOU before training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0" y="3714750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learning rate, n_estimators, C, kernel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4018955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40993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Automated Tuning?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409700"/>
            <a:ext cx="8229600" cy="1638300"/>
          </a:xfrm>
          <a:prstGeom prst="roundRect">
            <a:avLst>
              <a:gd name="adj" fmla="val 4651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5775" y="1409700"/>
            <a:ext cx="0" cy="1638300"/>
          </a:xfrm>
          <a:prstGeom prst="line">
            <a:avLst/>
          </a:prstGeom>
          <a:noFill/>
          <a:ln w="5715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3522" y="1714500"/>
            <a:ext cx="771410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3522" y="2095500"/>
            <a:ext cx="77141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hyperparameter values work best?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522" y="2438400"/>
            <a:ext cx="77141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and error is slow and inefficient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352800"/>
            <a:ext cx="8229600" cy="1638300"/>
          </a:xfrm>
          <a:prstGeom prst="roundRect">
            <a:avLst>
              <a:gd name="adj" fmla="val 4651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85775" y="3352800"/>
            <a:ext cx="0" cy="1638300"/>
          </a:xfrm>
          <a:prstGeom prst="line">
            <a:avLst/>
          </a:prstGeom>
          <a:noFill/>
          <a:ln w="5715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522" y="3657600"/>
            <a:ext cx="771410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3522" y="4038600"/>
            <a:ext cx="77141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Search! 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3522" y="4381500"/>
            <a:ext cx="77141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algorithm find the best combination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2324993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237149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8763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Every Combination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595735"/>
            <a:ext cx="8229600" cy="1943100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7700" y="1786235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7700" y="2167235"/>
            <a:ext cx="78486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 grid of hyperparameter values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 tries every combination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cross-validation to evaluate each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the best combination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653135"/>
            <a:ext cx="4057650" cy="1228279"/>
          </a:xfrm>
          <a:prstGeom prst="roundRect">
            <a:avLst>
              <a:gd name="adj" fmla="val 6204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6250" y="3653135"/>
            <a:ext cx="0" cy="1228279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43635"/>
            <a:ext cx="37113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480"/>
              </a:spcAft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133106"/>
            <a:ext cx="3711321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n_estimators: [50, 100, 200]</a:t>
            </a:r>
            <a:endParaRPr lang="en-US" sz="975" dirty="0"/>
          </a:p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max_depth: [3, 5, 7]</a:t>
            </a:r>
            <a:endParaRPr lang="en-US" sz="975" dirty="0"/>
          </a:p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Tests 9 combinations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933950" y="3906292"/>
            <a:ext cx="37113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480"/>
              </a:spcAft>
              <a:buNone/>
            </a:pPr>
            <a:r>
              <a:rPr lang="en-US" sz="11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48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Finds absolute best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933950" y="4167188"/>
            <a:ext cx="37113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480"/>
              </a:spcAft>
              <a:buNone/>
            </a:pPr>
            <a:r>
              <a:rPr lang="en-US" sz="11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48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Thorough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933950" y="4428083"/>
            <a:ext cx="37113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Slow for large grids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3658642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37318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RandomizedSearchCV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8763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Sampling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595735"/>
            <a:ext cx="8229600" cy="1943100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7700" y="1786235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7700" y="2167235"/>
            <a:ext cx="78486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hyperparameter ranges or distributions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Randomly samples combinations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control how many to try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best found combination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653135"/>
            <a:ext cx="4057650" cy="1228279"/>
          </a:xfrm>
          <a:prstGeom prst="roundRect">
            <a:avLst>
              <a:gd name="adj" fmla="val 620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6250" y="3653135"/>
            <a:ext cx="0" cy="1228279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43635"/>
            <a:ext cx="37113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480"/>
              </a:spcAft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133106"/>
            <a:ext cx="3711321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n_estimators: [50, 100, 150, 200]</a:t>
            </a:r>
            <a:endParaRPr lang="en-US" sz="975" dirty="0"/>
          </a:p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max_depth: [3, 5, 7, 10, None]</a:t>
            </a:r>
            <a:endParaRPr lang="en-US" sz="975" dirty="0"/>
          </a:p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n_iter=10 → 10 random tests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933950" y="3906292"/>
            <a:ext cx="37113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480"/>
              </a:spcAft>
              <a:buNone/>
            </a:pPr>
            <a:r>
              <a:rPr lang="en-US" sz="11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48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Much faster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933950" y="4167188"/>
            <a:ext cx="37113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480"/>
              </a:spcAft>
              <a:buNone/>
            </a:pPr>
            <a:r>
              <a:rPr lang="en-US" sz="1125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48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Good for large spaces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933950" y="4428083"/>
            <a:ext cx="37113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May miss best combo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3409801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347799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Which?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46895"/>
            <a:ext cx="3962400" cy="2324100"/>
          </a:xfrm>
          <a:prstGeom prst="roundRect">
            <a:avLst>
              <a:gd name="adj" fmla="val 3279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365945"/>
            <a:ext cx="39624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13595"/>
            <a:ext cx="35753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2695"/>
            <a:ext cx="35052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Small hyperparameter space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Plenty of time available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Want guaranteed best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Testing 2-3 values for 2-3 params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24400" y="1346895"/>
            <a:ext cx="3962400" cy="2324100"/>
          </a:xfrm>
          <a:prstGeom prst="roundRect">
            <a:avLst>
              <a:gd name="adj" fmla="val 327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4400" y="1365945"/>
            <a:ext cx="39624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3000" y="1613595"/>
            <a:ext cx="35753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RandomizedSearchCV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53000" y="2032695"/>
            <a:ext cx="35052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Large hyperparameter space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Limited time/resources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Exploring wide ranges</a:t>
            </a:r>
            <a:endParaRPr lang="en-US" sz="1350" dirty="0"/>
          </a:p>
          <a:p>
            <a:pPr algn="l"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Testing 5+ values for 4+ params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4800" y="4217789"/>
            <a:ext cx="8534400" cy="620911"/>
          </a:xfrm>
          <a:prstGeom prst="roundRect">
            <a:avLst>
              <a:gd name="adj" fmla="val 1227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4904" y="4408289"/>
            <a:ext cx="839419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</a:t>
            </a:r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 with RandomizedSearch, then refine with GridSearch! 🎯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388649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39642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K-Fold Cross-Validation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543050"/>
            <a:ext cx="8229600" cy="220980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84785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266950"/>
            <a:ext cx="76200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data into K equal folds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K-1 folds, test on 1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K times, rotating test fold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the results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4057650"/>
            <a:ext cx="8229600" cy="800100"/>
          </a:xfrm>
          <a:prstGeom prst="roundRect">
            <a:avLst>
              <a:gd name="adj" fmla="val 9524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8076" y="4324350"/>
            <a:ext cx="7927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</a:t>
            </a:r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Classes are balanced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535334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54604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StratifiedKFold (Recommended!)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430685"/>
            <a:ext cx="8229600" cy="1150590"/>
          </a:xfrm>
          <a:prstGeom prst="roundRect">
            <a:avLst>
              <a:gd name="adj" fmla="val 662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659285"/>
            <a:ext cx="7927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Better?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40285"/>
            <a:ext cx="79278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K-Fold, BUT preserves class proportions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733675"/>
            <a:ext cx="8229600" cy="1184821"/>
          </a:xfrm>
          <a:prstGeom prst="roundRect">
            <a:avLst>
              <a:gd name="adj" fmla="val 6431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6250" y="2733675"/>
            <a:ext cx="0" cy="1184821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24175"/>
            <a:ext cx="796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90% Class A, 10% Class 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228975"/>
            <a:ext cx="7966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480"/>
              </a:spcAft>
              <a:buNone/>
            </a:pPr>
            <a:r>
              <a:rPr lang="en-US" sz="11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48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K-Fold: Some folds might have 0% Class B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85800" y="3489871"/>
            <a:ext cx="7966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StratifiedKFold: Every fold has 90% A, 10% B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57200" y="4070896"/>
            <a:ext cx="8229600" cy="594271"/>
          </a:xfrm>
          <a:prstGeom prst="roundRect">
            <a:avLst>
              <a:gd name="adj" fmla="val 12822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0352" y="4261396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Classes are imbalanced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5144095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52469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PCA: Dimensionality Reduction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8763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Component Analysis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622227"/>
            <a:ext cx="8229600" cy="990600"/>
          </a:xfrm>
          <a:prstGeom prst="roundRect">
            <a:avLst>
              <a:gd name="adj" fmla="val 7692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1622227"/>
            <a:ext cx="0" cy="9906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12727"/>
            <a:ext cx="7966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155627"/>
            <a:ext cx="796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features cause slow training, overfitting, and difficulty visualizing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65227"/>
            <a:ext cx="8229600" cy="1266825"/>
          </a:xfrm>
          <a:prstGeom prst="roundRect">
            <a:avLst>
              <a:gd name="adj" fmla="val 601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6250" y="2765227"/>
            <a:ext cx="0" cy="1266825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55727"/>
            <a:ext cx="79667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PCA Does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3298627"/>
            <a:ext cx="796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features while keeping important information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603427"/>
            <a:ext cx="7966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features → 10 components (keeps 95% info)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57200" y="4184452"/>
            <a:ext cx="8229600" cy="670471"/>
          </a:xfrm>
          <a:prstGeom prst="roundRect">
            <a:avLst>
              <a:gd name="adj" fmla="val 1136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9214" y="4413052"/>
            <a:ext cx="80055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Like compressing a photo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4629596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47221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PCA Works (Simplified)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88107"/>
            <a:ext cx="8229600" cy="2620566"/>
          </a:xfrm>
          <a:prstGeom prst="roundRect">
            <a:avLst>
              <a:gd name="adj" fmla="val 290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516707"/>
            <a:ext cx="7927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Process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935807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4267" y="1973907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973907"/>
            <a:ext cx="7461504" cy="274141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data (mean=0, std=1)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400449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4267" y="243854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438549"/>
            <a:ext cx="7461504" cy="274141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directions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maximum variance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86509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04267" y="290319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903190"/>
            <a:ext cx="7461504" cy="274141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principal components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32973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4267" y="336783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3367832"/>
            <a:ext cx="7461504" cy="274141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top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components (discard low variance)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061073"/>
            <a:ext cx="8229600" cy="670471"/>
          </a:xfrm>
          <a:prstGeom prst="roundRect">
            <a:avLst>
              <a:gd name="adj" fmla="val 1136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9214" y="4289673"/>
            <a:ext cx="80055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 features → 5 components (95% variance) ✓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5926634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604516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Persistence: Save Your Work!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74904" y="1628775"/>
            <a:ext cx="83941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Save Models?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314575"/>
            <a:ext cx="4000500" cy="1114425"/>
          </a:xfrm>
          <a:prstGeom prst="roundRect">
            <a:avLst>
              <a:gd name="adj" fmla="val 68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333625"/>
            <a:ext cx="40005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19375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retraining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962275"/>
            <a:ext cx="361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hours of training time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686300" y="2314575"/>
            <a:ext cx="4000500" cy="1114425"/>
          </a:xfrm>
          <a:prstGeom prst="roundRect">
            <a:avLst>
              <a:gd name="adj" fmla="val 68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86300" y="2333625"/>
            <a:ext cx="40005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4900" y="2619375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deployment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14900" y="2962275"/>
            <a:ext cx="361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production quickly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4000500" cy="1114425"/>
          </a:xfrm>
          <a:prstGeom prst="roundRect">
            <a:avLst>
              <a:gd name="adj" fmla="val 68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7200" y="3676650"/>
            <a:ext cx="40005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62400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sharing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4305300"/>
            <a:ext cx="361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 effectively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686300" y="3657600"/>
            <a:ext cx="4000500" cy="1114425"/>
          </a:xfrm>
          <a:prstGeom prst="roundRect">
            <a:avLst>
              <a:gd name="adj" fmla="val 68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86300" y="3676650"/>
            <a:ext cx="40005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4900" y="3962400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14900" y="4305300"/>
            <a:ext cx="361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improvements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5412135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55203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for Saving Models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543050"/>
            <a:ext cx="8229600" cy="205740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847850"/>
            <a:ext cx="7620000" cy="14478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entire pipeline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(preprocessor + model)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descriptive filenames</a:t>
            </a:r>
            <a:pPr algn="l" indent="0" marL="0">
              <a:lnSpc>
                <a:spcPts val="2100"/>
              </a:lnSpc>
              <a:buNone/>
            </a:pPr>
            <a:endParaRPr lang="en-US" sz="13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rf_n100_d5_acc0.95.pkl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metadata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(date, accuracy, dataset)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before deployment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3752850"/>
            <a:ext cx="8229600" cy="1104900"/>
          </a:xfrm>
          <a:prstGeom prst="roundRect">
            <a:avLst>
              <a:gd name="adj" fmla="val 6897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3981450"/>
            <a:ext cx="7927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781050"/>
            <a:ext cx="45109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4800" y="304800"/>
            <a:ext cx="460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Key Takeaways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019300"/>
            <a:ext cx="3962400" cy="1485900"/>
          </a:xfrm>
          <a:prstGeom prst="rect">
            <a:avLst/>
          </a:prstGeom>
          <a:noFill/>
          <a:ln/>
        </p:spPr>
        <p:txBody>
          <a:bodyPr wrap="square" lIns="80963" tIns="0" rIns="0" bIns="0" rtlCol="0" anchor="t"/>
          <a:lstStyle/>
          <a:p>
            <a:pPr algn="l" marL="80963" indent="-80963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 methods</a:t>
            </a:r>
            <a:endParaRPr lang="en-US" sz="1350" dirty="0"/>
          </a:p>
          <a:p>
            <a:pPr algn="l" marL="80963" indent="-80963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 vs RandomizedSearchCV</a:t>
            </a:r>
            <a:endParaRPr lang="en-US" sz="1350" dirty="0"/>
          </a:p>
          <a:p>
            <a:pPr algn="l" marL="80963" indent="-80963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StratifiedKFold for better validation</a:t>
            </a:r>
            <a:endParaRPr lang="en-US" sz="1350" dirty="0"/>
          </a:p>
          <a:p>
            <a:pPr algn="l" marL="80963" indent="-80963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for dimensionality reduction</a:t>
            </a:r>
            <a:endParaRPr lang="en-US" sz="1350" dirty="0"/>
          </a:p>
          <a:p>
            <a:pPr algn="l" marL="80963" indent="-80963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 models with joblib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24400" y="983159"/>
            <a:ext cx="4041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 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24400" y="1402259"/>
            <a:ext cx="3962400" cy="594271"/>
          </a:xfrm>
          <a:prstGeom prst="roundRect">
            <a:avLst>
              <a:gd name="adj" fmla="val 1282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43450" y="1402259"/>
            <a:ext cx="0" cy="59427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4900" y="1592759"/>
            <a:ext cx="36918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 → GridSearch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4400" y="2110829"/>
            <a:ext cx="3962400" cy="594271"/>
          </a:xfrm>
          <a:prstGeom prst="roundRect">
            <a:avLst>
              <a:gd name="adj" fmla="val 1282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43450" y="2110829"/>
            <a:ext cx="0" cy="59427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4900" y="2301329"/>
            <a:ext cx="36918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StratifiedKFold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24400" y="2819400"/>
            <a:ext cx="3962400" cy="594271"/>
          </a:xfrm>
          <a:prstGeom prst="roundRect">
            <a:avLst>
              <a:gd name="adj" fmla="val 1282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43450" y="2819400"/>
            <a:ext cx="0" cy="59427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4900" y="3009900"/>
            <a:ext cx="36918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PCA when 20+ features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24400" y="3527971"/>
            <a:ext cx="3962400" cy="594271"/>
          </a:xfrm>
          <a:prstGeom prst="roundRect">
            <a:avLst>
              <a:gd name="adj" fmla="val 1282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43450" y="3527971"/>
            <a:ext cx="0" cy="59427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4900" y="3718471"/>
            <a:ext cx="36918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pipelines, not just models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456" y="4343400"/>
            <a:ext cx="8705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practice in the notebook! 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Day 1: Scikit-Learn Advanced Techniques</dc:title>
  <dc:subject>PptxGenJS Presentation</dc:subject>
  <dc:creator>AI Bootcamp</dc:creator>
  <cp:lastModifiedBy>AI Bootcamp</cp:lastModifiedBy>
  <cp:revision>1</cp:revision>
  <dcterms:created xsi:type="dcterms:W3CDTF">2025-11-18T07:45:02Z</dcterms:created>
  <dcterms:modified xsi:type="dcterms:W3CDTF">2025-11-18T07:45:02Z</dcterms:modified>
</cp:coreProperties>
</file>